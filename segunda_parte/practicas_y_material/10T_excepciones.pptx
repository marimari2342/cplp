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674" r:id="rId3"/>
    <p:sldMasterId id="2147483687" r:id="rId4"/>
    <p:sldMasterId id="2147483700" r:id="rId5"/>
  </p:sldMasterIdLst>
  <p:notesMasterIdLst>
    <p:notesMasterId r:id="rId7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9" r:id="rId68"/>
    <p:sldId id="320" r:id="rId69"/>
  </p:sldIdLst>
  <p:sldSz cx="9144000" cy="6858000" type="screen4x3"/>
  <p:notesSz cx="6858000" cy="9144000"/>
  <p:embeddedFontLst>
    <p:embeddedFont>
      <p:font typeface="Century Schoolbook" panose="02040604050505020304" pitchFamily="18" charset="0"/>
      <p:regular r:id="rId71"/>
      <p:bold r:id="rId72"/>
      <p:italic r:id="rId73"/>
      <p:boldItalic r:id="rId74"/>
    </p:embeddedFont>
    <p:embeddedFont>
      <p:font typeface="Consolas" panose="020B0609020204030204" pitchFamily="49" charset="0"/>
      <p:regular r:id="rId75"/>
      <p:bold r:id="rId76"/>
      <p:italic r:id="rId77"/>
      <p:boldItalic r:id="rId78"/>
    </p:embeddedFont>
    <p:embeddedFont>
      <p:font typeface="Open Sans" panose="020B0606030504020204" pitchFamily="34" charset="0"/>
      <p:regular r:id="rId79"/>
      <p:bold r:id="rId80"/>
      <p:italic r:id="rId81"/>
      <p:boldItalic r:id="rId8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3" roundtripDataSignature="AMtx7mit9nJ6x/CTT30QG/lsBOqGXjmfR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2A9E86-25BE-AB72-E56F-6C9808EE596C}" v="52" dt="2026-05-11T12:51:26.997"/>
    <p1510:client id="{6AEB190A-6D25-25EB-F73F-C3FF82A66B4E}" v="302" dt="2026-05-11T12:06:51.9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presProps" Target="presProp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font" Target="fonts/font4.fntdata"/><Relationship Id="rId79" Type="http://schemas.openxmlformats.org/officeDocument/2006/relationships/font" Target="fonts/font9.fntdata"/><Relationship Id="rId5" Type="http://schemas.openxmlformats.org/officeDocument/2006/relationships/slideMaster" Target="slideMasters/slideMaster5.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font" Target="fonts/font7.fntdata"/><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font" Target="fonts/font2.fntdata"/><Relationship Id="rId80" Type="http://schemas.openxmlformats.org/officeDocument/2006/relationships/font" Target="fonts/font10.fntdata"/><Relationship Id="rId85"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notesMaster" Target="notesMasters/notesMaster1.xml"/><Relationship Id="rId75" Type="http://schemas.openxmlformats.org/officeDocument/2006/relationships/font" Target="fonts/font5.fntdata"/><Relationship Id="rId83" Type="http://customschemas.google.com/relationships/presentationmetadata" Target="metadata"/><Relationship Id="rId88"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font" Target="fonts/font3.fntdata"/><Relationship Id="rId78" Type="http://schemas.openxmlformats.org/officeDocument/2006/relationships/font" Target="fonts/font8.fntdata"/><Relationship Id="rId81" Type="http://schemas.openxmlformats.org/officeDocument/2006/relationships/font" Target="fonts/font11.fntdata"/><Relationship Id="rId86"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font" Target="fonts/font6.fntdata"/><Relationship Id="rId7" Type="http://schemas.openxmlformats.org/officeDocument/2006/relationships/slide" Target="slides/slide2.xml"/><Relationship Id="rId71" Type="http://schemas.openxmlformats.org/officeDocument/2006/relationships/font" Target="fonts/font1.fntdata"/><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tableStyles" Target="tableStyles.xml"/><Relationship Id="rId61" Type="http://schemas.openxmlformats.org/officeDocument/2006/relationships/slide" Target="slides/slide56.xml"/><Relationship Id="rId82"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5" name="Google Shape;5;n"/>
          <p:cNvSpPr txBox="1">
            <a:spLocks noGrp="1"/>
          </p:cNvSpPr>
          <p:nvPr>
            <p:ph type="hdr" idx="3"/>
          </p:nvPr>
        </p:nvSpPr>
        <p:spPr>
          <a:xfrm>
            <a:off x="0" y="0"/>
            <a:ext cx="3280680" cy="53424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6" name="Google Shape;6;n"/>
          <p:cNvSpPr txBox="1">
            <a:spLocks noGrp="1"/>
          </p:cNvSpPr>
          <p:nvPr>
            <p:ph type="dt" idx="10"/>
          </p:nvPr>
        </p:nvSpPr>
        <p:spPr>
          <a:xfrm>
            <a:off x="4278960" y="0"/>
            <a:ext cx="3280680" cy="534240"/>
          </a:xfrm>
          <a:prstGeom prst="rect">
            <a:avLst/>
          </a:prstGeom>
          <a:noFill/>
          <a:ln>
            <a:noFill/>
          </a:ln>
        </p:spPr>
        <p:txBody>
          <a:bodyPr spcFirstLastPara="1" wrap="square" lIns="0" tIns="0" rIns="0" bIns="0" anchor="t" anchorCtr="0">
            <a:noAutofit/>
          </a:bodyPr>
          <a:lstStyle>
            <a:lvl1pPr marR="0" lvl="0" algn="r" rtl="0">
              <a:spcBef>
                <a:spcPts val="0"/>
              </a:spcBef>
              <a:spcAft>
                <a:spcPts val="0"/>
              </a:spcAft>
              <a:buSzPts val="1400"/>
              <a:buFont typeface="Times New Roman"/>
              <a:buNone/>
              <a:defRPr sz="1400" b="0" i="0" u="none" strike="noStrike" cap="none">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10157400"/>
            <a:ext cx="3280680" cy="534240"/>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400" b="0" i="0" u="none" strike="noStrike" cap="none">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n"/>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SzPts val="1400"/>
              <a:buFont typeface="Times New Roman"/>
              <a:buNone/>
            </a:pPr>
            <a:fld id="{00000000-1234-1234-1234-123412341234}" type="slidenum">
              <a:rPr lang="es-AR" sz="1400" b="0" i="0" u="none" strike="noStrike" cap="none">
                <a:latin typeface="Times New Roman"/>
                <a:ea typeface="Times New Roman"/>
                <a:cs typeface="Times New Roman"/>
                <a:sym typeface="Times New Roman"/>
              </a:rPr>
              <a:t>‹Nº›</a:t>
            </a:fld>
            <a:endParaRPr sz="1400" b="0" i="0" u="none" strike="noStrike" cap="none">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academia-lab.com/enciclopedia/manejo-de-excepciones/"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uned-sistemas-tiempo-real.readthedocs.io/es/latest/tema03.html"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uned-sistemas-tiempo-real.readthedocs.io/es/latest/tema03.html"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uned-sistemas-tiempo-real.readthedocs.io/es/latest/tema03.html"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uned-sistemas-tiempo-real.readthedocs.io/es/latest/tema03.html"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academia-lab.com/enciclopedia/manejo-de-excepciones/" TargetMode="Externa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academia-lab.com/enciclopedia/manejo-de-excepciones/"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academia-lab.com/enciclopedia/manejo-de-excepciones/"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es.wikibooks.org/wiki/Programaci%C3%B3n_en_Ada/Renombrado"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www.cartagena99.com/recursos/alumnos/apuntes/0-intro-ada.pdf"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learn.adacore.com/courses/intro-to-ada/chapters/exceptions.html"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rua.ua.es/dspace/bitstream/10045/15996/1/POO-4-Excepciones-10-11.pdf"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rua.ua.es/dspace/bitstream/10045/15996/1/POO-4-Excepciones-10-11.pdf"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rua.ua.es/dspace/bitstream/10045/15996/1/POO-4-Excepciones-10-11.pdf"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3" Type="http://schemas.openxmlformats.org/officeDocument/2006/relationships/hyperlink" Target="http://docs.python.org.ar/tutorial/3/reference.html#try" TargetMode="External"/><Relationship Id="rId2" Type="http://schemas.openxmlformats.org/officeDocument/2006/relationships/slide" Target="../slides/slide53.xml"/><Relationship Id="rId1" Type="http://schemas.openxmlformats.org/officeDocument/2006/relationships/notesMaster" Target="../notesMasters/notesMaster1.xml"/><Relationship Id="rId4" Type="http://schemas.openxmlformats.org/officeDocument/2006/relationships/hyperlink" Target="http://docs.python.org.ar/tutorial/3/reference.html#except" TargetMode="Externa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1: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3" name="Google Shape;333;p1: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0" name="Google Shape;340;p2: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https://academia-lab.com/enciclopedia/manejo-de-excepciones/</a:t>
            </a:r>
            <a:endParaRPr sz="2000" b="0" strike="noStrike">
              <a:latin typeface="Arial"/>
              <a:ea typeface="Arial"/>
              <a:cs typeface="Arial"/>
              <a:sym typeface="Arial"/>
            </a:endParaRPr>
          </a:p>
        </p:txBody>
      </p:sp>
      <p:sp>
        <p:nvSpPr>
          <p:cNvPr id="341" name="Google Shape;341;p2: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3: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3" name="Google Shape;353;p3: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El manejo de excepciones de software y el soporte proporcionado por las herramientas de software difiere un poco de lo que se entiende por manejo de excepciones en hardware, pero involucra conceptos similares. En los mecanismos del lenguaje de programación para el manejo de excepciones, el término </a:t>
            </a:r>
            <a:r>
              <a:rPr lang="es-AR" sz="2000" b="0" i="1" strike="noStrike">
                <a:latin typeface="Arial"/>
                <a:ea typeface="Arial"/>
                <a:cs typeface="Arial"/>
                <a:sym typeface="Arial"/>
              </a:rPr>
              <a:t>excepción</a:t>
            </a:r>
            <a:r>
              <a:rPr lang="es-AR" sz="2000" b="0" strike="noStrike">
                <a:latin typeface="Arial"/>
                <a:ea typeface="Arial"/>
                <a:cs typeface="Arial"/>
                <a:sym typeface="Arial"/>
              </a:rPr>
              <a:t> se usa típicamente en un sentido específico para denotar una estructura de datos que almacena información sobre una condición excepcional. Un mecanismo para transferir el control, o </a:t>
            </a:r>
            <a:r>
              <a:rPr lang="es-AR" sz="2000" b="0" i="1" strike="noStrike">
                <a:latin typeface="Arial"/>
                <a:ea typeface="Arial"/>
                <a:cs typeface="Arial"/>
                <a:sym typeface="Arial"/>
              </a:rPr>
              <a:t>generar</a:t>
            </a:r>
            <a:r>
              <a:rPr lang="es-AR" sz="2000" b="0" strike="noStrike">
                <a:latin typeface="Arial"/>
                <a:ea typeface="Arial"/>
                <a:cs typeface="Arial"/>
                <a:sym typeface="Arial"/>
              </a:rPr>
              <a:t> una excepción, se conoce como </a:t>
            </a:r>
            <a:r>
              <a:rPr lang="es-AR" sz="2000" b="0" i="1" strike="noStrike">
                <a:latin typeface="Arial"/>
                <a:ea typeface="Arial"/>
                <a:cs typeface="Arial"/>
                <a:sym typeface="Arial"/>
              </a:rPr>
              <a:t>lanzamiento</a:t>
            </a:r>
            <a:r>
              <a:rPr lang="es-AR" sz="2000" b="0" strike="noStrike">
                <a:latin typeface="Arial"/>
                <a:ea typeface="Arial"/>
                <a:cs typeface="Arial"/>
                <a:sym typeface="Arial"/>
              </a:rPr>
              <a:t>. Se dice que la excepción es </a:t>
            </a:r>
            <a:r>
              <a:rPr lang="es-AR" sz="2000" b="0" i="1" strike="noStrike">
                <a:latin typeface="Arial"/>
                <a:ea typeface="Arial"/>
                <a:cs typeface="Arial"/>
                <a:sym typeface="Arial"/>
              </a:rPr>
              <a:t>lanzada</a:t>
            </a:r>
            <a:r>
              <a:rPr lang="es-AR" sz="2000" b="0" strike="noStrike">
                <a:latin typeface="Arial"/>
                <a:ea typeface="Arial"/>
                <a:cs typeface="Arial"/>
                <a:sym typeface="Arial"/>
              </a:rPr>
              <a:t>. La ejecución se transfiere a un "captura". </a:t>
            </a:r>
            <a:r>
              <a:rPr lang="es-AR" sz="2000" b="0" u="sng" strike="noStrik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https://academia-lab.com/enciclopedia/manejo-de-excepciones/</a:t>
            </a:r>
            <a:r>
              <a:rPr lang="es-AR" sz="2000" b="0" strike="noStrike">
                <a:latin typeface="Arial"/>
                <a:ea typeface="Arial"/>
                <a:cs typeface="Arial"/>
                <a:sym typeface="Arial"/>
              </a:rPr>
              <a:t> </a:t>
            </a:r>
            <a:endParaRPr sz="2000" b="0" strike="noStrike">
              <a:latin typeface="Arial"/>
              <a:ea typeface="Arial"/>
              <a:cs typeface="Arial"/>
              <a:sym typeface="Arial"/>
            </a:endParaRPr>
          </a:p>
        </p:txBody>
      </p:sp>
      <p:sp>
        <p:nvSpPr>
          <p:cNvPr id="354" name="Google Shape;354;p3: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3</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4: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2" name="Google Shape;362;p4: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https://academia-lab.com/enciclopedia/manejo-de-excepciones/</a:t>
            </a:r>
            <a:endParaRPr sz="2000" b="0" strike="noStrike">
              <a:latin typeface="Arial"/>
              <a:ea typeface="Arial"/>
              <a:cs typeface="Arial"/>
              <a:sym typeface="Arial"/>
            </a:endParaRPr>
          </a:p>
        </p:txBody>
      </p:sp>
      <p:sp>
        <p:nvSpPr>
          <p:cNvPr id="363" name="Google Shape;363;p4: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4</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5: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70" name="Google Shape;370;p5: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6: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79" name="Google Shape;379;p6: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7: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87" name="Google Shape;387;p7: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8: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95" name="Google Shape;395;p8: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9: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04" name="Google Shape;404;p9: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10: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12" name="Google Shape;412;p10: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11: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0" name="Google Shape;420;p11: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421" name="Google Shape;421;p11: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11</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12: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29" name="Google Shape;429;p12: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13: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7" name="Google Shape;437;p13: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Clr>
                <a:srgbClr val="000000"/>
              </a:buClr>
              <a:buSzPts val="2000"/>
              <a:buFont typeface="Arial"/>
              <a:buNone/>
            </a:pPr>
            <a:r>
              <a:rPr lang="es-AR" sz="2000" b="0" u="sng" strike="noStrik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https://uned-sistemas-tiempo-real.readthedocs.io/es/latest/tema03.html</a:t>
            </a:r>
            <a:r>
              <a:rPr lang="es-AR" sz="2000" b="0" strike="noStrike">
                <a:latin typeface="Arial"/>
                <a:ea typeface="Arial"/>
                <a:cs typeface="Arial"/>
                <a:sym typeface="Arial"/>
              </a:rPr>
              <a:t> esta de donde lo saque?? No parece ser este link¡¡</a:t>
            </a:r>
            <a:endParaRPr sz="2000" b="0" strike="noStrike">
              <a:latin typeface="Arial"/>
              <a:ea typeface="Arial"/>
              <a:cs typeface="Arial"/>
              <a:sym typeface="Arial"/>
            </a:endParaRPr>
          </a:p>
        </p:txBody>
      </p:sp>
      <p:sp>
        <p:nvSpPr>
          <p:cNvPr id="438" name="Google Shape;438;p13: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13</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14: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5" name="Google Shape;445;p14: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Clr>
                <a:srgbClr val="000000"/>
              </a:buClr>
              <a:buSzPts val="2000"/>
              <a:buFont typeface="Arial"/>
              <a:buNone/>
            </a:pPr>
            <a:r>
              <a:rPr lang="es-AR" sz="2000" b="0" u="sng" strike="noStrik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https://uned-sistemas-tiempo-real.readthedocs.io/es/latest/tema03.html</a:t>
            </a:r>
            <a:r>
              <a:rPr lang="es-AR" sz="2000" b="0" strike="noStrike">
                <a:latin typeface="Arial"/>
                <a:ea typeface="Arial"/>
                <a:cs typeface="Arial"/>
                <a:sym typeface="Arial"/>
              </a:rPr>
              <a:t> </a:t>
            </a:r>
            <a:endParaRPr sz="2000" b="0" strike="noStrike">
              <a:latin typeface="Arial"/>
              <a:ea typeface="Arial"/>
              <a:cs typeface="Arial"/>
              <a:sym typeface="Arial"/>
            </a:endParaRPr>
          </a:p>
        </p:txBody>
      </p:sp>
      <p:sp>
        <p:nvSpPr>
          <p:cNvPr id="446" name="Google Shape;446;p14: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14</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5: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3" name="Google Shape;453;p15: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Clr>
                <a:srgbClr val="000000"/>
              </a:buClr>
              <a:buSzPts val="2000"/>
              <a:buFont typeface="Arial"/>
              <a:buNone/>
            </a:pPr>
            <a:r>
              <a:rPr lang="es-AR" sz="2000" b="0" u="sng" strike="noStrik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https://uned-sistemas-tiempo-real.readthedocs.io/es/latest/tema03.html</a:t>
            </a:r>
            <a:r>
              <a:rPr lang="es-AR" sz="2000" b="0" strike="noStrike">
                <a:latin typeface="Arial"/>
                <a:ea typeface="Arial"/>
                <a:cs typeface="Arial"/>
                <a:sym typeface="Arial"/>
              </a:rPr>
              <a:t> </a:t>
            </a:r>
            <a:endParaRPr sz="2000" b="0" strike="noStrike">
              <a:latin typeface="Arial"/>
              <a:ea typeface="Arial"/>
              <a:cs typeface="Arial"/>
              <a:sym typeface="Arial"/>
            </a:endParaRPr>
          </a:p>
        </p:txBody>
      </p:sp>
      <p:sp>
        <p:nvSpPr>
          <p:cNvPr id="454" name="Google Shape;454;p15: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15</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16: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1" name="Google Shape;461;p16: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Clr>
                <a:srgbClr val="000000"/>
              </a:buClr>
              <a:buSzPts val="2000"/>
              <a:buFont typeface="Arial"/>
              <a:buNone/>
            </a:pPr>
            <a:r>
              <a:rPr lang="es-AR" sz="2000" b="0" u="sng" strike="noStrik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https://uned-sistemas-tiempo-real.readthedocs.io/es/latest/tema03.html</a:t>
            </a:r>
            <a:r>
              <a:rPr lang="es-AR" sz="2000" b="0" strike="noStrike">
                <a:latin typeface="Arial"/>
                <a:ea typeface="Arial"/>
                <a:cs typeface="Arial"/>
                <a:sym typeface="Arial"/>
              </a:rPr>
              <a:t> </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VER ACA </a:t>
            </a:r>
            <a:r>
              <a:rPr lang="es-AR" sz="2000" b="0" u="sng" strike="noStrike">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https://academia-lab.com/enciclopedia/manejo-de-excepciones/</a:t>
            </a:r>
            <a:r>
              <a:rPr lang="es-AR" sz="2000" b="1" strike="noStrike">
                <a:latin typeface="Arial"/>
                <a:ea typeface="Arial"/>
                <a:cs typeface="Arial"/>
                <a:sym typeface="Arial"/>
              </a:rPr>
              <a:t> SEMANTICA LAS 2!!!</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Arial"/>
              <a:buNone/>
            </a:pPr>
            <a:r>
              <a:rPr lang="es-AR" sz="2000" b="1" strike="noStrike">
                <a:latin typeface="Arial"/>
                <a:ea typeface="Arial"/>
                <a:cs typeface="Arial"/>
                <a:sym typeface="Arial"/>
              </a:rPr>
              <a:t>VER SI ESTO DE GPTCHAT ES CORRECTO?? CREO QUE NO !!!</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La clasificación de los lenguajes de programación como "por reanudación" o "por terminación" se refiere al comportamiento del manejo de excepciones en cada lenguaje.</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En el contexto de las excepciones, "por reanudación" se refiere a aquellos lenguajes en los que el flujo de ejecución se puede reanudar después de manejar una excepción. Esto significa que después de capturar y manejar una excepción, el programa puede continuar su ejecución normal desde el punto en el que se produjo la excepción. En este caso, el manejo de excepciones no interrumpe definitivamente el flujo del programa.</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Por otro lado, "por terminación" se refiere a aquellos lenguajes en los que el manejo de una excepción termina la ejecución del programa o de la función en la que se produjo la excepción. Esto implica que, una vez que se lanza una excepción y se captura en un bloque </a:t>
            </a:r>
            <a:r>
              <a:rPr lang="es-AR" sz="2000" b="1" strike="noStrike">
                <a:latin typeface="Arial"/>
                <a:ea typeface="Arial"/>
                <a:cs typeface="Arial"/>
                <a:sym typeface="Arial"/>
              </a:rPr>
              <a:t>catch</a:t>
            </a:r>
            <a:r>
              <a:rPr lang="es-AR" sz="2000" b="0" strike="noStrike">
                <a:latin typeface="Arial"/>
                <a:ea typeface="Arial"/>
                <a:cs typeface="Arial"/>
                <a:sym typeface="Arial"/>
              </a:rPr>
              <a:t>, la ejecución no se reanuda desde el punto en el que se produjo la excepción, sino que finaliza en ese punto.</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En el caso de PL/1, se considera un lenguaje "por reanudación" en términos de manejo de excepciones, ya que después de manejar una excepción, el flujo de ejecución puede continuar desde la sentencia siguiente a la que generó la excepción.</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En contraste, en C++ se considera un lenguaje "por terminación", ya que una vez que una excepción es capturada y manejada en un bloque </a:t>
            </a:r>
            <a:r>
              <a:rPr lang="es-AR" sz="2000" b="1" strike="noStrike">
                <a:latin typeface="Arial"/>
                <a:ea typeface="Arial"/>
                <a:cs typeface="Arial"/>
                <a:sym typeface="Arial"/>
              </a:rPr>
              <a:t>catch</a:t>
            </a:r>
            <a:r>
              <a:rPr lang="es-AR" sz="2000" b="0" strike="noStrike">
                <a:latin typeface="Arial"/>
                <a:ea typeface="Arial"/>
                <a:cs typeface="Arial"/>
                <a:sym typeface="Arial"/>
              </a:rPr>
              <a:t>, la ejecución no se reanuda desde el punto de lanzamiento de la excepción, sino que continúa desde la sentencia siguiente al bloque </a:t>
            </a:r>
            <a:r>
              <a:rPr lang="es-AR" sz="2000" b="1" strike="noStrike">
                <a:latin typeface="Arial"/>
                <a:ea typeface="Arial"/>
                <a:cs typeface="Arial"/>
                <a:sym typeface="Arial"/>
              </a:rPr>
              <a:t>catch</a:t>
            </a:r>
            <a:r>
              <a:rPr lang="es-AR" sz="2000" b="0" strike="noStrike">
                <a:latin typeface="Arial"/>
                <a:ea typeface="Arial"/>
                <a:cs typeface="Arial"/>
                <a:sym typeface="Arial"/>
              </a:rPr>
              <a:t>. Además, si una excepción no es capturada en ningún bloque </a:t>
            </a:r>
            <a:r>
              <a:rPr lang="es-AR" sz="2000" b="1" strike="noStrike">
                <a:latin typeface="Arial"/>
                <a:ea typeface="Arial"/>
                <a:cs typeface="Arial"/>
                <a:sym typeface="Arial"/>
              </a:rPr>
              <a:t>catch</a:t>
            </a:r>
            <a:r>
              <a:rPr lang="es-AR" sz="2000" b="0" strike="noStrike">
                <a:latin typeface="Arial"/>
                <a:ea typeface="Arial"/>
                <a:cs typeface="Arial"/>
                <a:sym typeface="Arial"/>
              </a:rPr>
              <a:t>, el programa termina su ejecución.</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p:txBody>
      </p:sp>
      <p:sp>
        <p:nvSpPr>
          <p:cNvPr id="462" name="Google Shape;462;p16: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16</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17: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2" name="Google Shape;472;p17: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CLU es un lenguaje de programación creado por el instituto de tecnología de Massachusetts (MIT) por Barbara Liskov y sus estudiantes entre 1974 y 1975. Usaba constructores para los tipos de datos abstractos que se incluyeron en el código, un paso adelante en la programación orientada a objetos (POO).</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VER ACA HAY OTROS </a:t>
            </a:r>
            <a:r>
              <a:rPr lang="es-AR" sz="2000" b="0" u="sng" strike="noStrik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https://academia-lab.com/enciclopedia/manejo-de-excepciones/</a:t>
            </a:r>
            <a:r>
              <a:rPr lang="es-AR" sz="2000" b="0" strike="noStrike">
                <a:latin typeface="Arial"/>
                <a:ea typeface="Arial"/>
                <a:cs typeface="Arial"/>
                <a:sym typeface="Arial"/>
              </a:rPr>
              <a:t> </a:t>
            </a:r>
            <a:endParaRPr sz="2000" b="0" strike="noStrike">
              <a:latin typeface="Arial"/>
              <a:ea typeface="Arial"/>
              <a:cs typeface="Arial"/>
              <a:sym typeface="Arial"/>
            </a:endParaRPr>
          </a:p>
        </p:txBody>
      </p:sp>
      <p:sp>
        <p:nvSpPr>
          <p:cNvPr id="473" name="Google Shape;473;p17: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17</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18:notes"/>
          <p:cNvSpPr>
            <a:spLocks noGrp="1" noRot="1" noChangeAspect="1"/>
          </p:cNvSpPr>
          <p:nvPr>
            <p:ph type="sldImg" idx="2"/>
          </p:nvPr>
        </p:nvSpPr>
        <p:spPr>
          <a:xfrm>
            <a:off x="1106640" y="812880"/>
            <a:ext cx="53449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3" name="Google Shape;483;p18: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426599" lvl="1" indent="-426599" algn="just" rtl="0">
              <a:lnSpc>
                <a:spcPct val="93000"/>
              </a:lnSpc>
              <a:spcBef>
                <a:spcPts val="0"/>
              </a:spcBef>
              <a:spcAft>
                <a:spcPts val="0"/>
              </a:spcAft>
              <a:buClr>
                <a:srgbClr val="000000"/>
              </a:buClr>
              <a:buSzPts val="2000"/>
              <a:buFont typeface="Noto Sans Symbols"/>
              <a:buChar char=""/>
            </a:pPr>
            <a:r>
              <a:rPr lang="es-AR" sz="2000" b="0" strike="noStrike">
                <a:latin typeface="Arial"/>
                <a:ea typeface="Arial"/>
                <a:cs typeface="Arial"/>
                <a:sym typeface="Arial"/>
              </a:rPr>
              <a:t>Alcance de una excepción y búsqueda del manejador: a medida que se va ejecutando el proceso y se encuentran ON CONDITION se apila el manejador en una pila de manejadores, cunado se levanta una excepción se busca el nombre de la misma desde el tope de la pila hacia abajo, el primer manejador que se encuentra es el que se ejecuta.</a:t>
            </a:r>
            <a:endParaRPr sz="2000" b="0" strike="noStrike">
              <a:latin typeface="Arial"/>
              <a:ea typeface="Arial"/>
              <a:cs typeface="Arial"/>
              <a:sym typeface="Arial"/>
            </a:endParaRPr>
          </a:p>
          <a:p>
            <a:pPr marL="426599" lvl="1" indent="-426599" algn="just" rtl="0">
              <a:lnSpc>
                <a:spcPct val="93000"/>
              </a:lnSpc>
              <a:spcBef>
                <a:spcPts val="0"/>
              </a:spcBef>
              <a:spcAft>
                <a:spcPts val="0"/>
              </a:spcAft>
              <a:buClr>
                <a:srgbClr val="000000"/>
              </a:buClr>
              <a:buSzPts val="2000"/>
              <a:buFont typeface="Noto Sans Symbols"/>
              <a:buChar char=""/>
            </a:pPr>
            <a:r>
              <a:rPr lang="es-AR" sz="2000" b="0" strike="noStrike">
                <a:latin typeface="Arial"/>
                <a:ea typeface="Arial"/>
                <a:cs typeface="Arial"/>
                <a:sym typeface="Arial"/>
              </a:rPr>
              <a:t>Dentro de un bloque puede haber n cantidad de manejadores en cualquier lugar.</a:t>
            </a:r>
            <a:endParaRPr sz="2000" b="0" strike="noStrike">
              <a:latin typeface="Arial"/>
              <a:ea typeface="Arial"/>
              <a:cs typeface="Arial"/>
              <a:sym typeface="Arial"/>
            </a:endParaRPr>
          </a:p>
          <a:p>
            <a:pPr marL="0" lvl="0" indent="0" algn="l" rtl="0">
              <a:lnSpc>
                <a:spcPct val="100000"/>
              </a:lnSpc>
              <a:spcBef>
                <a:spcPts val="0"/>
              </a:spcBef>
              <a:spcAft>
                <a:spcPts val="0"/>
              </a:spcAft>
              <a:buSzPts val="2000"/>
              <a:buNone/>
            </a:pPr>
            <a:endParaRPr sz="2000" b="0" strike="noStrike">
              <a:latin typeface="Arial"/>
              <a:ea typeface="Arial"/>
              <a:cs typeface="Arial"/>
              <a:sym typeface="Arial"/>
            </a:endParaRPr>
          </a:p>
        </p:txBody>
      </p:sp>
      <p:sp>
        <p:nvSpPr>
          <p:cNvPr id="484" name="Google Shape;484;p18:notes"/>
          <p:cNvSpPr/>
          <p:nvPr/>
        </p:nvSpPr>
        <p:spPr>
          <a:xfrm>
            <a:off x="2821320" y="441324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18</a:t>
            </a:fld>
            <a:endParaRPr sz="1800" b="0" i="0" u="none" strike="noStrike" cap="none">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19: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19</a:t>
            </a:fld>
            <a:endParaRPr sz="1800" b="0" i="0" u="none" strike="noStrike" cap="none">
              <a:solidFill>
                <a:srgbClr val="000000"/>
              </a:solidFill>
              <a:latin typeface="Times New Roman"/>
              <a:ea typeface="Times New Roman"/>
              <a:cs typeface="Times New Roman"/>
              <a:sym typeface="Times New Roman"/>
            </a:endParaRPr>
          </a:p>
        </p:txBody>
      </p:sp>
      <p:sp>
        <p:nvSpPr>
          <p:cNvPr id="491" name="Google Shape;491;p19:notes"/>
          <p:cNvSpPr>
            <a:spLocks noGrp="1" noRot="1" noChangeAspect="1"/>
          </p:cNvSpPr>
          <p:nvPr>
            <p:ph type="sldImg" idx="2"/>
          </p:nvPr>
        </p:nvSpPr>
        <p:spPr>
          <a:xfrm>
            <a:off x="1106640" y="812880"/>
            <a:ext cx="53449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2" name="Google Shape;492;p19:notes"/>
          <p:cNvSpPr/>
          <p:nvPr/>
        </p:nvSpPr>
        <p:spPr>
          <a:xfrm>
            <a:off x="755640" y="5078520"/>
            <a:ext cx="6046560" cy="480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9: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20: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2" name="Google Shape;502;p20: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Arial"/>
              <a:buNone/>
            </a:pPr>
            <a:r>
              <a:rPr lang="es-AR" sz="2000" b="1" strike="noStrike">
                <a:latin typeface="Arial"/>
                <a:ea typeface="Arial"/>
                <a:cs typeface="Arial"/>
                <a:sym typeface="Arial"/>
              </a:rPr>
              <a:t> Una excepción siempre estará ligada con el último manejador definido.?? Y alcanse!!!</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Arial"/>
              <a:buNone/>
            </a:pPr>
            <a:r>
              <a:rPr lang="es-AR" sz="2000" b="1" strike="noStrike">
                <a:latin typeface="Arial"/>
                <a:ea typeface="Arial"/>
                <a:cs typeface="Arial"/>
                <a:sym typeface="Arial"/>
              </a:rPr>
              <a:t>VERIFICAR ESTO!!</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Arial"/>
              <a:buNone/>
            </a:pPr>
            <a:r>
              <a:rPr lang="es-AR" sz="2000" b="1" strike="noStrike">
                <a:latin typeface="Arial"/>
                <a:ea typeface="Arial"/>
                <a:cs typeface="Arial"/>
                <a:sym typeface="Arial"/>
              </a:rPr>
              <a:t>VER ENLACE DINAMICO DE PL/I</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Arial"/>
              <a:buNone/>
            </a:pPr>
            <a:r>
              <a:rPr lang="es-AR" sz="2000" b="1" strike="noStrike">
                <a:latin typeface="Arial"/>
                <a:ea typeface="Arial"/>
                <a:cs typeface="Arial"/>
                <a:sym typeface="Arial"/>
              </a:rPr>
              <a:t>Supongo que es por el manejo de la pila de excepciones en PL/1</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p:txBody>
      </p:sp>
      <p:sp>
        <p:nvSpPr>
          <p:cNvPr id="503" name="Google Shape;503;p20: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20</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21:notes"/>
          <p:cNvSpPr>
            <a:spLocks noGrp="1" noRot="1" noChangeAspect="1"/>
          </p:cNvSpPr>
          <p:nvPr>
            <p:ph type="sldImg" idx="2"/>
          </p:nvPr>
        </p:nvSpPr>
        <p:spPr>
          <a:xfrm>
            <a:off x="-58680" y="695160"/>
            <a:ext cx="474480" cy="3567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0" name="Google Shape;510;p21:notes"/>
          <p:cNvSpPr txBox="1">
            <a:spLocks noGrp="1"/>
          </p:cNvSpPr>
          <p:nvPr>
            <p:ph type="body" idx="1"/>
          </p:nvPr>
        </p:nvSpPr>
        <p:spPr>
          <a:xfrm>
            <a:off x="685800" y="4343400"/>
            <a:ext cx="5482080" cy="411084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Arial"/>
              <a:buNone/>
            </a:pPr>
            <a:r>
              <a:rPr lang="es-AR" sz="2000" b="1" strike="noStrike">
                <a:latin typeface="Arial"/>
                <a:ea typeface="Arial"/>
                <a:cs typeface="Arial"/>
                <a:sym typeface="Arial"/>
              </a:rPr>
              <a:t>viviana Ambrosi </a:t>
            </a:r>
            <a:r>
              <a:rPr lang="es-AR" sz="2000" b="0" strike="noStrike">
                <a:latin typeface="Arial"/>
                <a:ea typeface="Arial"/>
                <a:cs typeface="Arial"/>
                <a:sym typeface="Arial"/>
              </a:rPr>
              <a:t>DE DONDE SACARON ESTO DE PILA DE EXCEPCIONES??? BIBLIOGRAFIA?</a:t>
            </a:r>
            <a:endParaRPr sz="2000" b="0" strike="noStrike">
              <a:latin typeface="Arial"/>
              <a:ea typeface="Arial"/>
              <a:cs typeface="Arial"/>
              <a:sym typeface="Arial"/>
            </a:endParaRPr>
          </a:p>
          <a:p>
            <a:pPr marL="216000" lvl="0" indent="-213840" algn="l" rtl="0">
              <a:lnSpc>
                <a:spcPct val="100000"/>
              </a:lnSpc>
              <a:spcBef>
                <a:spcPts val="0"/>
              </a:spcBef>
              <a:spcAft>
                <a:spcPts val="0"/>
              </a:spcAft>
              <a:buSzPts val="1200"/>
              <a:buNone/>
            </a:pPr>
            <a:endParaRPr sz="1200" b="0" strike="noStrike">
              <a:latin typeface="Arial"/>
              <a:ea typeface="Arial"/>
              <a:cs typeface="Arial"/>
              <a:sym typeface="Arial"/>
            </a:endParaRPr>
          </a:p>
          <a:p>
            <a:pPr marL="426599" lvl="1" indent="-426599" algn="just" rtl="0">
              <a:lnSpc>
                <a:spcPct val="93000"/>
              </a:lnSpc>
              <a:spcBef>
                <a:spcPts val="0"/>
              </a:spcBef>
              <a:spcAft>
                <a:spcPts val="0"/>
              </a:spcAft>
              <a:buClr>
                <a:srgbClr val="000000"/>
              </a:buClr>
              <a:buSzPts val="2000"/>
              <a:buFont typeface="Noto Sans Symbols"/>
              <a:buChar char=""/>
            </a:pPr>
            <a:r>
              <a:rPr lang="es-AR" sz="2000" b="0" strike="noStrike">
                <a:latin typeface="Times New Roman"/>
                <a:ea typeface="Times New Roman"/>
                <a:cs typeface="Times New Roman"/>
                <a:sym typeface="Times New Roman"/>
              </a:rPr>
              <a:t>Yo lo encontre en UNA PPT VIEJA DICE "Alcance de una excepción y búsqueda del manejador: a medida que se va ejecutando el proceso y se encuentran ON CONDITION se apila el manejador en una pila de manejadores, cunado se levanta una excepción se busca el nombre de la misma desde el tope de la pila hacia abajo, el primer manejador que se encuentra es el que se ejecuta.</a:t>
            </a:r>
            <a:endParaRPr sz="2000" b="0" strike="noStrike">
              <a:latin typeface="Arial"/>
              <a:ea typeface="Arial"/>
              <a:cs typeface="Arial"/>
              <a:sym typeface="Arial"/>
            </a:endParaRPr>
          </a:p>
          <a:p>
            <a:pPr marL="426599" lvl="1" indent="-426599" algn="just" rtl="0">
              <a:lnSpc>
                <a:spcPct val="93000"/>
              </a:lnSpc>
              <a:spcBef>
                <a:spcPts val="0"/>
              </a:spcBef>
              <a:spcAft>
                <a:spcPts val="0"/>
              </a:spcAft>
              <a:buClr>
                <a:srgbClr val="000000"/>
              </a:buClr>
              <a:buSzPts val="2000"/>
              <a:buFont typeface="Noto Sans Symbols"/>
              <a:buChar char=""/>
            </a:pPr>
            <a:r>
              <a:rPr lang="es-AR" sz="2000" b="0" strike="noStrike">
                <a:latin typeface="Times New Roman"/>
                <a:ea typeface="Times New Roman"/>
                <a:cs typeface="Times New Roman"/>
                <a:sym typeface="Times New Roman"/>
              </a:rPr>
              <a:t>Dentro de un bloque puede haber n cantidad de manejadores en cualquier lugar."  </a:t>
            </a:r>
            <a:r>
              <a:rPr lang="es-AR" sz="2000" b="1" strike="noStrike">
                <a:latin typeface="Times New Roman"/>
                <a:ea typeface="Times New Roman"/>
                <a:cs typeface="Times New Roman"/>
                <a:sym typeface="Times New Roman"/>
              </a:rPr>
              <a:t>DE QUE BIBLIOGRAFÍA SALIÓ ESTO??</a:t>
            </a:r>
            <a:endParaRPr sz="2000" b="0" strike="noStrike">
              <a:latin typeface="Arial"/>
              <a:ea typeface="Arial"/>
              <a:cs typeface="Arial"/>
              <a:sym typeface="Arial"/>
            </a:endParaRPr>
          </a:p>
          <a:p>
            <a:pPr marL="0" lvl="0" indent="0" algn="just" rtl="0">
              <a:lnSpc>
                <a:spcPct val="93000"/>
              </a:lnSpc>
              <a:spcBef>
                <a:spcPts val="0"/>
              </a:spcBef>
              <a:spcAft>
                <a:spcPts val="0"/>
              </a:spcAft>
              <a:buSzPts val="2000"/>
              <a:buNone/>
            </a:pPr>
            <a:endParaRPr sz="2000" b="0" strike="noStrike">
              <a:latin typeface="Arial"/>
              <a:ea typeface="Arial"/>
              <a:cs typeface="Arial"/>
              <a:sym typeface="Arial"/>
            </a:endParaRPr>
          </a:p>
          <a:p>
            <a:pPr marL="426599" lvl="1" indent="-426599" algn="just" rtl="0">
              <a:lnSpc>
                <a:spcPct val="93000"/>
              </a:lnSpc>
              <a:spcBef>
                <a:spcPts val="0"/>
              </a:spcBef>
              <a:spcAft>
                <a:spcPts val="0"/>
              </a:spcAft>
              <a:buClr>
                <a:srgbClr val="000000"/>
              </a:buClr>
              <a:buSzPts val="2000"/>
              <a:buFont typeface="Noto Sans Symbols"/>
              <a:buChar char=""/>
            </a:pPr>
            <a:r>
              <a:rPr lang="es-AR" sz="2000" b="1" strike="noStrike">
                <a:latin typeface="Times New Roman"/>
                <a:ea typeface="Times New Roman"/>
                <a:cs typeface="Times New Roman"/>
                <a:sym typeface="Times New Roman"/>
              </a:rPr>
              <a:t>LO MAS PARECIDO QUE ENCONTRE Y NO DE PL/1 ES </a:t>
            </a:r>
            <a:r>
              <a:rPr lang="es-AR" sz="2000" b="0" u="sng" strike="noStrike">
                <a:solidFill>
                  <a:srgbClr val="000000"/>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https://academia-lab.com/enciclopedia/manejo-de-excepciones/</a:t>
            </a:r>
            <a:r>
              <a:rPr lang="es-AR" sz="2000" b="0" strike="noStrike">
                <a:latin typeface="Times New Roman"/>
                <a:ea typeface="Times New Roman"/>
                <a:cs typeface="Times New Roman"/>
                <a:sym typeface="Times New Roman"/>
              </a:rPr>
              <a:t> </a:t>
            </a:r>
            <a:endParaRPr sz="2000" b="0" strike="noStrike">
              <a:latin typeface="Arial"/>
              <a:ea typeface="Arial"/>
              <a:cs typeface="Arial"/>
              <a:sym typeface="Arial"/>
            </a:endParaRPr>
          </a:p>
          <a:p>
            <a:pPr marL="216000" lvl="0" indent="-213840" algn="l" rtl="0">
              <a:lnSpc>
                <a:spcPct val="100000"/>
              </a:lnSpc>
              <a:spcBef>
                <a:spcPts val="0"/>
              </a:spcBef>
              <a:spcAft>
                <a:spcPts val="0"/>
              </a:spcAft>
              <a:buSzPts val="2000"/>
              <a:buNone/>
            </a:pPr>
            <a:endParaRPr sz="2000" b="0" strike="noStrike">
              <a:latin typeface="Arial"/>
              <a:ea typeface="Arial"/>
              <a:cs typeface="Arial"/>
              <a:sym typeface="Arial"/>
            </a:endParaRPr>
          </a:p>
          <a:p>
            <a:pPr marL="216000" lvl="0" indent="-213840" algn="l" rtl="0">
              <a:lnSpc>
                <a:spcPct val="100000"/>
              </a:lnSpc>
              <a:spcBef>
                <a:spcPts val="0"/>
              </a:spcBef>
              <a:spcAft>
                <a:spcPts val="0"/>
              </a:spcAft>
              <a:buSzPts val="2000"/>
              <a:buFont typeface="Arial"/>
              <a:buNone/>
            </a:pPr>
            <a:r>
              <a:rPr lang="es-AR" sz="2000" b="1" strike="noStrike">
                <a:latin typeface="Arial"/>
                <a:ea typeface="Arial"/>
                <a:cs typeface="Arial"/>
                <a:sym typeface="Arial"/>
              </a:rPr>
              <a:t>SERÁ POR ESTO?? VER SI ES CORRECTO:</a:t>
            </a:r>
            <a:endParaRPr sz="2000" b="0" strike="noStrike">
              <a:latin typeface="Arial"/>
              <a:ea typeface="Arial"/>
              <a:cs typeface="Arial"/>
              <a:sym typeface="Arial"/>
            </a:endParaRPr>
          </a:p>
          <a:p>
            <a:pPr marL="216000" lvl="0" indent="-213840" algn="l" rtl="0">
              <a:lnSpc>
                <a:spcPct val="100000"/>
              </a:lnSpc>
              <a:spcBef>
                <a:spcPts val="0"/>
              </a:spcBef>
              <a:spcAft>
                <a:spcPts val="0"/>
              </a:spcAft>
              <a:buSzPts val="2000"/>
              <a:buFont typeface="Arial"/>
              <a:buNone/>
            </a:pPr>
            <a:r>
              <a:rPr lang="es-AR" sz="2000" b="1" strike="noStrike">
                <a:latin typeface="Arial"/>
                <a:ea typeface="Arial"/>
                <a:cs typeface="Arial"/>
                <a:sym typeface="Arial"/>
              </a:rPr>
              <a:t>Si se definen dos manejadores de excepciones con el mismo nombre en diferentes ámbitos, el manejador de excepciones que se ejecuta depende del ámbito en el que se produce la excepción. El manejador de excepciones más cercano en el ámbito donde se produce la excepción se considera el manejador activo y se ejecutará.</a:t>
            </a:r>
            <a:endParaRPr sz="2000" b="0" strike="noStrike">
              <a:latin typeface="Arial"/>
              <a:ea typeface="Arial"/>
              <a:cs typeface="Arial"/>
              <a:sym typeface="Arial"/>
            </a:endParaRPr>
          </a:p>
          <a:p>
            <a:pPr marL="216000" lvl="0" indent="-213840" algn="l" rtl="0">
              <a:lnSpc>
                <a:spcPct val="100000"/>
              </a:lnSpc>
              <a:spcBef>
                <a:spcPts val="0"/>
              </a:spcBef>
              <a:spcAft>
                <a:spcPts val="0"/>
              </a:spcAft>
              <a:buSzPts val="2000"/>
              <a:buNone/>
            </a:pPr>
            <a:endParaRPr sz="2000" b="0" strike="noStrike">
              <a:latin typeface="Arial"/>
              <a:ea typeface="Arial"/>
              <a:cs typeface="Arial"/>
              <a:sym typeface="Arial"/>
            </a:endParaRPr>
          </a:p>
          <a:p>
            <a:pPr marL="216000" lvl="0" indent="-213840" algn="l" rtl="0">
              <a:lnSpc>
                <a:spcPct val="100000"/>
              </a:lnSpc>
              <a:spcBef>
                <a:spcPts val="0"/>
              </a:spcBef>
              <a:spcAft>
                <a:spcPts val="0"/>
              </a:spcAft>
              <a:buSzPts val="2000"/>
              <a:buFont typeface="Arial"/>
              <a:buNone/>
            </a:pPr>
            <a:r>
              <a:rPr lang="es-AR" sz="2000" b="1" strike="noStrike">
                <a:latin typeface="Arial"/>
                <a:ea typeface="Arial"/>
                <a:cs typeface="Arial"/>
                <a:sym typeface="Arial"/>
              </a:rPr>
              <a:t>SERÁ QUE ON CONDITION ES LA DECLARACIÓN??, SE conoce de la declaración para abajo??</a:t>
            </a:r>
            <a:endParaRPr sz="2000" b="0" strike="noStrike">
              <a:latin typeface="Arial"/>
              <a:ea typeface="Arial"/>
              <a:cs typeface="Arial"/>
              <a:sym typeface="Arial"/>
            </a:endParaRPr>
          </a:p>
          <a:p>
            <a:pPr marL="216000" lvl="0" indent="-213840" algn="l" rtl="0">
              <a:lnSpc>
                <a:spcPct val="100000"/>
              </a:lnSpc>
              <a:spcBef>
                <a:spcPts val="0"/>
              </a:spcBef>
              <a:spcAft>
                <a:spcPts val="0"/>
              </a:spcAft>
              <a:buSzPts val="2000"/>
              <a:buNone/>
            </a:pPr>
            <a:endParaRPr sz="2000" b="0" strike="noStrike">
              <a:latin typeface="Arial"/>
              <a:ea typeface="Arial"/>
              <a:cs typeface="Arial"/>
              <a:sym typeface="Arial"/>
            </a:endParaRPr>
          </a:p>
          <a:p>
            <a:pPr marL="216000" lvl="0" indent="-213840" algn="l" rtl="0">
              <a:lnSpc>
                <a:spcPct val="100000"/>
              </a:lnSpc>
              <a:spcBef>
                <a:spcPts val="0"/>
              </a:spcBef>
              <a:spcAft>
                <a:spcPts val="0"/>
              </a:spcAft>
              <a:buSzPts val="2000"/>
              <a:buNone/>
            </a:pPr>
            <a:br>
              <a:rPr lang="es-AR" sz="2000"/>
            </a:br>
            <a:r>
              <a:rPr lang="es-AR" sz="2000" b="0" strike="noStrike">
                <a:latin typeface="Arial"/>
                <a:ea typeface="Arial"/>
                <a:cs typeface="Arial"/>
                <a:sym typeface="Arial"/>
              </a:rPr>
              <a:t>En el contexto del manejo de excepciones, una "pila de manejadores" se refiere a una estructura de datos utilizada para almacenar y administrar los manejadores de excepciones en un programa.</a:t>
            </a:r>
            <a:endParaRPr sz="2000" b="0" strike="noStrike">
              <a:latin typeface="Arial"/>
              <a:ea typeface="Arial"/>
              <a:cs typeface="Arial"/>
              <a:sym typeface="Arial"/>
            </a:endParaRPr>
          </a:p>
          <a:p>
            <a:pPr marL="216000" lvl="0" indent="-21384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Una pila de manejadores (también conocida como pila de excepciones o stack de manejadores) se organiza en forma de pila, donde los manejadores más recientes se colocan en la parte superior de la pila y los manejadores anteriores se encuentran debajo en orden de inserción. Cada manejador en la pila contiene información relevante sobre el tipo de excepción que maneja y el código de manejo correspondiente.</a:t>
            </a:r>
            <a:endParaRPr sz="2000" b="0" strike="noStrike">
              <a:latin typeface="Arial"/>
              <a:ea typeface="Arial"/>
              <a:cs typeface="Arial"/>
              <a:sym typeface="Arial"/>
            </a:endParaRPr>
          </a:p>
          <a:p>
            <a:pPr marL="216000" lvl="0" indent="-21384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Cuando ocurre una excepción, el sistema de manejo de excepciones busca en la pila de manejadores desde la parte superior hacia abajo para encontrar el manejador más específico que pueda manejar la excepción. El manejador correspondiente se ejecuta y, si es necesario, puede realizar acciones como registrar información de depuración, recuperar el estado del programa o realizar algún tipo de recuperación.</a:t>
            </a:r>
            <a:endParaRPr sz="2000" b="0" strike="noStrike">
              <a:latin typeface="Arial"/>
              <a:ea typeface="Arial"/>
              <a:cs typeface="Arial"/>
              <a:sym typeface="Arial"/>
            </a:endParaRPr>
          </a:p>
          <a:p>
            <a:pPr marL="216000" lvl="0" indent="-21384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Después de manejar la excepción, el manejador se retira de la pila, y el sistema de manejo de excepciones continúa buscando manejadores adicionales en caso de que la excepción no haya sido completamente resuelta. Si no se encuentra ningún manejador adecuado en la pila, la excepción puede propagarse a un nivel superior del programa o finalizar la ejecución del programa.</a:t>
            </a:r>
            <a:endParaRPr sz="2000" b="0" strike="noStrike">
              <a:latin typeface="Arial"/>
              <a:ea typeface="Arial"/>
              <a:cs typeface="Arial"/>
              <a:sym typeface="Arial"/>
            </a:endParaRPr>
          </a:p>
          <a:p>
            <a:pPr marL="216000" lvl="0" indent="-21384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La pila de manejadores proporciona un mecanismo eficiente y ordenado para el manejo de excepciones, ya que permite gestionar múltiples excepciones y garantizar que se ejecute el manejador adecuado para cada caso. También permite un manejo de excepciones anidado, donde un manejador puede invocar a otro manejador para una excepción más específica.</a:t>
            </a:r>
            <a:endParaRPr sz="2000" b="0" strike="noStrike">
              <a:latin typeface="Arial"/>
              <a:ea typeface="Arial"/>
              <a:cs typeface="Arial"/>
              <a:sym typeface="Arial"/>
            </a:endParaRPr>
          </a:p>
          <a:p>
            <a:pPr marL="216000" lvl="0" indent="-21384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Es importante tener en cuenta que la implementación y la estructura exacta de la pila de manejadores pueden variar según el lenguaje de programación y el entorno de ejecución específicos. Sin embargo, el concepto fundamental de una pila de manejadores se mantiene consistente en la mayoría de los sistemas de manejo de excepciones.</a:t>
            </a:r>
            <a:endParaRPr sz="2000" b="0" strike="noStrike">
              <a:latin typeface="Arial"/>
              <a:ea typeface="Arial"/>
              <a:cs typeface="Arial"/>
              <a:sym typeface="Arial"/>
            </a:endParaRPr>
          </a:p>
          <a:p>
            <a:pPr marL="216000" lvl="0" indent="-213840" algn="l" rtl="0">
              <a:lnSpc>
                <a:spcPct val="100000"/>
              </a:lnSpc>
              <a:spcBef>
                <a:spcPts val="0"/>
              </a:spcBef>
              <a:spcAft>
                <a:spcPts val="0"/>
              </a:spcAft>
              <a:buSzPts val="2000"/>
              <a:buNone/>
            </a:pPr>
            <a:endParaRPr sz="2000" b="0" strike="noStrike">
              <a:latin typeface="Arial"/>
              <a:ea typeface="Arial"/>
              <a:cs typeface="Arial"/>
              <a:sym typeface="Arial"/>
            </a:endParaRPr>
          </a:p>
          <a:p>
            <a:pPr marL="216000" lvl="0" indent="-213840" algn="l" rtl="0">
              <a:lnSpc>
                <a:spcPct val="100000"/>
              </a:lnSpc>
              <a:spcBef>
                <a:spcPts val="0"/>
              </a:spcBef>
              <a:spcAft>
                <a:spcPts val="0"/>
              </a:spcAft>
              <a:buSzPts val="2000"/>
              <a:buNone/>
            </a:pPr>
            <a:endParaRPr sz="2000" b="0" strike="noStrike">
              <a:latin typeface="Arial"/>
              <a:ea typeface="Arial"/>
              <a:cs typeface="Arial"/>
              <a:sym typeface="Arial"/>
            </a:endParaRPr>
          </a:p>
          <a:p>
            <a:pPr marL="216000" lvl="0" indent="-213840" algn="l" rtl="0">
              <a:lnSpc>
                <a:spcPct val="100000"/>
              </a:lnSpc>
              <a:spcBef>
                <a:spcPts val="0"/>
              </a:spcBef>
              <a:spcAft>
                <a:spcPts val="0"/>
              </a:spcAft>
              <a:buSzPts val="2000"/>
              <a:buNone/>
            </a:pPr>
            <a:endParaRPr sz="2000" b="0" strike="noStrike">
              <a:latin typeface="Arial"/>
              <a:ea typeface="Arial"/>
              <a:cs typeface="Arial"/>
              <a:sym typeface="Arial"/>
            </a:endParaRPr>
          </a:p>
          <a:p>
            <a:pPr marL="216000" lvl="0" indent="-213840" algn="l" rtl="0">
              <a:lnSpc>
                <a:spcPct val="100000"/>
              </a:lnSpc>
              <a:spcBef>
                <a:spcPts val="0"/>
              </a:spcBef>
              <a:spcAft>
                <a:spcPts val="0"/>
              </a:spcAft>
              <a:buSzPts val="2000"/>
              <a:buNone/>
            </a:pPr>
            <a:endParaRPr sz="2000" b="0" strike="noStrike">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22:notes"/>
          <p:cNvSpPr>
            <a:spLocks noGrp="1" noRot="1" noChangeAspect="1"/>
          </p:cNvSpPr>
          <p:nvPr>
            <p:ph type="sldImg" idx="2"/>
          </p:nvPr>
        </p:nvSpPr>
        <p:spPr>
          <a:xfrm>
            <a:off x="-58680" y="695160"/>
            <a:ext cx="474480" cy="3567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0" name="Google Shape;530;p22:notes"/>
          <p:cNvSpPr txBox="1">
            <a:spLocks noGrp="1"/>
          </p:cNvSpPr>
          <p:nvPr>
            <p:ph type="body" idx="1"/>
          </p:nvPr>
        </p:nvSpPr>
        <p:spPr>
          <a:xfrm>
            <a:off x="685800" y="4343400"/>
            <a:ext cx="5482080" cy="4110840"/>
          </a:xfrm>
          <a:prstGeom prst="rect">
            <a:avLst/>
          </a:prstGeom>
          <a:noFill/>
          <a:ln>
            <a:noFill/>
          </a:ln>
        </p:spPr>
        <p:txBody>
          <a:bodyPr spcFirstLastPara="1" wrap="square" lIns="0" tIns="0" rIns="0" bIns="0" anchor="t" anchorCtr="0">
            <a:noAutofit/>
          </a:bodyPr>
          <a:lstStyle/>
          <a:p>
            <a:pPr marL="216000" lvl="0" indent="-214199" algn="l" rtl="0">
              <a:lnSpc>
                <a:spcPct val="100000"/>
              </a:lnSpc>
              <a:spcBef>
                <a:spcPts val="0"/>
              </a:spcBef>
              <a:spcAft>
                <a:spcPts val="0"/>
              </a:spcAft>
              <a:buClr>
                <a:srgbClr val="000000"/>
              </a:buClr>
              <a:buSzPts val="1200"/>
              <a:buFont typeface="Times New Roman"/>
              <a:buNone/>
            </a:pPr>
            <a:r>
              <a:rPr lang="es-AR" sz="1200" b="1" strike="noStrike">
                <a:solidFill>
                  <a:srgbClr val="000000"/>
                </a:solidFill>
                <a:latin typeface="Times New Roman"/>
                <a:ea typeface="Times New Roman"/>
                <a:cs typeface="Times New Roman"/>
                <a:sym typeface="Times New Roman"/>
              </a:rPr>
              <a:t>Cada vez que se produce una </a:t>
            </a:r>
            <a:r>
              <a:rPr lang="es-AR" sz="1200" b="0" strike="noStrike">
                <a:solidFill>
                  <a:srgbClr val="000000"/>
                </a:solidFill>
                <a:latin typeface="Times New Roman"/>
                <a:ea typeface="Times New Roman"/>
                <a:cs typeface="Times New Roman"/>
                <a:sym typeface="Times New Roman"/>
              </a:rPr>
              <a:t>excepción, se </a:t>
            </a:r>
            <a:r>
              <a:rPr lang="es-AR" sz="1200" b="1" strike="noStrike">
                <a:solidFill>
                  <a:srgbClr val="000000"/>
                </a:solidFill>
                <a:latin typeface="Times New Roman"/>
                <a:ea typeface="Times New Roman"/>
                <a:cs typeface="Times New Roman"/>
                <a:sym typeface="Times New Roman"/>
              </a:rPr>
              <a:t>termina el bloque, procedimiento, paquete o tarea dónde se </a:t>
            </a:r>
            <a:r>
              <a:rPr lang="es-AR" sz="1200" b="0" strike="noStrike">
                <a:solidFill>
                  <a:srgbClr val="000000"/>
                </a:solidFill>
                <a:latin typeface="Times New Roman"/>
                <a:ea typeface="Times New Roman"/>
                <a:cs typeface="Times New Roman"/>
                <a:sym typeface="Times New Roman"/>
              </a:rPr>
              <a:t>levantó y se ejecuta el manejador asociado.</a:t>
            </a:r>
            <a:endParaRPr sz="1200" b="0" strike="noStrike">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23:notes"/>
          <p:cNvSpPr>
            <a:spLocks noGrp="1" noRot="1" noChangeAspect="1"/>
          </p:cNvSpPr>
          <p:nvPr>
            <p:ph type="sldImg" idx="2"/>
          </p:nvPr>
        </p:nvSpPr>
        <p:spPr>
          <a:xfrm>
            <a:off x="-58680" y="695160"/>
            <a:ext cx="474480" cy="3567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7" name="Google Shape;537;p23:notes"/>
          <p:cNvSpPr txBox="1">
            <a:spLocks noGrp="1"/>
          </p:cNvSpPr>
          <p:nvPr>
            <p:ph type="body" idx="1"/>
          </p:nvPr>
        </p:nvSpPr>
        <p:spPr>
          <a:xfrm>
            <a:off x="685800" y="4343400"/>
            <a:ext cx="5482080" cy="4110840"/>
          </a:xfrm>
          <a:prstGeom prst="rect">
            <a:avLst/>
          </a:prstGeom>
          <a:noFill/>
          <a:ln>
            <a:noFill/>
          </a:ln>
        </p:spPr>
        <p:txBody>
          <a:bodyPr spcFirstLastPara="1" wrap="square" lIns="0" tIns="0" rIns="0" bIns="0" anchor="t" anchorCtr="0">
            <a:noAutofit/>
          </a:bodyPr>
          <a:lstStyle/>
          <a:p>
            <a:pPr marL="216000" lvl="0" indent="-214199" algn="l" rtl="0">
              <a:lnSpc>
                <a:spcPct val="100000"/>
              </a:lnSpc>
              <a:spcBef>
                <a:spcPts val="0"/>
              </a:spcBef>
              <a:spcAft>
                <a:spcPts val="0"/>
              </a:spcAft>
              <a:buClr>
                <a:srgbClr val="000000"/>
              </a:buClr>
              <a:buSzPts val="1200"/>
              <a:buFont typeface="Times New Roman"/>
              <a:buNone/>
            </a:pPr>
            <a:r>
              <a:rPr lang="es-AR" sz="1200" b="1" strike="noStrike">
                <a:solidFill>
                  <a:srgbClr val="000000"/>
                </a:solidFill>
                <a:latin typeface="Times New Roman"/>
                <a:ea typeface="Times New Roman"/>
                <a:cs typeface="Times New Roman"/>
                <a:sym typeface="Times New Roman"/>
              </a:rPr>
              <a:t>Cada vez que se produce una </a:t>
            </a:r>
            <a:r>
              <a:rPr lang="es-AR" sz="1200" b="0" strike="noStrike">
                <a:solidFill>
                  <a:srgbClr val="000000"/>
                </a:solidFill>
                <a:latin typeface="Times New Roman"/>
                <a:ea typeface="Times New Roman"/>
                <a:cs typeface="Times New Roman"/>
                <a:sym typeface="Times New Roman"/>
              </a:rPr>
              <a:t>excepción, se </a:t>
            </a:r>
            <a:r>
              <a:rPr lang="es-AR" sz="1200" b="1" strike="noStrike">
                <a:solidFill>
                  <a:srgbClr val="000000"/>
                </a:solidFill>
                <a:latin typeface="Times New Roman"/>
                <a:ea typeface="Times New Roman"/>
                <a:cs typeface="Times New Roman"/>
                <a:sym typeface="Times New Roman"/>
              </a:rPr>
              <a:t>termina el bloque, procedimiento, paquete o tarea dónde se </a:t>
            </a:r>
            <a:r>
              <a:rPr lang="es-AR" sz="1200" b="0" strike="noStrike">
                <a:solidFill>
                  <a:srgbClr val="000000"/>
                </a:solidFill>
                <a:latin typeface="Times New Roman"/>
                <a:ea typeface="Times New Roman"/>
                <a:cs typeface="Times New Roman"/>
                <a:sym typeface="Times New Roman"/>
              </a:rPr>
              <a:t>levantó y se ejecuta el manejador asociado.</a:t>
            </a:r>
            <a:endParaRPr sz="1200" b="0" strike="noStrike">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24:notes"/>
          <p:cNvSpPr>
            <a:spLocks noGrp="1" noRot="1" noChangeAspect="1"/>
          </p:cNvSpPr>
          <p:nvPr>
            <p:ph type="sldImg" idx="2"/>
          </p:nvPr>
        </p:nvSpPr>
        <p:spPr>
          <a:xfrm>
            <a:off x="-58680" y="695160"/>
            <a:ext cx="474480" cy="3567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4" name="Google Shape;544;p24:notes"/>
          <p:cNvSpPr txBox="1">
            <a:spLocks noGrp="1"/>
          </p:cNvSpPr>
          <p:nvPr>
            <p:ph type="body" idx="1"/>
          </p:nvPr>
        </p:nvSpPr>
        <p:spPr>
          <a:xfrm>
            <a:off x="685800" y="4343400"/>
            <a:ext cx="5482080" cy="4110840"/>
          </a:xfrm>
          <a:prstGeom prst="rect">
            <a:avLst/>
          </a:prstGeom>
          <a:noFill/>
          <a:ln>
            <a:noFill/>
          </a:ln>
        </p:spPr>
        <p:txBody>
          <a:bodyPr spcFirstLastPara="1" wrap="square" lIns="0" tIns="0" rIns="0" bIns="0" anchor="t" anchorCtr="0">
            <a:noAutofit/>
          </a:bodyPr>
          <a:lstStyle/>
          <a:p>
            <a:pPr marL="216000" lvl="0" indent="-214199" algn="l" rtl="0">
              <a:lnSpc>
                <a:spcPct val="100000"/>
              </a:lnSpc>
              <a:spcBef>
                <a:spcPts val="0"/>
              </a:spcBef>
              <a:spcAft>
                <a:spcPts val="0"/>
              </a:spcAft>
              <a:buClr>
                <a:srgbClr val="000000"/>
              </a:buClr>
              <a:buSzPts val="1200"/>
              <a:buFont typeface="Times New Roman"/>
              <a:buNone/>
            </a:pPr>
            <a:r>
              <a:rPr lang="es-AR" sz="1200" b="1" strike="noStrike">
                <a:solidFill>
                  <a:srgbClr val="000000"/>
                </a:solidFill>
                <a:latin typeface="Times New Roman"/>
                <a:ea typeface="Times New Roman"/>
                <a:cs typeface="Times New Roman"/>
                <a:sym typeface="Times New Roman"/>
              </a:rPr>
              <a:t>Cada vez que se produce una </a:t>
            </a:r>
            <a:r>
              <a:rPr lang="es-AR" sz="1200" b="0" strike="noStrike">
                <a:solidFill>
                  <a:srgbClr val="000000"/>
                </a:solidFill>
                <a:latin typeface="Times New Roman"/>
                <a:ea typeface="Times New Roman"/>
                <a:cs typeface="Times New Roman"/>
                <a:sym typeface="Times New Roman"/>
              </a:rPr>
              <a:t>excepción, se </a:t>
            </a:r>
            <a:r>
              <a:rPr lang="es-AR" sz="1200" b="1" strike="noStrike">
                <a:solidFill>
                  <a:srgbClr val="000000"/>
                </a:solidFill>
                <a:latin typeface="Times New Roman"/>
                <a:ea typeface="Times New Roman"/>
                <a:cs typeface="Times New Roman"/>
                <a:sym typeface="Times New Roman"/>
              </a:rPr>
              <a:t>termina el bloque, procedimiento, paquete o tarea dónde se </a:t>
            </a:r>
            <a:r>
              <a:rPr lang="es-AR" sz="1200" b="0" strike="noStrike">
                <a:solidFill>
                  <a:srgbClr val="000000"/>
                </a:solidFill>
                <a:latin typeface="Times New Roman"/>
                <a:ea typeface="Times New Roman"/>
                <a:cs typeface="Times New Roman"/>
                <a:sym typeface="Times New Roman"/>
              </a:rPr>
              <a:t>levantó y se ejecuta el manejador asociado.</a:t>
            </a:r>
            <a:endParaRPr sz="1200" b="0" strike="noStrike">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25: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4" name="Google Shape;554;p25: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Ojo dice 4 y ponen 6!!! En la PPT original!!</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a:p>
            <a:pPr marL="171360" lvl="0" indent="-171360" algn="l" rtl="0">
              <a:lnSpc>
                <a:spcPct val="100000"/>
              </a:lnSpc>
              <a:spcBef>
                <a:spcPts val="0"/>
              </a:spcBef>
              <a:spcAft>
                <a:spcPts val="0"/>
              </a:spcAft>
              <a:buClr>
                <a:srgbClr val="000000"/>
              </a:buClr>
              <a:buSzPts val="2000"/>
              <a:buFont typeface="Arial"/>
              <a:buChar char="•"/>
            </a:pPr>
            <a:r>
              <a:rPr lang="es-AR" sz="2000" b="1" strike="noStrike">
                <a:latin typeface="Calibri"/>
                <a:ea typeface="Calibri"/>
                <a:cs typeface="Calibri"/>
                <a:sym typeface="Calibri"/>
              </a:rPr>
              <a:t>Numeric_Error</a:t>
            </a:r>
            <a:endParaRPr sz="2000" b="0" strike="noStrike">
              <a:latin typeface="Arial"/>
              <a:ea typeface="Arial"/>
              <a:cs typeface="Arial"/>
              <a:sym typeface="Arial"/>
            </a:endParaRPr>
          </a:p>
          <a:p>
            <a:pPr marL="171360" lvl="0" indent="-171360" algn="l" rtl="0">
              <a:lnSpc>
                <a:spcPct val="100000"/>
              </a:lnSpc>
              <a:spcBef>
                <a:spcPts val="0"/>
              </a:spcBef>
              <a:spcAft>
                <a:spcPts val="0"/>
              </a:spcAft>
              <a:buClr>
                <a:srgbClr val="000000"/>
              </a:buClr>
              <a:buSzPts val="2000"/>
              <a:buFont typeface="Arial"/>
              <a:buChar char="•"/>
            </a:pPr>
            <a:r>
              <a:rPr lang="es-AR" sz="2000" b="0" strike="noStrike">
                <a:latin typeface="Calibri"/>
                <a:ea typeface="Calibri"/>
                <a:cs typeface="Calibri"/>
                <a:sym typeface="Calibri"/>
              </a:rPr>
              <a:t>en Ada 83 se podía presentar cuando ocurría un error aritmético. A partir del estándar </a:t>
            </a:r>
            <a:r>
              <a:rPr lang="es-AR" sz="2000" b="0" i="1" strike="noStrike">
                <a:latin typeface="Calibri"/>
                <a:ea typeface="Calibri"/>
                <a:cs typeface="Calibri"/>
                <a:sym typeface="Calibri"/>
              </a:rPr>
              <a:t>Ada 95</a:t>
            </a:r>
            <a:r>
              <a:rPr lang="es-AR" sz="2000" b="0" strike="noStrike">
                <a:latin typeface="Calibri"/>
                <a:ea typeface="Calibri"/>
                <a:cs typeface="Calibri"/>
                <a:sym typeface="Calibri"/>
              </a:rPr>
              <a:t>, desaparece por motivos de portabilidad y pasa a ser un </a:t>
            </a:r>
            <a:r>
              <a:rPr lang="es-AR" sz="2000" b="0" u="sng" strike="noStrike">
                <a:solidFill>
                  <a:srgbClr val="000000"/>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renombrado</a:t>
            </a:r>
            <a:r>
              <a:rPr lang="es-AR" sz="2000" b="0" strike="noStrike">
                <a:latin typeface="Calibri"/>
                <a:ea typeface="Calibri"/>
                <a:cs typeface="Calibri"/>
                <a:sym typeface="Calibri"/>
              </a:rPr>
              <a:t> de Constraint_Error. Por ejemplo, en Ada 83 al dividir entre cero podía saltar Constraint_Error o Numeric_Error (dependiendo del compilador). En Ada 95 este error siempre levanta Constraint_Error.</a:t>
            </a:r>
            <a:endParaRPr sz="2000" b="0" strike="noStrike">
              <a:latin typeface="Arial"/>
              <a:ea typeface="Arial"/>
              <a:cs typeface="Arial"/>
              <a:sym typeface="Arial"/>
            </a:endParaRPr>
          </a:p>
        </p:txBody>
      </p:sp>
      <p:sp>
        <p:nvSpPr>
          <p:cNvPr id="555" name="Google Shape;555;p25: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25</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26: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2" name="Google Shape;562;p26: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De Ghezzi:</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Si la unidad que genera la excepción proporciona un manejador para la misma, el control se transfiere inmediatamente a ese manejador: se omiten las acciones que siguen al punto en el que se generó la excepción, se ejecuta el manejador y luego el programa continúa su ejecución normalmente desde la instrucción que sigue al manejador. Si la unidad ejecutándose actualmente, U, no proporciona un manejador, la unidad termina y la excepción se propaga. El efecto preciso de la terminación y la propagación dependen del tipo de unidad que genera la excepción. Si U es un bloque, su terminación transfiere el control a la unidad que lo contiene inmediatamente, en la cual la excepción se vuelve a lanzar implícitamente. Si U es el cuerpo de una rutina, su terminación hace que la rutina regrese a quien la llamó y la excepción se vuelve a lanzar implícitamente en el punto de llamada. Si U es el cuerpo de un paquete (ver Capítulo 5), actúa como una rutina que se llama implícitamente cuando se procesa la declaración del paquete. Si U es el cuerpo de una tarea (ver Sección 4.8), la excepción no se propaga más; es decir, la tarea termina de forma anormal. Si no hay un manejador asociado con el cuerpo del paquete, se abandona la ejecución del cuerpo y se continúa la ejecución en la unidad que contiene la declaración del paquete, donde la excepción se vuelve a lanzar implícitamente. En general, si una excepción propagada no se maneja en el punto en el que se transfirió, se propaga aún más, y este proceso puede conducir eventualmente al final del programa. Si se encuentra un manejador para una excepción, después de su ejecución, el procesamiento continúa normalmente desde la instrucción que sigue al manejador. Las excepciones también se pueden volver a lanzar explícitamente mediante la instrucción "raise". Por ejemplo, un manejador de excepciones que solo puede manejar parcialmente la excepción puede realizar algunas acciones de recuperación y luego volver a lanzar explícitamente la excepción.</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br>
              <a:rPr lang="es-AR" sz="2000"/>
            </a:b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p:txBody>
      </p:sp>
      <p:sp>
        <p:nvSpPr>
          <p:cNvPr id="563" name="Google Shape;563;p26: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26</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27: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0" name="Google Shape;570;p27: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De Ghezzi:</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Si la unidad que genera la excepción proporciona un manejador para la misma, el control se transfiere inmediatamente a ese manejador: se omiten las acciones que siguen al punto en el que se generó la excepción, se ejecuta el manejador y luego el programa continúa su ejecución normalmente desde la instrucción que sigue al manejador. Si la unidad ejecutándose actualmente, U, no proporciona un manejador, la unidad termina y la excepción se propaga. El efecto preciso de la terminación y la propagación dependen del tipo de unidad que genera la excepción. Si U es un bloque, su terminación transfiere el control a la unidad que lo contiene inmediatamente, en la cual la excepción se vuelve a lanzar implícitamente. Si U es el cuerpo de una rutina, su terminación hace que la rutina regrese a quien la llamó y la excepción se vuelve a lanzar implícitamente en el punto de llamada. Si U es el cuerpo de un paquete (ver Capítulo 5), actúa como una rutina que se llama implícitamente cuando se procesa la declaración del paquete. Si U es el cuerpo de una tarea (ver Sección 4.8), la excepción no se propaga más; es decir, la tarea termina de forma anormal. Si no hay un manejador asociado con el cuerpo del paquete, se abandona la ejecución del cuerpo y se continúa la ejecución en la unidad que contiene la declaración del paquete, donde la excepción se vuelve a lanzar implícitamente. En general, si una excepción propagada no se maneja en el punto en el que se transfirió, se propaga aún más, y este proceso puede conducir eventualmente al final del programa. Si se encuentra un manejador para una excepción, después de su ejecución, el procesamiento continúa normalmente desde la instrucción que sigue al manejador. Las excepciones también se pueden volver a lanzar explícitamente mediante la instrucción "raise". Por ejemplo, un manejador de excepciones que solo puede manejar parcialmente la excepción puede realizar algunas acciones de recuperación y luego volver a lanzar explícitamente la excepción.</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br>
              <a:rPr lang="es-AR" sz="2000"/>
            </a:b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p:txBody>
      </p:sp>
      <p:sp>
        <p:nvSpPr>
          <p:cNvPr id="571" name="Google Shape;571;p27: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27</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28: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8" name="Google Shape;578;p28: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De Ghezzi:</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Si la unidad que genera la excepción proporciona un manejador para la misma, el control se transfiere inmediatamente a ese manejador: se omiten las acciones que siguen al punto en el que se generó la excepción, se ejecuta el manejador y luego el programa continúa su ejecución normalmente desde la instrucción que sigue al manejador. Si la unidad ejecutándose actualmente, U, no proporciona un manejador, la unidad termina y la excepción se propaga. El efecto preciso de la terminación y la propagación dependen del tipo de unidad que genera la excepción. Si U es un bloque, su terminación transfiere el control a la unidad que lo contiene inmediatamente, en la cual la excepción se vuelve a lanzar implícitamente. Si U es el cuerpo de una rutina, su terminación hace que la rutina regrese a quien la llamó y la excepción se vuelve a lanzar implícitamente en el punto de llamada. Si U es el cuerpo de un paquete (ver Capítulo 5), actúa como una rutina que se llama implícitamente cuando se procesa la declaración del paquete. Si U es el cuerpo de una tarea (ver Sección 4.8), la excepción no se propaga más; es decir, la tarea termina de forma anormal. Si no hay un manejador asociado con el cuerpo del paquete, se abandona la ejecución del cuerpo y se continúa la ejecución en la unidad que contiene la declaración del paquete, donde la excepción se vuelve a lanzar implícitamente. En general, si una excepción propagada no se maneja en el punto en el que se transfirió, se propaga aún más, y este proceso puede conducir eventualmente al final del programa. Si se encuentra un manejador para una excepción, después de su ejecución, el procesamiento continúa normalmente desde la instrucción que sigue al manejador. Las excepciones también se pueden volver a lanzar explícitamente mediante la instrucción "raise". Por ejemplo, un manejador de excepciones que solo puede manejar parcialmente la excepción puede realizar algunas acciones de recuperación y luego volver a lanzar explícitamente la excepción.</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br>
              <a:rPr lang="es-AR" sz="2000"/>
            </a:b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p:txBody>
      </p:sp>
      <p:sp>
        <p:nvSpPr>
          <p:cNvPr id="579" name="Google Shape;579;p28: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28</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29: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6" name="Google Shape;586;p29: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Ejemplo sacado de </a:t>
            </a:r>
            <a:r>
              <a:rPr lang="es-AR" sz="2000" b="0" u="sng" strike="noStrike">
                <a:solidFill>
                  <a:srgbClr val="000000"/>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https://www.cartagena99.com/recursos/alumnos/apuntes/0-intro-ada.pdf</a:t>
            </a:r>
            <a:r>
              <a:rPr lang="es-AR" sz="2000" b="0" strike="noStrike">
                <a:latin typeface="Calibri"/>
                <a:ea typeface="Calibri"/>
                <a:cs typeface="Calibri"/>
                <a:sym typeface="Calibri"/>
              </a:rPr>
              <a:t> </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br>
              <a:rPr lang="es-AR" sz="2000"/>
            </a:br>
            <a:r>
              <a:rPr lang="es-AR" sz="2000" b="0" strike="noStrike">
                <a:latin typeface="Arial"/>
                <a:ea typeface="Arial"/>
                <a:cs typeface="Arial"/>
                <a:sym typeface="Arial"/>
              </a:rPr>
              <a:t>En Ada, </a:t>
            </a:r>
            <a:r>
              <a:rPr lang="es-AR" sz="2000" b="1" strike="noStrike">
                <a:latin typeface="Arial"/>
                <a:ea typeface="Arial"/>
                <a:cs typeface="Arial"/>
                <a:sym typeface="Arial"/>
              </a:rPr>
              <a:t>Ada.Text_IO</a:t>
            </a:r>
            <a:r>
              <a:rPr lang="es-AR" sz="2000" b="0" strike="noStrike">
                <a:latin typeface="Arial"/>
                <a:ea typeface="Arial"/>
                <a:cs typeface="Arial"/>
                <a:sym typeface="Arial"/>
              </a:rPr>
              <a:t> es una de las bibliotecas estándar proporcionadas por el lenguaje. Proporciona una funcionalidad para entrada y salida de texto en el programa. La biblioteca </a:t>
            </a:r>
            <a:r>
              <a:rPr lang="es-AR" sz="2000" b="1" strike="noStrike">
                <a:latin typeface="Arial"/>
                <a:ea typeface="Arial"/>
                <a:cs typeface="Arial"/>
                <a:sym typeface="Arial"/>
              </a:rPr>
              <a:t>Ada.Text_IO</a:t>
            </a:r>
            <a:r>
              <a:rPr lang="es-AR" sz="2000" b="0" strike="noStrike">
                <a:latin typeface="Arial"/>
                <a:ea typeface="Arial"/>
                <a:cs typeface="Arial"/>
                <a:sym typeface="Arial"/>
              </a:rPr>
              <a:t> ofrece procedimientos y funciones para leer y escribir datos de texto en la consola u otros dispositivos de entrada/salida.</a:t>
            </a:r>
            <a:endParaRPr sz="2000" b="0" strike="noStrike">
              <a:latin typeface="Arial"/>
              <a:ea typeface="Arial"/>
              <a:cs typeface="Arial"/>
              <a:sym typeface="Arial"/>
            </a:endParaRPr>
          </a:p>
        </p:txBody>
      </p:sp>
      <p:sp>
        <p:nvSpPr>
          <p:cNvPr id="587" name="Google Shape;587;p29: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29</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30: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00" name="Google Shape;600;p30: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31:notes"/>
          <p:cNvSpPr>
            <a:spLocks noGrp="1" noRot="1" noChangeAspect="1"/>
          </p:cNvSpPr>
          <p:nvPr>
            <p:ph type="sldImg" idx="2"/>
          </p:nvPr>
        </p:nvSpPr>
        <p:spPr>
          <a:xfrm>
            <a:off x="1143000" y="695160"/>
            <a:ext cx="4566960" cy="3425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9" name="Google Shape;619;p31:notes"/>
          <p:cNvSpPr/>
          <p:nvPr/>
        </p:nvSpPr>
        <p:spPr>
          <a:xfrm>
            <a:off x="685080" y="4343400"/>
            <a:ext cx="5482800" cy="411084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sp>
      <p:sp>
        <p:nvSpPr>
          <p:cNvPr id="620" name="Google Shape;620;p31: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Otros ejemplos de codigo en </a:t>
            </a:r>
            <a:r>
              <a:rPr lang="es-AR" sz="2000" b="0" u="sng" strike="noStrike">
                <a:solidFill>
                  <a:srgbClr val="000000"/>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https://learn.adacore.com/courses/intro-to-ada/chapters/exceptions.html</a:t>
            </a:r>
            <a:r>
              <a:rPr lang="es-AR" sz="2000" b="0" strike="noStrike">
                <a:latin typeface="Calibri"/>
                <a:ea typeface="Calibri"/>
                <a:cs typeface="Calibri"/>
                <a:sym typeface="Calibri"/>
              </a:rPr>
              <a:t> </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a:p>
            <a:pPr marL="216000" lvl="0" indent="-216000" algn="just" rtl="0">
              <a:lnSpc>
                <a:spcPct val="100000"/>
              </a:lnSpc>
              <a:spcBef>
                <a:spcPts val="0"/>
              </a:spcBef>
              <a:spcAft>
                <a:spcPts val="0"/>
              </a:spcAft>
              <a:buSzPts val="2000"/>
              <a:buFont typeface="Arial"/>
              <a:buNone/>
            </a:pPr>
            <a:r>
              <a:rPr lang="es-AR" sz="2000" b="1" strike="noStrike">
                <a:latin typeface="Arial"/>
                <a:ea typeface="Arial"/>
                <a:cs typeface="Arial"/>
                <a:sym typeface="Arial"/>
              </a:rPr>
              <a:t> (raise) *** este raise levanta misma excepcion que está  manejando....da error y abortar (dice juan que no la encuentra)</a:t>
            </a:r>
            <a:endParaRPr sz="2000" b="0" strike="noStrike">
              <a:latin typeface="Arial"/>
              <a:ea typeface="Arial"/>
              <a:cs typeface="Arial"/>
              <a:sym typeface="Arial"/>
            </a:endParaRPr>
          </a:p>
          <a:p>
            <a:pPr marL="216000" lvl="0" indent="-216000" algn="just" rtl="0">
              <a:lnSpc>
                <a:spcPct val="100000"/>
              </a:lnSpc>
              <a:spcBef>
                <a:spcPts val="0"/>
              </a:spcBef>
              <a:spcAft>
                <a:spcPts val="0"/>
              </a:spcAft>
              <a:buSzPts val="2000"/>
              <a:buFont typeface="Arial"/>
              <a:buNone/>
            </a:pPr>
            <a:r>
              <a:rPr lang="es-AR" sz="2000" b="1" strike="noStrike">
                <a:latin typeface="Arial"/>
                <a:ea typeface="Arial"/>
                <a:cs typeface="Arial"/>
                <a:sym typeface="Arial"/>
              </a:rPr>
              <a:t>Es correcto? O por estar en mismo programa y reconoce alcance la encuentra? O errore porque debe estar repetida abajo??</a:t>
            </a:r>
            <a:endParaRPr sz="2000" b="0" strike="noStrike">
              <a:latin typeface="Arial"/>
              <a:ea typeface="Arial"/>
              <a:cs typeface="Arial"/>
              <a:sym typeface="Arial"/>
            </a:endParaRPr>
          </a:p>
          <a:p>
            <a:pPr marL="216000" lvl="0" indent="-216000" algn="just" rtl="0">
              <a:lnSpc>
                <a:spcPct val="100000"/>
              </a:lnSpc>
              <a:spcBef>
                <a:spcPts val="0"/>
              </a:spcBef>
              <a:spcAft>
                <a:spcPts val="0"/>
              </a:spcAft>
              <a:buSzPts val="2000"/>
              <a:buFont typeface="Arial"/>
              <a:buNone/>
            </a:pPr>
            <a:r>
              <a:rPr lang="es-AR" sz="2000" b="1" strike="noStrike">
                <a:latin typeface="Arial"/>
                <a:ea typeface="Arial"/>
                <a:cs typeface="Arial"/>
                <a:sym typeface="Arial"/>
              </a:rPr>
              <a:t>Como e o como others??</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32: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0" name="Google Shape;630;p32: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Calibri"/>
              <a:buNone/>
            </a:pPr>
            <a:r>
              <a:rPr lang="es-AR" sz="2000" b="1" strike="noStrike">
                <a:latin typeface="Calibri"/>
                <a:ea typeface="Calibri"/>
                <a:cs typeface="Calibri"/>
                <a:sym typeface="Calibri"/>
              </a:rPr>
              <a:t>1 es deterministico por.....................??</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1" strike="noStrike">
                <a:latin typeface="Calibri"/>
                <a:ea typeface="Calibri"/>
                <a:cs typeface="Calibri"/>
                <a:sym typeface="Calibri"/>
              </a:rPr>
              <a:t>GPTchat me dice:  SERA CORRECTO??</a:t>
            </a:r>
            <a:br>
              <a:rPr lang="es-AR" sz="2000"/>
            </a:br>
            <a:r>
              <a:rPr lang="es-AR" sz="2000" b="0" strike="noStrike">
                <a:latin typeface="Calibri"/>
                <a:ea typeface="Calibri"/>
                <a:cs typeface="Calibri"/>
                <a:sym typeface="Calibri"/>
              </a:rPr>
              <a:t>Sí, en Ada, la asociación entre una excepción y su manejador es determinística y se realiza a través de una declaración explícita. Cada excepción definida en Ada tiene un identificador único asociado a ella.</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Cuando se lanza una excepción en Ada, el programa buscará el manejador correspondiente para esa excepción. La búsqueda se realiza de manera determinística, es decir, el sistema busca el manejador que ha sido declarado específicamente para esa excepción.</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1" strike="noStrike">
                <a:latin typeface="Calibri"/>
                <a:ea typeface="Calibri"/>
                <a:cs typeface="Calibri"/>
                <a:sym typeface="Calibri"/>
              </a:rPr>
              <a:t>2 es porque continua luego del manejado??</a:t>
            </a:r>
            <a:endParaRPr sz="2000" b="0" strike="noStrike">
              <a:latin typeface="Arial"/>
              <a:ea typeface="Arial"/>
              <a:cs typeface="Arial"/>
              <a:sym typeface="Arial"/>
            </a:endParaRPr>
          </a:p>
        </p:txBody>
      </p:sp>
      <p:sp>
        <p:nvSpPr>
          <p:cNvPr id="631" name="Google Shape;631;p32: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32</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33: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42" name="Google Shape;642;p33: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3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49" name="Google Shape;649;p34: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35: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8" name="Google Shape;658;p35: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Sacado de </a:t>
            </a:r>
            <a:r>
              <a:rPr lang="es-AR" sz="2000" b="0" u="sng" strike="noStrike">
                <a:solidFill>
                  <a:srgbClr val="000000"/>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https://rua.ua.es/dspace/bitstream/10045/15996/1/POO-4-Excepciones-10-11.pdf</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Hay varios ejercicios, tiene explicacion buena y ejercicios resueltos</a:t>
            </a:r>
            <a:endParaRPr sz="2000" b="0" strike="noStrike">
              <a:latin typeface="Arial"/>
              <a:ea typeface="Arial"/>
              <a:cs typeface="Arial"/>
              <a:sym typeface="Arial"/>
            </a:endParaRPr>
          </a:p>
        </p:txBody>
      </p:sp>
      <p:sp>
        <p:nvSpPr>
          <p:cNvPr id="659" name="Google Shape;659;p35: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35</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p36: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7" name="Google Shape;667;p36: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Se pueden buscar mas ejemplos y detalle en c++ en </a:t>
            </a:r>
            <a:r>
              <a:rPr lang="es-AR" sz="2000" b="0" u="sng" strike="noStrike">
                <a:solidFill>
                  <a:srgbClr val="000000"/>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https://rua.ua.es/dspace/bitstream/10045/15996/1/POO-4-Excepciones-10-11.pdf</a:t>
            </a:r>
            <a:r>
              <a:rPr lang="es-AR" sz="2000" b="0" strike="noStrike">
                <a:latin typeface="Calibri"/>
                <a:ea typeface="Calibri"/>
                <a:cs typeface="Calibri"/>
                <a:sym typeface="Calibri"/>
              </a:rPr>
              <a:t> </a:t>
            </a:r>
            <a:endParaRPr sz="2000" b="0" strike="noStrike">
              <a:latin typeface="Arial"/>
              <a:ea typeface="Arial"/>
              <a:cs typeface="Arial"/>
              <a:sym typeface="Arial"/>
            </a:endParaRPr>
          </a:p>
        </p:txBody>
      </p:sp>
      <p:sp>
        <p:nvSpPr>
          <p:cNvPr id="668" name="Google Shape;668;p36: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36</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37: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6" name="Google Shape;676;p37: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ES CORRECTO </a:t>
            </a:r>
            <a:r>
              <a:rPr lang="es-AR" sz="2000" b="1" strike="noStrike">
                <a:latin typeface="Calibri"/>
                <a:ea typeface="Calibri"/>
                <a:cs typeface="Calibri"/>
                <a:sym typeface="Calibri"/>
              </a:rPr>
              <a:t>Throw (Ayuda msg);????  ESTABA ASI....LE CAMBIE PARENTESIS</a:t>
            </a:r>
            <a:endParaRPr sz="2000" b="0" strike="noStrike">
              <a:latin typeface="Arial"/>
              <a:ea typeface="Arial"/>
              <a:cs typeface="Arial"/>
              <a:sym typeface="Arial"/>
            </a:endParaRPr>
          </a:p>
        </p:txBody>
      </p:sp>
      <p:sp>
        <p:nvSpPr>
          <p:cNvPr id="677" name="Google Shape;677;p37: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37</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p38: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5" name="Google Shape;685;p38: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Se pueden buscar mas ejemplos y detalle en c++ en </a:t>
            </a:r>
            <a:r>
              <a:rPr lang="es-AR" sz="2000" b="0" u="sng" strike="noStrike">
                <a:solidFill>
                  <a:srgbClr val="000000"/>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https://rua.ua.es/dspace/bitstream/10045/15996/1/POO-4-Excepciones-10-11.pdf</a:t>
            </a:r>
            <a:r>
              <a:rPr lang="es-AR" sz="2000" b="0" strike="noStrike">
                <a:latin typeface="Calibri"/>
                <a:ea typeface="Calibri"/>
                <a:cs typeface="Calibri"/>
                <a:sym typeface="Calibri"/>
              </a:rPr>
              <a:t> </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Segun gptchat La referencia </a:t>
            </a:r>
            <a:r>
              <a:rPr lang="es-AR" sz="2000" b="1" strike="noStrike">
                <a:latin typeface="Arial"/>
                <a:ea typeface="Arial"/>
                <a:cs typeface="Arial"/>
                <a:sym typeface="Arial"/>
              </a:rPr>
              <a:t>&amp;ex</a:t>
            </a:r>
            <a:r>
              <a:rPr lang="es-AR" sz="2000" b="0" strike="noStrike">
                <a:latin typeface="Arial"/>
                <a:ea typeface="Arial"/>
                <a:cs typeface="Arial"/>
                <a:sym typeface="Arial"/>
              </a:rPr>
              <a:t> permite acceder al objeto de excepción capturado, que puede contener información relevante sobre el error o la condición excepcional.</a:t>
            </a:r>
            <a:endParaRPr sz="2000" b="0" strike="noStrike">
              <a:latin typeface="Arial"/>
              <a:ea typeface="Arial"/>
              <a:cs typeface="Arial"/>
              <a:sym typeface="Arial"/>
            </a:endParaRPr>
          </a:p>
        </p:txBody>
      </p:sp>
      <p:sp>
        <p:nvSpPr>
          <p:cNvPr id="686" name="Google Shape;686;p38: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38</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39: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4" name="Google Shape;694;p39: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ES CORRECTO </a:t>
            </a:r>
            <a:r>
              <a:rPr lang="es-AR" sz="2000" b="1" strike="noStrike">
                <a:latin typeface="Calibri"/>
                <a:ea typeface="Calibri"/>
                <a:cs typeface="Calibri"/>
                <a:sym typeface="Calibri"/>
              </a:rPr>
              <a:t>Throw (Ayuda msg);????  ESTABA ASI....LE CAMBIE PARENTESIS de lugar</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Arial"/>
              <a:buNone/>
            </a:pPr>
            <a:r>
              <a:rPr lang="es-AR" sz="2000" b="1" strike="noStrike">
                <a:latin typeface="Arial"/>
                <a:ea typeface="Arial"/>
                <a:cs typeface="Arial"/>
                <a:sym typeface="Arial"/>
              </a:rPr>
              <a:t>De todas formas cambié toda la slide</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Arial"/>
              <a:buNone/>
            </a:pPr>
            <a:r>
              <a:rPr lang="es-AR" sz="2000" b="0" strike="noStrike">
                <a:latin typeface="Arial"/>
                <a:ea typeface="Arial"/>
                <a:cs typeface="Arial"/>
                <a:sym typeface="Arial"/>
              </a:rPr>
              <a:t>En este ejemplo, se lanza una excepción de tipo </a:t>
            </a:r>
            <a:r>
              <a:rPr lang="es-AR" sz="2000" b="1" strike="noStrike">
                <a:latin typeface="Arial"/>
                <a:ea typeface="Arial"/>
                <a:cs typeface="Arial"/>
                <a:sym typeface="Arial"/>
              </a:rPr>
              <a:t>std::runtime_error</a:t>
            </a:r>
            <a:r>
              <a:rPr lang="es-AR" sz="2000" b="0" strike="noStrike">
                <a:latin typeface="Arial"/>
                <a:ea typeface="Arial"/>
                <a:cs typeface="Arial"/>
                <a:sym typeface="Arial"/>
              </a:rPr>
              <a:t> con un mensaje de error específico. Dentro del bloque </a:t>
            </a:r>
            <a:r>
              <a:rPr lang="es-AR" sz="2000" b="1" strike="noStrike">
                <a:latin typeface="Arial"/>
                <a:ea typeface="Arial"/>
                <a:cs typeface="Arial"/>
                <a:sym typeface="Arial"/>
              </a:rPr>
              <a:t>catch</a:t>
            </a:r>
            <a:r>
              <a:rPr lang="es-AR" sz="2000" b="0" strike="noStrike">
                <a:latin typeface="Arial"/>
                <a:ea typeface="Arial"/>
                <a:cs typeface="Arial"/>
                <a:sym typeface="Arial"/>
              </a:rPr>
              <a:t>, se utiliza </a:t>
            </a:r>
            <a:r>
              <a:rPr lang="es-AR" sz="2000" b="1" strike="noStrike">
                <a:latin typeface="Arial"/>
                <a:ea typeface="Arial"/>
                <a:cs typeface="Arial"/>
                <a:sym typeface="Arial"/>
              </a:rPr>
              <a:t>ex.what()</a:t>
            </a:r>
            <a:r>
              <a:rPr lang="es-AR" sz="2000" b="0" strike="noStrike">
                <a:latin typeface="Arial"/>
                <a:ea typeface="Arial"/>
                <a:cs typeface="Arial"/>
                <a:sym typeface="Arial"/>
              </a:rPr>
              <a:t> para obtener la descripción de la excepción y se imprime en la consola. En este caso, el resultado sería: "Exception caught: Error: Something went wrong!".</a:t>
            </a:r>
            <a:endParaRPr sz="2000" b="0" strike="noStrike">
              <a:latin typeface="Arial"/>
              <a:ea typeface="Arial"/>
              <a:cs typeface="Arial"/>
              <a:sym typeface="Arial"/>
            </a:endParaRPr>
          </a:p>
        </p:txBody>
      </p:sp>
      <p:sp>
        <p:nvSpPr>
          <p:cNvPr id="695" name="Google Shape;695;p39: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39</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40: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4" name="Google Shape;704;p40: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De ghezzi:</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El bloque anterior puede llamar a rutinas que, a su vez, pueden lanzar excepciones. Si una de esas rutinas genera una solicitud de ayuda, por ejemplo, y no proporciona un manejador para dicha excepción, la ejecución de la rutina se abandona y la excepción se propaga al punto de llamada dentro del bloque. A su vez, se abandona la ejecución del bloque y el control se transfiere al manejador como en el caso anterior. En otros términos, al igual que Ada, C++ propaga excepciones no manejadas. Al igual que en Ada, una excepción capturada puede propagarse explícitamente simplemente utilizando la palabra clave throw. Además, al igual que en Ada, después de ejecutar un manejador, la ejecución continúa desde la instrucción que sigue a aquella a la cual se adjunta el manejador correspondiente.</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A diferencia de Ada, en C++ se puede transmitir cualquier cantidad de información junto con una excepción. De hecho, para lanzar una excepción, se puede lanzar un objeto que contiene datos que pueden ser utilizados por el manejador. Por ejemplo, en el ejemplo anterior, se señaló una solicitud de ayuda proporcionando un objeto que contenía información específica sobre el tipo de ayuda solicitada. Si los datos en el objeto lanzado no son utilizados por el manejador, la cláusula catch puede simplemente especificar un tipo sin nombrar un objeto. Esto ocurre en nuestro ejemplo de la división por cero.</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Las rutinas de C++ pueden listar en su interfaz las excepciones que pueden lanzar. Esta característica permite que un programador especifique de manera precisa la intención de una rutina, al especificar tanto el comportamiento normal esperado (los datos que puede aceptar y devolver) como sus comportamientos anormales. Por ejemplo:</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void foo() throw(Help, Zerodivide);</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Podría ser la interfaz de una función foo que se llama dentro del bloque tolerante a fallos anterior. Saber que la función foo utilizada puede generar excepciones permite que el código del cliente se proteja contra comportamientos anómalos al proporcionar facilidades adecuadas de manejo de excepciones, como hicimos en el ejemplo.</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El problema aquí es qué sucede si foo termina lanzando otra excepción que no está listada en su interfaz. Esto puede ocurrir, por ejemplo, si la máquina de ejecución en tiempo de ejecución captura un error distinto a una división por cero (por ejemplo, un desbordamiento). En tal caso, se llama automáticamente a una función especial llamada unexpected(). Su comportamiento predeterminado, que puede ser redefinido por el programador, eventualmente provoca la llamada a abort(), lo que termina la ejecución del programa.</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Sin embargo, no es necesario incluir la lista de posibles excepciones generadas por una rutina en su interfaz. Si no se proporciona ninguna lista, significa que cualquier excepción posible puede ser propagada. En cambio, si se proporciona la lista vacía throw(), esto significa que la rutina no propaga ninguna excepción.</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Si una excepción se propaga repetidamente y nunca se encuentra un manejador coincidente, se llama automáticamente a una función especial llamada terminate(). Su comportamiento predeterminado, que puede ser redefinido por el programador, eventualmente aborta la ejecución del programa</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p:txBody>
      </p:sp>
      <p:sp>
        <p:nvSpPr>
          <p:cNvPr id="705" name="Google Shape;705;p40: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40</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41: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2" name="Google Shape;712;p41: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De ghezzi:</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El bloque anterior puede llamar a rutinas que, a su vez, pueden lanzar excepciones. Si una de esas rutinas genera una solicitud de ayuda, por ejemplo, y no proporciona un manejador para dicha excepción, la ejecución de la rutina se abandona y la excepción se propaga al punto de llamada dentro del bloque. A su vez, se abandona la ejecución del bloque y el control se transfiere al manejador como en el caso anterior. En otros términos, al igual que Ada, C++ propaga excepciones no manejadas. Al igual que en Ada, una excepción capturada puede propagarse explícitamente simplemente utilizando la palabra clave throw. Además, al igual que en Ada, después de ejecutar un manejador, la ejecución continúa desde la instrucción que sigue a aquella a la cual se adjunta el manejador correspondiente.</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A diferencia de Ada, en C++ se puede transmitir cualquier cantidad de información junto con una excepción. De hecho, para lanzar una excepción, se puede lanzar un objeto que contiene datos que pueden ser utilizados por el manejador. Por ejemplo, en el ejemplo anterior, se señaló una solicitud de ayuda proporcionando un objeto que contenía información específica sobre el tipo de ayuda solicitada. Si los datos en el objeto lanzado no son utilizados por el manejador, la cláusula catch puede simplemente especificar un tipo sin nombrar un objeto. Esto ocurre en nuestro ejemplo de la división por cero.</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Las rutinas de C++ pueden listar en su interfaz las excepciones que pueden lanzar. Esta característica permite que un programador especifique de manera precisa la intención de una rutina, al especificar tanto el comportamiento normal esperado (los datos que puede aceptar y devolver) como sus comportamientos anormales. Por ejemplo:</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void foo() throw(Help, Zerodivide);</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Podría ser la interfaz de una función foo que se llama dentro del bloque tolerante a fallos anterior. Saber que la función foo utilizada puede generar excepciones permite que el código del cliente se proteja contra comportamientos anómalos al proporcionar facilidades adecuadas de manejo de excepciones, como hicimos en el ejemplo.</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El problema aquí es qué sucede si foo termina lanzando otra excepción que no está listada en su interfaz. Esto puede ocurrir, por ejemplo, si la máquina de ejecución en tiempo de ejecución captura un error distinto a una división por cero (por ejemplo, un desbordamiento). En tal caso, se llama automáticamente a una función especial llamada unexpected(). Su comportamiento predeterminado, que puede ser redefinido por el programador, eventualmente provoca la llamada a abort(), lo que termina la ejecución del programa.</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Sin embargo, no es necesario incluir la lista de posibles excepciones generadas por una rutina en su interfaz. Si no se proporciona ninguna lista, significa que cualquier excepción posible puede ser propagada. En cambio, si se proporciona la lista vacía throw(), esto significa que la rutina no propaga ninguna excepción.</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Si una excepción se propaga repetidamente y nunca se encuentra un manejador coincidente, se llama automáticamente a una función especial llamada terminate(). Su comportamiento predeterminado, que puede ser redefinido por el programador, eventualmente aborta la ejecución del programa</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p:txBody>
      </p:sp>
      <p:sp>
        <p:nvSpPr>
          <p:cNvPr id="713" name="Google Shape;713;p41: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41</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p42: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20" name="Google Shape;720;p42: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De ghezzi:</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El bloque anterior puede llamar a rutinas que, a su vez, pueden lanzar excepciones. Si una de esas rutinas genera una solicitud de ayuda, por ejemplo, y no proporciona un manejador para dicha excepción, la ejecución de la rutina se abandona y la excepción se propaga al punto de llamada dentro del bloque. A su vez, se abandona la ejecución del bloque y el control se transfiere al manejador como en el caso anterior. En otros términos, al igual que Ada, C++ propaga excepciones no manejadas. Al igual que en Ada, una excepción capturada puede propagarse explícitamente simplemente utilizando la palabra clave throw. Además, al igual que en Ada, después de ejecutar un manejador, la ejecución continúa desde la instrucción que sigue a aquella a la cual se adjunta el manejador correspondiente.</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A diferencia de Ada, en C++ se puede transmitir cualquier cantidad de información junto con una excepción. De hecho, para lanzar una excepción, se puede lanzar un objeto que contiene datos que pueden ser utilizados por el manejador. Por ejemplo, en el ejemplo anterior, se señaló una solicitud de ayuda proporcionando un objeto que contenía información específica sobre el tipo de ayuda solicitada. Si los datos en el objeto lanzado no son utilizados por el manejador, la cláusula catch puede simplemente especificar un tipo sin nombrar un objeto. Esto ocurre en nuestro ejemplo de la división por cero.</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Las rutinas de C++ pueden listar en su interfaz las excepciones que pueden lanzar. Esta característica permite que un programador especifique de manera precisa la intención de una rutina, al especificar tanto el comportamiento normal esperado (los datos que puede aceptar y devolver) como sus comportamientos anormales. Por ejemplo:</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void foo() throw(Help, Zerodivide);</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Podría ser la interfaz de una función foo que se llama dentro del bloque tolerante a fallos anterior. Saber que la función foo utilizada puede generar excepciones permite que el código del cliente se proteja contra comportamientos anómalos al proporcionar facilidades adecuadas de manejo de excepciones, como hicimos en el ejemplo.</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El problema aquí es qué sucede si foo termina lanzando otra excepción que no está listada en su interfaz. Esto puede ocurrir, por ejemplo, si la máquina de ejecución en tiempo de ejecución captura un error distinto a una división por cero (por ejemplo, un desbordamiento). En tal caso, se llama automáticamente a una función especial llamada unexpected(). Su comportamiento predeterminado, que puede ser redefinido por el programador, eventualmente provoca la llamada a abort(), lo que termina la ejecución del programa.</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Sin embargo, no es necesario incluir la lista de posibles excepciones generadas por una rutina en su interfaz. Si no se proporciona ninguna lista, significa que cualquier excepción posible puede ser propagada. En cambio, si se proporciona la lista vacía throw(), esto significa que la rutina no propaga ninguna excepción.</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Si una excepción se propaga repetidamente y nunca se encuentra un manejador coincidente, se llama automáticamente a una función especial llamada terminate(). Su comportamiento predeterminado, que puede ser redefinido por el programador, eventualmente aborta la ejecución del programa</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p:txBody>
      </p:sp>
      <p:sp>
        <p:nvSpPr>
          <p:cNvPr id="721" name="Google Shape;721;p42: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42</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p43: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28" name="Google Shape;728;p43: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De ghezzi:</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El bloque anterior puede llamar a rutinas que, a su vez, pueden lanzar excepciones. Si una de esas rutinas genera una solicitud de ayuda, por ejemplo, y no proporciona un manejador para dicha excepción, la ejecución de la rutina se abandona y la excepción se propaga al punto de llamada dentro del bloque. A su vez, se abandona la ejecución del bloque y el control se transfiere al manejador como en el caso anterior. En otros términos, al igual que Ada, C++ propaga excepciones no manejadas. Al igual que en Ada, una excepción capturada puede propagarse explícitamente simplemente utilizando la palabra clave throw. Además, al igual que en Ada, después de ejecutar un manejador, la ejecución continúa desde la instrucción que sigue a aquella a la cual se adjunta el manejador correspondiente.</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A diferencia de Ada, en C++ se puede transmitir cualquier cantidad de información junto con una excepción. De hecho, para lanzar una excepción, se puede lanzar un objeto que contiene datos que pueden ser utilizados por el manejador. Por ejemplo, en el ejemplo anterior, se señaló una solicitud de ayuda proporcionando un objeto que contenía información específica sobre el tipo de ayuda solicitada. Si los datos en el objeto lanzado no son utilizados por el manejador, la cláusula catch puede simplemente especificar un tipo sin nombrar un objeto. Esto ocurre en nuestro ejemplo de la división por cero.</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Las rutinas de C++ pueden listar en su interfaz las excepciones que pueden lanzar. Esta característica permite que un programador especifique de manera precisa la intención de una rutina, al especificar tanto el comportamiento normal esperado (los datos que puede aceptar y devolver) como sus comportamientos anormales. Por ejemplo:</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void foo() throw(Help, Zerodivide);</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Podría ser la interfaz de una función foo que se llama dentro del bloque tolerante a fallos anterior. Saber que la función foo utilizada puede generar excepciones permite que el código del cliente se proteja contra comportamientos anómalos al proporcionar facilidades adecuadas de manejo de excepciones, como hicimos en el ejemplo.</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El problema aquí es qué sucede si foo termina lanzando otra excepción que no está listada en su interfaz. Esto puede ocurrir, por ejemplo, si la máquina de ejecución en tiempo de ejecución captura un error distinto a una división por cero (por ejemplo, un desbordamiento). En tal caso, se llama automáticamente a una función especial llamada unexpected(). Su comportamiento predeterminado, que puede ser redefinido por el programador, eventualmente provoca la llamada a abort(), lo que termina la ejecución del programa.</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Sin embargo, no es necesario incluir la lista de posibles excepciones generadas por una rutina en su interfaz. Si no se proporciona ninguna lista, significa que cualquier excepción posible puede ser propagada. En cambio, si se proporciona la lista vacía throw(), esto significa que la rutina no propaga ninguna excepción.</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Si una excepción se propaga repetidamente y nunca se encuentra un manejador coincidente, se llama automáticamente a una función especial llamada terminate(). Su comportamiento predeterminado, que puede ser redefinido por el programador, eventualmente aborta la ejecución del programa</a:t>
            </a:r>
            <a:endParaRPr sz="2000" b="0" strike="noStrike">
              <a:latin typeface="Arial"/>
              <a:ea typeface="Arial"/>
              <a:cs typeface="Arial"/>
              <a:sym typeface="Arial"/>
            </a:endParaRPr>
          </a:p>
          <a:p>
            <a:pPr marL="216000" lvl="0" indent="-216000" algn="l" rtl="0">
              <a:lnSpc>
                <a:spcPct val="100000"/>
              </a:lnSpc>
              <a:spcBef>
                <a:spcPts val="0"/>
              </a:spcBef>
              <a:spcAft>
                <a:spcPts val="0"/>
              </a:spcAft>
              <a:buSzPts val="2000"/>
              <a:buNone/>
            </a:pPr>
            <a:endParaRPr sz="2000" b="0" strike="noStrike">
              <a:latin typeface="Arial"/>
              <a:ea typeface="Arial"/>
              <a:cs typeface="Arial"/>
              <a:sym typeface="Arial"/>
            </a:endParaRPr>
          </a:p>
        </p:txBody>
      </p:sp>
      <p:sp>
        <p:nvSpPr>
          <p:cNvPr id="729" name="Google Shape;729;p43: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43</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p4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36" name="Google Shape;736;p44: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45: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43" name="Google Shape;743;p45: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p46: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0" name="Google Shape;750;p46: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47:notes"/>
          <p:cNvSpPr>
            <a:spLocks noGrp="1" noRot="1" noChangeAspect="1"/>
          </p:cNvSpPr>
          <p:nvPr>
            <p:ph type="sldImg" idx="2"/>
          </p:nvPr>
        </p:nvSpPr>
        <p:spPr>
          <a:xfrm>
            <a:off x="1108080" y="812880"/>
            <a:ext cx="5343120" cy="40082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8" name="Google Shape;758;p47: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SzPts val="2000"/>
              <a:buFont typeface="Calibri"/>
              <a:buNone/>
            </a:pPr>
            <a:r>
              <a:rPr lang="es-AR" sz="2000" b="0" strike="noStrike">
                <a:latin typeface="Calibri"/>
                <a:ea typeface="Calibri"/>
                <a:cs typeface="Calibri"/>
                <a:sym typeface="Calibri"/>
              </a:rPr>
              <a:t>Ver de donde sacaron esto</a:t>
            </a:r>
            <a:endParaRPr sz="2000" b="0" strike="noStrike">
              <a:latin typeface="Arial"/>
              <a:ea typeface="Arial"/>
              <a:cs typeface="Arial"/>
              <a:sym typeface="Arial"/>
            </a:endParaRPr>
          </a:p>
        </p:txBody>
      </p:sp>
      <p:sp>
        <p:nvSpPr>
          <p:cNvPr id="759" name="Google Shape;759;p47:notes"/>
          <p:cNvSpPr txBox="1">
            <a:spLocks noGrp="1"/>
          </p:cNvSpPr>
          <p:nvPr>
            <p:ph type="sldNum" idx="12"/>
          </p:nvPr>
        </p:nvSpPr>
        <p:spPr>
          <a:xfrm>
            <a:off x="4278960" y="10157400"/>
            <a:ext cx="3280320" cy="5338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47</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p48: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66" name="Google Shape;766;p48: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p49:notes"/>
          <p:cNvSpPr>
            <a:spLocks noGrp="1" noRot="1" noChangeAspect="1"/>
          </p:cNvSpPr>
          <p:nvPr>
            <p:ph type="sldImg" idx="2"/>
          </p:nvPr>
        </p:nvSpPr>
        <p:spPr>
          <a:xfrm>
            <a:off x="1143000" y="695160"/>
            <a:ext cx="4566960" cy="3425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76" name="Google Shape;776;p49:notes"/>
          <p:cNvSpPr/>
          <p:nvPr/>
        </p:nvSpPr>
        <p:spPr>
          <a:xfrm>
            <a:off x="685080" y="4343400"/>
            <a:ext cx="5482800" cy="411084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sp>
      <p:sp>
        <p:nvSpPr>
          <p:cNvPr id="777" name="Google Shape;777;p49: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p50:notes"/>
          <p:cNvSpPr>
            <a:spLocks noGrp="1" noRot="1" noChangeAspect="1"/>
          </p:cNvSpPr>
          <p:nvPr>
            <p:ph type="sldImg" idx="2"/>
          </p:nvPr>
        </p:nvSpPr>
        <p:spPr>
          <a:xfrm>
            <a:off x="-58680" y="695160"/>
            <a:ext cx="474480" cy="3567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3" name="Google Shape;783;p50:notes"/>
          <p:cNvSpPr txBox="1">
            <a:spLocks noGrp="1"/>
          </p:cNvSpPr>
          <p:nvPr>
            <p:ph type="body" idx="1"/>
          </p:nvPr>
        </p:nvSpPr>
        <p:spPr>
          <a:xfrm>
            <a:off x="685440" y="4343400"/>
            <a:ext cx="5482440" cy="4110840"/>
          </a:xfrm>
          <a:prstGeom prst="rect">
            <a:avLst/>
          </a:prstGeom>
          <a:noFill/>
          <a:ln>
            <a:noFill/>
          </a:ln>
        </p:spPr>
        <p:txBody>
          <a:bodyPr spcFirstLastPara="1" wrap="square" lIns="0" tIns="0" rIns="0" bIns="0" anchor="t" anchorCtr="0">
            <a:noAutofit/>
          </a:bodyPr>
          <a:lstStyle/>
          <a:p>
            <a:pPr marL="216000" lvl="0" indent="-214199" algn="l" rtl="0">
              <a:lnSpc>
                <a:spcPct val="100000"/>
              </a:lnSpc>
              <a:spcBef>
                <a:spcPts val="0"/>
              </a:spcBef>
              <a:spcAft>
                <a:spcPts val="0"/>
              </a:spcAft>
              <a:buClr>
                <a:srgbClr val="000000"/>
              </a:buClr>
              <a:buSzPts val="1200"/>
              <a:buFont typeface="Times New Roman"/>
              <a:buNone/>
            </a:pPr>
            <a:r>
              <a:rPr lang="es-AR" sz="1200" b="0" strike="noStrike">
                <a:solidFill>
                  <a:srgbClr val="000000"/>
                </a:solidFill>
                <a:latin typeface="Times New Roman"/>
                <a:ea typeface="Times New Roman"/>
                <a:cs typeface="Times New Roman"/>
                <a:sym typeface="Times New Roman"/>
              </a:rPr>
              <a:t>Cada excepción está representada por una instancia de la clase Throwable o de una de sus subclases, como un objeto que puede ser utilizado para transportar información desde el punto en el que se produce una excepción al punto que el manejador la captura. Cuando surge una condición excepcional, se crea un objeto que representa esa excepción y se envía al método que ha originado el error. Ese método puede decidir entre gestionar él mismo la excepción o pasarla. En cualquiera de los dos casos, en algún punto, la excepción es capturada y procesada. Las excepciones pueden ser generadas por el intérprete Java o por el propio código.</a:t>
            </a:r>
            <a:endParaRPr sz="1200" b="0" strike="noStrike">
              <a:latin typeface="Arial"/>
              <a:ea typeface="Arial"/>
              <a:cs typeface="Arial"/>
              <a:sym typeface="Arial"/>
            </a:endParaRPr>
          </a:p>
          <a:p>
            <a:pPr marL="216000" lvl="0" indent="-214199" algn="l" rtl="0">
              <a:lnSpc>
                <a:spcPct val="100000"/>
              </a:lnSpc>
              <a:spcBef>
                <a:spcPts val="360"/>
              </a:spcBef>
              <a:spcAft>
                <a:spcPts val="0"/>
              </a:spcAft>
              <a:buClr>
                <a:srgbClr val="000000"/>
              </a:buClr>
              <a:buSzPts val="1200"/>
              <a:buFont typeface="Times New Roman"/>
              <a:buNone/>
            </a:pPr>
            <a:r>
              <a:rPr lang="es-AR" sz="1200" b="0" strike="noStrike">
                <a:solidFill>
                  <a:srgbClr val="000000"/>
                </a:solidFill>
                <a:latin typeface="Times New Roman"/>
                <a:ea typeface="Times New Roman"/>
                <a:cs typeface="Times New Roman"/>
                <a:sym typeface="Times New Roman"/>
              </a:rPr>
              <a:t>Las sentencias del programa que se quieran controlar, se incluyen en un bloque try. El código puede capturar esta excepción, utilizando catch, y gestionarla de forma racional. Las excepciones generadas por el sistema son automáticamente enviadas por el intérprete. Para enviar manualmente una excepción se utiliza la palabra clave throw. Se debe especificar mediante la cláusula throws cualquier excepción que se envía desde un método. Se debe poner cualquier código que el programador desee que se ejecute siempre, en el método finally.</a:t>
            </a:r>
            <a:endParaRPr sz="1200" b="0" strike="noStrike">
              <a:latin typeface="Arial"/>
              <a:ea typeface="Arial"/>
              <a:cs typeface="Arial"/>
              <a:sym typeface="Arial"/>
            </a:endParaRPr>
          </a:p>
          <a:p>
            <a:pPr marL="216000" lvl="0" indent="-214199" algn="l" rtl="0">
              <a:lnSpc>
                <a:spcPct val="100000"/>
              </a:lnSpc>
              <a:spcBef>
                <a:spcPts val="360"/>
              </a:spcBef>
              <a:spcAft>
                <a:spcPts val="0"/>
              </a:spcAft>
              <a:buSzPts val="1200"/>
              <a:buNone/>
            </a:pPr>
            <a:endParaRPr sz="1200" b="0" strike="noStrike">
              <a:latin typeface="Arial"/>
              <a:ea typeface="Arial"/>
              <a:cs typeface="Arial"/>
              <a:sym typeface="Arial"/>
            </a:endParaRPr>
          </a:p>
          <a:p>
            <a:pPr marL="216000" lvl="0" indent="-214199" algn="l" rtl="0">
              <a:lnSpc>
                <a:spcPct val="100000"/>
              </a:lnSpc>
              <a:spcBef>
                <a:spcPts val="360"/>
              </a:spcBef>
              <a:spcAft>
                <a:spcPts val="0"/>
              </a:spcAft>
              <a:buSzPts val="1200"/>
              <a:buNone/>
            </a:pPr>
            <a:endParaRPr sz="1200" b="0" strike="noStrike">
              <a:latin typeface="Arial"/>
              <a:ea typeface="Arial"/>
              <a:cs typeface="Arial"/>
              <a:sym typeface="Arial"/>
            </a:endParaRPr>
          </a:p>
          <a:p>
            <a:pPr marL="216000" lvl="0" indent="-214199" algn="l" rtl="0">
              <a:lnSpc>
                <a:spcPct val="100000"/>
              </a:lnSpc>
              <a:spcBef>
                <a:spcPts val="360"/>
              </a:spcBef>
              <a:spcAft>
                <a:spcPts val="0"/>
              </a:spcAft>
              <a:buClr>
                <a:srgbClr val="000000"/>
              </a:buClr>
              <a:buSzPts val="1200"/>
              <a:buFont typeface="Times New Roman"/>
              <a:buNone/>
            </a:pPr>
            <a:r>
              <a:rPr lang="es-AR" sz="1200" b="0" strike="noStrike">
                <a:solidFill>
                  <a:srgbClr val="000000"/>
                </a:solidFill>
                <a:latin typeface="Times New Roman"/>
                <a:ea typeface="Times New Roman"/>
                <a:cs typeface="Times New Roman"/>
                <a:sym typeface="Times New Roman"/>
              </a:rPr>
              <a:t>Propagacion </a:t>
            </a:r>
            <a:endParaRPr sz="1200" b="0" strike="noStrike">
              <a:latin typeface="Arial"/>
              <a:ea typeface="Arial"/>
              <a:cs typeface="Arial"/>
              <a:sym typeface="Arial"/>
            </a:endParaRPr>
          </a:p>
          <a:p>
            <a:pPr marL="216000" lvl="0" indent="-214199" algn="l" rtl="0">
              <a:lnSpc>
                <a:spcPct val="100000"/>
              </a:lnSpc>
              <a:spcBef>
                <a:spcPts val="360"/>
              </a:spcBef>
              <a:spcAft>
                <a:spcPts val="0"/>
              </a:spcAft>
              <a:buSzPts val="1200"/>
              <a:buNone/>
            </a:pPr>
            <a:endParaRPr sz="1200" b="0" strike="noStrike">
              <a:latin typeface="Arial"/>
              <a:ea typeface="Arial"/>
              <a:cs typeface="Arial"/>
              <a:sym typeface="Arial"/>
            </a:endParaRPr>
          </a:p>
          <a:p>
            <a:pPr marL="216000" lvl="0" indent="-214199" algn="l" rtl="0">
              <a:lnSpc>
                <a:spcPct val="100000"/>
              </a:lnSpc>
              <a:spcBef>
                <a:spcPts val="360"/>
              </a:spcBef>
              <a:spcAft>
                <a:spcPts val="0"/>
              </a:spcAft>
              <a:buClr>
                <a:srgbClr val="000000"/>
              </a:buClr>
              <a:buSzPts val="1200"/>
              <a:buFont typeface="Times New Roman"/>
              <a:buNone/>
            </a:pPr>
            <a:r>
              <a:rPr lang="es-AR" sz="1200" b="0" strike="noStrike">
                <a:solidFill>
                  <a:srgbClr val="000000"/>
                </a:solidFill>
                <a:latin typeface="Times New Roman"/>
                <a:ea typeface="Times New Roman"/>
                <a:cs typeface="Times New Roman"/>
                <a:sym typeface="Times New Roman"/>
              </a:rPr>
              <a:t>La cláusula catch comprueba los argumentos en el mismo orden en que aparezcan en el programa. Si hay alguno que coincida, se ejecuta el bloque y sigue el flujo de control por el bloque finally (si lo hay) y concluye el control de la excepción. </a:t>
            </a:r>
            <a:endParaRPr sz="1200" b="0" strike="noStrike">
              <a:latin typeface="Arial"/>
              <a:ea typeface="Arial"/>
              <a:cs typeface="Arial"/>
              <a:sym typeface="Arial"/>
            </a:endParaRPr>
          </a:p>
          <a:p>
            <a:pPr marL="216000" lvl="0" indent="-214199" algn="l" rtl="0">
              <a:lnSpc>
                <a:spcPct val="100000"/>
              </a:lnSpc>
              <a:spcBef>
                <a:spcPts val="360"/>
              </a:spcBef>
              <a:spcAft>
                <a:spcPts val="0"/>
              </a:spcAft>
              <a:buClr>
                <a:srgbClr val="000000"/>
              </a:buClr>
              <a:buSzPts val="1200"/>
              <a:buFont typeface="Times New Roman"/>
              <a:buNone/>
            </a:pPr>
            <a:r>
              <a:rPr lang="es-AR" sz="1200" b="0" strike="noStrike">
                <a:solidFill>
                  <a:srgbClr val="000000"/>
                </a:solidFill>
                <a:latin typeface="Times New Roman"/>
                <a:ea typeface="Times New Roman"/>
                <a:cs typeface="Times New Roman"/>
                <a:sym typeface="Times New Roman"/>
              </a:rPr>
              <a:t>Si ninguna de las cláusulas catch coincide con la excepción que se ha producido, entonces se ejecutará el código de la cláusula finally (en caso de que la haya). Lo que ocurre en este caso, es exactamente lo mismo que si la sentencia que lanza la excepción no se encontrase encerrada en el bloque try. </a:t>
            </a:r>
            <a:endParaRPr sz="1200" b="0" strike="noStrike">
              <a:latin typeface="Arial"/>
              <a:ea typeface="Arial"/>
              <a:cs typeface="Arial"/>
              <a:sym typeface="Arial"/>
            </a:endParaRPr>
          </a:p>
          <a:p>
            <a:pPr marL="216000" lvl="0" indent="-214199" algn="l" rtl="0">
              <a:lnSpc>
                <a:spcPct val="100000"/>
              </a:lnSpc>
              <a:spcBef>
                <a:spcPts val="360"/>
              </a:spcBef>
              <a:spcAft>
                <a:spcPts val="0"/>
              </a:spcAft>
              <a:buClr>
                <a:srgbClr val="000000"/>
              </a:buClr>
              <a:buSzPts val="1200"/>
              <a:buFont typeface="Times New Roman"/>
              <a:buNone/>
            </a:pPr>
            <a:r>
              <a:rPr lang="es-AR" sz="1200" b="0" strike="noStrike">
                <a:solidFill>
                  <a:srgbClr val="000000"/>
                </a:solidFill>
                <a:latin typeface="Times New Roman"/>
                <a:ea typeface="Times New Roman"/>
                <a:cs typeface="Times New Roman"/>
                <a:sym typeface="Times New Roman"/>
              </a:rPr>
              <a:t>El flujo de control abandona este método y retorna prematuramente al método que lo llamó. Si la llamada estaba dentro del ámbito de una sentencia try, entonces se vuelve a intentar el control de la excepción, y así continuamente. </a:t>
            </a:r>
            <a:endParaRPr sz="1200" b="0" strike="noStrike">
              <a:latin typeface="Arial"/>
              <a:ea typeface="Arial"/>
              <a:cs typeface="Arial"/>
              <a:sym typeface="Arial"/>
            </a:endParaRPr>
          </a:p>
          <a:p>
            <a:pPr marL="216000" lvl="0" indent="-214199" algn="l" rtl="0">
              <a:lnSpc>
                <a:spcPct val="100000"/>
              </a:lnSpc>
              <a:spcBef>
                <a:spcPts val="360"/>
              </a:spcBef>
              <a:spcAft>
                <a:spcPts val="0"/>
              </a:spcAft>
              <a:buClr>
                <a:srgbClr val="000000"/>
              </a:buClr>
              <a:buSzPts val="1200"/>
              <a:buFont typeface="Times New Roman"/>
              <a:buNone/>
            </a:pPr>
            <a:r>
              <a:rPr lang="es-AR" sz="1200" b="0" strike="noStrike">
                <a:solidFill>
                  <a:srgbClr val="000000"/>
                </a:solidFill>
                <a:latin typeface="Times New Roman"/>
                <a:ea typeface="Times New Roman"/>
                <a:cs typeface="Times New Roman"/>
                <a:sym typeface="Times New Roman"/>
              </a:rPr>
              <a:t>Veamos lo que sucede cuando una excepción no es tratada en la rutina en donde se produce. El sistema Java busca un bloque try..catch más allá de la llamada, pero dentro del método que lo trajo aquí. Si la excepción se propaga de todas formas hasta lo alto de la pila de llamadas sin encontrar un controlador específico para la excepción, entonces la ejecución se detendrá dando un mensaje. Es decir, podemos suponer que Java nos está proporcionando un bloque catch por defecto, que imprime un mensaje de error y sale. </a:t>
            </a:r>
            <a:endParaRPr sz="1200" b="0" strike="noStrike">
              <a:latin typeface="Arial"/>
              <a:ea typeface="Arial"/>
              <a:cs typeface="Arial"/>
              <a:sym typeface="Arial"/>
            </a:endParaRPr>
          </a:p>
          <a:p>
            <a:pPr marL="216000" lvl="0" indent="-214199" algn="l" rtl="0">
              <a:lnSpc>
                <a:spcPct val="100000"/>
              </a:lnSpc>
              <a:spcBef>
                <a:spcPts val="360"/>
              </a:spcBef>
              <a:spcAft>
                <a:spcPts val="0"/>
              </a:spcAft>
              <a:buClr>
                <a:srgbClr val="000000"/>
              </a:buClr>
              <a:buSzPts val="1200"/>
              <a:buFont typeface="Times New Roman"/>
              <a:buNone/>
            </a:pPr>
            <a:r>
              <a:rPr lang="es-AR" sz="1200" b="0" strike="noStrike">
                <a:solidFill>
                  <a:srgbClr val="000000"/>
                </a:solidFill>
                <a:latin typeface="Times New Roman"/>
                <a:ea typeface="Times New Roman"/>
                <a:cs typeface="Times New Roman"/>
                <a:sym typeface="Times New Roman"/>
              </a:rPr>
              <a:t>No hay ninguna sobrecarga en el sistema por incorporar sentencias try al código. La sobrecarga se produce cuando se genera la excepción. </a:t>
            </a:r>
            <a:endParaRPr sz="1200" b="0" strike="noStrike">
              <a:latin typeface="Arial"/>
              <a:ea typeface="Arial"/>
              <a:cs typeface="Arial"/>
              <a:sym typeface="Arial"/>
            </a:endParaRPr>
          </a:p>
          <a:p>
            <a:pPr marL="216000" lvl="0" indent="-214199" algn="l" rtl="0">
              <a:lnSpc>
                <a:spcPct val="100000"/>
              </a:lnSpc>
              <a:spcBef>
                <a:spcPts val="360"/>
              </a:spcBef>
              <a:spcAft>
                <a:spcPts val="0"/>
              </a:spcAft>
              <a:buClr>
                <a:srgbClr val="000000"/>
              </a:buClr>
              <a:buSzPts val="1200"/>
              <a:buFont typeface="Times New Roman"/>
              <a:buNone/>
            </a:pPr>
            <a:r>
              <a:rPr lang="es-AR" sz="1200" b="0" strike="noStrike">
                <a:solidFill>
                  <a:srgbClr val="000000"/>
                </a:solidFill>
                <a:latin typeface="Times New Roman"/>
                <a:ea typeface="Times New Roman"/>
                <a:cs typeface="Times New Roman"/>
                <a:sym typeface="Times New Roman"/>
              </a:rPr>
              <a:t>Hemos dicho ya que un método debe capturar las excepciones que genera, o en todo caso, declararlas como parte de su llamada, indicando a todo el mundo que es capaz de generar excepciones. Esto debe ser así para que cualquiera que escriba una llamada a ese método esté avisado de que le puede llegar una excepción, en lugar del valor de retorno normal. Esto permite al programador que llama a ese método, elegir entre controlar la excepción o propagarla hacia arriba en la pila de llamadas. La siguiente línea de código muestra la forma general en que un método declara excepciones que se pueden propagar fuera de él: </a:t>
            </a:r>
            <a:endParaRPr sz="1200" b="0" strike="noStrike">
              <a:latin typeface="Arial"/>
              <a:ea typeface="Arial"/>
              <a:cs typeface="Arial"/>
              <a:sym typeface="Arial"/>
            </a:endParaRPr>
          </a:p>
          <a:p>
            <a:pPr marL="216000" lvl="0" indent="-214199" algn="l" rtl="0">
              <a:lnSpc>
                <a:spcPct val="100000"/>
              </a:lnSpc>
              <a:spcBef>
                <a:spcPts val="360"/>
              </a:spcBef>
              <a:spcAft>
                <a:spcPts val="0"/>
              </a:spcAft>
              <a:buClr>
                <a:srgbClr val="000000"/>
              </a:buClr>
              <a:buSzPts val="1200"/>
              <a:buFont typeface="Times New Roman"/>
              <a:buNone/>
            </a:pPr>
            <a:r>
              <a:rPr lang="es-AR" sz="1200" b="0" strike="noStrike">
                <a:solidFill>
                  <a:srgbClr val="000000"/>
                </a:solidFill>
                <a:latin typeface="Times New Roman"/>
                <a:ea typeface="Times New Roman"/>
                <a:cs typeface="Times New Roman"/>
                <a:sym typeface="Times New Roman"/>
              </a:rPr>
              <a:t>tipo_de_retorno( parametros ) throws e1,e2,e3 { } Los nombres </a:t>
            </a:r>
            <a:r>
              <a:rPr lang="es-AR" sz="1200" b="0" i="1" strike="noStrike">
                <a:solidFill>
                  <a:srgbClr val="000000"/>
                </a:solidFill>
                <a:latin typeface="Times New Roman"/>
                <a:ea typeface="Times New Roman"/>
                <a:cs typeface="Times New Roman"/>
                <a:sym typeface="Times New Roman"/>
              </a:rPr>
              <a:t>e1,e2,… </a:t>
            </a:r>
            <a:r>
              <a:rPr lang="es-AR" sz="1200" b="0" strike="noStrike">
                <a:solidFill>
                  <a:srgbClr val="000000"/>
                </a:solidFill>
                <a:latin typeface="Times New Roman"/>
                <a:ea typeface="Times New Roman"/>
                <a:cs typeface="Times New Roman"/>
                <a:sym typeface="Times New Roman"/>
              </a:rPr>
              <a:t>deben ser nombres de excepciones, es decir, cualquier tipo que sea asignable al tipo predefinido </a:t>
            </a:r>
            <a:r>
              <a:rPr lang="es-AR" sz="1200" b="0" i="1" strike="noStrike">
                <a:solidFill>
                  <a:srgbClr val="000000"/>
                </a:solidFill>
                <a:latin typeface="Times New Roman"/>
                <a:ea typeface="Times New Roman"/>
                <a:cs typeface="Times New Roman"/>
                <a:sym typeface="Times New Roman"/>
              </a:rPr>
              <a:t>Throwable </a:t>
            </a:r>
            <a:r>
              <a:rPr lang="es-AR" sz="1200" b="0" strike="noStrike">
                <a:solidFill>
                  <a:srgbClr val="000000"/>
                </a:solidFill>
                <a:latin typeface="Times New Roman"/>
                <a:ea typeface="Times New Roman"/>
                <a:cs typeface="Times New Roman"/>
                <a:sym typeface="Times New Roman"/>
              </a:rPr>
              <a:t>. Observar que, como en la llamada al método se especifica el tipo de retorno, se está especificando el tipo de excepción que puede generar (en lugar de un objeto exception). </a:t>
            </a:r>
            <a:endParaRPr sz="1200" b="0" strike="noStrike">
              <a:latin typeface="Arial"/>
              <a:ea typeface="Arial"/>
              <a:cs typeface="Arial"/>
              <a:sym typeface="Arial"/>
            </a:endParaRPr>
          </a:p>
          <a:p>
            <a:pPr marL="216000" lvl="0" indent="-214199" algn="l" rtl="0">
              <a:lnSpc>
                <a:spcPct val="100000"/>
              </a:lnSpc>
              <a:spcBef>
                <a:spcPts val="360"/>
              </a:spcBef>
              <a:spcAft>
                <a:spcPts val="0"/>
              </a:spcAft>
              <a:buClr>
                <a:srgbClr val="000000"/>
              </a:buClr>
              <a:buSzPts val="1200"/>
              <a:buFont typeface="Times New Roman"/>
              <a:buNone/>
            </a:pPr>
            <a:r>
              <a:rPr lang="es-AR" sz="1200" b="0" strike="noStrike">
                <a:solidFill>
                  <a:srgbClr val="000000"/>
                </a:solidFill>
                <a:latin typeface="Times New Roman"/>
                <a:ea typeface="Times New Roman"/>
                <a:cs typeface="Times New Roman"/>
                <a:sym typeface="Times New Roman"/>
              </a:rPr>
              <a:t>He aquí un ejemplo, tomado del sistema Java de entrada/salida: </a:t>
            </a:r>
            <a:endParaRPr sz="1200" b="0" strike="noStrike">
              <a:latin typeface="Arial"/>
              <a:ea typeface="Arial"/>
              <a:cs typeface="Arial"/>
              <a:sym typeface="Arial"/>
            </a:endParaRPr>
          </a:p>
          <a:p>
            <a:pPr marL="216000" lvl="0" indent="-214199" algn="l" rtl="0">
              <a:lnSpc>
                <a:spcPct val="100000"/>
              </a:lnSpc>
              <a:spcBef>
                <a:spcPts val="360"/>
              </a:spcBef>
              <a:spcAft>
                <a:spcPts val="0"/>
              </a:spcAft>
              <a:buClr>
                <a:srgbClr val="000000"/>
              </a:buClr>
              <a:buSzPts val="1200"/>
              <a:buFont typeface="Times New Roman"/>
              <a:buNone/>
            </a:pPr>
            <a:r>
              <a:rPr lang="es-AR" sz="1200" b="0" strike="noStrike">
                <a:solidFill>
                  <a:srgbClr val="000000"/>
                </a:solidFill>
                <a:latin typeface="Times New Roman"/>
                <a:ea typeface="Times New Roman"/>
                <a:cs typeface="Times New Roman"/>
                <a:sym typeface="Times New Roman"/>
              </a:rPr>
              <a:t>byte readByte() throws IOException; short readShort() throws IOException; char readChar() throws IOException; void writeByte( int v ) throws IOException; void writeShort( int v ) throws IOException; void writeChar( int v ) throws IOException; Lo más interesante aquí es que la rutina que lee un char, puede devolver un char; no el entero que se requiere en C. C necesita que se devuelva un int, para poder pasar cualquier valor a un char, y además un valor extra (-1) para indicar que se ha alcanzado el final del fichero. Algunas de las rutinas Java lanzan una excepción cuando se alcanza el fin del fichero.</a:t>
            </a:r>
            <a:endParaRPr sz="1200" b="0" strike="noStrike">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51:notes"/>
          <p:cNvSpPr>
            <a:spLocks noGrp="1" noRot="1" noChangeAspect="1"/>
          </p:cNvSpPr>
          <p:nvPr>
            <p:ph type="sldImg" idx="2"/>
          </p:nvPr>
        </p:nvSpPr>
        <p:spPr>
          <a:xfrm>
            <a:off x="-58680" y="695160"/>
            <a:ext cx="474480" cy="3567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0" name="Google Shape;790;p51:notes"/>
          <p:cNvSpPr txBox="1">
            <a:spLocks noGrp="1"/>
          </p:cNvSpPr>
          <p:nvPr>
            <p:ph type="body" idx="1"/>
          </p:nvPr>
        </p:nvSpPr>
        <p:spPr>
          <a:xfrm>
            <a:off x="685800" y="4343400"/>
            <a:ext cx="5482080" cy="4110840"/>
          </a:xfrm>
          <a:prstGeom prst="rect">
            <a:avLst/>
          </a:prstGeom>
          <a:noFill/>
          <a:ln>
            <a:noFill/>
          </a:ln>
        </p:spPr>
        <p:txBody>
          <a:bodyPr spcFirstLastPara="1" wrap="square" lIns="0" tIns="0" rIns="0" bIns="0" anchor="t" anchorCtr="0">
            <a:noAutofit/>
          </a:bodyPr>
          <a:lstStyle/>
          <a:p>
            <a:pPr marL="216000" lvl="0" indent="-214199" algn="l" rtl="0">
              <a:lnSpc>
                <a:spcPct val="100000"/>
              </a:lnSpc>
              <a:spcBef>
                <a:spcPts val="0"/>
              </a:spcBef>
              <a:spcAft>
                <a:spcPts val="0"/>
              </a:spcAft>
              <a:buClr>
                <a:srgbClr val="000000"/>
              </a:buClr>
              <a:buSzPts val="1200"/>
              <a:buFont typeface="Times New Roman"/>
              <a:buNone/>
            </a:pPr>
            <a:r>
              <a:rPr lang="es-AR" sz="1200" b="0" strike="noStrike">
                <a:solidFill>
                  <a:srgbClr val="000000"/>
                </a:solidFill>
                <a:latin typeface="Times New Roman"/>
                <a:ea typeface="Times New Roman"/>
                <a:cs typeface="Times New Roman"/>
                <a:sym typeface="Times New Roman"/>
              </a:rPr>
              <a:t>Un método puede retornar dos tipos de información:</a:t>
            </a:r>
            <a:endParaRPr sz="1200" b="0" strike="noStrike">
              <a:latin typeface="Arial"/>
              <a:ea typeface="Arial"/>
              <a:cs typeface="Arial"/>
              <a:sym typeface="Arial"/>
            </a:endParaRPr>
          </a:p>
          <a:p>
            <a:pPr marL="216000" lvl="0" indent="-214199" algn="l" rtl="0">
              <a:lnSpc>
                <a:spcPct val="100000"/>
              </a:lnSpc>
              <a:spcBef>
                <a:spcPts val="360"/>
              </a:spcBef>
              <a:spcAft>
                <a:spcPts val="0"/>
              </a:spcAft>
              <a:buClr>
                <a:srgbClr val="000000"/>
              </a:buClr>
              <a:buSzPts val="1200"/>
              <a:buFont typeface="Times New Roman"/>
              <a:buNone/>
            </a:pPr>
            <a:r>
              <a:rPr lang="es-AR" sz="1200" b="0" strike="noStrike">
                <a:solidFill>
                  <a:srgbClr val="000000"/>
                </a:solidFill>
                <a:latin typeface="Times New Roman"/>
                <a:ea typeface="Times New Roman"/>
                <a:cs typeface="Times New Roman"/>
                <a:sym typeface="Times New Roman"/>
              </a:rPr>
              <a:t>• Datos (return)</a:t>
            </a:r>
            <a:endParaRPr sz="1200" b="0" strike="noStrike">
              <a:latin typeface="Arial"/>
              <a:ea typeface="Arial"/>
              <a:cs typeface="Arial"/>
              <a:sym typeface="Arial"/>
            </a:endParaRPr>
          </a:p>
          <a:p>
            <a:pPr marL="216000" lvl="0" indent="-214199" algn="l" rtl="0">
              <a:lnSpc>
                <a:spcPct val="100000"/>
              </a:lnSpc>
              <a:spcBef>
                <a:spcPts val="360"/>
              </a:spcBef>
              <a:spcAft>
                <a:spcPts val="0"/>
              </a:spcAft>
              <a:buClr>
                <a:srgbClr val="000000"/>
              </a:buClr>
              <a:buSzPts val="1200"/>
              <a:buFont typeface="Times New Roman"/>
              <a:buNone/>
            </a:pPr>
            <a:r>
              <a:rPr lang="es-AR" sz="1200" b="0" strike="noStrike">
                <a:solidFill>
                  <a:srgbClr val="000000"/>
                </a:solidFill>
                <a:latin typeface="Times New Roman"/>
                <a:ea typeface="Times New Roman"/>
                <a:cs typeface="Times New Roman"/>
                <a:sym typeface="Times New Roman"/>
              </a:rPr>
              <a:t>• Errores (throw)</a:t>
            </a:r>
            <a:endParaRPr sz="1200" b="0" strike="noStrike">
              <a:latin typeface="Arial"/>
              <a:ea typeface="Arial"/>
              <a:cs typeface="Arial"/>
              <a:sym typeface="Arial"/>
            </a:endParaRPr>
          </a:p>
          <a:p>
            <a:pPr marL="216000" lvl="0" indent="-214199" algn="l" rtl="0">
              <a:lnSpc>
                <a:spcPct val="100000"/>
              </a:lnSpc>
              <a:spcBef>
                <a:spcPts val="360"/>
              </a:spcBef>
              <a:spcAft>
                <a:spcPts val="0"/>
              </a:spcAft>
              <a:buClr>
                <a:srgbClr val="000000"/>
              </a:buClr>
              <a:buSzPts val="1200"/>
              <a:buFont typeface="Times New Roman"/>
              <a:buNone/>
            </a:pPr>
            <a:r>
              <a:rPr lang="es-AR" sz="1200" b="0" strike="noStrike">
                <a:solidFill>
                  <a:srgbClr val="000000"/>
                </a:solidFill>
                <a:latin typeface="Times New Roman"/>
                <a:ea typeface="Times New Roman"/>
                <a:cs typeface="Times New Roman"/>
                <a:sym typeface="Times New Roman"/>
              </a:rPr>
              <a:t>􀀹 Analogía: System.out y System.err como dispositivos</a:t>
            </a:r>
            <a:endParaRPr sz="1200" b="0" strike="noStrike">
              <a:latin typeface="Arial"/>
              <a:ea typeface="Arial"/>
              <a:cs typeface="Arial"/>
              <a:sym typeface="Arial"/>
            </a:endParaRPr>
          </a:p>
          <a:p>
            <a:pPr marL="216000" lvl="0" indent="-214199" algn="l" rtl="0">
              <a:lnSpc>
                <a:spcPct val="100000"/>
              </a:lnSpc>
              <a:spcBef>
                <a:spcPts val="360"/>
              </a:spcBef>
              <a:spcAft>
                <a:spcPts val="0"/>
              </a:spcAft>
              <a:buClr>
                <a:srgbClr val="000000"/>
              </a:buClr>
              <a:buSzPts val="1200"/>
              <a:buFont typeface="Times New Roman"/>
              <a:buNone/>
            </a:pPr>
            <a:r>
              <a:rPr lang="es-AR" sz="1200" b="0" strike="noStrike">
                <a:solidFill>
                  <a:srgbClr val="000000"/>
                </a:solidFill>
                <a:latin typeface="Times New Roman"/>
                <a:ea typeface="Times New Roman"/>
                <a:cs typeface="Times New Roman"/>
                <a:sym typeface="Times New Roman"/>
              </a:rPr>
              <a:t>de salida con finalidad diferente.</a:t>
            </a:r>
            <a:endParaRPr sz="1200" b="0" strike="noStrike">
              <a:latin typeface="Arial"/>
              <a:ea typeface="Arial"/>
              <a:cs typeface="Arial"/>
              <a:sym typeface="Arial"/>
            </a:endParaRPr>
          </a:p>
          <a:p>
            <a:pPr marL="216000" lvl="0" indent="-214199" algn="l" rtl="0">
              <a:lnSpc>
                <a:spcPct val="100000"/>
              </a:lnSpc>
              <a:spcBef>
                <a:spcPts val="360"/>
              </a:spcBef>
              <a:spcAft>
                <a:spcPts val="0"/>
              </a:spcAft>
              <a:buClr>
                <a:srgbClr val="000000"/>
              </a:buClr>
              <a:buSzPts val="1200"/>
              <a:buFont typeface="Times New Roman"/>
              <a:buNone/>
            </a:pPr>
            <a:r>
              <a:rPr lang="es-AR" sz="1200" b="1" strike="noStrike">
                <a:solidFill>
                  <a:srgbClr val="000000"/>
                </a:solidFill>
                <a:latin typeface="Times New Roman"/>
                <a:ea typeface="Times New Roman"/>
                <a:cs typeface="Times New Roman"/>
                <a:sym typeface="Times New Roman"/>
              </a:rPr>
              <a:t>Los valores de retorno de error se denominan Excepciones.</a:t>
            </a:r>
            <a:endParaRPr sz="1200" b="0" strike="noStrike">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52:notes"/>
          <p:cNvSpPr>
            <a:spLocks noGrp="1" noRot="1" noChangeAspect="1"/>
          </p:cNvSpPr>
          <p:nvPr>
            <p:ph type="sldImg" idx="2"/>
          </p:nvPr>
        </p:nvSpPr>
        <p:spPr>
          <a:xfrm>
            <a:off x="-58680" y="695160"/>
            <a:ext cx="474480" cy="3567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7" name="Google Shape;797;p52:notes"/>
          <p:cNvSpPr txBox="1">
            <a:spLocks noGrp="1"/>
          </p:cNvSpPr>
          <p:nvPr>
            <p:ph type="body" idx="1"/>
          </p:nvPr>
        </p:nvSpPr>
        <p:spPr>
          <a:xfrm>
            <a:off x="685800" y="4343400"/>
            <a:ext cx="5482080" cy="4110840"/>
          </a:xfrm>
          <a:prstGeom prst="rect">
            <a:avLst/>
          </a:prstGeom>
          <a:noFill/>
          <a:ln>
            <a:noFill/>
          </a:ln>
        </p:spPr>
        <p:txBody>
          <a:bodyPr spcFirstLastPara="1" wrap="square" lIns="0" tIns="0" rIns="0" bIns="0" anchor="t" anchorCtr="0">
            <a:noAutofit/>
          </a:bodyPr>
          <a:lstStyle/>
          <a:p>
            <a:pPr marL="216000" lvl="0" indent="-214199" algn="l" rtl="0">
              <a:lnSpc>
                <a:spcPct val="80000"/>
              </a:lnSpc>
              <a:spcBef>
                <a:spcPts val="0"/>
              </a:spcBef>
              <a:spcAft>
                <a:spcPts val="0"/>
              </a:spcAft>
              <a:buClr>
                <a:srgbClr val="000000"/>
              </a:buClr>
              <a:buSzPts val="839"/>
              <a:buFont typeface="Times New Roman"/>
              <a:buNone/>
            </a:pPr>
            <a:r>
              <a:rPr lang="es-AR" sz="839" b="0" strike="noStrike">
                <a:solidFill>
                  <a:srgbClr val="000000"/>
                </a:solidFill>
                <a:latin typeface="Times New Roman"/>
                <a:ea typeface="Times New Roman"/>
                <a:cs typeface="Times New Roman"/>
                <a:sym typeface="Times New Roman"/>
              </a:rPr>
              <a:t>Finally</a:t>
            </a:r>
            <a:endParaRPr sz="8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Puede estar o no.</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Si está, la ejecución de su código se realiza cuando se termina la ejecución del bloque Try, se haya o no levantado una excepción. Salvo que el bloque Try haya levantado una excepción que no macheo con ningún manejador.</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Una vez que se lanza una excepción, el control del programa se transfiere del bloque try al bloque </a:t>
            </a:r>
            <a:r>
              <a:rPr lang="es-AR" sz="1339" b="1" i="1" strike="noStrike">
                <a:solidFill>
                  <a:srgbClr val="000000"/>
                </a:solidFill>
                <a:latin typeface="Times New Roman"/>
                <a:ea typeface="Times New Roman"/>
                <a:cs typeface="Times New Roman"/>
                <a:sym typeface="Times New Roman"/>
              </a:rPr>
              <a:t>catch</a:t>
            </a:r>
            <a:r>
              <a:rPr lang="es-AR" sz="1339" b="0" strike="noStrike">
                <a:solidFill>
                  <a:srgbClr val="000000"/>
                </a:solidFill>
                <a:latin typeface="Times New Roman"/>
                <a:ea typeface="Times New Roman"/>
                <a:cs typeface="Times New Roman"/>
                <a:sym typeface="Times New Roman"/>
              </a:rPr>
              <a:t>, y la ejecución nunca regresa al bloque try. Es por eso que en ciertas ocasiones pueden quedar sin ejecutarse diversas sentencias dentro del bloque </a:t>
            </a:r>
            <a:r>
              <a:rPr lang="es-AR" sz="1339" b="1" i="1" strike="noStrike">
                <a:solidFill>
                  <a:srgbClr val="000000"/>
                </a:solidFill>
                <a:latin typeface="Times New Roman"/>
                <a:ea typeface="Times New Roman"/>
                <a:cs typeface="Times New Roman"/>
                <a:sym typeface="Times New Roman"/>
              </a:rPr>
              <a:t>try</a:t>
            </a:r>
            <a:r>
              <a:rPr lang="es-AR" sz="1339" b="0" strike="noStrike">
                <a:solidFill>
                  <a:srgbClr val="000000"/>
                </a:solidFill>
                <a:latin typeface="Times New Roman"/>
                <a:ea typeface="Times New Roman"/>
                <a:cs typeface="Times New Roman"/>
                <a:sym typeface="Times New Roman"/>
              </a:rPr>
              <a:t>. Una vez ejecutada la sentencia </a:t>
            </a:r>
            <a:r>
              <a:rPr lang="es-AR" sz="1339" b="1" i="1" strike="noStrike">
                <a:solidFill>
                  <a:srgbClr val="000000"/>
                </a:solidFill>
                <a:latin typeface="Times New Roman"/>
                <a:ea typeface="Times New Roman"/>
                <a:cs typeface="Times New Roman"/>
                <a:sym typeface="Times New Roman"/>
              </a:rPr>
              <a:t>catch</a:t>
            </a:r>
            <a:r>
              <a:rPr lang="es-AR" sz="1339" b="0" strike="noStrike">
                <a:solidFill>
                  <a:srgbClr val="000000"/>
                </a:solidFill>
                <a:latin typeface="Times New Roman"/>
                <a:ea typeface="Times New Roman"/>
                <a:cs typeface="Times New Roman"/>
                <a:sym typeface="Times New Roman"/>
              </a:rPr>
              <a:t>, el control del programa continúa en la línea que sigue en el programa al conjunto </a:t>
            </a:r>
            <a:r>
              <a:rPr lang="es-AR" sz="1339" b="1" i="1" strike="noStrike">
                <a:solidFill>
                  <a:srgbClr val="000000"/>
                </a:solidFill>
                <a:latin typeface="Times New Roman"/>
                <a:ea typeface="Times New Roman"/>
                <a:cs typeface="Times New Roman"/>
                <a:sym typeface="Times New Roman"/>
              </a:rPr>
              <a:t>try/catch</a:t>
            </a:r>
            <a:r>
              <a:rPr lang="es-AR" sz="1339" b="0" strike="noStrike">
                <a:solidFill>
                  <a:srgbClr val="000000"/>
                </a:solidFill>
                <a:latin typeface="Times New Roman"/>
                <a:ea typeface="Times New Roman"/>
                <a:cs typeface="Times New Roman"/>
                <a:sym typeface="Times New Roman"/>
              </a:rPr>
              <a:t>.(modelo de reasunción). Un bloque </a:t>
            </a:r>
            <a:r>
              <a:rPr lang="es-AR" sz="1339" b="1" i="1" strike="noStrike">
                <a:solidFill>
                  <a:srgbClr val="000000"/>
                </a:solidFill>
                <a:latin typeface="Times New Roman"/>
                <a:ea typeface="Times New Roman"/>
                <a:cs typeface="Times New Roman"/>
                <a:sym typeface="Times New Roman"/>
              </a:rPr>
              <a:t>try</a:t>
            </a:r>
            <a:r>
              <a:rPr lang="es-AR" sz="1339" b="0" strike="noStrike">
                <a:solidFill>
                  <a:srgbClr val="000000"/>
                </a:solidFill>
                <a:latin typeface="Times New Roman"/>
                <a:ea typeface="Times New Roman"/>
                <a:cs typeface="Times New Roman"/>
                <a:sym typeface="Times New Roman"/>
              </a:rPr>
              <a:t> y su correspondiente </a:t>
            </a:r>
            <a:r>
              <a:rPr lang="es-AR" sz="1339" b="1" i="1" strike="noStrike">
                <a:solidFill>
                  <a:srgbClr val="000000"/>
                </a:solidFill>
                <a:latin typeface="Times New Roman"/>
                <a:ea typeface="Times New Roman"/>
                <a:cs typeface="Times New Roman"/>
                <a:sym typeface="Times New Roman"/>
              </a:rPr>
              <a:t>catch</a:t>
            </a:r>
            <a:r>
              <a:rPr lang="es-AR" sz="1339" b="0" strike="noStrike">
                <a:solidFill>
                  <a:srgbClr val="000000"/>
                </a:solidFill>
                <a:latin typeface="Times New Roman"/>
                <a:ea typeface="Times New Roman"/>
                <a:cs typeface="Times New Roman"/>
                <a:sym typeface="Times New Roman"/>
              </a:rPr>
              <a:t> forman una </a:t>
            </a:r>
            <a:r>
              <a:rPr lang="es-AR" sz="1339" b="1" strike="noStrike">
                <a:solidFill>
                  <a:srgbClr val="000000"/>
                </a:solidFill>
                <a:latin typeface="Times New Roman"/>
                <a:ea typeface="Times New Roman"/>
                <a:cs typeface="Times New Roman"/>
                <a:sym typeface="Times New Roman"/>
              </a:rPr>
              <a:t>unidad. </a:t>
            </a:r>
            <a:r>
              <a:rPr lang="es-AR" sz="1339" b="0" strike="noStrike">
                <a:solidFill>
                  <a:srgbClr val="000000"/>
                </a:solidFill>
                <a:latin typeface="Times New Roman"/>
                <a:ea typeface="Times New Roman"/>
                <a:cs typeface="Times New Roman"/>
                <a:sym typeface="Times New Roman"/>
              </a:rPr>
              <a:t>El campo de acción de una sentencia </a:t>
            </a:r>
            <a:r>
              <a:rPr lang="es-AR" sz="1339" b="1" i="1" strike="noStrike">
                <a:solidFill>
                  <a:srgbClr val="000000"/>
                </a:solidFill>
                <a:latin typeface="Times New Roman"/>
                <a:ea typeface="Times New Roman"/>
                <a:cs typeface="Times New Roman"/>
                <a:sym typeface="Times New Roman"/>
              </a:rPr>
              <a:t>catch</a:t>
            </a:r>
            <a:r>
              <a:rPr lang="es-AR" sz="1339" b="0" strike="noStrike">
                <a:solidFill>
                  <a:srgbClr val="000000"/>
                </a:solidFill>
                <a:latin typeface="Times New Roman"/>
                <a:ea typeface="Times New Roman"/>
                <a:cs typeface="Times New Roman"/>
                <a:sym typeface="Times New Roman"/>
              </a:rPr>
              <a:t> se restringe a aquellas sentencias especificadas por la sentencia </a:t>
            </a:r>
            <a:r>
              <a:rPr lang="es-AR" sz="1339" b="1" i="1" strike="noStrike">
                <a:solidFill>
                  <a:srgbClr val="000000"/>
                </a:solidFill>
                <a:latin typeface="Times New Roman"/>
                <a:ea typeface="Times New Roman"/>
                <a:cs typeface="Times New Roman"/>
                <a:sym typeface="Times New Roman"/>
              </a:rPr>
              <a:t>try</a:t>
            </a:r>
            <a:r>
              <a:rPr lang="es-AR" sz="1339" b="0" strike="noStrike">
                <a:solidFill>
                  <a:srgbClr val="000000"/>
                </a:solidFill>
                <a:latin typeface="Times New Roman"/>
                <a:ea typeface="Times New Roman"/>
                <a:cs typeface="Times New Roman"/>
                <a:sym typeface="Times New Roman"/>
              </a:rPr>
              <a:t> que la precede inmediatamente.</a:t>
            </a:r>
            <a:endParaRPr sz="1339" b="0" strike="noStrike">
              <a:latin typeface="Arial"/>
              <a:ea typeface="Arial"/>
              <a:cs typeface="Arial"/>
              <a:sym typeface="Arial"/>
            </a:endParaRPr>
          </a:p>
          <a:p>
            <a:pPr marL="216000" lvl="0" indent="-214199" algn="l" rtl="0">
              <a:lnSpc>
                <a:spcPct val="80000"/>
              </a:lnSpc>
              <a:spcBef>
                <a:spcPts val="252"/>
              </a:spcBef>
              <a:spcAft>
                <a:spcPts val="0"/>
              </a:spcAft>
              <a:buSzPts val="839"/>
              <a:buNone/>
            </a:pP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AGREGAR ESTO PARA EL PROXIMO AÑO BUSCAR EJEMPLOS°°</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Se pueden anidar sentencias </a:t>
            </a:r>
            <a:r>
              <a:rPr lang="es-AR" sz="1339" b="1" i="1" strike="noStrike">
                <a:solidFill>
                  <a:srgbClr val="000000"/>
                </a:solidFill>
                <a:latin typeface="Times New Roman"/>
                <a:ea typeface="Times New Roman"/>
                <a:cs typeface="Times New Roman"/>
                <a:sym typeface="Times New Roman"/>
              </a:rPr>
              <a:t>try</a:t>
            </a:r>
            <a:r>
              <a:rPr lang="es-AR" sz="1339" b="0" strike="noStrike">
                <a:solidFill>
                  <a:srgbClr val="000000"/>
                </a:solidFill>
                <a:latin typeface="Times New Roman"/>
                <a:ea typeface="Times New Roman"/>
                <a:cs typeface="Times New Roman"/>
                <a:sym typeface="Times New Roman"/>
              </a:rPr>
              <a:t>, es decir, una sentencia </a:t>
            </a:r>
            <a:r>
              <a:rPr lang="es-AR" sz="1339" b="1" i="1" strike="noStrike">
                <a:solidFill>
                  <a:srgbClr val="000000"/>
                </a:solidFill>
                <a:latin typeface="Times New Roman"/>
                <a:ea typeface="Times New Roman"/>
                <a:cs typeface="Times New Roman"/>
                <a:sym typeface="Times New Roman"/>
              </a:rPr>
              <a:t>try</a:t>
            </a:r>
            <a:r>
              <a:rPr lang="es-AR" sz="1339" b="1" strike="noStrike">
                <a:solidFill>
                  <a:srgbClr val="000000"/>
                </a:solidFill>
                <a:latin typeface="Times New Roman"/>
                <a:ea typeface="Times New Roman"/>
                <a:cs typeface="Times New Roman"/>
                <a:sym typeface="Times New Roman"/>
              </a:rPr>
              <a:t> </a:t>
            </a:r>
            <a:r>
              <a:rPr lang="es-AR" sz="1339" b="0" strike="noStrike">
                <a:solidFill>
                  <a:srgbClr val="000000"/>
                </a:solidFill>
                <a:latin typeface="Times New Roman"/>
                <a:ea typeface="Times New Roman"/>
                <a:cs typeface="Times New Roman"/>
                <a:sym typeface="Times New Roman"/>
              </a:rPr>
              <a:t>puede estar dentro del</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bloque correspondiente a otra sentencia </a:t>
            </a:r>
            <a:r>
              <a:rPr lang="es-AR" sz="1339" b="1" i="1" strike="noStrike">
                <a:solidFill>
                  <a:srgbClr val="000000"/>
                </a:solidFill>
                <a:latin typeface="Times New Roman"/>
                <a:ea typeface="Times New Roman"/>
                <a:cs typeface="Times New Roman"/>
                <a:sym typeface="Times New Roman"/>
              </a:rPr>
              <a:t>try</a:t>
            </a:r>
            <a:r>
              <a:rPr lang="es-AR" sz="1339" b="0" strike="noStrike">
                <a:solidFill>
                  <a:srgbClr val="000000"/>
                </a:solidFill>
                <a:latin typeface="Times New Roman"/>
                <a:ea typeface="Times New Roman"/>
                <a:cs typeface="Times New Roman"/>
                <a:sym typeface="Times New Roman"/>
              </a:rPr>
              <a:t>. Cada vez que se introduce una sentencia</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1" i="1" strike="noStrike">
                <a:solidFill>
                  <a:srgbClr val="000000"/>
                </a:solidFill>
                <a:latin typeface="Times New Roman"/>
                <a:ea typeface="Times New Roman"/>
                <a:cs typeface="Times New Roman"/>
                <a:sym typeface="Times New Roman"/>
              </a:rPr>
              <a:t>try</a:t>
            </a:r>
            <a:r>
              <a:rPr lang="es-AR" sz="1339" b="0" strike="noStrike">
                <a:solidFill>
                  <a:srgbClr val="000000"/>
                </a:solidFill>
                <a:latin typeface="Times New Roman"/>
                <a:ea typeface="Times New Roman"/>
                <a:cs typeface="Times New Roman"/>
                <a:sym typeface="Times New Roman"/>
              </a:rPr>
              <a:t>, se almacena en una pila el contexto de esa excepción. Si la sentencia </a:t>
            </a:r>
            <a:r>
              <a:rPr lang="es-AR" sz="1339" b="1" strike="noStrike">
                <a:solidFill>
                  <a:srgbClr val="000000"/>
                </a:solidFill>
                <a:latin typeface="Times New Roman"/>
                <a:ea typeface="Times New Roman"/>
                <a:cs typeface="Times New Roman"/>
                <a:sym typeface="Times New Roman"/>
              </a:rPr>
              <a:t>try </a:t>
            </a:r>
            <a:r>
              <a:rPr lang="es-AR" sz="1339" b="0" strike="noStrike">
                <a:solidFill>
                  <a:srgbClr val="000000"/>
                </a:solidFill>
                <a:latin typeface="Times New Roman"/>
                <a:ea typeface="Times New Roman"/>
                <a:cs typeface="Times New Roman"/>
                <a:sym typeface="Times New Roman"/>
              </a:rPr>
              <a:t>interna</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no tiene su correspondiente gestor </a:t>
            </a:r>
            <a:r>
              <a:rPr lang="es-AR" sz="1339" b="1" strike="noStrike">
                <a:solidFill>
                  <a:srgbClr val="000000"/>
                </a:solidFill>
                <a:latin typeface="Times New Roman"/>
                <a:ea typeface="Times New Roman"/>
                <a:cs typeface="Times New Roman"/>
                <a:sym typeface="Times New Roman"/>
              </a:rPr>
              <a:t>catch </a:t>
            </a:r>
            <a:r>
              <a:rPr lang="es-AR" sz="1339" b="0" strike="noStrike">
                <a:solidFill>
                  <a:srgbClr val="000000"/>
                </a:solidFill>
                <a:latin typeface="Times New Roman"/>
                <a:ea typeface="Times New Roman"/>
                <a:cs typeface="Times New Roman"/>
                <a:sym typeface="Times New Roman"/>
              </a:rPr>
              <a:t>de las siguientes sentencias </a:t>
            </a:r>
            <a:r>
              <a:rPr lang="es-AR" sz="1339" b="1" strike="noStrike">
                <a:solidFill>
                  <a:srgbClr val="000000"/>
                </a:solidFill>
                <a:latin typeface="Times New Roman"/>
                <a:ea typeface="Times New Roman"/>
                <a:cs typeface="Times New Roman"/>
                <a:sym typeface="Times New Roman"/>
              </a:rPr>
              <a:t>try </a:t>
            </a:r>
            <a:r>
              <a:rPr lang="es-AR" sz="1339" b="0" strike="noStrike">
                <a:solidFill>
                  <a:srgbClr val="000000"/>
                </a:solidFill>
                <a:latin typeface="Times New Roman"/>
                <a:ea typeface="Times New Roman"/>
                <a:cs typeface="Times New Roman"/>
                <a:sym typeface="Times New Roman"/>
              </a:rPr>
              <a:t>para</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localizar una coincidencia, éste proceso continua hasta que se encuentra las</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sentencias </a:t>
            </a:r>
            <a:r>
              <a:rPr lang="es-AR" sz="1339" b="1" strike="noStrike">
                <a:solidFill>
                  <a:srgbClr val="000000"/>
                </a:solidFill>
                <a:latin typeface="Times New Roman"/>
                <a:ea typeface="Times New Roman"/>
                <a:cs typeface="Times New Roman"/>
                <a:sym typeface="Times New Roman"/>
              </a:rPr>
              <a:t>catch </a:t>
            </a:r>
            <a:r>
              <a:rPr lang="es-AR" sz="1339" b="0" strike="noStrike">
                <a:solidFill>
                  <a:srgbClr val="000000"/>
                </a:solidFill>
                <a:latin typeface="Times New Roman"/>
                <a:ea typeface="Times New Roman"/>
                <a:cs typeface="Times New Roman"/>
                <a:sym typeface="Times New Roman"/>
              </a:rPr>
              <a:t>adecuada, o hasta que se acaban las sentencias </a:t>
            </a:r>
            <a:r>
              <a:rPr lang="es-AR" sz="1339" b="1" strike="noStrike">
                <a:solidFill>
                  <a:srgbClr val="000000"/>
                </a:solidFill>
                <a:latin typeface="Times New Roman"/>
                <a:ea typeface="Times New Roman"/>
                <a:cs typeface="Times New Roman"/>
                <a:sym typeface="Times New Roman"/>
              </a:rPr>
              <a:t>try </a:t>
            </a:r>
            <a:r>
              <a:rPr lang="es-AR" sz="1339" b="0" strike="noStrike">
                <a:solidFill>
                  <a:srgbClr val="000000"/>
                </a:solidFill>
                <a:latin typeface="Times New Roman"/>
                <a:ea typeface="Times New Roman"/>
                <a:cs typeface="Times New Roman"/>
                <a:sym typeface="Times New Roman"/>
              </a:rPr>
              <a:t>anidadas. Si no</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se encuentra la sentencia </a:t>
            </a:r>
            <a:r>
              <a:rPr lang="es-AR" sz="1339" b="1" strike="noStrike">
                <a:solidFill>
                  <a:srgbClr val="000000"/>
                </a:solidFill>
                <a:latin typeface="Times New Roman"/>
                <a:ea typeface="Times New Roman"/>
                <a:cs typeface="Times New Roman"/>
                <a:sym typeface="Times New Roman"/>
              </a:rPr>
              <a:t>catch </a:t>
            </a:r>
            <a:r>
              <a:rPr lang="es-AR" sz="1339" b="0" strike="noStrike">
                <a:solidFill>
                  <a:srgbClr val="000000"/>
                </a:solidFill>
                <a:latin typeface="Times New Roman"/>
                <a:ea typeface="Times New Roman"/>
                <a:cs typeface="Times New Roman"/>
                <a:sym typeface="Times New Roman"/>
              </a:rPr>
              <a:t>adecuada, el interprete Java gestiona la excepción. A</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continuación se muestra un programa que utiliza sentencias </a:t>
            </a:r>
            <a:r>
              <a:rPr lang="es-AR" sz="1339" b="1" strike="noStrike">
                <a:solidFill>
                  <a:srgbClr val="000000"/>
                </a:solidFill>
                <a:latin typeface="Times New Roman"/>
                <a:ea typeface="Times New Roman"/>
                <a:cs typeface="Times New Roman"/>
                <a:sym typeface="Times New Roman"/>
              </a:rPr>
              <a:t>try </a:t>
            </a:r>
            <a:r>
              <a:rPr lang="es-AR" sz="1339" b="0" strike="noStrike">
                <a:solidFill>
                  <a:srgbClr val="000000"/>
                </a:solidFill>
                <a:latin typeface="Times New Roman"/>
                <a:ea typeface="Times New Roman"/>
                <a:cs typeface="Times New Roman"/>
                <a:sym typeface="Times New Roman"/>
              </a:rPr>
              <a:t>anidadas.</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 </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Como se pueden ver, este programa anida un bloque </a:t>
            </a:r>
            <a:r>
              <a:rPr lang="es-AR" sz="1339" b="1" strike="noStrike">
                <a:solidFill>
                  <a:srgbClr val="000000"/>
                </a:solidFill>
                <a:latin typeface="Times New Roman"/>
                <a:ea typeface="Times New Roman"/>
                <a:cs typeface="Times New Roman"/>
                <a:sym typeface="Times New Roman"/>
              </a:rPr>
              <a:t>try </a:t>
            </a:r>
            <a:r>
              <a:rPr lang="es-AR" sz="1339" b="0" strike="noStrike">
                <a:solidFill>
                  <a:srgbClr val="000000"/>
                </a:solidFill>
                <a:latin typeface="Times New Roman"/>
                <a:ea typeface="Times New Roman"/>
                <a:cs typeface="Times New Roman"/>
                <a:sym typeface="Times New Roman"/>
              </a:rPr>
              <a:t>dentro de otro. El programa</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funciona de la siguiente forma. Cuando se ejecuta el programa sin argumentos en la</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línea de comandos, se genera una excepción de división por cero en el bloque </a:t>
            </a:r>
            <a:r>
              <a:rPr lang="es-AR" sz="1339" b="1" strike="noStrike">
                <a:solidFill>
                  <a:srgbClr val="000000"/>
                </a:solidFill>
                <a:latin typeface="Times New Roman"/>
                <a:ea typeface="Times New Roman"/>
                <a:cs typeface="Times New Roman"/>
                <a:sym typeface="Times New Roman"/>
              </a:rPr>
              <a:t>try</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exterior. La ejecución del programa con un argumento en la línea de comandos genera</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una excepción de división por cero en el bloque </a:t>
            </a:r>
            <a:r>
              <a:rPr lang="es-AR" sz="1339" b="1" strike="noStrike">
                <a:solidFill>
                  <a:srgbClr val="000000"/>
                </a:solidFill>
                <a:latin typeface="Times New Roman"/>
                <a:ea typeface="Times New Roman"/>
                <a:cs typeface="Times New Roman"/>
                <a:sym typeface="Times New Roman"/>
              </a:rPr>
              <a:t>try </a:t>
            </a:r>
            <a:r>
              <a:rPr lang="es-AR" sz="1339" b="0" strike="noStrike">
                <a:solidFill>
                  <a:srgbClr val="000000"/>
                </a:solidFill>
                <a:latin typeface="Times New Roman"/>
                <a:ea typeface="Times New Roman"/>
                <a:cs typeface="Times New Roman"/>
                <a:sym typeface="Times New Roman"/>
              </a:rPr>
              <a:t>anidado. Como el bloque interno</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no captura esta excepción, se pasa al bloque externo, donde se gestiona. Si se</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ejecuta el programa con dos argumentos en la línea de comandos, se genera una</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excepción por sobrepasar los límites del tamaño del array en el bloque </a:t>
            </a:r>
            <a:r>
              <a:rPr lang="es-AR" sz="1339" b="1" strike="noStrike">
                <a:solidFill>
                  <a:srgbClr val="000000"/>
                </a:solidFill>
                <a:latin typeface="Times New Roman"/>
                <a:ea typeface="Times New Roman"/>
                <a:cs typeface="Times New Roman"/>
                <a:sym typeface="Times New Roman"/>
              </a:rPr>
              <a:t>try </a:t>
            </a:r>
            <a:r>
              <a:rPr lang="es-AR" sz="1339" b="0" strike="noStrike">
                <a:solidFill>
                  <a:srgbClr val="000000"/>
                </a:solidFill>
                <a:latin typeface="Times New Roman"/>
                <a:ea typeface="Times New Roman"/>
                <a:cs typeface="Times New Roman"/>
                <a:sym typeface="Times New Roman"/>
              </a:rPr>
              <a:t>interno.</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 </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Puede haber sentencias </a:t>
            </a:r>
            <a:r>
              <a:rPr lang="es-AR" sz="1339" b="1" strike="noStrike">
                <a:solidFill>
                  <a:srgbClr val="000000"/>
                </a:solidFill>
                <a:latin typeface="Times New Roman"/>
                <a:ea typeface="Times New Roman"/>
                <a:cs typeface="Times New Roman"/>
                <a:sym typeface="Times New Roman"/>
              </a:rPr>
              <a:t>try </a:t>
            </a:r>
            <a:r>
              <a:rPr lang="es-AR" sz="1339" b="0" strike="noStrike">
                <a:solidFill>
                  <a:srgbClr val="000000"/>
                </a:solidFill>
                <a:latin typeface="Times New Roman"/>
                <a:ea typeface="Times New Roman"/>
                <a:cs typeface="Times New Roman"/>
                <a:sym typeface="Times New Roman"/>
              </a:rPr>
              <a:t>anidadas que no resulten tan evidentes cuando estén</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implicadas llamadas a métodos. Por ejemplo, se pueden encerrar la llamada a un</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método dentro de un bloque </a:t>
            </a:r>
            <a:r>
              <a:rPr lang="es-AR" sz="1339" b="1" strike="noStrike">
                <a:solidFill>
                  <a:srgbClr val="000000"/>
                </a:solidFill>
                <a:latin typeface="Times New Roman"/>
                <a:ea typeface="Times New Roman"/>
                <a:cs typeface="Times New Roman"/>
                <a:sym typeface="Times New Roman"/>
              </a:rPr>
              <a:t>try, </a:t>
            </a:r>
            <a:r>
              <a:rPr lang="es-AR" sz="1339" b="0" strike="noStrike">
                <a:solidFill>
                  <a:srgbClr val="000000"/>
                </a:solidFill>
                <a:latin typeface="Times New Roman"/>
                <a:ea typeface="Times New Roman"/>
                <a:cs typeface="Times New Roman"/>
                <a:sym typeface="Times New Roman"/>
              </a:rPr>
              <a:t>y si dentro de ese método existe una sentencia </a:t>
            </a:r>
            <a:r>
              <a:rPr lang="es-AR" sz="1339" b="1" strike="noStrike">
                <a:solidFill>
                  <a:srgbClr val="000000"/>
                </a:solidFill>
                <a:latin typeface="Times New Roman"/>
                <a:ea typeface="Times New Roman"/>
                <a:cs typeface="Times New Roman"/>
                <a:sym typeface="Times New Roman"/>
              </a:rPr>
              <a:t>try,</a:t>
            </a:r>
            <a:endParaRPr sz="1339" b="0" strike="noStrike">
              <a:latin typeface="Arial"/>
              <a:ea typeface="Arial"/>
              <a:cs typeface="Arial"/>
              <a:sym typeface="Arial"/>
            </a:endParaRPr>
          </a:p>
          <a:p>
            <a:pPr marL="216000" lvl="0" indent="-214199" algn="l" rtl="0">
              <a:lnSpc>
                <a:spcPct val="80000"/>
              </a:lnSpc>
              <a:spcBef>
                <a:spcPts val="252"/>
              </a:spcBef>
              <a:spcAft>
                <a:spcPts val="0"/>
              </a:spcAft>
              <a:buClr>
                <a:srgbClr val="000000"/>
              </a:buClr>
              <a:buSzPts val="839"/>
              <a:buFont typeface="Times New Roman"/>
              <a:buNone/>
            </a:pPr>
            <a:r>
              <a:rPr lang="es-AR" sz="1339" b="0" strike="noStrike">
                <a:solidFill>
                  <a:srgbClr val="000000"/>
                </a:solidFill>
                <a:latin typeface="Times New Roman"/>
                <a:ea typeface="Times New Roman"/>
                <a:cs typeface="Times New Roman"/>
                <a:sym typeface="Times New Roman"/>
              </a:rPr>
              <a:t>esta se encuentra anidada dentro del bloque </a:t>
            </a:r>
            <a:r>
              <a:rPr lang="es-AR" sz="1339" b="1" strike="noStrike">
                <a:solidFill>
                  <a:srgbClr val="000000"/>
                </a:solidFill>
                <a:latin typeface="Times New Roman"/>
                <a:ea typeface="Times New Roman"/>
                <a:cs typeface="Times New Roman"/>
                <a:sym typeface="Times New Roman"/>
              </a:rPr>
              <a:t>try </a:t>
            </a:r>
            <a:r>
              <a:rPr lang="es-AR" sz="1339" b="0" strike="noStrike">
                <a:solidFill>
                  <a:srgbClr val="000000"/>
                </a:solidFill>
                <a:latin typeface="Times New Roman"/>
                <a:ea typeface="Times New Roman"/>
                <a:cs typeface="Times New Roman"/>
                <a:sym typeface="Times New Roman"/>
              </a:rPr>
              <a:t>exterior que llama al método.</a:t>
            </a:r>
            <a:endParaRPr sz="1339" b="0" strike="noStrike">
              <a:latin typeface="Arial"/>
              <a:ea typeface="Arial"/>
              <a:cs typeface="Arial"/>
              <a:sym typeface="Arial"/>
            </a:endParaRPr>
          </a:p>
          <a:p>
            <a:pPr marL="216000" lvl="0" indent="-214199" algn="l" rtl="0">
              <a:lnSpc>
                <a:spcPct val="80000"/>
              </a:lnSpc>
              <a:spcBef>
                <a:spcPts val="252"/>
              </a:spcBef>
              <a:spcAft>
                <a:spcPts val="0"/>
              </a:spcAft>
              <a:buSzPts val="839"/>
              <a:buNone/>
            </a:pPr>
            <a:endParaRPr sz="1339" b="0" strike="noStrike">
              <a:latin typeface="Arial"/>
              <a:ea typeface="Arial"/>
              <a:cs typeface="Arial"/>
              <a:sym typeface="Arial"/>
            </a:endParaRPr>
          </a:p>
          <a:p>
            <a:pPr marL="216000" lvl="0" indent="-214199" algn="l" rtl="0">
              <a:lnSpc>
                <a:spcPct val="80000"/>
              </a:lnSpc>
              <a:spcBef>
                <a:spcPts val="252"/>
              </a:spcBef>
              <a:spcAft>
                <a:spcPts val="0"/>
              </a:spcAft>
              <a:buSzPts val="839"/>
              <a:buNone/>
            </a:pPr>
            <a:endParaRPr sz="1339" b="0" strike="noStrike">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p53:notes"/>
          <p:cNvSpPr txBox="1">
            <a:spLocks noGrp="1"/>
          </p:cNvSpPr>
          <p:nvPr>
            <p:ph type="body" idx="1"/>
          </p:nvPr>
        </p:nvSpPr>
        <p:spPr>
          <a:xfrm>
            <a:off x="685800" y="4343400"/>
            <a:ext cx="5482080" cy="4110840"/>
          </a:xfrm>
          <a:prstGeom prst="rect">
            <a:avLst/>
          </a:prstGeom>
          <a:noFill/>
          <a:ln>
            <a:noFill/>
          </a:ln>
        </p:spPr>
        <p:txBody>
          <a:bodyPr spcFirstLastPara="1" wrap="square" lIns="0" tIns="0" rIns="0" bIns="0" anchor="t" anchorCtr="0">
            <a:noAutofit/>
          </a:bodyPr>
          <a:lstStyle/>
          <a:p>
            <a:pPr marL="216000" lvl="0" indent="-214199" algn="l" rtl="0">
              <a:lnSpc>
                <a:spcPct val="115000"/>
              </a:lnSpc>
              <a:spcBef>
                <a:spcPts val="0"/>
              </a:spcBef>
              <a:spcAft>
                <a:spcPts val="0"/>
              </a:spcAft>
              <a:buClr>
                <a:srgbClr val="333333"/>
              </a:buClr>
              <a:buSzPts val="1050"/>
              <a:buFont typeface="Arial"/>
              <a:buNone/>
            </a:pPr>
            <a:r>
              <a:rPr lang="es-AR" sz="1050" b="0" strike="noStrike">
                <a:solidFill>
                  <a:srgbClr val="333333"/>
                </a:solidFill>
                <a:latin typeface="Arial"/>
                <a:ea typeface="Arial"/>
                <a:cs typeface="Arial"/>
                <a:sym typeface="Arial"/>
              </a:rPr>
              <a:t>La declaración </a:t>
            </a:r>
            <a:r>
              <a:rPr lang="es-AR" sz="1050" b="1" u="sng" strike="noStrik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try</a:t>
            </a:r>
            <a:r>
              <a:rPr lang="es-AR" sz="1050" b="0" strike="noStrike">
                <a:solidFill>
                  <a:srgbClr val="333333"/>
                </a:solidFill>
                <a:latin typeface="Arial"/>
                <a:ea typeface="Arial"/>
                <a:cs typeface="Arial"/>
                <a:sym typeface="Arial"/>
              </a:rPr>
              <a:t> funciona de la siguiente manera:</a:t>
            </a:r>
            <a:endParaRPr sz="1050" b="0" strike="noStrike">
              <a:latin typeface="Arial"/>
              <a:ea typeface="Arial"/>
              <a:cs typeface="Arial"/>
              <a:sym typeface="Arial"/>
            </a:endParaRPr>
          </a:p>
          <a:p>
            <a:pPr marL="2968560" lvl="0" indent="-216000" algn="l" rtl="0">
              <a:lnSpc>
                <a:spcPct val="115000"/>
              </a:lnSpc>
              <a:spcBef>
                <a:spcPts val="799"/>
              </a:spcBef>
              <a:spcAft>
                <a:spcPts val="0"/>
              </a:spcAft>
              <a:buClr>
                <a:srgbClr val="333333"/>
              </a:buClr>
              <a:buSzPts val="1050"/>
              <a:buFont typeface="Arial"/>
              <a:buChar char="●"/>
            </a:pPr>
            <a:r>
              <a:rPr lang="es-AR" sz="1050" b="0" strike="noStrike">
                <a:solidFill>
                  <a:srgbClr val="333333"/>
                </a:solidFill>
                <a:latin typeface="Arial"/>
                <a:ea typeface="Arial"/>
                <a:cs typeface="Arial"/>
                <a:sym typeface="Arial"/>
              </a:rPr>
              <a:t>Primero, se ejecuta el </a:t>
            </a:r>
            <a:r>
              <a:rPr lang="es-AR" sz="1050" b="0" i="1" strike="noStrike">
                <a:solidFill>
                  <a:srgbClr val="333333"/>
                </a:solidFill>
                <a:latin typeface="Arial"/>
                <a:ea typeface="Arial"/>
                <a:cs typeface="Arial"/>
                <a:sym typeface="Arial"/>
              </a:rPr>
              <a:t>bloque try</a:t>
            </a:r>
            <a:r>
              <a:rPr lang="es-AR" sz="1050" b="0" strike="noStrike">
                <a:solidFill>
                  <a:srgbClr val="333333"/>
                </a:solidFill>
                <a:latin typeface="Arial"/>
                <a:ea typeface="Arial"/>
                <a:cs typeface="Arial"/>
                <a:sym typeface="Arial"/>
              </a:rPr>
              <a:t> (el código entre las declaración </a:t>
            </a:r>
            <a:r>
              <a:rPr lang="es-AR" sz="1050" b="1" u="sng" strike="noStrik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try</a:t>
            </a:r>
            <a:r>
              <a:rPr lang="es-AR" sz="1050" b="0" strike="noStrike">
                <a:solidFill>
                  <a:srgbClr val="333333"/>
                </a:solidFill>
                <a:latin typeface="Arial"/>
                <a:ea typeface="Arial"/>
                <a:cs typeface="Arial"/>
                <a:sym typeface="Arial"/>
              </a:rPr>
              <a:t> y </a:t>
            </a:r>
            <a:r>
              <a:rPr lang="es-AR" sz="1050" b="1" u="sng" strike="noStrike">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except</a:t>
            </a:r>
            <a:r>
              <a:rPr lang="es-AR" sz="1050" b="0" strike="noStrike">
                <a:solidFill>
                  <a:srgbClr val="333333"/>
                </a:solidFill>
                <a:latin typeface="Arial"/>
                <a:ea typeface="Arial"/>
                <a:cs typeface="Arial"/>
                <a:sym typeface="Arial"/>
              </a:rPr>
              <a:t>).</a:t>
            </a:r>
            <a:endParaRPr sz="1050" b="0" strike="noStrike">
              <a:latin typeface="Arial"/>
              <a:ea typeface="Arial"/>
              <a:cs typeface="Arial"/>
              <a:sym typeface="Arial"/>
            </a:endParaRPr>
          </a:p>
          <a:p>
            <a:pPr marL="2968560" lvl="0" indent="-216000" algn="l" rtl="0">
              <a:lnSpc>
                <a:spcPct val="115000"/>
              </a:lnSpc>
              <a:spcBef>
                <a:spcPts val="0"/>
              </a:spcBef>
              <a:spcAft>
                <a:spcPts val="0"/>
              </a:spcAft>
              <a:buClr>
                <a:srgbClr val="333333"/>
              </a:buClr>
              <a:buSzPts val="1050"/>
              <a:buFont typeface="Arial"/>
              <a:buChar char="●"/>
            </a:pPr>
            <a:r>
              <a:rPr lang="es-AR" sz="1050" b="0" strike="noStrike">
                <a:solidFill>
                  <a:srgbClr val="333333"/>
                </a:solidFill>
                <a:latin typeface="Arial"/>
                <a:ea typeface="Arial"/>
                <a:cs typeface="Arial"/>
                <a:sym typeface="Arial"/>
              </a:rPr>
              <a:t>Si no ocurre ninguna excepción, el </a:t>
            </a:r>
            <a:r>
              <a:rPr lang="es-AR" sz="1050" b="0" i="1" strike="noStrike">
                <a:solidFill>
                  <a:srgbClr val="333333"/>
                </a:solidFill>
                <a:latin typeface="Arial"/>
                <a:ea typeface="Arial"/>
                <a:cs typeface="Arial"/>
                <a:sym typeface="Arial"/>
              </a:rPr>
              <a:t>bloque except</a:t>
            </a:r>
            <a:r>
              <a:rPr lang="es-AR" sz="1050" b="0" strike="noStrike">
                <a:solidFill>
                  <a:srgbClr val="333333"/>
                </a:solidFill>
                <a:latin typeface="Arial"/>
                <a:ea typeface="Arial"/>
                <a:cs typeface="Arial"/>
                <a:sym typeface="Arial"/>
              </a:rPr>
              <a:t> se saltea y termina la ejecución de la declaración </a:t>
            </a:r>
            <a:r>
              <a:rPr lang="es-AR" sz="1050" b="1" u="sng" strike="noStrik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try</a:t>
            </a:r>
            <a:r>
              <a:rPr lang="es-AR" sz="1050" b="0" strike="noStrike">
                <a:solidFill>
                  <a:srgbClr val="333333"/>
                </a:solidFill>
                <a:latin typeface="Arial"/>
                <a:ea typeface="Arial"/>
                <a:cs typeface="Arial"/>
                <a:sym typeface="Arial"/>
              </a:rPr>
              <a:t>.</a:t>
            </a:r>
            <a:endParaRPr sz="1050" b="0" strike="noStrike">
              <a:latin typeface="Arial"/>
              <a:ea typeface="Arial"/>
              <a:cs typeface="Arial"/>
              <a:sym typeface="Arial"/>
            </a:endParaRPr>
          </a:p>
          <a:p>
            <a:pPr marL="2968560" lvl="0" indent="-216000" algn="l" rtl="0">
              <a:lnSpc>
                <a:spcPct val="115000"/>
              </a:lnSpc>
              <a:spcBef>
                <a:spcPts val="0"/>
              </a:spcBef>
              <a:spcAft>
                <a:spcPts val="0"/>
              </a:spcAft>
              <a:buClr>
                <a:srgbClr val="333333"/>
              </a:buClr>
              <a:buSzPts val="1050"/>
              <a:buFont typeface="Arial"/>
              <a:buChar char="●"/>
            </a:pPr>
            <a:r>
              <a:rPr lang="es-AR" sz="1050" b="0" strike="noStrike">
                <a:solidFill>
                  <a:srgbClr val="333333"/>
                </a:solidFill>
                <a:latin typeface="Arial"/>
                <a:ea typeface="Arial"/>
                <a:cs typeface="Arial"/>
                <a:sym typeface="Arial"/>
              </a:rPr>
              <a:t>Si ocurre una excepción durante la ejecución del </a:t>
            </a:r>
            <a:r>
              <a:rPr lang="es-AR" sz="1050" b="0" i="1" strike="noStrike">
                <a:solidFill>
                  <a:srgbClr val="333333"/>
                </a:solidFill>
                <a:latin typeface="Arial"/>
                <a:ea typeface="Arial"/>
                <a:cs typeface="Arial"/>
                <a:sym typeface="Arial"/>
              </a:rPr>
              <a:t>bloque try</a:t>
            </a:r>
            <a:r>
              <a:rPr lang="es-AR" sz="1050" b="0" strike="noStrike">
                <a:solidFill>
                  <a:srgbClr val="333333"/>
                </a:solidFill>
                <a:latin typeface="Arial"/>
                <a:ea typeface="Arial"/>
                <a:cs typeface="Arial"/>
                <a:sym typeface="Arial"/>
              </a:rPr>
              <a:t>, el resto del bloque se saltea. Luego, si su tipo coincide con la excepción nombrada luego de la palabra reservada </a:t>
            </a:r>
            <a:r>
              <a:rPr lang="es-AR" sz="1050" b="1" u="sng" strike="noStrike">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except</a:t>
            </a:r>
            <a:r>
              <a:rPr lang="es-AR" sz="1050" b="0" strike="noStrike">
                <a:solidFill>
                  <a:srgbClr val="333333"/>
                </a:solidFill>
                <a:latin typeface="Arial"/>
                <a:ea typeface="Arial"/>
                <a:cs typeface="Arial"/>
                <a:sym typeface="Arial"/>
              </a:rPr>
              <a:t>, se ejecuta el </a:t>
            </a:r>
            <a:r>
              <a:rPr lang="es-AR" sz="1050" b="0" i="1" strike="noStrike">
                <a:solidFill>
                  <a:srgbClr val="333333"/>
                </a:solidFill>
                <a:latin typeface="Arial"/>
                <a:ea typeface="Arial"/>
                <a:cs typeface="Arial"/>
                <a:sym typeface="Arial"/>
              </a:rPr>
              <a:t>bloque except</a:t>
            </a:r>
            <a:r>
              <a:rPr lang="es-AR" sz="1050" b="0" strike="noStrike">
                <a:solidFill>
                  <a:srgbClr val="333333"/>
                </a:solidFill>
                <a:latin typeface="Arial"/>
                <a:ea typeface="Arial"/>
                <a:cs typeface="Arial"/>
                <a:sym typeface="Arial"/>
              </a:rPr>
              <a:t>, y la ejecución continúa luego de la declaración </a:t>
            </a:r>
            <a:r>
              <a:rPr lang="es-AR" sz="1050" b="1" u="sng" strike="noStrik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try</a:t>
            </a:r>
            <a:r>
              <a:rPr lang="es-AR" sz="1050" b="0" strike="noStrike">
                <a:solidFill>
                  <a:srgbClr val="333333"/>
                </a:solidFill>
                <a:latin typeface="Arial"/>
                <a:ea typeface="Arial"/>
                <a:cs typeface="Arial"/>
                <a:sym typeface="Arial"/>
              </a:rPr>
              <a:t>.</a:t>
            </a:r>
            <a:endParaRPr sz="1050" b="0" strike="noStrike">
              <a:latin typeface="Arial"/>
              <a:ea typeface="Arial"/>
              <a:cs typeface="Arial"/>
              <a:sym typeface="Arial"/>
            </a:endParaRPr>
          </a:p>
          <a:p>
            <a:pPr marL="2968560" lvl="0" indent="-216000" algn="l" rtl="0">
              <a:lnSpc>
                <a:spcPct val="115000"/>
              </a:lnSpc>
              <a:spcBef>
                <a:spcPts val="0"/>
              </a:spcBef>
              <a:spcAft>
                <a:spcPts val="0"/>
              </a:spcAft>
              <a:buClr>
                <a:srgbClr val="333333"/>
              </a:buClr>
              <a:buSzPts val="1050"/>
              <a:buFont typeface="Arial"/>
              <a:buChar char="●"/>
            </a:pPr>
            <a:r>
              <a:rPr lang="es-AR" sz="1050" b="0" strike="noStrike">
                <a:solidFill>
                  <a:srgbClr val="333333"/>
                </a:solidFill>
                <a:latin typeface="Arial"/>
                <a:ea typeface="Arial"/>
                <a:cs typeface="Arial"/>
                <a:sym typeface="Arial"/>
              </a:rPr>
              <a:t>Si ocurre una excepción que no coincide con la excepción nombrada en el </a:t>
            </a:r>
            <a:r>
              <a:rPr lang="es-AR" sz="1050" b="1" u="sng" strike="noStrike">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except</a:t>
            </a:r>
            <a:r>
              <a:rPr lang="es-AR" sz="1050" b="0" strike="noStrike">
                <a:solidFill>
                  <a:srgbClr val="333333"/>
                </a:solidFill>
                <a:latin typeface="Arial"/>
                <a:ea typeface="Arial"/>
                <a:cs typeface="Arial"/>
                <a:sym typeface="Arial"/>
              </a:rPr>
              <a:t>, esta se pasa a declaraciones </a:t>
            </a:r>
            <a:r>
              <a:rPr lang="es-AR" sz="1050" b="1" u="sng" strike="noStrik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try</a:t>
            </a:r>
            <a:r>
              <a:rPr lang="es-AR" sz="1050" b="0" strike="noStrike">
                <a:solidFill>
                  <a:srgbClr val="333333"/>
                </a:solidFill>
                <a:latin typeface="Arial"/>
                <a:ea typeface="Arial"/>
                <a:cs typeface="Arial"/>
                <a:sym typeface="Arial"/>
              </a:rPr>
              <a:t> de más afuera; si no se encuentra nada que la maneje, es una </a:t>
            </a:r>
            <a:r>
              <a:rPr lang="es-AR" sz="1050" b="0" i="1" strike="noStrike">
                <a:solidFill>
                  <a:srgbClr val="333333"/>
                </a:solidFill>
                <a:latin typeface="Arial"/>
                <a:ea typeface="Arial"/>
                <a:cs typeface="Arial"/>
                <a:sym typeface="Arial"/>
              </a:rPr>
              <a:t>excepción no manejada</a:t>
            </a:r>
            <a:r>
              <a:rPr lang="es-AR" sz="1050" b="0" strike="noStrike">
                <a:solidFill>
                  <a:srgbClr val="333333"/>
                </a:solidFill>
                <a:latin typeface="Arial"/>
                <a:ea typeface="Arial"/>
                <a:cs typeface="Arial"/>
                <a:sym typeface="Arial"/>
              </a:rPr>
              <a:t>, y la ejecución se frena con un mensaje como los mostrados arriba.</a:t>
            </a:r>
            <a:endParaRPr sz="1050" b="0" strike="noStrike">
              <a:latin typeface="Arial"/>
              <a:ea typeface="Arial"/>
              <a:cs typeface="Arial"/>
              <a:sym typeface="Arial"/>
            </a:endParaRPr>
          </a:p>
          <a:p>
            <a:pPr marL="0" lvl="0" indent="0" algn="l" rtl="0">
              <a:lnSpc>
                <a:spcPct val="115000"/>
              </a:lnSpc>
              <a:spcBef>
                <a:spcPts val="799"/>
              </a:spcBef>
              <a:spcAft>
                <a:spcPts val="0"/>
              </a:spcAft>
              <a:buClr>
                <a:srgbClr val="333333"/>
              </a:buClr>
              <a:buSzPts val="1050"/>
              <a:buFont typeface="Arial"/>
              <a:buNone/>
            </a:pPr>
            <a:r>
              <a:rPr lang="es-AR" sz="1050" b="0" strike="noStrike">
                <a:solidFill>
                  <a:srgbClr val="333333"/>
                </a:solidFill>
                <a:latin typeface="Arial"/>
                <a:ea typeface="Arial"/>
                <a:cs typeface="Arial"/>
                <a:sym typeface="Arial"/>
              </a:rPr>
              <a:t>Una declaración </a:t>
            </a:r>
            <a:r>
              <a:rPr lang="es-AR" sz="1050" b="1" u="sng" strike="noStrik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try</a:t>
            </a:r>
            <a:r>
              <a:rPr lang="es-AR" sz="1050" b="0" strike="noStrike">
                <a:solidFill>
                  <a:srgbClr val="333333"/>
                </a:solidFill>
                <a:latin typeface="Arial"/>
                <a:ea typeface="Arial"/>
                <a:cs typeface="Arial"/>
                <a:sym typeface="Arial"/>
              </a:rPr>
              <a:t> puede tener más de un </a:t>
            </a:r>
            <a:r>
              <a:rPr lang="es-AR" sz="1050" b="1" u="sng" strike="noStrike">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except</a:t>
            </a:r>
            <a:r>
              <a:rPr lang="es-AR" sz="1050" b="0" strike="noStrike">
                <a:solidFill>
                  <a:srgbClr val="333333"/>
                </a:solidFill>
                <a:latin typeface="Arial"/>
                <a:ea typeface="Arial"/>
                <a:cs typeface="Arial"/>
                <a:sym typeface="Arial"/>
              </a:rPr>
              <a:t>, para especificar manejadores para distintas excepciones. A lo sumo un manejador será ejecutado. Sólo se manejan excepciones que ocurren en el correspondiente </a:t>
            </a:r>
            <a:r>
              <a:rPr lang="es-AR" sz="1050" b="1" u="sng" strike="noStrik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try</a:t>
            </a:r>
            <a:r>
              <a:rPr lang="es-AR" sz="1050" b="0" strike="noStrike">
                <a:solidFill>
                  <a:srgbClr val="333333"/>
                </a:solidFill>
                <a:latin typeface="Arial"/>
                <a:ea typeface="Arial"/>
                <a:cs typeface="Arial"/>
                <a:sym typeface="Arial"/>
              </a:rPr>
              <a:t>, no en otros manejadores del mismo </a:t>
            </a:r>
            <a:r>
              <a:rPr lang="es-AR" sz="1050" b="1" u="sng" strike="noStrik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try</a:t>
            </a:r>
            <a:r>
              <a:rPr lang="es-AR" sz="1050" b="0" strike="noStrike">
                <a:solidFill>
                  <a:srgbClr val="333333"/>
                </a:solidFill>
                <a:latin typeface="Arial"/>
                <a:ea typeface="Arial"/>
                <a:cs typeface="Arial"/>
                <a:sym typeface="Arial"/>
              </a:rPr>
              <a:t>. Un </a:t>
            </a:r>
            <a:r>
              <a:rPr lang="es-AR" sz="1050" b="1" u="sng" strike="noStrike">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except</a:t>
            </a:r>
            <a:r>
              <a:rPr lang="es-AR" sz="1050" b="0" strike="noStrike">
                <a:solidFill>
                  <a:srgbClr val="333333"/>
                </a:solidFill>
                <a:latin typeface="Arial"/>
                <a:ea typeface="Arial"/>
                <a:cs typeface="Arial"/>
                <a:sym typeface="Arial"/>
              </a:rPr>
              <a:t> puede nombrar múltiples excepciones usando paréntesis, por ejemplo:</a:t>
            </a:r>
            <a:endParaRPr sz="1050" b="0" strike="noStrike">
              <a:latin typeface="Arial"/>
              <a:ea typeface="Arial"/>
              <a:cs typeface="Arial"/>
              <a:sym typeface="Arial"/>
            </a:endParaRPr>
          </a:p>
          <a:p>
            <a:pPr marL="0" lvl="0" indent="0" algn="l" rtl="0">
              <a:lnSpc>
                <a:spcPct val="100000"/>
              </a:lnSpc>
              <a:spcBef>
                <a:spcPts val="799"/>
              </a:spcBef>
              <a:spcAft>
                <a:spcPts val="0"/>
              </a:spcAft>
              <a:buSzPts val="1050"/>
              <a:buNone/>
            </a:pPr>
            <a:endParaRPr sz="1050" b="0" strike="noStrike">
              <a:latin typeface="Arial"/>
              <a:ea typeface="Arial"/>
              <a:cs typeface="Arial"/>
              <a:sym typeface="Arial"/>
            </a:endParaRPr>
          </a:p>
        </p:txBody>
      </p:sp>
      <p:sp>
        <p:nvSpPr>
          <p:cNvPr id="812" name="Google Shape;812;p53:notes"/>
          <p:cNvSpPr>
            <a:spLocks noGrp="1" noRot="1" noChangeAspect="1"/>
          </p:cNvSpPr>
          <p:nvPr>
            <p:ph type="sldImg" idx="2"/>
          </p:nvPr>
        </p:nvSpPr>
        <p:spPr>
          <a:xfrm>
            <a:off x="-58680" y="695160"/>
            <a:ext cx="474480" cy="3567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p5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19" name="Google Shape;819;p54: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p55: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27" name="Google Shape;827;p55: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56: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34" name="Google Shape;834;p56: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p57:notes"/>
          <p:cNvSpPr>
            <a:spLocks noGrp="1" noRot="1" noChangeAspect="1"/>
          </p:cNvSpPr>
          <p:nvPr>
            <p:ph type="sldImg" idx="2"/>
          </p:nvPr>
        </p:nvSpPr>
        <p:spPr>
          <a:xfrm>
            <a:off x="-58680" y="695160"/>
            <a:ext cx="474480" cy="3567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2" name="Google Shape;842;p57:notes"/>
          <p:cNvSpPr txBox="1">
            <a:spLocks noGrp="1"/>
          </p:cNvSpPr>
          <p:nvPr>
            <p:ph type="body" idx="1"/>
          </p:nvPr>
        </p:nvSpPr>
        <p:spPr>
          <a:xfrm>
            <a:off x="685800" y="4343400"/>
            <a:ext cx="5482080" cy="4110840"/>
          </a:xfrm>
          <a:prstGeom prst="rect">
            <a:avLst/>
          </a:prstGeom>
          <a:noFill/>
          <a:ln>
            <a:noFill/>
          </a:ln>
        </p:spPr>
        <p:txBody>
          <a:bodyPr spcFirstLastPara="1" wrap="square" lIns="0" tIns="0" rIns="0" bIns="0" anchor="t" anchorCtr="0">
            <a:noAutofit/>
          </a:bodyPr>
          <a:lstStyle/>
          <a:p>
            <a:pPr marL="216000" lvl="0" indent="-214199" algn="l" rtl="0">
              <a:lnSpc>
                <a:spcPct val="100000"/>
              </a:lnSpc>
              <a:spcBef>
                <a:spcPts val="0"/>
              </a:spcBef>
              <a:spcAft>
                <a:spcPts val="0"/>
              </a:spcAft>
              <a:buClr>
                <a:srgbClr val="000000"/>
              </a:buClr>
              <a:buSzPts val="1200"/>
              <a:buFont typeface="Times New Roman"/>
              <a:buNone/>
            </a:pPr>
            <a:r>
              <a:rPr lang="es-AR" sz="1200" b="0" strike="noStrike">
                <a:solidFill>
                  <a:srgbClr val="000000"/>
                </a:solidFill>
                <a:latin typeface="Times New Roman"/>
                <a:ea typeface="Times New Roman"/>
                <a:cs typeface="Times New Roman"/>
                <a:sym typeface="Times New Roman"/>
              </a:rPr>
              <a:t>Se pueden usar múltiples bloques catch para atrapar diferentes clases de excepciones. La ejecución normal (cuando no es lanzada ninguna excepción dentro del bloque try, o cuando un bloque catch que coincide con la clase de la excepción lanzada no está presente) continuará después del último bloque catch definido en la sencuencia</a:t>
            </a:r>
            <a:endParaRPr sz="1200" b="0" strike="noStrike">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p58: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9" name="Google Shape;849;p58: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59: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57" name="Google Shape;857;p59: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p60: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8" name="Google Shape;868;p60: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p61: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6" name="Google Shape;876;p61: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a:extLst>
            <a:ext uri="{FF2B5EF4-FFF2-40B4-BE49-F238E27FC236}">
              <a16:creationId xmlns:a16="http://schemas.microsoft.com/office/drawing/2014/main" id="{D9F61FEB-BFCF-B979-A85F-717FD59637D5}"/>
            </a:ext>
          </a:extLst>
        </p:cNvPr>
        <p:cNvGrpSpPr/>
        <p:nvPr/>
      </p:nvGrpSpPr>
      <p:grpSpPr>
        <a:xfrm>
          <a:off x="0" y="0"/>
          <a:ext cx="0" cy="0"/>
          <a:chOff x="0" y="0"/>
          <a:chExt cx="0" cy="0"/>
        </a:xfrm>
      </p:grpSpPr>
      <p:sp>
        <p:nvSpPr>
          <p:cNvPr id="875" name="Google Shape;875;p61:notes">
            <a:extLst>
              <a:ext uri="{FF2B5EF4-FFF2-40B4-BE49-F238E27FC236}">
                <a16:creationId xmlns:a16="http://schemas.microsoft.com/office/drawing/2014/main" id="{F9F4077A-E61D-5C3E-5FE1-3482A1E7AE6C}"/>
              </a:ext>
            </a:extLst>
          </p:cNvPr>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6" name="Google Shape;876;p61:notes">
            <a:extLst>
              <a:ext uri="{FF2B5EF4-FFF2-40B4-BE49-F238E27FC236}">
                <a16:creationId xmlns:a16="http://schemas.microsoft.com/office/drawing/2014/main" id="{C78ED001-BDCE-2989-4D91-000122480BFC}"/>
              </a:ext>
            </a:extLst>
          </p:cNvPr>
          <p:cNvSpPr>
            <a:spLocks noGrp="1" noRot="1" noChangeAspect="1"/>
          </p:cNvSpPr>
          <p:nvPr>
            <p:ph type="sldImg" idx="2"/>
          </p:nvPr>
        </p:nvSpPr>
        <p:spPr>
          <a:xfrm>
            <a:off x="1108075" y="812800"/>
            <a:ext cx="5343525"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017171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a:extLst>
            <a:ext uri="{FF2B5EF4-FFF2-40B4-BE49-F238E27FC236}">
              <a16:creationId xmlns:a16="http://schemas.microsoft.com/office/drawing/2014/main" id="{C18CF70E-71FF-981A-64E2-317694D28FEE}"/>
            </a:ext>
          </a:extLst>
        </p:cNvPr>
        <p:cNvGrpSpPr/>
        <p:nvPr/>
      </p:nvGrpSpPr>
      <p:grpSpPr>
        <a:xfrm>
          <a:off x="0" y="0"/>
          <a:ext cx="0" cy="0"/>
          <a:chOff x="0" y="0"/>
          <a:chExt cx="0" cy="0"/>
        </a:xfrm>
      </p:grpSpPr>
      <p:sp>
        <p:nvSpPr>
          <p:cNvPr id="875" name="Google Shape;875;p61:notes">
            <a:extLst>
              <a:ext uri="{FF2B5EF4-FFF2-40B4-BE49-F238E27FC236}">
                <a16:creationId xmlns:a16="http://schemas.microsoft.com/office/drawing/2014/main" id="{1D06262A-6CE7-DA7E-0ABD-5F0BE21A6003}"/>
              </a:ext>
            </a:extLst>
          </p:cNvPr>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6" name="Google Shape;876;p61:notes">
            <a:extLst>
              <a:ext uri="{FF2B5EF4-FFF2-40B4-BE49-F238E27FC236}">
                <a16:creationId xmlns:a16="http://schemas.microsoft.com/office/drawing/2014/main" id="{160EE5EA-61DC-F5B9-B8D8-C95FBD1BB205}"/>
              </a:ext>
            </a:extLst>
          </p:cNvPr>
          <p:cNvSpPr>
            <a:spLocks noGrp="1" noRot="1" noChangeAspect="1"/>
          </p:cNvSpPr>
          <p:nvPr>
            <p:ph type="sldImg" idx="2"/>
          </p:nvPr>
        </p:nvSpPr>
        <p:spPr>
          <a:xfrm>
            <a:off x="1108075" y="812800"/>
            <a:ext cx="5343525"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49090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a:extLst>
            <a:ext uri="{FF2B5EF4-FFF2-40B4-BE49-F238E27FC236}">
              <a16:creationId xmlns:a16="http://schemas.microsoft.com/office/drawing/2014/main" id="{80332945-24C4-DC15-0EA5-2F3269F85580}"/>
            </a:ext>
          </a:extLst>
        </p:cNvPr>
        <p:cNvGrpSpPr/>
        <p:nvPr/>
      </p:nvGrpSpPr>
      <p:grpSpPr>
        <a:xfrm>
          <a:off x="0" y="0"/>
          <a:ext cx="0" cy="0"/>
          <a:chOff x="0" y="0"/>
          <a:chExt cx="0" cy="0"/>
        </a:xfrm>
      </p:grpSpPr>
      <p:sp>
        <p:nvSpPr>
          <p:cNvPr id="875" name="Google Shape;875;p61:notes">
            <a:extLst>
              <a:ext uri="{FF2B5EF4-FFF2-40B4-BE49-F238E27FC236}">
                <a16:creationId xmlns:a16="http://schemas.microsoft.com/office/drawing/2014/main" id="{D19FB40E-8387-5051-50D5-C9FC59502B78}"/>
              </a:ext>
            </a:extLst>
          </p:cNvPr>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6" name="Google Shape;876;p61:notes">
            <a:extLst>
              <a:ext uri="{FF2B5EF4-FFF2-40B4-BE49-F238E27FC236}">
                <a16:creationId xmlns:a16="http://schemas.microsoft.com/office/drawing/2014/main" id="{E51942AD-7875-B76C-A602-A9FD482567F2}"/>
              </a:ext>
            </a:extLst>
          </p:cNvPr>
          <p:cNvSpPr>
            <a:spLocks noGrp="1" noRot="1" noChangeAspect="1"/>
          </p:cNvSpPr>
          <p:nvPr>
            <p:ph type="sldImg" idx="2"/>
          </p:nvPr>
        </p:nvSpPr>
        <p:spPr>
          <a:xfrm>
            <a:off x="1108075" y="812800"/>
            <a:ext cx="5343525"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1159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8"/>
        <p:cNvGrpSpPr/>
        <p:nvPr/>
      </p:nvGrpSpPr>
      <p:grpSpPr>
        <a:xfrm>
          <a:off x="0" y="0"/>
          <a:ext cx="0" cy="0"/>
          <a:chOff x="0" y="0"/>
          <a:chExt cx="0" cy="0"/>
        </a:xfrm>
      </p:grpSpPr>
      <p:sp>
        <p:nvSpPr>
          <p:cNvPr id="29" name="Google Shape;29;p63"/>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63"/>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2"/>
        <p:cNvGrpSpPr/>
        <p:nvPr/>
      </p:nvGrpSpPr>
      <p:grpSpPr>
        <a:xfrm>
          <a:off x="0" y="0"/>
          <a:ext cx="0" cy="0"/>
          <a:chOff x="0" y="0"/>
          <a:chExt cx="0" cy="0"/>
        </a:xfrm>
      </p:grpSpPr>
      <p:sp>
        <p:nvSpPr>
          <p:cNvPr id="33" name="Google Shape;33;p73"/>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73"/>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35"/>
        <p:cNvGrpSpPr/>
        <p:nvPr/>
      </p:nvGrpSpPr>
      <p:grpSpPr>
        <a:xfrm>
          <a:off x="0" y="0"/>
          <a:ext cx="0" cy="0"/>
          <a:chOff x="0" y="0"/>
          <a:chExt cx="0" cy="0"/>
        </a:xfrm>
      </p:grpSpPr>
      <p:sp>
        <p:nvSpPr>
          <p:cNvPr id="36" name="Google Shape;36;p74"/>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74"/>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8" name="Google Shape;38;p74"/>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75"/>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41"/>
        <p:cNvGrpSpPr/>
        <p:nvPr/>
      </p:nvGrpSpPr>
      <p:grpSpPr>
        <a:xfrm>
          <a:off x="0" y="0"/>
          <a:ext cx="0" cy="0"/>
          <a:chOff x="0" y="0"/>
          <a:chExt cx="0" cy="0"/>
        </a:xfrm>
      </p:grpSpPr>
      <p:sp>
        <p:nvSpPr>
          <p:cNvPr id="42" name="Google Shape;42;p76"/>
          <p:cNvSpPr txBox="1">
            <a:spLocks noGrp="1"/>
          </p:cNvSpPr>
          <p:nvPr>
            <p:ph type="subTitle" idx="1"/>
          </p:nvPr>
        </p:nvSpPr>
        <p:spPr>
          <a:xfrm>
            <a:off x="457200" y="273600"/>
            <a:ext cx="8229240" cy="53078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3"/>
        <p:cNvGrpSpPr/>
        <p:nvPr/>
      </p:nvGrpSpPr>
      <p:grpSpPr>
        <a:xfrm>
          <a:off x="0" y="0"/>
          <a:ext cx="0" cy="0"/>
          <a:chOff x="0" y="0"/>
          <a:chExt cx="0" cy="0"/>
        </a:xfrm>
      </p:grpSpPr>
      <p:sp>
        <p:nvSpPr>
          <p:cNvPr id="44" name="Google Shape;44;p77"/>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77"/>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6" name="Google Shape;46;p77"/>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7" name="Google Shape;47;p77"/>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48"/>
        <p:cNvGrpSpPr/>
        <p:nvPr/>
      </p:nvGrpSpPr>
      <p:grpSpPr>
        <a:xfrm>
          <a:off x="0" y="0"/>
          <a:ext cx="0" cy="0"/>
          <a:chOff x="0" y="0"/>
          <a:chExt cx="0" cy="0"/>
        </a:xfrm>
      </p:grpSpPr>
      <p:sp>
        <p:nvSpPr>
          <p:cNvPr id="49" name="Google Shape;49;p78"/>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78"/>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1" name="Google Shape;51;p78"/>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2" name="Google Shape;52;p78"/>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53"/>
        <p:cNvGrpSpPr/>
        <p:nvPr/>
      </p:nvGrpSpPr>
      <p:grpSpPr>
        <a:xfrm>
          <a:off x="0" y="0"/>
          <a:ext cx="0" cy="0"/>
          <a:chOff x="0" y="0"/>
          <a:chExt cx="0" cy="0"/>
        </a:xfrm>
      </p:grpSpPr>
      <p:sp>
        <p:nvSpPr>
          <p:cNvPr id="54" name="Google Shape;54;p79"/>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9"/>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6" name="Google Shape;56;p79"/>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7" name="Google Shape;57;p79"/>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58"/>
        <p:cNvGrpSpPr/>
        <p:nvPr/>
      </p:nvGrpSpPr>
      <p:grpSpPr>
        <a:xfrm>
          <a:off x="0" y="0"/>
          <a:ext cx="0" cy="0"/>
          <a:chOff x="0" y="0"/>
          <a:chExt cx="0" cy="0"/>
        </a:xfrm>
      </p:grpSpPr>
      <p:sp>
        <p:nvSpPr>
          <p:cNvPr id="59" name="Google Shape;59;p80"/>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80"/>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1" name="Google Shape;61;p80"/>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62"/>
        <p:cNvGrpSpPr/>
        <p:nvPr/>
      </p:nvGrpSpPr>
      <p:grpSpPr>
        <a:xfrm>
          <a:off x="0" y="0"/>
          <a:ext cx="0" cy="0"/>
          <a:chOff x="0" y="0"/>
          <a:chExt cx="0" cy="0"/>
        </a:xfrm>
      </p:grpSpPr>
      <p:sp>
        <p:nvSpPr>
          <p:cNvPr id="63" name="Google Shape;63;p81"/>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81"/>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5" name="Google Shape;65;p81"/>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6" name="Google Shape;66;p81"/>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7" name="Google Shape;67;p81"/>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68"/>
        <p:cNvGrpSpPr/>
        <p:nvPr/>
      </p:nvGrpSpPr>
      <p:grpSpPr>
        <a:xfrm>
          <a:off x="0" y="0"/>
          <a:ext cx="0" cy="0"/>
          <a:chOff x="0" y="0"/>
          <a:chExt cx="0" cy="0"/>
        </a:xfrm>
      </p:grpSpPr>
      <p:sp>
        <p:nvSpPr>
          <p:cNvPr id="69" name="Google Shape;69;p82"/>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82"/>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71" name="Google Shape;71;p82"/>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72" name="Google Shape;72;p82"/>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73" name="Google Shape;73;p82"/>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74" name="Google Shape;74;p82"/>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75" name="Google Shape;75;p82"/>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85"/>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86"/>
        <p:cNvGrpSpPr/>
        <p:nvPr/>
      </p:nvGrpSpPr>
      <p:grpSpPr>
        <a:xfrm>
          <a:off x="0" y="0"/>
          <a:ext cx="0" cy="0"/>
          <a:chOff x="0" y="0"/>
          <a:chExt cx="0" cy="0"/>
        </a:xfrm>
      </p:grpSpPr>
      <p:sp>
        <p:nvSpPr>
          <p:cNvPr id="87" name="Google Shape;87;p83"/>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83"/>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89"/>
        <p:cNvGrpSpPr/>
        <p:nvPr/>
      </p:nvGrpSpPr>
      <p:grpSpPr>
        <a:xfrm>
          <a:off x="0" y="0"/>
          <a:ext cx="0" cy="0"/>
          <a:chOff x="0" y="0"/>
          <a:chExt cx="0" cy="0"/>
        </a:xfrm>
      </p:grpSpPr>
      <p:sp>
        <p:nvSpPr>
          <p:cNvPr id="90" name="Google Shape;90;p84"/>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84"/>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92"/>
        <p:cNvGrpSpPr/>
        <p:nvPr/>
      </p:nvGrpSpPr>
      <p:grpSpPr>
        <a:xfrm>
          <a:off x="0" y="0"/>
          <a:ext cx="0" cy="0"/>
          <a:chOff x="0" y="0"/>
          <a:chExt cx="0" cy="0"/>
        </a:xfrm>
      </p:grpSpPr>
      <p:sp>
        <p:nvSpPr>
          <p:cNvPr id="93" name="Google Shape;93;p85"/>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85"/>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95" name="Google Shape;95;p85"/>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6"/>
        <p:cNvGrpSpPr/>
        <p:nvPr/>
      </p:nvGrpSpPr>
      <p:grpSpPr>
        <a:xfrm>
          <a:off x="0" y="0"/>
          <a:ext cx="0" cy="0"/>
          <a:chOff x="0" y="0"/>
          <a:chExt cx="0" cy="0"/>
        </a:xfrm>
      </p:grpSpPr>
      <p:sp>
        <p:nvSpPr>
          <p:cNvPr id="97" name="Google Shape;97;p86"/>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98"/>
        <p:cNvGrpSpPr/>
        <p:nvPr/>
      </p:nvGrpSpPr>
      <p:grpSpPr>
        <a:xfrm>
          <a:off x="0" y="0"/>
          <a:ext cx="0" cy="0"/>
          <a:chOff x="0" y="0"/>
          <a:chExt cx="0" cy="0"/>
        </a:xfrm>
      </p:grpSpPr>
      <p:sp>
        <p:nvSpPr>
          <p:cNvPr id="99" name="Google Shape;99;p87"/>
          <p:cNvSpPr txBox="1">
            <a:spLocks noGrp="1"/>
          </p:cNvSpPr>
          <p:nvPr>
            <p:ph type="subTitle" idx="1"/>
          </p:nvPr>
        </p:nvSpPr>
        <p:spPr>
          <a:xfrm>
            <a:off x="457200" y="273600"/>
            <a:ext cx="8229240" cy="53078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00"/>
        <p:cNvGrpSpPr/>
        <p:nvPr/>
      </p:nvGrpSpPr>
      <p:grpSpPr>
        <a:xfrm>
          <a:off x="0" y="0"/>
          <a:ext cx="0" cy="0"/>
          <a:chOff x="0" y="0"/>
          <a:chExt cx="0" cy="0"/>
        </a:xfrm>
      </p:grpSpPr>
      <p:sp>
        <p:nvSpPr>
          <p:cNvPr id="101" name="Google Shape;101;p88"/>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88"/>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3" name="Google Shape;103;p88"/>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4" name="Google Shape;104;p88"/>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05"/>
        <p:cNvGrpSpPr/>
        <p:nvPr/>
      </p:nvGrpSpPr>
      <p:grpSpPr>
        <a:xfrm>
          <a:off x="0" y="0"/>
          <a:ext cx="0" cy="0"/>
          <a:chOff x="0" y="0"/>
          <a:chExt cx="0" cy="0"/>
        </a:xfrm>
      </p:grpSpPr>
      <p:sp>
        <p:nvSpPr>
          <p:cNvPr id="106" name="Google Shape;106;p89"/>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89"/>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8" name="Google Shape;108;p89"/>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9" name="Google Shape;109;p89"/>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10"/>
        <p:cNvGrpSpPr/>
        <p:nvPr/>
      </p:nvGrpSpPr>
      <p:grpSpPr>
        <a:xfrm>
          <a:off x="0" y="0"/>
          <a:ext cx="0" cy="0"/>
          <a:chOff x="0" y="0"/>
          <a:chExt cx="0" cy="0"/>
        </a:xfrm>
      </p:grpSpPr>
      <p:sp>
        <p:nvSpPr>
          <p:cNvPr id="111" name="Google Shape;111;p90"/>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9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3" name="Google Shape;113;p90"/>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4" name="Google Shape;114;p90"/>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15"/>
        <p:cNvGrpSpPr/>
        <p:nvPr/>
      </p:nvGrpSpPr>
      <p:grpSpPr>
        <a:xfrm>
          <a:off x="0" y="0"/>
          <a:ext cx="0" cy="0"/>
          <a:chOff x="0" y="0"/>
          <a:chExt cx="0" cy="0"/>
        </a:xfrm>
      </p:grpSpPr>
      <p:sp>
        <p:nvSpPr>
          <p:cNvPr id="116" name="Google Shape;116;p91"/>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91"/>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8" name="Google Shape;118;p91"/>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19"/>
        <p:cNvGrpSpPr/>
        <p:nvPr/>
      </p:nvGrpSpPr>
      <p:grpSpPr>
        <a:xfrm>
          <a:off x="0" y="0"/>
          <a:ext cx="0" cy="0"/>
          <a:chOff x="0" y="0"/>
          <a:chExt cx="0" cy="0"/>
        </a:xfrm>
      </p:grpSpPr>
      <p:sp>
        <p:nvSpPr>
          <p:cNvPr id="120" name="Google Shape;120;p92"/>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92"/>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2" name="Google Shape;122;p92"/>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3" name="Google Shape;123;p92"/>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4" name="Google Shape;124;p92"/>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25"/>
        <p:cNvGrpSpPr/>
        <p:nvPr/>
      </p:nvGrpSpPr>
      <p:grpSpPr>
        <a:xfrm>
          <a:off x="0" y="0"/>
          <a:ext cx="0" cy="0"/>
          <a:chOff x="0" y="0"/>
          <a:chExt cx="0" cy="0"/>
        </a:xfrm>
      </p:grpSpPr>
      <p:sp>
        <p:nvSpPr>
          <p:cNvPr id="126" name="Google Shape;126;p93"/>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93"/>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8" name="Google Shape;128;p93"/>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9" name="Google Shape;129;p93"/>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0" name="Google Shape;130;p93"/>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1" name="Google Shape;131;p93"/>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2" name="Google Shape;132;p93"/>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42"/>
        <p:cNvGrpSpPr/>
        <p:nvPr/>
      </p:nvGrpSpPr>
      <p:grpSpPr>
        <a:xfrm>
          <a:off x="0" y="0"/>
          <a:ext cx="0" cy="0"/>
          <a:chOff x="0" y="0"/>
          <a:chExt cx="0" cy="0"/>
        </a:xfrm>
      </p:grpSpPr>
      <p:sp>
        <p:nvSpPr>
          <p:cNvPr id="143" name="Google Shape;143;p67"/>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67"/>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45"/>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46"/>
        <p:cNvGrpSpPr/>
        <p:nvPr/>
      </p:nvGrpSpPr>
      <p:grpSpPr>
        <a:xfrm>
          <a:off x="0" y="0"/>
          <a:ext cx="0" cy="0"/>
          <a:chOff x="0" y="0"/>
          <a:chExt cx="0" cy="0"/>
        </a:xfrm>
      </p:grpSpPr>
      <p:sp>
        <p:nvSpPr>
          <p:cNvPr id="147" name="Google Shape;147;p95"/>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95"/>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49"/>
        <p:cNvGrpSpPr/>
        <p:nvPr/>
      </p:nvGrpSpPr>
      <p:grpSpPr>
        <a:xfrm>
          <a:off x="0" y="0"/>
          <a:ext cx="0" cy="0"/>
          <a:chOff x="0" y="0"/>
          <a:chExt cx="0" cy="0"/>
        </a:xfrm>
      </p:grpSpPr>
      <p:sp>
        <p:nvSpPr>
          <p:cNvPr id="150" name="Google Shape;150;p96"/>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96"/>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52" name="Google Shape;152;p96"/>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3"/>
        <p:cNvGrpSpPr/>
        <p:nvPr/>
      </p:nvGrpSpPr>
      <p:grpSpPr>
        <a:xfrm>
          <a:off x="0" y="0"/>
          <a:ext cx="0" cy="0"/>
          <a:chOff x="0" y="0"/>
          <a:chExt cx="0" cy="0"/>
        </a:xfrm>
      </p:grpSpPr>
      <p:sp>
        <p:nvSpPr>
          <p:cNvPr id="154" name="Google Shape;154;p97"/>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55"/>
        <p:cNvGrpSpPr/>
        <p:nvPr/>
      </p:nvGrpSpPr>
      <p:grpSpPr>
        <a:xfrm>
          <a:off x="0" y="0"/>
          <a:ext cx="0" cy="0"/>
          <a:chOff x="0" y="0"/>
          <a:chExt cx="0" cy="0"/>
        </a:xfrm>
      </p:grpSpPr>
      <p:sp>
        <p:nvSpPr>
          <p:cNvPr id="156" name="Google Shape;156;p98"/>
          <p:cNvSpPr txBox="1">
            <a:spLocks noGrp="1"/>
          </p:cNvSpPr>
          <p:nvPr>
            <p:ph type="subTitle" idx="1"/>
          </p:nvPr>
        </p:nvSpPr>
        <p:spPr>
          <a:xfrm>
            <a:off x="457200" y="273600"/>
            <a:ext cx="8229240" cy="53078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57"/>
        <p:cNvGrpSpPr/>
        <p:nvPr/>
      </p:nvGrpSpPr>
      <p:grpSpPr>
        <a:xfrm>
          <a:off x="0" y="0"/>
          <a:ext cx="0" cy="0"/>
          <a:chOff x="0" y="0"/>
          <a:chExt cx="0" cy="0"/>
        </a:xfrm>
      </p:grpSpPr>
      <p:sp>
        <p:nvSpPr>
          <p:cNvPr id="158" name="Google Shape;158;p99"/>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99"/>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60" name="Google Shape;160;p99"/>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61" name="Google Shape;161;p99"/>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62"/>
        <p:cNvGrpSpPr/>
        <p:nvPr/>
      </p:nvGrpSpPr>
      <p:grpSpPr>
        <a:xfrm>
          <a:off x="0" y="0"/>
          <a:ext cx="0" cy="0"/>
          <a:chOff x="0" y="0"/>
          <a:chExt cx="0" cy="0"/>
        </a:xfrm>
      </p:grpSpPr>
      <p:sp>
        <p:nvSpPr>
          <p:cNvPr id="163" name="Google Shape;163;p100"/>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p100"/>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65" name="Google Shape;165;p100"/>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66" name="Google Shape;166;p100"/>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67"/>
        <p:cNvGrpSpPr/>
        <p:nvPr/>
      </p:nvGrpSpPr>
      <p:grpSpPr>
        <a:xfrm>
          <a:off x="0" y="0"/>
          <a:ext cx="0" cy="0"/>
          <a:chOff x="0" y="0"/>
          <a:chExt cx="0" cy="0"/>
        </a:xfrm>
      </p:grpSpPr>
      <p:sp>
        <p:nvSpPr>
          <p:cNvPr id="168" name="Google Shape;168;p101"/>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p101"/>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70" name="Google Shape;170;p101"/>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71" name="Google Shape;171;p101"/>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72"/>
        <p:cNvGrpSpPr/>
        <p:nvPr/>
      </p:nvGrpSpPr>
      <p:grpSpPr>
        <a:xfrm>
          <a:off x="0" y="0"/>
          <a:ext cx="0" cy="0"/>
          <a:chOff x="0" y="0"/>
          <a:chExt cx="0" cy="0"/>
        </a:xfrm>
      </p:grpSpPr>
      <p:sp>
        <p:nvSpPr>
          <p:cNvPr id="173" name="Google Shape;173;p102"/>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4" name="Google Shape;174;p102"/>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75" name="Google Shape;175;p102"/>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76"/>
        <p:cNvGrpSpPr/>
        <p:nvPr/>
      </p:nvGrpSpPr>
      <p:grpSpPr>
        <a:xfrm>
          <a:off x="0" y="0"/>
          <a:ext cx="0" cy="0"/>
          <a:chOff x="0" y="0"/>
          <a:chExt cx="0" cy="0"/>
        </a:xfrm>
      </p:grpSpPr>
      <p:sp>
        <p:nvSpPr>
          <p:cNvPr id="177" name="Google Shape;177;p103"/>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8" name="Google Shape;178;p103"/>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79" name="Google Shape;179;p103"/>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0" name="Google Shape;180;p103"/>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1" name="Google Shape;181;p103"/>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82"/>
        <p:cNvGrpSpPr/>
        <p:nvPr/>
      </p:nvGrpSpPr>
      <p:grpSpPr>
        <a:xfrm>
          <a:off x="0" y="0"/>
          <a:ext cx="0" cy="0"/>
          <a:chOff x="0" y="0"/>
          <a:chExt cx="0" cy="0"/>
        </a:xfrm>
      </p:grpSpPr>
      <p:sp>
        <p:nvSpPr>
          <p:cNvPr id="183" name="Google Shape;183;p104"/>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4" name="Google Shape;184;p104"/>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5" name="Google Shape;185;p104"/>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6" name="Google Shape;186;p104"/>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7" name="Google Shape;187;p104"/>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8" name="Google Shape;188;p104"/>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9" name="Google Shape;189;p104"/>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96"/>
        <p:cNvGrpSpPr/>
        <p:nvPr/>
      </p:nvGrpSpPr>
      <p:grpSpPr>
        <a:xfrm>
          <a:off x="0" y="0"/>
          <a:ext cx="0" cy="0"/>
          <a:chOff x="0" y="0"/>
          <a:chExt cx="0" cy="0"/>
        </a:xfrm>
      </p:grpSpPr>
      <p:sp>
        <p:nvSpPr>
          <p:cNvPr id="197" name="Google Shape;197;p69"/>
          <p:cNvSpPr txBox="1">
            <a:spLocks noGrp="1"/>
          </p:cNvSpPr>
          <p:nvPr>
            <p:ph type="ftr" idx="11"/>
          </p:nvPr>
        </p:nvSpPr>
        <p:spPr>
          <a:xfrm>
            <a:off x="3225600" y="5953680"/>
            <a:ext cx="2892600" cy="466200"/>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8" name="Google Shape;198;p69"/>
          <p:cNvSpPr txBox="1">
            <a:spLocks noGrp="1"/>
          </p:cNvSpPr>
          <p:nvPr>
            <p:ph type="sldNum" idx="12"/>
          </p:nvPr>
        </p:nvSpPr>
        <p:spPr>
          <a:xfrm>
            <a:off x="6654240" y="5953680"/>
            <a:ext cx="2123640" cy="466200"/>
          </a:xfrm>
          <a:prstGeom prst="rect">
            <a:avLst/>
          </a:prstGeom>
          <a:noFill/>
          <a:ln>
            <a:noFill/>
          </a:ln>
        </p:spPr>
        <p:txBody>
          <a:bodyPr spcFirstLastPara="1" wrap="square" lIns="0" tIns="0" rIns="0" bIns="0" anchor="t" anchorCtr="0">
            <a:noAutofit/>
          </a:bodyPr>
          <a:lstStyle>
            <a:lvl1pPr marL="0" lvl="0"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1pPr>
            <a:lvl2pPr marL="0" lvl="1"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2pPr>
            <a:lvl3pPr marL="0" lvl="2"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3pPr>
            <a:lvl4pPr marL="0" lvl="3"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4pPr>
            <a:lvl5pPr marL="0" lvl="4"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5pPr>
            <a:lvl6pPr marL="0" lvl="5"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6pPr>
            <a:lvl7pPr marL="0" lvl="6"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7pPr>
            <a:lvl8pPr marL="0" lvl="7"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8pPr>
            <a:lvl9pPr marL="0" lvl="8"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s-AR"/>
              <a:t>‹Nº›</a:t>
            </a:fld>
            <a:endParaRPr/>
          </a:p>
        </p:txBody>
      </p:sp>
      <p:sp>
        <p:nvSpPr>
          <p:cNvPr id="199" name="Google Shape;199;p69"/>
          <p:cNvSpPr txBox="1">
            <a:spLocks noGrp="1"/>
          </p:cNvSpPr>
          <p:nvPr>
            <p:ph type="dt" idx="10"/>
          </p:nvPr>
        </p:nvSpPr>
        <p:spPr>
          <a:xfrm>
            <a:off x="555840" y="5953680"/>
            <a:ext cx="2123640" cy="466200"/>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200"/>
        <p:cNvGrpSpPr/>
        <p:nvPr/>
      </p:nvGrpSpPr>
      <p:grpSpPr>
        <a:xfrm>
          <a:off x="0" y="0"/>
          <a:ext cx="0" cy="0"/>
          <a:chOff x="0" y="0"/>
          <a:chExt cx="0" cy="0"/>
        </a:xfrm>
      </p:grpSpPr>
      <p:sp>
        <p:nvSpPr>
          <p:cNvPr id="201" name="Google Shape;201;p105"/>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2" name="Google Shape;202;p105"/>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3" name="Google Shape;203;p105"/>
          <p:cNvSpPr txBox="1">
            <a:spLocks noGrp="1"/>
          </p:cNvSpPr>
          <p:nvPr>
            <p:ph type="ftr" idx="11"/>
          </p:nvPr>
        </p:nvSpPr>
        <p:spPr>
          <a:xfrm>
            <a:off x="3225600" y="5953680"/>
            <a:ext cx="2892600" cy="466200"/>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4" name="Google Shape;204;p105"/>
          <p:cNvSpPr txBox="1">
            <a:spLocks noGrp="1"/>
          </p:cNvSpPr>
          <p:nvPr>
            <p:ph type="sldNum" idx="12"/>
          </p:nvPr>
        </p:nvSpPr>
        <p:spPr>
          <a:xfrm>
            <a:off x="6654240" y="5953680"/>
            <a:ext cx="2123640" cy="466200"/>
          </a:xfrm>
          <a:prstGeom prst="rect">
            <a:avLst/>
          </a:prstGeom>
          <a:noFill/>
          <a:ln>
            <a:noFill/>
          </a:ln>
        </p:spPr>
        <p:txBody>
          <a:bodyPr spcFirstLastPara="1" wrap="square" lIns="0" tIns="0" rIns="0" bIns="0" anchor="t" anchorCtr="0">
            <a:noAutofit/>
          </a:bodyPr>
          <a:lstStyle>
            <a:lvl1pPr marL="0" lvl="0"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1pPr>
            <a:lvl2pPr marL="0" lvl="1"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2pPr>
            <a:lvl3pPr marL="0" lvl="2"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3pPr>
            <a:lvl4pPr marL="0" lvl="3"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4pPr>
            <a:lvl5pPr marL="0" lvl="4"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5pPr>
            <a:lvl6pPr marL="0" lvl="5"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6pPr>
            <a:lvl7pPr marL="0" lvl="6"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7pPr>
            <a:lvl8pPr marL="0" lvl="7"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8pPr>
            <a:lvl9pPr marL="0" lvl="8"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s-AR"/>
              <a:t>‹Nº›</a:t>
            </a:fld>
            <a:endParaRPr/>
          </a:p>
        </p:txBody>
      </p:sp>
      <p:sp>
        <p:nvSpPr>
          <p:cNvPr id="205" name="Google Shape;205;p105"/>
          <p:cNvSpPr txBox="1">
            <a:spLocks noGrp="1"/>
          </p:cNvSpPr>
          <p:nvPr>
            <p:ph type="dt" idx="10"/>
          </p:nvPr>
        </p:nvSpPr>
        <p:spPr>
          <a:xfrm>
            <a:off x="555840" y="5953680"/>
            <a:ext cx="2123640" cy="466200"/>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06"/>
        <p:cNvGrpSpPr/>
        <p:nvPr/>
      </p:nvGrpSpPr>
      <p:grpSpPr>
        <a:xfrm>
          <a:off x="0" y="0"/>
          <a:ext cx="0" cy="0"/>
          <a:chOff x="0" y="0"/>
          <a:chExt cx="0" cy="0"/>
        </a:xfrm>
      </p:grpSpPr>
      <p:sp>
        <p:nvSpPr>
          <p:cNvPr id="207" name="Google Shape;207;p106"/>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8" name="Google Shape;208;p106"/>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09" name="Google Shape;209;p106"/>
          <p:cNvSpPr txBox="1">
            <a:spLocks noGrp="1"/>
          </p:cNvSpPr>
          <p:nvPr>
            <p:ph type="ftr" idx="11"/>
          </p:nvPr>
        </p:nvSpPr>
        <p:spPr>
          <a:xfrm>
            <a:off x="3225600" y="5953680"/>
            <a:ext cx="2892600" cy="466200"/>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0" name="Google Shape;210;p106"/>
          <p:cNvSpPr txBox="1">
            <a:spLocks noGrp="1"/>
          </p:cNvSpPr>
          <p:nvPr>
            <p:ph type="sldNum" idx="12"/>
          </p:nvPr>
        </p:nvSpPr>
        <p:spPr>
          <a:xfrm>
            <a:off x="6654240" y="5953680"/>
            <a:ext cx="2123640" cy="466200"/>
          </a:xfrm>
          <a:prstGeom prst="rect">
            <a:avLst/>
          </a:prstGeom>
          <a:noFill/>
          <a:ln>
            <a:noFill/>
          </a:ln>
        </p:spPr>
        <p:txBody>
          <a:bodyPr spcFirstLastPara="1" wrap="square" lIns="0" tIns="0" rIns="0" bIns="0" anchor="t" anchorCtr="0">
            <a:noAutofit/>
          </a:bodyPr>
          <a:lstStyle>
            <a:lvl1pPr marL="0" lvl="0"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1pPr>
            <a:lvl2pPr marL="0" lvl="1"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2pPr>
            <a:lvl3pPr marL="0" lvl="2"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3pPr>
            <a:lvl4pPr marL="0" lvl="3"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4pPr>
            <a:lvl5pPr marL="0" lvl="4"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5pPr>
            <a:lvl6pPr marL="0" lvl="5"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6pPr>
            <a:lvl7pPr marL="0" lvl="6"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7pPr>
            <a:lvl8pPr marL="0" lvl="7"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8pPr>
            <a:lvl9pPr marL="0" lvl="8"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s-AR"/>
              <a:t>‹Nº›</a:t>
            </a:fld>
            <a:endParaRPr/>
          </a:p>
        </p:txBody>
      </p:sp>
      <p:sp>
        <p:nvSpPr>
          <p:cNvPr id="211" name="Google Shape;211;p106"/>
          <p:cNvSpPr txBox="1">
            <a:spLocks noGrp="1"/>
          </p:cNvSpPr>
          <p:nvPr>
            <p:ph type="dt" idx="10"/>
          </p:nvPr>
        </p:nvSpPr>
        <p:spPr>
          <a:xfrm>
            <a:off x="555840" y="5953680"/>
            <a:ext cx="2123640" cy="466200"/>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12"/>
        <p:cNvGrpSpPr/>
        <p:nvPr/>
      </p:nvGrpSpPr>
      <p:grpSpPr>
        <a:xfrm>
          <a:off x="0" y="0"/>
          <a:ext cx="0" cy="0"/>
          <a:chOff x="0" y="0"/>
          <a:chExt cx="0" cy="0"/>
        </a:xfrm>
      </p:grpSpPr>
      <p:sp>
        <p:nvSpPr>
          <p:cNvPr id="213" name="Google Shape;213;p107"/>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4" name="Google Shape;214;p107"/>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15" name="Google Shape;215;p107"/>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16" name="Google Shape;216;p107"/>
          <p:cNvSpPr txBox="1">
            <a:spLocks noGrp="1"/>
          </p:cNvSpPr>
          <p:nvPr>
            <p:ph type="ftr" idx="11"/>
          </p:nvPr>
        </p:nvSpPr>
        <p:spPr>
          <a:xfrm>
            <a:off x="3225600" y="5953680"/>
            <a:ext cx="2892600" cy="466200"/>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7" name="Google Shape;217;p107"/>
          <p:cNvSpPr txBox="1">
            <a:spLocks noGrp="1"/>
          </p:cNvSpPr>
          <p:nvPr>
            <p:ph type="sldNum" idx="12"/>
          </p:nvPr>
        </p:nvSpPr>
        <p:spPr>
          <a:xfrm>
            <a:off x="6654240" y="5953680"/>
            <a:ext cx="2123640" cy="466200"/>
          </a:xfrm>
          <a:prstGeom prst="rect">
            <a:avLst/>
          </a:prstGeom>
          <a:noFill/>
          <a:ln>
            <a:noFill/>
          </a:ln>
        </p:spPr>
        <p:txBody>
          <a:bodyPr spcFirstLastPara="1" wrap="square" lIns="0" tIns="0" rIns="0" bIns="0" anchor="t" anchorCtr="0">
            <a:noAutofit/>
          </a:bodyPr>
          <a:lstStyle>
            <a:lvl1pPr marL="0" lvl="0"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1pPr>
            <a:lvl2pPr marL="0" lvl="1"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2pPr>
            <a:lvl3pPr marL="0" lvl="2"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3pPr>
            <a:lvl4pPr marL="0" lvl="3"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4pPr>
            <a:lvl5pPr marL="0" lvl="4"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5pPr>
            <a:lvl6pPr marL="0" lvl="5"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6pPr>
            <a:lvl7pPr marL="0" lvl="6"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7pPr>
            <a:lvl8pPr marL="0" lvl="7"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8pPr>
            <a:lvl9pPr marL="0" lvl="8"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s-AR"/>
              <a:t>‹Nº›</a:t>
            </a:fld>
            <a:endParaRPr/>
          </a:p>
        </p:txBody>
      </p:sp>
      <p:sp>
        <p:nvSpPr>
          <p:cNvPr id="218" name="Google Shape;218;p107"/>
          <p:cNvSpPr txBox="1">
            <a:spLocks noGrp="1"/>
          </p:cNvSpPr>
          <p:nvPr>
            <p:ph type="dt" idx="10"/>
          </p:nvPr>
        </p:nvSpPr>
        <p:spPr>
          <a:xfrm>
            <a:off x="555840" y="5953680"/>
            <a:ext cx="2123640" cy="466200"/>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9"/>
        <p:cNvGrpSpPr/>
        <p:nvPr/>
      </p:nvGrpSpPr>
      <p:grpSpPr>
        <a:xfrm>
          <a:off x="0" y="0"/>
          <a:ext cx="0" cy="0"/>
          <a:chOff x="0" y="0"/>
          <a:chExt cx="0" cy="0"/>
        </a:xfrm>
      </p:grpSpPr>
      <p:sp>
        <p:nvSpPr>
          <p:cNvPr id="220" name="Google Shape;220;p108"/>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08"/>
          <p:cNvSpPr txBox="1">
            <a:spLocks noGrp="1"/>
          </p:cNvSpPr>
          <p:nvPr>
            <p:ph type="ftr" idx="11"/>
          </p:nvPr>
        </p:nvSpPr>
        <p:spPr>
          <a:xfrm>
            <a:off x="3225600" y="5953680"/>
            <a:ext cx="2892600" cy="466200"/>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2" name="Google Shape;222;p108"/>
          <p:cNvSpPr txBox="1">
            <a:spLocks noGrp="1"/>
          </p:cNvSpPr>
          <p:nvPr>
            <p:ph type="sldNum" idx="12"/>
          </p:nvPr>
        </p:nvSpPr>
        <p:spPr>
          <a:xfrm>
            <a:off x="6654240" y="5953680"/>
            <a:ext cx="2123640" cy="466200"/>
          </a:xfrm>
          <a:prstGeom prst="rect">
            <a:avLst/>
          </a:prstGeom>
          <a:noFill/>
          <a:ln>
            <a:noFill/>
          </a:ln>
        </p:spPr>
        <p:txBody>
          <a:bodyPr spcFirstLastPara="1" wrap="square" lIns="0" tIns="0" rIns="0" bIns="0" anchor="t" anchorCtr="0">
            <a:noAutofit/>
          </a:bodyPr>
          <a:lstStyle>
            <a:lvl1pPr marL="0" lvl="0"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1pPr>
            <a:lvl2pPr marL="0" lvl="1"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2pPr>
            <a:lvl3pPr marL="0" lvl="2"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3pPr>
            <a:lvl4pPr marL="0" lvl="3"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4pPr>
            <a:lvl5pPr marL="0" lvl="4"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5pPr>
            <a:lvl6pPr marL="0" lvl="5"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6pPr>
            <a:lvl7pPr marL="0" lvl="6"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7pPr>
            <a:lvl8pPr marL="0" lvl="7"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8pPr>
            <a:lvl9pPr marL="0" lvl="8"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s-AR"/>
              <a:t>‹Nº›</a:t>
            </a:fld>
            <a:endParaRPr/>
          </a:p>
        </p:txBody>
      </p:sp>
      <p:sp>
        <p:nvSpPr>
          <p:cNvPr id="223" name="Google Shape;223;p108"/>
          <p:cNvSpPr txBox="1">
            <a:spLocks noGrp="1"/>
          </p:cNvSpPr>
          <p:nvPr>
            <p:ph type="dt" idx="10"/>
          </p:nvPr>
        </p:nvSpPr>
        <p:spPr>
          <a:xfrm>
            <a:off x="555840" y="5953680"/>
            <a:ext cx="2123640" cy="466200"/>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24"/>
        <p:cNvGrpSpPr/>
        <p:nvPr/>
      </p:nvGrpSpPr>
      <p:grpSpPr>
        <a:xfrm>
          <a:off x="0" y="0"/>
          <a:ext cx="0" cy="0"/>
          <a:chOff x="0" y="0"/>
          <a:chExt cx="0" cy="0"/>
        </a:xfrm>
      </p:grpSpPr>
      <p:sp>
        <p:nvSpPr>
          <p:cNvPr id="225" name="Google Shape;225;p109"/>
          <p:cNvSpPr txBox="1">
            <a:spLocks noGrp="1"/>
          </p:cNvSpPr>
          <p:nvPr>
            <p:ph type="subTitle" idx="1"/>
          </p:nvPr>
        </p:nvSpPr>
        <p:spPr>
          <a:xfrm>
            <a:off x="457200" y="273600"/>
            <a:ext cx="8229240" cy="53078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6" name="Google Shape;226;p109"/>
          <p:cNvSpPr txBox="1">
            <a:spLocks noGrp="1"/>
          </p:cNvSpPr>
          <p:nvPr>
            <p:ph type="ftr" idx="11"/>
          </p:nvPr>
        </p:nvSpPr>
        <p:spPr>
          <a:xfrm>
            <a:off x="3225600" y="5953680"/>
            <a:ext cx="2892600" cy="466200"/>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7" name="Google Shape;227;p109"/>
          <p:cNvSpPr txBox="1">
            <a:spLocks noGrp="1"/>
          </p:cNvSpPr>
          <p:nvPr>
            <p:ph type="sldNum" idx="12"/>
          </p:nvPr>
        </p:nvSpPr>
        <p:spPr>
          <a:xfrm>
            <a:off x="6654240" y="5953680"/>
            <a:ext cx="2123640" cy="466200"/>
          </a:xfrm>
          <a:prstGeom prst="rect">
            <a:avLst/>
          </a:prstGeom>
          <a:noFill/>
          <a:ln>
            <a:noFill/>
          </a:ln>
        </p:spPr>
        <p:txBody>
          <a:bodyPr spcFirstLastPara="1" wrap="square" lIns="0" tIns="0" rIns="0" bIns="0" anchor="t" anchorCtr="0">
            <a:noAutofit/>
          </a:bodyPr>
          <a:lstStyle>
            <a:lvl1pPr marL="0" lvl="0"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1pPr>
            <a:lvl2pPr marL="0" lvl="1"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2pPr>
            <a:lvl3pPr marL="0" lvl="2"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3pPr>
            <a:lvl4pPr marL="0" lvl="3"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4pPr>
            <a:lvl5pPr marL="0" lvl="4"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5pPr>
            <a:lvl6pPr marL="0" lvl="5"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6pPr>
            <a:lvl7pPr marL="0" lvl="6"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7pPr>
            <a:lvl8pPr marL="0" lvl="7"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8pPr>
            <a:lvl9pPr marL="0" lvl="8"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s-AR"/>
              <a:t>‹Nº›</a:t>
            </a:fld>
            <a:endParaRPr/>
          </a:p>
        </p:txBody>
      </p:sp>
      <p:sp>
        <p:nvSpPr>
          <p:cNvPr id="228" name="Google Shape;228;p109"/>
          <p:cNvSpPr txBox="1">
            <a:spLocks noGrp="1"/>
          </p:cNvSpPr>
          <p:nvPr>
            <p:ph type="dt" idx="10"/>
          </p:nvPr>
        </p:nvSpPr>
        <p:spPr>
          <a:xfrm>
            <a:off x="555840" y="5953680"/>
            <a:ext cx="2123640" cy="466200"/>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29"/>
        <p:cNvGrpSpPr/>
        <p:nvPr/>
      </p:nvGrpSpPr>
      <p:grpSpPr>
        <a:xfrm>
          <a:off x="0" y="0"/>
          <a:ext cx="0" cy="0"/>
          <a:chOff x="0" y="0"/>
          <a:chExt cx="0" cy="0"/>
        </a:xfrm>
      </p:grpSpPr>
      <p:sp>
        <p:nvSpPr>
          <p:cNvPr id="230" name="Google Shape;230;p110"/>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1" name="Google Shape;231;p11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32" name="Google Shape;232;p110"/>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33" name="Google Shape;233;p110"/>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34" name="Google Shape;234;p110"/>
          <p:cNvSpPr txBox="1">
            <a:spLocks noGrp="1"/>
          </p:cNvSpPr>
          <p:nvPr>
            <p:ph type="ftr" idx="11"/>
          </p:nvPr>
        </p:nvSpPr>
        <p:spPr>
          <a:xfrm>
            <a:off x="3225600" y="5953680"/>
            <a:ext cx="2892600" cy="466200"/>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5" name="Google Shape;235;p110"/>
          <p:cNvSpPr txBox="1">
            <a:spLocks noGrp="1"/>
          </p:cNvSpPr>
          <p:nvPr>
            <p:ph type="sldNum" idx="12"/>
          </p:nvPr>
        </p:nvSpPr>
        <p:spPr>
          <a:xfrm>
            <a:off x="6654240" y="5953680"/>
            <a:ext cx="2123640" cy="466200"/>
          </a:xfrm>
          <a:prstGeom prst="rect">
            <a:avLst/>
          </a:prstGeom>
          <a:noFill/>
          <a:ln>
            <a:noFill/>
          </a:ln>
        </p:spPr>
        <p:txBody>
          <a:bodyPr spcFirstLastPara="1" wrap="square" lIns="0" tIns="0" rIns="0" bIns="0" anchor="t" anchorCtr="0">
            <a:noAutofit/>
          </a:bodyPr>
          <a:lstStyle>
            <a:lvl1pPr marL="0" lvl="0"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1pPr>
            <a:lvl2pPr marL="0" lvl="1"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2pPr>
            <a:lvl3pPr marL="0" lvl="2"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3pPr>
            <a:lvl4pPr marL="0" lvl="3"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4pPr>
            <a:lvl5pPr marL="0" lvl="4"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5pPr>
            <a:lvl6pPr marL="0" lvl="5"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6pPr>
            <a:lvl7pPr marL="0" lvl="6"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7pPr>
            <a:lvl8pPr marL="0" lvl="7"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8pPr>
            <a:lvl9pPr marL="0" lvl="8"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s-AR"/>
              <a:t>‹Nº›</a:t>
            </a:fld>
            <a:endParaRPr/>
          </a:p>
        </p:txBody>
      </p:sp>
      <p:sp>
        <p:nvSpPr>
          <p:cNvPr id="236" name="Google Shape;236;p110"/>
          <p:cNvSpPr txBox="1">
            <a:spLocks noGrp="1"/>
          </p:cNvSpPr>
          <p:nvPr>
            <p:ph type="dt" idx="10"/>
          </p:nvPr>
        </p:nvSpPr>
        <p:spPr>
          <a:xfrm>
            <a:off x="555840" y="5953680"/>
            <a:ext cx="2123640" cy="466200"/>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237"/>
        <p:cNvGrpSpPr/>
        <p:nvPr/>
      </p:nvGrpSpPr>
      <p:grpSpPr>
        <a:xfrm>
          <a:off x="0" y="0"/>
          <a:ext cx="0" cy="0"/>
          <a:chOff x="0" y="0"/>
          <a:chExt cx="0" cy="0"/>
        </a:xfrm>
      </p:grpSpPr>
      <p:sp>
        <p:nvSpPr>
          <p:cNvPr id="238" name="Google Shape;238;p111"/>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9" name="Google Shape;239;p111"/>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0" name="Google Shape;240;p111"/>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1" name="Google Shape;241;p111"/>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2" name="Google Shape;242;p111"/>
          <p:cNvSpPr txBox="1">
            <a:spLocks noGrp="1"/>
          </p:cNvSpPr>
          <p:nvPr>
            <p:ph type="ftr" idx="11"/>
          </p:nvPr>
        </p:nvSpPr>
        <p:spPr>
          <a:xfrm>
            <a:off x="3225600" y="5953680"/>
            <a:ext cx="2892600" cy="466200"/>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3" name="Google Shape;243;p111"/>
          <p:cNvSpPr txBox="1">
            <a:spLocks noGrp="1"/>
          </p:cNvSpPr>
          <p:nvPr>
            <p:ph type="sldNum" idx="12"/>
          </p:nvPr>
        </p:nvSpPr>
        <p:spPr>
          <a:xfrm>
            <a:off x="6654240" y="5953680"/>
            <a:ext cx="2123640" cy="466200"/>
          </a:xfrm>
          <a:prstGeom prst="rect">
            <a:avLst/>
          </a:prstGeom>
          <a:noFill/>
          <a:ln>
            <a:noFill/>
          </a:ln>
        </p:spPr>
        <p:txBody>
          <a:bodyPr spcFirstLastPara="1" wrap="square" lIns="0" tIns="0" rIns="0" bIns="0" anchor="t" anchorCtr="0">
            <a:noAutofit/>
          </a:bodyPr>
          <a:lstStyle>
            <a:lvl1pPr marL="0" lvl="0"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1pPr>
            <a:lvl2pPr marL="0" lvl="1"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2pPr>
            <a:lvl3pPr marL="0" lvl="2"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3pPr>
            <a:lvl4pPr marL="0" lvl="3"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4pPr>
            <a:lvl5pPr marL="0" lvl="4"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5pPr>
            <a:lvl6pPr marL="0" lvl="5"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6pPr>
            <a:lvl7pPr marL="0" lvl="6"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7pPr>
            <a:lvl8pPr marL="0" lvl="7"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8pPr>
            <a:lvl9pPr marL="0" lvl="8"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s-AR"/>
              <a:t>‹Nº›</a:t>
            </a:fld>
            <a:endParaRPr/>
          </a:p>
        </p:txBody>
      </p:sp>
      <p:sp>
        <p:nvSpPr>
          <p:cNvPr id="244" name="Google Shape;244;p111"/>
          <p:cNvSpPr txBox="1">
            <a:spLocks noGrp="1"/>
          </p:cNvSpPr>
          <p:nvPr>
            <p:ph type="dt" idx="10"/>
          </p:nvPr>
        </p:nvSpPr>
        <p:spPr>
          <a:xfrm>
            <a:off x="555840" y="5953680"/>
            <a:ext cx="2123640" cy="466200"/>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245"/>
        <p:cNvGrpSpPr/>
        <p:nvPr/>
      </p:nvGrpSpPr>
      <p:grpSpPr>
        <a:xfrm>
          <a:off x="0" y="0"/>
          <a:ext cx="0" cy="0"/>
          <a:chOff x="0" y="0"/>
          <a:chExt cx="0" cy="0"/>
        </a:xfrm>
      </p:grpSpPr>
      <p:sp>
        <p:nvSpPr>
          <p:cNvPr id="246" name="Google Shape;246;p112"/>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7" name="Google Shape;247;p112"/>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8" name="Google Shape;248;p112"/>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9" name="Google Shape;249;p112"/>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0" name="Google Shape;250;p112"/>
          <p:cNvSpPr txBox="1">
            <a:spLocks noGrp="1"/>
          </p:cNvSpPr>
          <p:nvPr>
            <p:ph type="ftr" idx="11"/>
          </p:nvPr>
        </p:nvSpPr>
        <p:spPr>
          <a:xfrm>
            <a:off x="3225600" y="5953680"/>
            <a:ext cx="2892600" cy="466200"/>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12"/>
          <p:cNvSpPr txBox="1">
            <a:spLocks noGrp="1"/>
          </p:cNvSpPr>
          <p:nvPr>
            <p:ph type="sldNum" idx="12"/>
          </p:nvPr>
        </p:nvSpPr>
        <p:spPr>
          <a:xfrm>
            <a:off x="6654240" y="5953680"/>
            <a:ext cx="2123640" cy="466200"/>
          </a:xfrm>
          <a:prstGeom prst="rect">
            <a:avLst/>
          </a:prstGeom>
          <a:noFill/>
          <a:ln>
            <a:noFill/>
          </a:ln>
        </p:spPr>
        <p:txBody>
          <a:bodyPr spcFirstLastPara="1" wrap="square" lIns="0" tIns="0" rIns="0" bIns="0" anchor="t" anchorCtr="0">
            <a:noAutofit/>
          </a:bodyPr>
          <a:lstStyle>
            <a:lvl1pPr marL="0" lvl="0"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1pPr>
            <a:lvl2pPr marL="0" lvl="1"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2pPr>
            <a:lvl3pPr marL="0" lvl="2"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3pPr>
            <a:lvl4pPr marL="0" lvl="3"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4pPr>
            <a:lvl5pPr marL="0" lvl="4"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5pPr>
            <a:lvl6pPr marL="0" lvl="5"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6pPr>
            <a:lvl7pPr marL="0" lvl="6"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7pPr>
            <a:lvl8pPr marL="0" lvl="7"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8pPr>
            <a:lvl9pPr marL="0" lvl="8"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s-AR"/>
              <a:t>‹Nº›</a:t>
            </a:fld>
            <a:endParaRPr/>
          </a:p>
        </p:txBody>
      </p:sp>
      <p:sp>
        <p:nvSpPr>
          <p:cNvPr id="252" name="Google Shape;252;p112"/>
          <p:cNvSpPr txBox="1">
            <a:spLocks noGrp="1"/>
          </p:cNvSpPr>
          <p:nvPr>
            <p:ph type="dt" idx="10"/>
          </p:nvPr>
        </p:nvSpPr>
        <p:spPr>
          <a:xfrm>
            <a:off x="555840" y="5953680"/>
            <a:ext cx="2123640" cy="466200"/>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253"/>
        <p:cNvGrpSpPr/>
        <p:nvPr/>
      </p:nvGrpSpPr>
      <p:grpSpPr>
        <a:xfrm>
          <a:off x="0" y="0"/>
          <a:ext cx="0" cy="0"/>
          <a:chOff x="0" y="0"/>
          <a:chExt cx="0" cy="0"/>
        </a:xfrm>
      </p:grpSpPr>
      <p:sp>
        <p:nvSpPr>
          <p:cNvPr id="254" name="Google Shape;254;p113"/>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5" name="Google Shape;255;p113"/>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6" name="Google Shape;256;p113"/>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7" name="Google Shape;257;p113"/>
          <p:cNvSpPr txBox="1">
            <a:spLocks noGrp="1"/>
          </p:cNvSpPr>
          <p:nvPr>
            <p:ph type="ftr" idx="11"/>
          </p:nvPr>
        </p:nvSpPr>
        <p:spPr>
          <a:xfrm>
            <a:off x="3225600" y="5953680"/>
            <a:ext cx="2892600" cy="466200"/>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8" name="Google Shape;258;p113"/>
          <p:cNvSpPr txBox="1">
            <a:spLocks noGrp="1"/>
          </p:cNvSpPr>
          <p:nvPr>
            <p:ph type="sldNum" idx="12"/>
          </p:nvPr>
        </p:nvSpPr>
        <p:spPr>
          <a:xfrm>
            <a:off x="6654240" y="5953680"/>
            <a:ext cx="2123640" cy="466200"/>
          </a:xfrm>
          <a:prstGeom prst="rect">
            <a:avLst/>
          </a:prstGeom>
          <a:noFill/>
          <a:ln>
            <a:noFill/>
          </a:ln>
        </p:spPr>
        <p:txBody>
          <a:bodyPr spcFirstLastPara="1" wrap="square" lIns="0" tIns="0" rIns="0" bIns="0" anchor="t" anchorCtr="0">
            <a:noAutofit/>
          </a:bodyPr>
          <a:lstStyle>
            <a:lvl1pPr marL="0" lvl="0"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1pPr>
            <a:lvl2pPr marL="0" lvl="1"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2pPr>
            <a:lvl3pPr marL="0" lvl="2"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3pPr>
            <a:lvl4pPr marL="0" lvl="3"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4pPr>
            <a:lvl5pPr marL="0" lvl="4"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5pPr>
            <a:lvl6pPr marL="0" lvl="5"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6pPr>
            <a:lvl7pPr marL="0" lvl="6"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7pPr>
            <a:lvl8pPr marL="0" lvl="7"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8pPr>
            <a:lvl9pPr marL="0" lvl="8"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s-AR"/>
              <a:t>‹Nº›</a:t>
            </a:fld>
            <a:endParaRPr/>
          </a:p>
        </p:txBody>
      </p:sp>
      <p:sp>
        <p:nvSpPr>
          <p:cNvPr id="259" name="Google Shape;259;p113"/>
          <p:cNvSpPr txBox="1">
            <a:spLocks noGrp="1"/>
          </p:cNvSpPr>
          <p:nvPr>
            <p:ph type="dt" idx="10"/>
          </p:nvPr>
        </p:nvSpPr>
        <p:spPr>
          <a:xfrm>
            <a:off x="555840" y="5953680"/>
            <a:ext cx="2123640" cy="466200"/>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260"/>
        <p:cNvGrpSpPr/>
        <p:nvPr/>
      </p:nvGrpSpPr>
      <p:grpSpPr>
        <a:xfrm>
          <a:off x="0" y="0"/>
          <a:ext cx="0" cy="0"/>
          <a:chOff x="0" y="0"/>
          <a:chExt cx="0" cy="0"/>
        </a:xfrm>
      </p:grpSpPr>
      <p:sp>
        <p:nvSpPr>
          <p:cNvPr id="261" name="Google Shape;261;p114"/>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2" name="Google Shape;262;p114"/>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3" name="Google Shape;263;p114"/>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4" name="Google Shape;264;p114"/>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5" name="Google Shape;265;p114"/>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6" name="Google Shape;266;p114"/>
          <p:cNvSpPr txBox="1">
            <a:spLocks noGrp="1"/>
          </p:cNvSpPr>
          <p:nvPr>
            <p:ph type="ftr" idx="11"/>
          </p:nvPr>
        </p:nvSpPr>
        <p:spPr>
          <a:xfrm>
            <a:off x="3225600" y="5953680"/>
            <a:ext cx="2892600" cy="466200"/>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7" name="Google Shape;267;p114"/>
          <p:cNvSpPr txBox="1">
            <a:spLocks noGrp="1"/>
          </p:cNvSpPr>
          <p:nvPr>
            <p:ph type="sldNum" idx="12"/>
          </p:nvPr>
        </p:nvSpPr>
        <p:spPr>
          <a:xfrm>
            <a:off x="6654240" y="5953680"/>
            <a:ext cx="2123640" cy="466200"/>
          </a:xfrm>
          <a:prstGeom prst="rect">
            <a:avLst/>
          </a:prstGeom>
          <a:noFill/>
          <a:ln>
            <a:noFill/>
          </a:ln>
        </p:spPr>
        <p:txBody>
          <a:bodyPr spcFirstLastPara="1" wrap="square" lIns="0" tIns="0" rIns="0" bIns="0" anchor="t" anchorCtr="0">
            <a:noAutofit/>
          </a:bodyPr>
          <a:lstStyle>
            <a:lvl1pPr marL="0" lvl="0"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1pPr>
            <a:lvl2pPr marL="0" lvl="1"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2pPr>
            <a:lvl3pPr marL="0" lvl="2"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3pPr>
            <a:lvl4pPr marL="0" lvl="3"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4pPr>
            <a:lvl5pPr marL="0" lvl="4"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5pPr>
            <a:lvl6pPr marL="0" lvl="5"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6pPr>
            <a:lvl7pPr marL="0" lvl="6"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7pPr>
            <a:lvl8pPr marL="0" lvl="7"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8pPr>
            <a:lvl9pPr marL="0" lvl="8"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s-AR"/>
              <a:t>‹Nº›</a:t>
            </a:fld>
            <a:endParaRPr/>
          </a:p>
        </p:txBody>
      </p:sp>
      <p:sp>
        <p:nvSpPr>
          <p:cNvPr id="268" name="Google Shape;268;p114"/>
          <p:cNvSpPr txBox="1">
            <a:spLocks noGrp="1"/>
          </p:cNvSpPr>
          <p:nvPr>
            <p:ph type="dt" idx="10"/>
          </p:nvPr>
        </p:nvSpPr>
        <p:spPr>
          <a:xfrm>
            <a:off x="555840" y="5953680"/>
            <a:ext cx="2123640" cy="466200"/>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269"/>
        <p:cNvGrpSpPr/>
        <p:nvPr/>
      </p:nvGrpSpPr>
      <p:grpSpPr>
        <a:xfrm>
          <a:off x="0" y="0"/>
          <a:ext cx="0" cy="0"/>
          <a:chOff x="0" y="0"/>
          <a:chExt cx="0" cy="0"/>
        </a:xfrm>
      </p:grpSpPr>
      <p:sp>
        <p:nvSpPr>
          <p:cNvPr id="270" name="Google Shape;270;p115"/>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1" name="Google Shape;271;p115"/>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72" name="Google Shape;272;p115"/>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73" name="Google Shape;273;p115"/>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74" name="Google Shape;274;p115"/>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75" name="Google Shape;275;p115"/>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76" name="Google Shape;276;p115"/>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77" name="Google Shape;277;p115"/>
          <p:cNvSpPr txBox="1">
            <a:spLocks noGrp="1"/>
          </p:cNvSpPr>
          <p:nvPr>
            <p:ph type="ftr" idx="11"/>
          </p:nvPr>
        </p:nvSpPr>
        <p:spPr>
          <a:xfrm>
            <a:off x="3225600" y="5953680"/>
            <a:ext cx="2892600" cy="466200"/>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8" name="Google Shape;278;p115"/>
          <p:cNvSpPr txBox="1">
            <a:spLocks noGrp="1"/>
          </p:cNvSpPr>
          <p:nvPr>
            <p:ph type="sldNum" idx="12"/>
          </p:nvPr>
        </p:nvSpPr>
        <p:spPr>
          <a:xfrm>
            <a:off x="6654240" y="5953680"/>
            <a:ext cx="2123640" cy="466200"/>
          </a:xfrm>
          <a:prstGeom prst="rect">
            <a:avLst/>
          </a:prstGeom>
          <a:noFill/>
          <a:ln>
            <a:noFill/>
          </a:ln>
        </p:spPr>
        <p:txBody>
          <a:bodyPr spcFirstLastPara="1" wrap="square" lIns="0" tIns="0" rIns="0" bIns="0" anchor="t" anchorCtr="0">
            <a:noAutofit/>
          </a:bodyPr>
          <a:lstStyle>
            <a:lvl1pPr marL="0" lvl="0"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1pPr>
            <a:lvl2pPr marL="0" lvl="1"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2pPr>
            <a:lvl3pPr marL="0" lvl="2"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3pPr>
            <a:lvl4pPr marL="0" lvl="3"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4pPr>
            <a:lvl5pPr marL="0" lvl="4"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5pPr>
            <a:lvl6pPr marL="0" lvl="5"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6pPr>
            <a:lvl7pPr marL="0" lvl="6"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7pPr>
            <a:lvl8pPr marL="0" lvl="7"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8pPr>
            <a:lvl9pPr marL="0" lvl="8" indent="0" algn="r">
              <a:lnSpc>
                <a:spcPct val="100000"/>
              </a:lnSpc>
              <a:spcBef>
                <a:spcPts val="0"/>
              </a:spcBef>
              <a:buClr>
                <a:srgbClr val="000000"/>
              </a:buClr>
              <a:buSzPts val="1270"/>
              <a:buFont typeface="Times New Roman"/>
              <a:buNone/>
              <a:defRPr sz="1270" b="0" strike="noStrik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s-AR"/>
              <a:t>‹Nº›</a:t>
            </a:fld>
            <a:endParaRPr/>
          </a:p>
        </p:txBody>
      </p:sp>
      <p:sp>
        <p:nvSpPr>
          <p:cNvPr id="279" name="Google Shape;279;p115"/>
          <p:cNvSpPr txBox="1">
            <a:spLocks noGrp="1"/>
          </p:cNvSpPr>
          <p:nvPr>
            <p:ph type="dt" idx="10"/>
          </p:nvPr>
        </p:nvSpPr>
        <p:spPr>
          <a:xfrm>
            <a:off x="555840" y="5953680"/>
            <a:ext cx="2123640" cy="466200"/>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83"/>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284"/>
        <p:cNvGrpSpPr/>
        <p:nvPr/>
      </p:nvGrpSpPr>
      <p:grpSpPr>
        <a:xfrm>
          <a:off x="0" y="0"/>
          <a:ext cx="0" cy="0"/>
          <a:chOff x="0" y="0"/>
          <a:chExt cx="0" cy="0"/>
        </a:xfrm>
      </p:grpSpPr>
      <p:sp>
        <p:nvSpPr>
          <p:cNvPr id="285" name="Google Shape;285;p116"/>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6" name="Google Shape;286;p116"/>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87"/>
        <p:cNvGrpSpPr/>
        <p:nvPr/>
      </p:nvGrpSpPr>
      <p:grpSpPr>
        <a:xfrm>
          <a:off x="0" y="0"/>
          <a:ext cx="0" cy="0"/>
          <a:chOff x="0" y="0"/>
          <a:chExt cx="0" cy="0"/>
        </a:xfrm>
      </p:grpSpPr>
      <p:sp>
        <p:nvSpPr>
          <p:cNvPr id="288" name="Google Shape;288;p117"/>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9" name="Google Shape;289;p117"/>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90"/>
        <p:cNvGrpSpPr/>
        <p:nvPr/>
      </p:nvGrpSpPr>
      <p:grpSpPr>
        <a:xfrm>
          <a:off x="0" y="0"/>
          <a:ext cx="0" cy="0"/>
          <a:chOff x="0" y="0"/>
          <a:chExt cx="0" cy="0"/>
        </a:xfrm>
      </p:grpSpPr>
      <p:sp>
        <p:nvSpPr>
          <p:cNvPr id="291" name="Google Shape;291;p118"/>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18"/>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93" name="Google Shape;293;p118"/>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4"/>
        <p:cNvGrpSpPr/>
        <p:nvPr/>
      </p:nvGrpSpPr>
      <p:grpSpPr>
        <a:xfrm>
          <a:off x="0" y="0"/>
          <a:ext cx="0" cy="0"/>
          <a:chOff x="0" y="0"/>
          <a:chExt cx="0" cy="0"/>
        </a:xfrm>
      </p:grpSpPr>
      <p:sp>
        <p:nvSpPr>
          <p:cNvPr id="295" name="Google Shape;295;p119"/>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96"/>
        <p:cNvGrpSpPr/>
        <p:nvPr/>
      </p:nvGrpSpPr>
      <p:grpSpPr>
        <a:xfrm>
          <a:off x="0" y="0"/>
          <a:ext cx="0" cy="0"/>
          <a:chOff x="0" y="0"/>
          <a:chExt cx="0" cy="0"/>
        </a:xfrm>
      </p:grpSpPr>
      <p:sp>
        <p:nvSpPr>
          <p:cNvPr id="297" name="Google Shape;297;p120"/>
          <p:cNvSpPr txBox="1">
            <a:spLocks noGrp="1"/>
          </p:cNvSpPr>
          <p:nvPr>
            <p:ph type="subTitle" idx="1"/>
          </p:nvPr>
        </p:nvSpPr>
        <p:spPr>
          <a:xfrm>
            <a:off x="457200" y="273600"/>
            <a:ext cx="8229240" cy="53078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98"/>
        <p:cNvGrpSpPr/>
        <p:nvPr/>
      </p:nvGrpSpPr>
      <p:grpSpPr>
        <a:xfrm>
          <a:off x="0" y="0"/>
          <a:ext cx="0" cy="0"/>
          <a:chOff x="0" y="0"/>
          <a:chExt cx="0" cy="0"/>
        </a:xfrm>
      </p:grpSpPr>
      <p:sp>
        <p:nvSpPr>
          <p:cNvPr id="299" name="Google Shape;299;p121"/>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0" name="Google Shape;300;p121"/>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01" name="Google Shape;301;p121"/>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02" name="Google Shape;302;p121"/>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303"/>
        <p:cNvGrpSpPr/>
        <p:nvPr/>
      </p:nvGrpSpPr>
      <p:grpSpPr>
        <a:xfrm>
          <a:off x="0" y="0"/>
          <a:ext cx="0" cy="0"/>
          <a:chOff x="0" y="0"/>
          <a:chExt cx="0" cy="0"/>
        </a:xfrm>
      </p:grpSpPr>
      <p:sp>
        <p:nvSpPr>
          <p:cNvPr id="304" name="Google Shape;304;p122"/>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22"/>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06" name="Google Shape;306;p122"/>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07" name="Google Shape;307;p122"/>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308"/>
        <p:cNvGrpSpPr/>
        <p:nvPr/>
      </p:nvGrpSpPr>
      <p:grpSpPr>
        <a:xfrm>
          <a:off x="0" y="0"/>
          <a:ext cx="0" cy="0"/>
          <a:chOff x="0" y="0"/>
          <a:chExt cx="0" cy="0"/>
        </a:xfrm>
      </p:grpSpPr>
      <p:sp>
        <p:nvSpPr>
          <p:cNvPr id="309" name="Google Shape;309;p123"/>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0" name="Google Shape;310;p123"/>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1" name="Google Shape;311;p123"/>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2" name="Google Shape;312;p123"/>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313"/>
        <p:cNvGrpSpPr/>
        <p:nvPr/>
      </p:nvGrpSpPr>
      <p:grpSpPr>
        <a:xfrm>
          <a:off x="0" y="0"/>
          <a:ext cx="0" cy="0"/>
          <a:chOff x="0" y="0"/>
          <a:chExt cx="0" cy="0"/>
        </a:xfrm>
      </p:grpSpPr>
      <p:sp>
        <p:nvSpPr>
          <p:cNvPr id="314" name="Google Shape;314;p124"/>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5" name="Google Shape;315;p124"/>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6" name="Google Shape;316;p124"/>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317"/>
        <p:cNvGrpSpPr/>
        <p:nvPr/>
      </p:nvGrpSpPr>
      <p:grpSpPr>
        <a:xfrm>
          <a:off x="0" y="0"/>
          <a:ext cx="0" cy="0"/>
          <a:chOff x="0" y="0"/>
          <a:chExt cx="0" cy="0"/>
        </a:xfrm>
      </p:grpSpPr>
      <p:sp>
        <p:nvSpPr>
          <p:cNvPr id="318" name="Google Shape;318;p125"/>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9" name="Google Shape;319;p125"/>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0" name="Google Shape;320;p125"/>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1" name="Google Shape;321;p125"/>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2" name="Google Shape;322;p125"/>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323"/>
        <p:cNvGrpSpPr/>
        <p:nvPr/>
      </p:nvGrpSpPr>
      <p:grpSpPr>
        <a:xfrm>
          <a:off x="0" y="0"/>
          <a:ext cx="0" cy="0"/>
          <a:chOff x="0" y="0"/>
          <a:chExt cx="0" cy="0"/>
        </a:xfrm>
      </p:grpSpPr>
      <p:sp>
        <p:nvSpPr>
          <p:cNvPr id="324" name="Google Shape;324;p126"/>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26"/>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6" name="Google Shape;326;p126"/>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7" name="Google Shape;327;p126"/>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8" name="Google Shape;328;p126"/>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9" name="Google Shape;329;p126"/>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0" name="Google Shape;330;p126"/>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62"/>
          <p:cNvSpPr/>
          <p:nvPr/>
        </p:nvSpPr>
        <p:spPr>
          <a:xfrm>
            <a:off x="380880" y="0"/>
            <a:ext cx="606600" cy="6855120"/>
          </a:xfrm>
          <a:prstGeom prst="rect">
            <a:avLst/>
          </a:prstGeom>
          <a:solidFill>
            <a:srgbClr val="FEC2AC">
              <a:alpha val="53725"/>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62"/>
          <p:cNvSpPr/>
          <p:nvPr/>
        </p:nvSpPr>
        <p:spPr>
          <a:xfrm>
            <a:off x="276120" y="0"/>
            <a:ext cx="101880" cy="6855120"/>
          </a:xfrm>
          <a:prstGeom prst="rect">
            <a:avLst/>
          </a:prstGeom>
          <a:solidFill>
            <a:srgbClr val="FFD8CC">
              <a:alpha val="3568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62"/>
          <p:cNvSpPr/>
          <p:nvPr/>
        </p:nvSpPr>
        <p:spPr>
          <a:xfrm>
            <a:off x="990720" y="0"/>
            <a:ext cx="179640" cy="6855120"/>
          </a:xfrm>
          <a:prstGeom prst="rect">
            <a:avLst/>
          </a:prstGeom>
          <a:solidFill>
            <a:srgbClr val="FFD8CC">
              <a:alpha val="6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62"/>
          <p:cNvSpPr/>
          <p:nvPr/>
        </p:nvSpPr>
        <p:spPr>
          <a:xfrm>
            <a:off x="1141560" y="0"/>
            <a:ext cx="227160" cy="6855120"/>
          </a:xfrm>
          <a:prstGeom prst="rect">
            <a:avLst/>
          </a:prstGeom>
          <a:solidFill>
            <a:srgbClr val="FFEDE7">
              <a:alpha val="7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62"/>
          <p:cNvSpPr/>
          <p:nvPr/>
        </p:nvSpPr>
        <p:spPr>
          <a:xfrm>
            <a:off x="106200" y="0"/>
            <a:ext cx="360" cy="6855120"/>
          </a:xfrm>
          <a:custGeom>
            <a:avLst/>
            <a:gdLst/>
            <a:ahLst/>
            <a:cxnLst/>
            <a:rect l="l" t="t" r="r" b="b"/>
            <a:pathLst>
              <a:path w="21600" h="21600" extrusionOk="0">
                <a:moveTo>
                  <a:pt x="0" y="0"/>
                </a:moveTo>
                <a:lnTo>
                  <a:pt x="21600" y="21600"/>
                </a:lnTo>
              </a:path>
            </a:pathLst>
          </a:custGeom>
          <a:noFill/>
          <a:ln w="57225" cap="flat" cmpd="sng">
            <a:solidFill>
              <a:srgbClr val="FEC2AC"/>
            </a:solidFill>
            <a:prstDash val="solid"/>
            <a:round/>
            <a:headEnd type="none" w="sm" len="sm"/>
            <a:tailEnd type="none" w="sm" len="sm"/>
          </a:ln>
        </p:spPr>
      </p:sp>
      <p:sp>
        <p:nvSpPr>
          <p:cNvPr id="15" name="Google Shape;15;p62"/>
          <p:cNvSpPr/>
          <p:nvPr/>
        </p:nvSpPr>
        <p:spPr>
          <a:xfrm>
            <a:off x="914400" y="0"/>
            <a:ext cx="360" cy="6855120"/>
          </a:xfrm>
          <a:custGeom>
            <a:avLst/>
            <a:gdLst/>
            <a:ahLst/>
            <a:cxnLst/>
            <a:rect l="l" t="t" r="r" b="b"/>
            <a:pathLst>
              <a:path w="21600" h="21600" extrusionOk="0">
                <a:moveTo>
                  <a:pt x="0" y="0"/>
                </a:moveTo>
                <a:lnTo>
                  <a:pt x="21600" y="21600"/>
                </a:lnTo>
              </a:path>
            </a:pathLst>
          </a:custGeom>
          <a:noFill/>
          <a:ln w="57225" cap="flat" cmpd="sng">
            <a:solidFill>
              <a:srgbClr val="FFEDE7"/>
            </a:solidFill>
            <a:prstDash val="solid"/>
            <a:round/>
            <a:headEnd type="none" w="sm" len="sm"/>
            <a:tailEnd type="none" w="sm" len="sm"/>
          </a:ln>
        </p:spPr>
      </p:sp>
      <p:sp>
        <p:nvSpPr>
          <p:cNvPr id="16" name="Google Shape;16;p62"/>
          <p:cNvSpPr/>
          <p:nvPr/>
        </p:nvSpPr>
        <p:spPr>
          <a:xfrm>
            <a:off x="853920" y="0"/>
            <a:ext cx="360" cy="6855120"/>
          </a:xfrm>
          <a:custGeom>
            <a:avLst/>
            <a:gdLst/>
            <a:ahLst/>
            <a:cxnLst/>
            <a:rect l="l" t="t" r="r" b="b"/>
            <a:pathLst>
              <a:path w="21600" h="21600" extrusionOk="0">
                <a:moveTo>
                  <a:pt x="0" y="0"/>
                </a:moveTo>
                <a:lnTo>
                  <a:pt x="21600" y="21600"/>
                </a:lnTo>
              </a:path>
            </a:pathLst>
          </a:custGeom>
          <a:noFill/>
          <a:ln w="57225" cap="flat" cmpd="sng">
            <a:solidFill>
              <a:srgbClr val="FEC2AC"/>
            </a:solidFill>
            <a:prstDash val="solid"/>
            <a:round/>
            <a:headEnd type="none" w="sm" len="sm"/>
            <a:tailEnd type="none" w="sm" len="sm"/>
          </a:ln>
        </p:spPr>
      </p:sp>
      <p:sp>
        <p:nvSpPr>
          <p:cNvPr id="17" name="Google Shape;17;p62"/>
          <p:cNvSpPr/>
          <p:nvPr/>
        </p:nvSpPr>
        <p:spPr>
          <a:xfrm>
            <a:off x="1727280" y="0"/>
            <a:ext cx="360" cy="6855120"/>
          </a:xfrm>
          <a:custGeom>
            <a:avLst/>
            <a:gdLst/>
            <a:ahLst/>
            <a:cxnLst/>
            <a:rect l="l" t="t" r="r" b="b"/>
            <a:pathLst>
              <a:path w="21600" h="21600" extrusionOk="0">
                <a:moveTo>
                  <a:pt x="0" y="0"/>
                </a:moveTo>
                <a:lnTo>
                  <a:pt x="21600" y="21600"/>
                </a:lnTo>
              </a:path>
            </a:pathLst>
          </a:custGeom>
          <a:noFill/>
          <a:ln w="28425" cap="flat" cmpd="sng">
            <a:solidFill>
              <a:srgbClr val="FEC2AC"/>
            </a:solidFill>
            <a:prstDash val="solid"/>
            <a:round/>
            <a:headEnd type="none" w="sm" len="sm"/>
            <a:tailEnd type="none" w="sm" len="sm"/>
          </a:ln>
        </p:spPr>
      </p:sp>
      <p:sp>
        <p:nvSpPr>
          <p:cNvPr id="18" name="Google Shape;18;p62"/>
          <p:cNvSpPr/>
          <p:nvPr/>
        </p:nvSpPr>
        <p:spPr>
          <a:xfrm>
            <a:off x="1066680" y="0"/>
            <a:ext cx="360" cy="6855120"/>
          </a:xfrm>
          <a:custGeom>
            <a:avLst/>
            <a:gdLst/>
            <a:ahLst/>
            <a:cxnLst/>
            <a:rect l="l" t="t" r="r" b="b"/>
            <a:pathLst>
              <a:path w="21600" h="21600" extrusionOk="0">
                <a:moveTo>
                  <a:pt x="0" y="0"/>
                </a:moveTo>
                <a:lnTo>
                  <a:pt x="21600" y="21600"/>
                </a:lnTo>
              </a:path>
            </a:pathLst>
          </a:custGeom>
          <a:noFill/>
          <a:ln w="9525" cap="flat" cmpd="sng">
            <a:solidFill>
              <a:srgbClr val="FEC2AC"/>
            </a:solidFill>
            <a:prstDash val="solid"/>
            <a:round/>
            <a:headEnd type="none" w="sm" len="sm"/>
            <a:tailEnd type="none" w="sm" len="sm"/>
          </a:ln>
        </p:spPr>
      </p:sp>
      <p:sp>
        <p:nvSpPr>
          <p:cNvPr id="19" name="Google Shape;19;p62"/>
          <p:cNvSpPr/>
          <p:nvPr/>
        </p:nvSpPr>
        <p:spPr>
          <a:xfrm>
            <a:off x="9113760" y="0"/>
            <a:ext cx="360" cy="6855120"/>
          </a:xfrm>
          <a:custGeom>
            <a:avLst/>
            <a:gdLst/>
            <a:ahLst/>
            <a:cxnLst/>
            <a:rect l="l" t="t" r="r" b="b"/>
            <a:pathLst>
              <a:path w="21600" h="21600" extrusionOk="0">
                <a:moveTo>
                  <a:pt x="0" y="0"/>
                </a:moveTo>
                <a:lnTo>
                  <a:pt x="21600" y="21600"/>
                </a:lnTo>
              </a:path>
            </a:pathLst>
          </a:custGeom>
          <a:noFill/>
          <a:ln w="57225" cap="flat" cmpd="sng">
            <a:solidFill>
              <a:srgbClr val="FEC2AC"/>
            </a:solidFill>
            <a:prstDash val="solid"/>
            <a:round/>
            <a:headEnd type="none" w="sm" len="sm"/>
            <a:tailEnd type="none" w="sm" len="sm"/>
          </a:ln>
        </p:spPr>
      </p:sp>
      <p:sp>
        <p:nvSpPr>
          <p:cNvPr id="20" name="Google Shape;20;p62"/>
          <p:cNvSpPr/>
          <p:nvPr/>
        </p:nvSpPr>
        <p:spPr>
          <a:xfrm>
            <a:off x="1219320" y="0"/>
            <a:ext cx="73440" cy="6855120"/>
          </a:xfrm>
          <a:prstGeom prst="rect">
            <a:avLst/>
          </a:prstGeom>
          <a:solidFill>
            <a:srgbClr val="FEC2AC">
              <a:alpha val="5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62"/>
          <p:cNvSpPr/>
          <p:nvPr/>
        </p:nvSpPr>
        <p:spPr>
          <a:xfrm>
            <a:off x="609480" y="3429000"/>
            <a:ext cx="1292400" cy="1292400"/>
          </a:xfrm>
          <a:prstGeom prst="ellipse">
            <a:avLst/>
          </a:prstGeom>
          <a:solidFill>
            <a:srgbClr val="FE86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62"/>
          <p:cNvSpPr/>
          <p:nvPr/>
        </p:nvSpPr>
        <p:spPr>
          <a:xfrm>
            <a:off x="1309680" y="4867200"/>
            <a:ext cx="638640" cy="638640"/>
          </a:xfrm>
          <a:prstGeom prst="ellipse">
            <a:avLst/>
          </a:prstGeom>
          <a:solidFill>
            <a:srgbClr val="FE86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62"/>
          <p:cNvSpPr/>
          <p:nvPr/>
        </p:nvSpPr>
        <p:spPr>
          <a:xfrm>
            <a:off x="1090440" y="5500800"/>
            <a:ext cx="135360" cy="133560"/>
          </a:xfrm>
          <a:prstGeom prst="ellipse">
            <a:avLst/>
          </a:prstGeom>
          <a:solidFill>
            <a:srgbClr val="FE86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62"/>
          <p:cNvSpPr/>
          <p:nvPr/>
        </p:nvSpPr>
        <p:spPr>
          <a:xfrm>
            <a:off x="1663560" y="5788080"/>
            <a:ext cx="271800" cy="271800"/>
          </a:xfrm>
          <a:prstGeom prst="ellipse">
            <a:avLst/>
          </a:prstGeom>
          <a:solidFill>
            <a:srgbClr val="FE86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62"/>
          <p:cNvSpPr/>
          <p:nvPr/>
        </p:nvSpPr>
        <p:spPr>
          <a:xfrm>
            <a:off x="1905120" y="4495680"/>
            <a:ext cx="362160" cy="362160"/>
          </a:xfrm>
          <a:prstGeom prst="ellipse">
            <a:avLst/>
          </a:prstGeom>
          <a:solidFill>
            <a:srgbClr val="FE86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62"/>
          <p:cNvSpPr txBox="1">
            <a:spLocks noGrp="1"/>
          </p:cNvSpPr>
          <p:nvPr>
            <p:ph type="title"/>
          </p:nvPr>
        </p:nvSpPr>
        <p:spPr>
          <a:xfrm>
            <a:off x="457200" y="273600"/>
            <a:ext cx="8228880" cy="114444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27" name="Google Shape;27;p62"/>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6"/>
        <p:cNvGrpSpPr/>
        <p:nvPr/>
      </p:nvGrpSpPr>
      <p:grpSpPr>
        <a:xfrm>
          <a:off x="0" y="0"/>
          <a:ext cx="0" cy="0"/>
          <a:chOff x="0" y="0"/>
          <a:chExt cx="0" cy="0"/>
        </a:xfrm>
      </p:grpSpPr>
      <p:sp>
        <p:nvSpPr>
          <p:cNvPr id="77" name="Google Shape;77;p64"/>
          <p:cNvSpPr/>
          <p:nvPr/>
        </p:nvSpPr>
        <p:spPr>
          <a:xfrm>
            <a:off x="8763120" y="0"/>
            <a:ext cx="360" cy="6855120"/>
          </a:xfrm>
          <a:custGeom>
            <a:avLst/>
            <a:gdLst/>
            <a:ahLst/>
            <a:cxnLst/>
            <a:rect l="l" t="t" r="r" b="b"/>
            <a:pathLst>
              <a:path w="21600" h="21600" extrusionOk="0">
                <a:moveTo>
                  <a:pt x="0" y="0"/>
                </a:moveTo>
                <a:lnTo>
                  <a:pt x="21600" y="21600"/>
                </a:lnTo>
              </a:path>
            </a:pathLst>
          </a:custGeom>
          <a:noFill/>
          <a:ln w="38150" cap="flat" cmpd="sng">
            <a:solidFill>
              <a:srgbClr val="FEC2AC"/>
            </a:solidFill>
            <a:prstDash val="solid"/>
            <a:round/>
            <a:headEnd type="none" w="sm" len="sm"/>
            <a:tailEnd type="none" w="sm" len="sm"/>
          </a:ln>
        </p:spPr>
      </p:sp>
      <p:sp>
        <p:nvSpPr>
          <p:cNvPr id="78" name="Google Shape;78;p64"/>
          <p:cNvSpPr/>
          <p:nvPr/>
        </p:nvSpPr>
        <p:spPr>
          <a:xfrm>
            <a:off x="76320" y="0"/>
            <a:ext cx="360" cy="6855120"/>
          </a:xfrm>
          <a:custGeom>
            <a:avLst/>
            <a:gdLst/>
            <a:ahLst/>
            <a:cxnLst/>
            <a:rect l="l" t="t" r="r" b="b"/>
            <a:pathLst>
              <a:path w="21600" h="21600" extrusionOk="0">
                <a:moveTo>
                  <a:pt x="0" y="0"/>
                </a:moveTo>
                <a:lnTo>
                  <a:pt x="21600" y="21600"/>
                </a:lnTo>
              </a:path>
            </a:pathLst>
          </a:custGeom>
          <a:noFill/>
          <a:ln w="57225" cap="flat" cmpd="sng">
            <a:solidFill>
              <a:srgbClr val="FEC2AC"/>
            </a:solidFill>
            <a:prstDash val="solid"/>
            <a:round/>
            <a:headEnd type="none" w="sm" len="sm"/>
            <a:tailEnd type="none" w="sm" len="sm"/>
          </a:ln>
        </p:spPr>
      </p:sp>
      <p:sp>
        <p:nvSpPr>
          <p:cNvPr id="79" name="Google Shape;79;p64"/>
          <p:cNvSpPr/>
          <p:nvPr/>
        </p:nvSpPr>
        <p:spPr>
          <a:xfrm>
            <a:off x="8991720" y="0"/>
            <a:ext cx="360" cy="6855120"/>
          </a:xfrm>
          <a:custGeom>
            <a:avLst/>
            <a:gdLst/>
            <a:ahLst/>
            <a:cxnLst/>
            <a:rect l="l" t="t" r="r" b="b"/>
            <a:pathLst>
              <a:path w="21600" h="21600" extrusionOk="0">
                <a:moveTo>
                  <a:pt x="0" y="0"/>
                </a:moveTo>
                <a:lnTo>
                  <a:pt x="21600" y="21600"/>
                </a:lnTo>
              </a:path>
            </a:pathLst>
          </a:custGeom>
          <a:noFill/>
          <a:ln w="19075" cap="flat" cmpd="sng">
            <a:solidFill>
              <a:srgbClr val="4F81BD"/>
            </a:solidFill>
            <a:prstDash val="solid"/>
            <a:round/>
            <a:headEnd type="none" w="sm" len="sm"/>
            <a:tailEnd type="none" w="sm" len="sm"/>
          </a:ln>
        </p:spPr>
      </p:sp>
      <p:sp>
        <p:nvSpPr>
          <p:cNvPr id="80" name="Google Shape;80;p64"/>
          <p:cNvSpPr/>
          <p:nvPr/>
        </p:nvSpPr>
        <p:spPr>
          <a:xfrm>
            <a:off x="8839080" y="0"/>
            <a:ext cx="302040" cy="6855120"/>
          </a:xfrm>
          <a:prstGeom prst="rect">
            <a:avLst/>
          </a:prstGeom>
          <a:solidFill>
            <a:srgbClr val="FEC2AC">
              <a:alpha val="8666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64"/>
          <p:cNvSpPr/>
          <p:nvPr/>
        </p:nvSpPr>
        <p:spPr>
          <a:xfrm>
            <a:off x="8915400" y="0"/>
            <a:ext cx="360" cy="6855120"/>
          </a:xfrm>
          <a:custGeom>
            <a:avLst/>
            <a:gdLst/>
            <a:ahLst/>
            <a:cxnLst/>
            <a:rect l="l" t="t" r="r" b="b"/>
            <a:pathLst>
              <a:path w="21600" h="21600" extrusionOk="0">
                <a:moveTo>
                  <a:pt x="0" y="0"/>
                </a:moveTo>
                <a:lnTo>
                  <a:pt x="21600" y="21600"/>
                </a:lnTo>
              </a:path>
            </a:pathLst>
          </a:custGeom>
          <a:noFill/>
          <a:ln w="9525" cap="flat" cmpd="sng">
            <a:solidFill>
              <a:srgbClr val="4F81BD"/>
            </a:solidFill>
            <a:prstDash val="solid"/>
            <a:round/>
            <a:headEnd type="none" w="sm" len="sm"/>
            <a:tailEnd type="none" w="sm" len="sm"/>
          </a:ln>
        </p:spPr>
      </p:sp>
      <p:sp>
        <p:nvSpPr>
          <p:cNvPr id="82" name="Google Shape;82;p64"/>
          <p:cNvSpPr/>
          <p:nvPr/>
        </p:nvSpPr>
        <p:spPr>
          <a:xfrm>
            <a:off x="8156520" y="5715000"/>
            <a:ext cx="546480" cy="546480"/>
          </a:xfrm>
          <a:prstGeom prst="ellipse">
            <a:avLst/>
          </a:prstGeom>
          <a:solidFill>
            <a:srgbClr val="4F8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64"/>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4" name="Google Shape;84;p64"/>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3"/>
        <p:cNvGrpSpPr/>
        <p:nvPr/>
      </p:nvGrpSpPr>
      <p:grpSpPr>
        <a:xfrm>
          <a:off x="0" y="0"/>
          <a:ext cx="0" cy="0"/>
          <a:chOff x="0" y="0"/>
          <a:chExt cx="0" cy="0"/>
        </a:xfrm>
      </p:grpSpPr>
      <p:sp>
        <p:nvSpPr>
          <p:cNvPr id="134" name="Google Shape;134;p66"/>
          <p:cNvSpPr/>
          <p:nvPr/>
        </p:nvSpPr>
        <p:spPr>
          <a:xfrm>
            <a:off x="8763120" y="0"/>
            <a:ext cx="360" cy="6855120"/>
          </a:xfrm>
          <a:custGeom>
            <a:avLst/>
            <a:gdLst/>
            <a:ahLst/>
            <a:cxnLst/>
            <a:rect l="l" t="t" r="r" b="b"/>
            <a:pathLst>
              <a:path w="21600" h="21600" extrusionOk="0">
                <a:moveTo>
                  <a:pt x="0" y="0"/>
                </a:moveTo>
                <a:lnTo>
                  <a:pt x="21600" y="21600"/>
                </a:lnTo>
              </a:path>
            </a:pathLst>
          </a:custGeom>
          <a:noFill/>
          <a:ln w="38150" cap="flat" cmpd="sng">
            <a:solidFill>
              <a:srgbClr val="FEC2AC"/>
            </a:solidFill>
            <a:prstDash val="solid"/>
            <a:round/>
            <a:headEnd type="none" w="sm" len="sm"/>
            <a:tailEnd type="none" w="sm" len="sm"/>
          </a:ln>
        </p:spPr>
      </p:sp>
      <p:sp>
        <p:nvSpPr>
          <p:cNvPr id="135" name="Google Shape;135;p66"/>
          <p:cNvSpPr/>
          <p:nvPr/>
        </p:nvSpPr>
        <p:spPr>
          <a:xfrm>
            <a:off x="76320" y="0"/>
            <a:ext cx="360" cy="6855120"/>
          </a:xfrm>
          <a:custGeom>
            <a:avLst/>
            <a:gdLst/>
            <a:ahLst/>
            <a:cxnLst/>
            <a:rect l="l" t="t" r="r" b="b"/>
            <a:pathLst>
              <a:path w="21600" h="21600" extrusionOk="0">
                <a:moveTo>
                  <a:pt x="0" y="0"/>
                </a:moveTo>
                <a:lnTo>
                  <a:pt x="21600" y="21600"/>
                </a:lnTo>
              </a:path>
            </a:pathLst>
          </a:custGeom>
          <a:noFill/>
          <a:ln w="57225" cap="flat" cmpd="sng">
            <a:solidFill>
              <a:srgbClr val="FEC2AC"/>
            </a:solidFill>
            <a:prstDash val="solid"/>
            <a:round/>
            <a:headEnd type="none" w="sm" len="sm"/>
            <a:tailEnd type="none" w="sm" len="sm"/>
          </a:ln>
        </p:spPr>
      </p:sp>
      <p:sp>
        <p:nvSpPr>
          <p:cNvPr id="136" name="Google Shape;136;p66"/>
          <p:cNvSpPr/>
          <p:nvPr/>
        </p:nvSpPr>
        <p:spPr>
          <a:xfrm>
            <a:off x="8991720" y="0"/>
            <a:ext cx="360" cy="6855120"/>
          </a:xfrm>
          <a:custGeom>
            <a:avLst/>
            <a:gdLst/>
            <a:ahLst/>
            <a:cxnLst/>
            <a:rect l="l" t="t" r="r" b="b"/>
            <a:pathLst>
              <a:path w="21600" h="21600" extrusionOk="0">
                <a:moveTo>
                  <a:pt x="0" y="0"/>
                </a:moveTo>
                <a:lnTo>
                  <a:pt x="21600" y="21600"/>
                </a:lnTo>
              </a:path>
            </a:pathLst>
          </a:custGeom>
          <a:noFill/>
          <a:ln w="19075" cap="flat" cmpd="sng">
            <a:solidFill>
              <a:srgbClr val="4F81BD"/>
            </a:solidFill>
            <a:prstDash val="solid"/>
            <a:round/>
            <a:headEnd type="none" w="sm" len="sm"/>
            <a:tailEnd type="none" w="sm" len="sm"/>
          </a:ln>
        </p:spPr>
      </p:sp>
      <p:sp>
        <p:nvSpPr>
          <p:cNvPr id="137" name="Google Shape;137;p66"/>
          <p:cNvSpPr/>
          <p:nvPr/>
        </p:nvSpPr>
        <p:spPr>
          <a:xfrm>
            <a:off x="8839080" y="0"/>
            <a:ext cx="302040" cy="6855120"/>
          </a:xfrm>
          <a:prstGeom prst="rect">
            <a:avLst/>
          </a:prstGeom>
          <a:solidFill>
            <a:srgbClr val="FEC2AC">
              <a:alpha val="8666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66"/>
          <p:cNvSpPr/>
          <p:nvPr/>
        </p:nvSpPr>
        <p:spPr>
          <a:xfrm>
            <a:off x="8915400" y="0"/>
            <a:ext cx="360" cy="6855120"/>
          </a:xfrm>
          <a:custGeom>
            <a:avLst/>
            <a:gdLst/>
            <a:ahLst/>
            <a:cxnLst/>
            <a:rect l="l" t="t" r="r" b="b"/>
            <a:pathLst>
              <a:path w="21600" h="21600" extrusionOk="0">
                <a:moveTo>
                  <a:pt x="0" y="0"/>
                </a:moveTo>
                <a:lnTo>
                  <a:pt x="21600" y="21600"/>
                </a:lnTo>
              </a:path>
            </a:pathLst>
          </a:custGeom>
          <a:noFill/>
          <a:ln w="9525" cap="flat" cmpd="sng">
            <a:solidFill>
              <a:srgbClr val="4F81BD"/>
            </a:solidFill>
            <a:prstDash val="solid"/>
            <a:round/>
            <a:headEnd type="none" w="sm" len="sm"/>
            <a:tailEnd type="none" w="sm" len="sm"/>
          </a:ln>
        </p:spPr>
      </p:sp>
      <p:sp>
        <p:nvSpPr>
          <p:cNvPr id="139" name="Google Shape;139;p66"/>
          <p:cNvSpPr/>
          <p:nvPr/>
        </p:nvSpPr>
        <p:spPr>
          <a:xfrm>
            <a:off x="8156520" y="5715000"/>
            <a:ext cx="546480" cy="546480"/>
          </a:xfrm>
          <a:prstGeom prst="ellipse">
            <a:avLst/>
          </a:prstGeom>
          <a:solidFill>
            <a:srgbClr val="4F8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66"/>
          <p:cNvSpPr txBox="1">
            <a:spLocks noGrp="1"/>
          </p:cNvSpPr>
          <p:nvPr>
            <p:ph type="title"/>
          </p:nvPr>
        </p:nvSpPr>
        <p:spPr>
          <a:xfrm>
            <a:off x="457200" y="273600"/>
            <a:ext cx="8228880" cy="114444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41" name="Google Shape;141;p66"/>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1">
          <a:blip r:embed="rId14">
            <a:alphaModFix/>
          </a:blip>
          <a:tile tx="0" ty="0" sx="100000" sy="100000" flip="none" algn="tl"/>
        </a:blipFill>
        <a:effectLst/>
      </p:bgPr>
    </p:bg>
    <p:spTree>
      <p:nvGrpSpPr>
        <p:cNvPr id="1" name="Shape 190"/>
        <p:cNvGrpSpPr/>
        <p:nvPr/>
      </p:nvGrpSpPr>
      <p:grpSpPr>
        <a:xfrm>
          <a:off x="0" y="0"/>
          <a:ext cx="0" cy="0"/>
          <a:chOff x="0" y="0"/>
          <a:chExt cx="0" cy="0"/>
        </a:xfrm>
      </p:grpSpPr>
      <p:sp>
        <p:nvSpPr>
          <p:cNvPr id="191" name="Google Shape;191;p68"/>
          <p:cNvSpPr txBox="1">
            <a:spLocks noGrp="1"/>
          </p:cNvSpPr>
          <p:nvPr>
            <p:ph type="title"/>
          </p:nvPr>
        </p:nvSpPr>
        <p:spPr>
          <a:xfrm>
            <a:off x="456480" y="273600"/>
            <a:ext cx="8222040" cy="113868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92" name="Google Shape;192;p68"/>
          <p:cNvSpPr txBox="1">
            <a:spLocks noGrp="1"/>
          </p:cNvSpPr>
          <p:nvPr>
            <p:ph type="dt" idx="10"/>
          </p:nvPr>
        </p:nvSpPr>
        <p:spPr>
          <a:xfrm>
            <a:off x="555840" y="5953680"/>
            <a:ext cx="2123640" cy="46620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400" b="0" i="0" u="none" strike="noStrike" cap="none">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93" name="Google Shape;193;p68"/>
          <p:cNvSpPr txBox="1">
            <a:spLocks noGrp="1"/>
          </p:cNvSpPr>
          <p:nvPr>
            <p:ph type="ftr" idx="11"/>
          </p:nvPr>
        </p:nvSpPr>
        <p:spPr>
          <a:xfrm>
            <a:off x="3225600" y="5953680"/>
            <a:ext cx="2892600" cy="466200"/>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Font typeface="Times New Roman"/>
              <a:buNone/>
              <a:defRPr sz="1400" b="0" i="0" u="none" strike="noStrike" cap="none">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94" name="Google Shape;194;p68"/>
          <p:cNvSpPr txBox="1">
            <a:spLocks noGrp="1"/>
          </p:cNvSpPr>
          <p:nvPr>
            <p:ph type="sldNum" idx="12"/>
          </p:nvPr>
        </p:nvSpPr>
        <p:spPr>
          <a:xfrm>
            <a:off x="6654240" y="5953680"/>
            <a:ext cx="2123640" cy="4662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buClr>
                <a:srgbClr val="000000"/>
              </a:buClr>
              <a:buSzPts val="1270"/>
              <a:buFont typeface="Times New Roman"/>
              <a:buNone/>
              <a:defRPr sz="1270" b="0" i="0" u="none" strike="noStrike" cap="none">
                <a:solidFill>
                  <a:srgbClr val="000000"/>
                </a:solidFill>
                <a:latin typeface="Times New Roman"/>
                <a:ea typeface="Times New Roman"/>
                <a:cs typeface="Times New Roman"/>
                <a:sym typeface="Times New Roman"/>
              </a:defRPr>
            </a:lvl1pPr>
            <a:lvl2pPr marL="0" marR="0" lvl="1" indent="0" algn="r" rtl="0">
              <a:lnSpc>
                <a:spcPct val="100000"/>
              </a:lnSpc>
              <a:spcBef>
                <a:spcPts val="0"/>
              </a:spcBef>
              <a:buClr>
                <a:srgbClr val="000000"/>
              </a:buClr>
              <a:buSzPts val="1270"/>
              <a:buFont typeface="Times New Roman"/>
              <a:buNone/>
              <a:defRPr sz="1270" b="0" i="0" u="none" strike="noStrike" cap="none">
                <a:solidFill>
                  <a:srgbClr val="000000"/>
                </a:solidFill>
                <a:latin typeface="Times New Roman"/>
                <a:ea typeface="Times New Roman"/>
                <a:cs typeface="Times New Roman"/>
                <a:sym typeface="Times New Roman"/>
              </a:defRPr>
            </a:lvl2pPr>
            <a:lvl3pPr marL="0" marR="0" lvl="2" indent="0" algn="r" rtl="0">
              <a:lnSpc>
                <a:spcPct val="100000"/>
              </a:lnSpc>
              <a:spcBef>
                <a:spcPts val="0"/>
              </a:spcBef>
              <a:buClr>
                <a:srgbClr val="000000"/>
              </a:buClr>
              <a:buSzPts val="1270"/>
              <a:buFont typeface="Times New Roman"/>
              <a:buNone/>
              <a:defRPr sz="1270" b="0" i="0" u="none" strike="noStrike" cap="none">
                <a:solidFill>
                  <a:srgbClr val="000000"/>
                </a:solidFill>
                <a:latin typeface="Times New Roman"/>
                <a:ea typeface="Times New Roman"/>
                <a:cs typeface="Times New Roman"/>
                <a:sym typeface="Times New Roman"/>
              </a:defRPr>
            </a:lvl3pPr>
            <a:lvl4pPr marL="0" marR="0" lvl="3" indent="0" algn="r" rtl="0">
              <a:lnSpc>
                <a:spcPct val="100000"/>
              </a:lnSpc>
              <a:spcBef>
                <a:spcPts val="0"/>
              </a:spcBef>
              <a:buClr>
                <a:srgbClr val="000000"/>
              </a:buClr>
              <a:buSzPts val="1270"/>
              <a:buFont typeface="Times New Roman"/>
              <a:buNone/>
              <a:defRPr sz="1270" b="0" i="0" u="none" strike="noStrike" cap="none">
                <a:solidFill>
                  <a:srgbClr val="000000"/>
                </a:solidFill>
                <a:latin typeface="Times New Roman"/>
                <a:ea typeface="Times New Roman"/>
                <a:cs typeface="Times New Roman"/>
                <a:sym typeface="Times New Roman"/>
              </a:defRPr>
            </a:lvl4pPr>
            <a:lvl5pPr marL="0" marR="0" lvl="4" indent="0" algn="r" rtl="0">
              <a:lnSpc>
                <a:spcPct val="100000"/>
              </a:lnSpc>
              <a:spcBef>
                <a:spcPts val="0"/>
              </a:spcBef>
              <a:buClr>
                <a:srgbClr val="000000"/>
              </a:buClr>
              <a:buSzPts val="1270"/>
              <a:buFont typeface="Times New Roman"/>
              <a:buNone/>
              <a:defRPr sz="1270" b="0" i="0" u="none" strike="noStrike" cap="none">
                <a:solidFill>
                  <a:srgbClr val="000000"/>
                </a:solidFill>
                <a:latin typeface="Times New Roman"/>
                <a:ea typeface="Times New Roman"/>
                <a:cs typeface="Times New Roman"/>
                <a:sym typeface="Times New Roman"/>
              </a:defRPr>
            </a:lvl5pPr>
            <a:lvl6pPr marL="0" marR="0" lvl="5" indent="0" algn="r" rtl="0">
              <a:lnSpc>
                <a:spcPct val="100000"/>
              </a:lnSpc>
              <a:spcBef>
                <a:spcPts val="0"/>
              </a:spcBef>
              <a:buClr>
                <a:srgbClr val="000000"/>
              </a:buClr>
              <a:buSzPts val="1270"/>
              <a:buFont typeface="Times New Roman"/>
              <a:buNone/>
              <a:defRPr sz="1270" b="0" i="0" u="none" strike="noStrike" cap="none">
                <a:solidFill>
                  <a:srgbClr val="000000"/>
                </a:solidFill>
                <a:latin typeface="Times New Roman"/>
                <a:ea typeface="Times New Roman"/>
                <a:cs typeface="Times New Roman"/>
                <a:sym typeface="Times New Roman"/>
              </a:defRPr>
            </a:lvl6pPr>
            <a:lvl7pPr marL="0" marR="0" lvl="6" indent="0" algn="r" rtl="0">
              <a:lnSpc>
                <a:spcPct val="100000"/>
              </a:lnSpc>
              <a:spcBef>
                <a:spcPts val="0"/>
              </a:spcBef>
              <a:buClr>
                <a:srgbClr val="000000"/>
              </a:buClr>
              <a:buSzPts val="1270"/>
              <a:buFont typeface="Times New Roman"/>
              <a:buNone/>
              <a:defRPr sz="1270" b="0" i="0" u="none" strike="noStrike" cap="none">
                <a:solidFill>
                  <a:srgbClr val="000000"/>
                </a:solidFill>
                <a:latin typeface="Times New Roman"/>
                <a:ea typeface="Times New Roman"/>
                <a:cs typeface="Times New Roman"/>
                <a:sym typeface="Times New Roman"/>
              </a:defRPr>
            </a:lvl7pPr>
            <a:lvl8pPr marL="0" marR="0" lvl="7" indent="0" algn="r" rtl="0">
              <a:lnSpc>
                <a:spcPct val="100000"/>
              </a:lnSpc>
              <a:spcBef>
                <a:spcPts val="0"/>
              </a:spcBef>
              <a:buClr>
                <a:srgbClr val="000000"/>
              </a:buClr>
              <a:buSzPts val="1270"/>
              <a:buFont typeface="Times New Roman"/>
              <a:buNone/>
              <a:defRPr sz="1270" b="0" i="0" u="none" strike="noStrike" cap="none">
                <a:solidFill>
                  <a:srgbClr val="000000"/>
                </a:solidFill>
                <a:latin typeface="Times New Roman"/>
                <a:ea typeface="Times New Roman"/>
                <a:cs typeface="Times New Roman"/>
                <a:sym typeface="Times New Roman"/>
              </a:defRPr>
            </a:lvl8pPr>
            <a:lvl9pPr marL="0" marR="0" lvl="8" indent="0" algn="r" rtl="0">
              <a:lnSpc>
                <a:spcPct val="100000"/>
              </a:lnSpc>
              <a:spcBef>
                <a:spcPts val="0"/>
              </a:spcBef>
              <a:buClr>
                <a:srgbClr val="000000"/>
              </a:buClr>
              <a:buSzPts val="1270"/>
              <a:buFont typeface="Times New Roman"/>
              <a:buNone/>
              <a:defRPr sz="1270" b="0" i="0" u="none" strike="noStrike" cap="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s-AR"/>
              <a:t>‹Nº›</a:t>
            </a:fld>
            <a:endParaRPr/>
          </a:p>
        </p:txBody>
      </p:sp>
      <p:sp>
        <p:nvSpPr>
          <p:cNvPr id="195" name="Google Shape;195;p68"/>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1">
          <a:blip r:embed="rId14">
            <a:alphaModFix/>
          </a:blip>
          <a:tile tx="0" ty="0" sx="100000" sy="100000" flip="none" algn="tl"/>
        </a:blipFill>
        <a:effectLst/>
      </p:bgPr>
    </p:bg>
    <p:spTree>
      <p:nvGrpSpPr>
        <p:cNvPr id="1" name="Shape 280"/>
        <p:cNvGrpSpPr/>
        <p:nvPr/>
      </p:nvGrpSpPr>
      <p:grpSpPr>
        <a:xfrm>
          <a:off x="0" y="0"/>
          <a:ext cx="0" cy="0"/>
          <a:chOff x="0" y="0"/>
          <a:chExt cx="0" cy="0"/>
        </a:xfrm>
      </p:grpSpPr>
      <p:sp>
        <p:nvSpPr>
          <p:cNvPr id="281" name="Google Shape;281;p70"/>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282" name="Google Shape;282;p70"/>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4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hyperlink" Target="https://www.tutorialspoint.com/compile_java_online.php" TargetMode="External"/><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hyperlink" Target="http://docs.python.org.ar/tutorial/3/reference.html#try" TargetMode="External"/><Relationship Id="rId2" Type="http://schemas.openxmlformats.org/officeDocument/2006/relationships/notesSlide" Target="../notesSlides/notesSlide53.xml"/><Relationship Id="rId1" Type="http://schemas.openxmlformats.org/officeDocument/2006/relationships/slideLayout" Target="../slideLayouts/slideLayout13.xml"/><Relationship Id="rId4" Type="http://schemas.openxmlformats.org/officeDocument/2006/relationships/hyperlink" Target="http://docs.python.org.ar/tutorial/3/reference.html#except" TargetMode="Externa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59.xml"/><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6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3.xml"/><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6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4.xml"/><Relationship Id="rId1" Type="http://schemas.openxmlformats.org/officeDocument/2006/relationships/slideLayout" Target="../slideLayouts/slideLayout13.xml"/><Relationship Id="rId5" Type="http://schemas.openxmlformats.org/officeDocument/2006/relationships/hyperlink" Target="https://www.youtube.com/watch?v=5_vLgFZRJTM&amp;list=PLseMjftzLa-9LzzrTwSKLq2rI2Q4ZY5mi&amp;index=12" TargetMode="Externa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1"/>
          <p:cNvSpPr/>
          <p:nvPr/>
        </p:nvSpPr>
        <p:spPr>
          <a:xfrm>
            <a:off x="2286000" y="3124080"/>
            <a:ext cx="6169320" cy="189108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1" i="0" u="none" strike="noStrike" cap="small">
                <a:solidFill>
                  <a:srgbClr val="575F6D"/>
                </a:solidFill>
                <a:latin typeface="Century Schoolbook"/>
                <a:ea typeface="Century Schoolbook"/>
                <a:cs typeface="Century Schoolbook"/>
                <a:sym typeface="Century Schoolbook"/>
              </a:rPr>
              <a:t>Excepciones</a:t>
            </a:r>
            <a:endParaRPr sz="3000" b="0" i="0" u="none" strike="noStrike" cap="none">
              <a:latin typeface="Arial"/>
              <a:ea typeface="Arial"/>
              <a:cs typeface="Arial"/>
              <a:sym typeface="Arial"/>
            </a:endParaRPr>
          </a:p>
        </p:txBody>
      </p:sp>
      <p:sp>
        <p:nvSpPr>
          <p:cNvPr id="336" name="Google Shape;336;p1"/>
          <p:cNvSpPr/>
          <p:nvPr/>
        </p:nvSpPr>
        <p:spPr>
          <a:xfrm>
            <a:off x="2286000" y="5003640"/>
            <a:ext cx="6169320" cy="136872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575F6D"/>
              </a:buClr>
              <a:buSzPts val="1800"/>
              <a:buFont typeface="Century Schoolbook"/>
              <a:buNone/>
            </a:pPr>
            <a:r>
              <a:rPr lang="es-AR" sz="1800" b="1" i="0" u="none" strike="noStrike" cap="none">
                <a:solidFill>
                  <a:srgbClr val="575F6D"/>
                </a:solidFill>
                <a:latin typeface="Century Schoolbook"/>
                <a:ea typeface="Century Schoolbook"/>
                <a:cs typeface="Century Schoolbook"/>
                <a:sym typeface="Century Schoolbook"/>
              </a:rPr>
              <a:t>CYPLP</a:t>
            </a:r>
            <a:endParaRPr sz="1800" b="0" i="0" u="none" strike="noStrike" cap="none">
              <a:latin typeface="Arial"/>
              <a:ea typeface="Arial"/>
              <a:cs typeface="Arial"/>
              <a:sym typeface="Arial"/>
            </a:endParaRPr>
          </a:p>
        </p:txBody>
      </p:sp>
      <p:sp>
        <p:nvSpPr>
          <p:cNvPr id="337" name="Google Shape;337;p1"/>
          <p:cNvSpPr/>
          <p:nvPr/>
        </p:nvSpPr>
        <p:spPr>
          <a:xfrm>
            <a:off x="8115480" y="6336000"/>
            <a:ext cx="1221120" cy="3888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1</a:t>
            </a:fld>
            <a:endParaRPr sz="1800" b="0" i="0" u="none" strike="noStrike" cap="none">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2"/>
        <p:cNvGrpSpPr/>
        <p:nvPr/>
      </p:nvGrpSpPr>
      <p:grpSpPr>
        <a:xfrm>
          <a:off x="0" y="0"/>
          <a:ext cx="0" cy="0"/>
          <a:chOff x="0" y="0"/>
          <a:chExt cx="0" cy="0"/>
        </a:xfrm>
      </p:grpSpPr>
      <p:sp>
        <p:nvSpPr>
          <p:cNvPr id="343" name="Google Shape;343;p2"/>
          <p:cNvSpPr/>
          <p:nvPr/>
        </p:nvSpPr>
        <p:spPr>
          <a:xfrm>
            <a:off x="385200" y="-9900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4400"/>
              <a:buFont typeface="Century Schoolbook"/>
              <a:buNone/>
            </a:pPr>
            <a:r>
              <a:rPr lang="es-AR" sz="4400" b="0" i="0" u="none" strike="noStrike" cap="small">
                <a:solidFill>
                  <a:srgbClr val="575F6D"/>
                </a:solidFill>
                <a:latin typeface="Century Schoolbook"/>
                <a:ea typeface="Century Schoolbook"/>
                <a:cs typeface="Century Schoolbook"/>
                <a:sym typeface="Century Schoolbook"/>
              </a:rPr>
              <a:t>Excepciones</a:t>
            </a:r>
            <a:endParaRPr sz="4400" b="0" i="0" u="none" strike="noStrike" cap="none">
              <a:latin typeface="Arial"/>
              <a:ea typeface="Arial"/>
              <a:cs typeface="Arial"/>
              <a:sym typeface="Arial"/>
            </a:endParaRPr>
          </a:p>
        </p:txBody>
      </p:sp>
      <p:sp>
        <p:nvSpPr>
          <p:cNvPr id="344" name="Google Shape;344;p2"/>
          <p:cNvSpPr/>
          <p:nvPr/>
        </p:nvSpPr>
        <p:spPr>
          <a:xfrm>
            <a:off x="385200" y="1341360"/>
            <a:ext cx="8269560" cy="2297160"/>
          </a:xfrm>
          <a:prstGeom prst="rect">
            <a:avLst/>
          </a:prstGeom>
          <a:noFill/>
          <a:ln>
            <a:noFill/>
          </a:ln>
        </p:spPr>
        <p:txBody>
          <a:bodyPr spcFirstLastPara="1" wrap="square" lIns="90000" tIns="45000" rIns="90000" bIns="45000" anchor="t" anchorCtr="0">
            <a:noAutofit/>
          </a:bodyPr>
          <a:lstStyle/>
          <a:p>
            <a:pPr marL="0" marR="0" lvl="0" indent="0" algn="just" rtl="0">
              <a:lnSpc>
                <a:spcPct val="100000"/>
              </a:lnSpc>
              <a:spcBef>
                <a:spcPts val="0"/>
              </a:spcBef>
              <a:spcAft>
                <a:spcPts val="0"/>
              </a:spcAft>
              <a:buClr>
                <a:srgbClr val="000000"/>
              </a:buClr>
              <a:buSzPts val="2400"/>
              <a:buFont typeface="Arial"/>
              <a:buNone/>
            </a:pPr>
            <a:r>
              <a:rPr lang="es-AR" sz="2400" b="0" i="0" u="none" strike="noStrike" cap="none">
                <a:solidFill>
                  <a:srgbClr val="000000"/>
                </a:solidFill>
                <a:latin typeface="Arial"/>
                <a:ea typeface="Arial"/>
                <a:cs typeface="Arial"/>
                <a:sym typeface="Arial"/>
              </a:rPr>
              <a:t>Los programadores a menudo escriben programas bajo la </a:t>
            </a:r>
            <a:r>
              <a:rPr lang="es-AR" sz="2400" b="1" i="1" u="none" strike="noStrike" cap="none">
                <a:solidFill>
                  <a:srgbClr val="000000"/>
                </a:solidFill>
                <a:latin typeface="Arial"/>
                <a:ea typeface="Arial"/>
                <a:cs typeface="Arial"/>
                <a:sym typeface="Arial"/>
              </a:rPr>
              <a:t>suposición optimista de que nada saldrá mal</a:t>
            </a:r>
            <a:r>
              <a:rPr lang="es-AR" sz="2400" b="0" i="0" u="none" strike="noStrike" cap="none">
                <a:solidFill>
                  <a:srgbClr val="000000"/>
                </a:solidFill>
                <a:latin typeface="Arial"/>
                <a:ea typeface="Arial"/>
                <a:cs typeface="Arial"/>
                <a:sym typeface="Arial"/>
              </a:rPr>
              <a:t> cuando se ejecute el programa.</a:t>
            </a:r>
            <a:r>
              <a:rPr lang="es-AR" sz="2400" b="1" i="1" u="none" strike="noStrike" cap="none">
                <a:solidFill>
                  <a:srgbClr val="000000"/>
                </a:solidFill>
                <a:latin typeface="Arial"/>
                <a:ea typeface="Arial"/>
                <a:cs typeface="Arial"/>
                <a:sym typeface="Arial"/>
              </a:rPr>
              <a:t> Pero esto no es así.</a:t>
            </a:r>
            <a:endParaRPr sz="2400" b="0" i="0" u="none" strike="noStrike" cap="none">
              <a:latin typeface="Arial"/>
              <a:ea typeface="Arial"/>
              <a:cs typeface="Arial"/>
              <a:sym typeface="Arial"/>
            </a:endParaRPr>
          </a:p>
        </p:txBody>
      </p:sp>
      <p:sp>
        <p:nvSpPr>
          <p:cNvPr id="345" name="Google Shape;345;p2"/>
          <p:cNvSpPr/>
          <p:nvPr/>
        </p:nvSpPr>
        <p:spPr>
          <a:xfrm>
            <a:off x="7841520" y="57654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2</a:t>
            </a:fld>
            <a:endParaRPr sz="1800" b="0" i="0" u="none" strike="noStrike" cap="none">
              <a:latin typeface="Arial"/>
              <a:ea typeface="Arial"/>
              <a:cs typeface="Arial"/>
              <a:sym typeface="Arial"/>
            </a:endParaRPr>
          </a:p>
        </p:txBody>
      </p:sp>
      <p:pic>
        <p:nvPicPr>
          <p:cNvPr id="346" name="Google Shape;346;p2"/>
          <p:cNvPicPr preferRelativeResize="0"/>
          <p:nvPr/>
        </p:nvPicPr>
        <p:blipFill rotWithShape="1">
          <a:blip r:embed="rId3">
            <a:alphaModFix/>
          </a:blip>
          <a:srcRect/>
          <a:stretch/>
        </p:blipFill>
        <p:spPr>
          <a:xfrm>
            <a:off x="3443400" y="2908080"/>
            <a:ext cx="2257200" cy="2018880"/>
          </a:xfrm>
          <a:prstGeom prst="rect">
            <a:avLst/>
          </a:prstGeom>
          <a:noFill/>
          <a:ln>
            <a:noFill/>
          </a:ln>
        </p:spPr>
      </p:pic>
      <p:sp>
        <p:nvSpPr>
          <p:cNvPr id="347" name="Google Shape;347;p2"/>
          <p:cNvSpPr/>
          <p:nvPr/>
        </p:nvSpPr>
        <p:spPr>
          <a:xfrm>
            <a:off x="323640" y="3303000"/>
            <a:ext cx="3177000" cy="1523520"/>
          </a:xfrm>
          <a:prstGeom prst="cloud">
            <a:avLst/>
          </a:prstGeom>
          <a:solidFill>
            <a:srgbClr val="4F81BD"/>
          </a:solidFill>
          <a:ln w="25400" cap="flat" cmpd="sng">
            <a:solidFill>
              <a:srgbClr val="223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r>
              <a:rPr lang="es-AR" sz="1800" b="0" i="0" u="none" strike="noStrike" cap="none">
                <a:solidFill>
                  <a:srgbClr val="FFFFFF"/>
                </a:solidFill>
                <a:latin typeface="Arial"/>
                <a:ea typeface="Arial"/>
                <a:cs typeface="Arial"/>
                <a:sym typeface="Arial"/>
              </a:rPr>
              <a:t>desbordamiento de pila</a:t>
            </a:r>
            <a:endParaRPr sz="1800" b="0" i="0" u="none" strike="noStrike" cap="none">
              <a:latin typeface="Arial"/>
              <a:ea typeface="Arial"/>
              <a:cs typeface="Arial"/>
              <a:sym typeface="Arial"/>
            </a:endParaRPr>
          </a:p>
        </p:txBody>
      </p:sp>
      <p:sp>
        <p:nvSpPr>
          <p:cNvPr id="348" name="Google Shape;348;p2"/>
          <p:cNvSpPr/>
          <p:nvPr/>
        </p:nvSpPr>
        <p:spPr>
          <a:xfrm>
            <a:off x="5571360" y="2540880"/>
            <a:ext cx="3177000" cy="1523520"/>
          </a:xfrm>
          <a:prstGeom prst="cloud">
            <a:avLst/>
          </a:prstGeom>
          <a:solidFill>
            <a:srgbClr val="4F81BD"/>
          </a:solidFill>
          <a:ln w="25400" cap="flat" cmpd="sng">
            <a:solidFill>
              <a:srgbClr val="223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r>
              <a:rPr lang="es-AR" sz="1800" b="0" i="0" u="none" strike="noStrike" cap="none">
                <a:solidFill>
                  <a:srgbClr val="FFFFFF"/>
                </a:solidFill>
                <a:latin typeface="Arial"/>
                <a:ea typeface="Arial"/>
                <a:cs typeface="Arial"/>
                <a:sym typeface="Arial"/>
              </a:rPr>
              <a:t>división por cero</a:t>
            </a:r>
            <a:endParaRPr sz="1800" b="0" i="0" u="none" strike="noStrike" cap="none">
              <a:latin typeface="Arial"/>
              <a:ea typeface="Arial"/>
              <a:cs typeface="Arial"/>
              <a:sym typeface="Arial"/>
            </a:endParaRPr>
          </a:p>
        </p:txBody>
      </p:sp>
      <p:sp>
        <p:nvSpPr>
          <p:cNvPr id="349" name="Google Shape;349;p2"/>
          <p:cNvSpPr/>
          <p:nvPr/>
        </p:nvSpPr>
        <p:spPr>
          <a:xfrm>
            <a:off x="1531080" y="4999320"/>
            <a:ext cx="3177000" cy="1523520"/>
          </a:xfrm>
          <a:prstGeom prst="cloud">
            <a:avLst/>
          </a:prstGeom>
          <a:solidFill>
            <a:srgbClr val="4F81BD"/>
          </a:solidFill>
          <a:ln w="25400" cap="flat" cmpd="sng">
            <a:solidFill>
              <a:srgbClr val="223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r>
              <a:rPr lang="es-AR" sz="1800" b="0" i="0" u="none" strike="noStrike" cap="none">
                <a:solidFill>
                  <a:srgbClr val="FFFFFF"/>
                </a:solidFill>
                <a:latin typeface="Arial"/>
                <a:ea typeface="Arial"/>
                <a:cs typeface="Arial"/>
                <a:sym typeface="Arial"/>
              </a:rPr>
              <a:t>acceder a zona de memoria </a:t>
            </a:r>
            <a:endParaRPr sz="1800" b="0" i="0" u="none" strike="noStrike" cap="none">
              <a:latin typeface="Arial"/>
              <a:ea typeface="Arial"/>
              <a:cs typeface="Arial"/>
              <a:sym typeface="Arial"/>
            </a:endParaRPr>
          </a:p>
          <a:p>
            <a:pPr marL="0" marR="0" lvl="0" indent="0" algn="ctr" rtl="0">
              <a:lnSpc>
                <a:spcPct val="100000"/>
              </a:lnSpc>
              <a:spcBef>
                <a:spcPts val="0"/>
              </a:spcBef>
              <a:spcAft>
                <a:spcPts val="0"/>
              </a:spcAft>
              <a:buClr>
                <a:srgbClr val="FFFFFF"/>
              </a:buClr>
              <a:buSzPts val="1800"/>
              <a:buFont typeface="Arial"/>
              <a:buNone/>
            </a:pPr>
            <a:r>
              <a:rPr lang="es-AR" sz="1800" b="0" i="0" u="none" strike="noStrike" cap="none">
                <a:solidFill>
                  <a:srgbClr val="FFFFFF"/>
                </a:solidFill>
                <a:latin typeface="Arial"/>
                <a:ea typeface="Arial"/>
                <a:cs typeface="Arial"/>
                <a:sym typeface="Arial"/>
              </a:rPr>
              <a:t>no permitida</a:t>
            </a:r>
            <a:endParaRPr sz="1800" b="0" i="0" u="none" strike="noStrike" cap="none">
              <a:latin typeface="Arial"/>
              <a:ea typeface="Arial"/>
              <a:cs typeface="Arial"/>
              <a:sym typeface="Arial"/>
            </a:endParaRPr>
          </a:p>
        </p:txBody>
      </p:sp>
      <p:sp>
        <p:nvSpPr>
          <p:cNvPr id="350" name="Google Shape;350;p2"/>
          <p:cNvSpPr/>
          <p:nvPr/>
        </p:nvSpPr>
        <p:spPr>
          <a:xfrm>
            <a:off x="5614200" y="4942080"/>
            <a:ext cx="3177000" cy="1796760"/>
          </a:xfrm>
          <a:prstGeom prst="cloud">
            <a:avLst/>
          </a:prstGeom>
          <a:solidFill>
            <a:srgbClr val="4F81BD"/>
          </a:solidFill>
          <a:ln w="25400" cap="flat" cmpd="sng">
            <a:solidFill>
              <a:srgbClr val="223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r>
              <a:rPr lang="es-AR" sz="1800" b="0" i="0" u="none" strike="noStrike" cap="none">
                <a:solidFill>
                  <a:srgbClr val="FFFFFF"/>
                </a:solidFill>
                <a:latin typeface="Arial"/>
                <a:ea typeface="Arial"/>
                <a:cs typeface="Arial"/>
                <a:sym typeface="Arial"/>
              </a:rPr>
              <a:t>índices fuera de rango</a:t>
            </a:r>
            <a:endParaRPr sz="1800" b="0" i="0" u="none" strike="noStrike" cap="none">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5"/>
        <p:cNvGrpSpPr/>
        <p:nvPr/>
      </p:nvGrpSpPr>
      <p:grpSpPr>
        <a:xfrm>
          <a:off x="0" y="0"/>
          <a:ext cx="0" cy="0"/>
          <a:chOff x="0" y="0"/>
          <a:chExt cx="0" cy="0"/>
        </a:xfrm>
      </p:grpSpPr>
      <p:sp>
        <p:nvSpPr>
          <p:cNvPr id="356" name="Google Shape;356;p3"/>
          <p:cNvSpPr/>
          <p:nvPr/>
        </p:nvSpPr>
        <p:spPr>
          <a:xfrm>
            <a:off x="457200" y="27468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4400"/>
              <a:buFont typeface="Century Schoolbook"/>
              <a:buNone/>
            </a:pPr>
            <a:r>
              <a:rPr lang="es-AR" sz="4400" b="0" i="0" u="none" strike="noStrike" cap="small">
                <a:solidFill>
                  <a:srgbClr val="575F6D"/>
                </a:solidFill>
                <a:latin typeface="Century Schoolbook"/>
                <a:ea typeface="Century Schoolbook"/>
                <a:cs typeface="Century Schoolbook"/>
                <a:sym typeface="Century Schoolbook"/>
              </a:rPr>
              <a:t>Excepciones</a:t>
            </a:r>
            <a:endParaRPr sz="4400" b="0" i="0" u="none" strike="noStrike" cap="none">
              <a:latin typeface="Arial"/>
              <a:ea typeface="Arial"/>
              <a:cs typeface="Arial"/>
              <a:sym typeface="Arial"/>
            </a:endParaRPr>
          </a:p>
        </p:txBody>
      </p:sp>
      <p:sp>
        <p:nvSpPr>
          <p:cNvPr id="357" name="Google Shape;357;p3"/>
          <p:cNvSpPr/>
          <p:nvPr/>
        </p:nvSpPr>
        <p:spPr>
          <a:xfrm>
            <a:off x="457200" y="1413360"/>
            <a:ext cx="8241120" cy="5057640"/>
          </a:xfrm>
          <a:prstGeom prst="rect">
            <a:avLst/>
          </a:prstGeom>
          <a:noFill/>
          <a:ln>
            <a:noFill/>
          </a:ln>
        </p:spPr>
        <p:txBody>
          <a:bodyPr spcFirstLastPara="1" wrap="square" lIns="90000" tIns="45000" rIns="90000" bIns="45000" anchor="t" anchorCtr="0">
            <a:noAutofit/>
          </a:bodyPr>
          <a:lstStyle/>
          <a:p>
            <a:pPr marL="0" marR="0" lvl="0" indent="0" algn="just" rtl="0">
              <a:lnSpc>
                <a:spcPct val="100000"/>
              </a:lnSpc>
              <a:spcBef>
                <a:spcPts val="0"/>
              </a:spcBef>
              <a:spcAft>
                <a:spcPts val="0"/>
              </a:spcAft>
              <a:buClr>
                <a:srgbClr val="000000"/>
              </a:buClr>
              <a:buSzPts val="2400"/>
              <a:buFont typeface="Century Schoolbook"/>
              <a:buNone/>
            </a:pPr>
            <a:r>
              <a:rPr lang="es-AR" sz="2400" b="0" i="0" u="none" strike="noStrike" cap="none">
                <a:solidFill>
                  <a:srgbClr val="000000"/>
                </a:solidFill>
                <a:latin typeface="Century Schoolbook"/>
                <a:ea typeface="Century Schoolbook"/>
                <a:cs typeface="Century Schoolbook"/>
                <a:sym typeface="Century Schoolbook"/>
              </a:rPr>
              <a:t>Estas cuestiones pueden ser atendidas por</a:t>
            </a:r>
            <a:endParaRPr sz="2400" b="0" i="0" u="none" strike="noStrike" cap="none">
              <a:latin typeface="Arial"/>
              <a:ea typeface="Arial"/>
              <a:cs typeface="Arial"/>
              <a:sym typeface="Arial"/>
            </a:endParaRPr>
          </a:p>
          <a:p>
            <a:pPr marL="0" marR="0" lvl="0" indent="0" algn="just" rtl="0">
              <a:lnSpc>
                <a:spcPct val="100000"/>
              </a:lnSpc>
              <a:spcBef>
                <a:spcPts val="0"/>
              </a:spcBef>
              <a:spcAft>
                <a:spcPts val="0"/>
              </a:spcAft>
              <a:buSzPts val="2400"/>
              <a:buFont typeface="Arial"/>
              <a:buNone/>
            </a:pPr>
            <a:endParaRPr sz="2400" b="0" i="0" u="none" strike="noStrike" cap="none">
              <a:latin typeface="Arial"/>
              <a:ea typeface="Arial"/>
              <a:cs typeface="Arial"/>
              <a:sym typeface="Arial"/>
            </a:endParaRPr>
          </a:p>
          <a:p>
            <a:pPr marL="343080" marR="0" lvl="0" indent="-343080" algn="l" rtl="0">
              <a:lnSpc>
                <a:spcPct val="100000"/>
              </a:lnSpc>
              <a:spcBef>
                <a:spcPts val="0"/>
              </a:spcBef>
              <a:spcAft>
                <a:spcPts val="0"/>
              </a:spcAft>
              <a:buClr>
                <a:srgbClr val="000000"/>
              </a:buClr>
              <a:buSzPts val="2400"/>
              <a:buFont typeface="Noto Sans Symbols"/>
              <a:buChar char="▪"/>
            </a:pPr>
            <a:r>
              <a:rPr lang="es-AR" sz="2400" b="1" i="1" u="none" strike="noStrike" cap="none">
                <a:solidFill>
                  <a:srgbClr val="000000"/>
                </a:solidFill>
                <a:latin typeface="Century Schoolbook"/>
                <a:ea typeface="Century Schoolbook"/>
                <a:cs typeface="Century Schoolbook"/>
                <a:sym typeface="Century Schoolbook"/>
              </a:rPr>
              <a:t>mecanismos del lenguaje </a:t>
            </a:r>
            <a:r>
              <a:rPr lang="es-AR" sz="2400" b="0" i="1" u="none" strike="noStrike" cap="none">
                <a:solidFill>
                  <a:srgbClr val="000000"/>
                </a:solidFill>
                <a:latin typeface="Century Schoolbook"/>
                <a:ea typeface="Century Schoolbook"/>
                <a:cs typeface="Century Schoolbook"/>
                <a:sym typeface="Century Schoolbook"/>
              </a:rPr>
              <a:t>(construcciones especializadas, excepciones)</a:t>
            </a:r>
            <a:endParaRPr sz="2400" b="0" i="0" u="none" strike="noStrike" cap="none">
              <a:latin typeface="Arial"/>
              <a:ea typeface="Arial"/>
              <a:cs typeface="Arial"/>
              <a:sym typeface="Arial"/>
            </a:endParaRPr>
          </a:p>
          <a:p>
            <a:pPr marL="343080" marR="0" lvl="0" indent="-343080" algn="l" rtl="0">
              <a:lnSpc>
                <a:spcPct val="100000"/>
              </a:lnSpc>
              <a:spcBef>
                <a:spcPts val="0"/>
              </a:spcBef>
              <a:spcAft>
                <a:spcPts val="0"/>
              </a:spcAft>
              <a:buClr>
                <a:srgbClr val="000000"/>
              </a:buClr>
              <a:buSzPts val="2400"/>
              <a:buFont typeface="Noto Sans Symbols"/>
              <a:buChar char="▪"/>
            </a:pPr>
            <a:r>
              <a:rPr lang="es-AR" sz="2400" b="1" i="1" u="none" strike="noStrike" cap="none">
                <a:solidFill>
                  <a:srgbClr val="000000"/>
                </a:solidFill>
                <a:latin typeface="Century Schoolbook"/>
                <a:ea typeface="Century Schoolbook"/>
                <a:cs typeface="Century Schoolbook"/>
                <a:sym typeface="Century Schoolbook"/>
              </a:rPr>
              <a:t>mecanismos de hardware</a:t>
            </a:r>
            <a:r>
              <a:rPr lang="es-AR" sz="2400" b="1" i="0" u="none" strike="noStrike" cap="none">
                <a:solidFill>
                  <a:srgbClr val="000000"/>
                </a:solidFill>
                <a:latin typeface="Century Schoolbook"/>
                <a:ea typeface="Century Schoolbook"/>
                <a:cs typeface="Century Schoolbook"/>
                <a:sym typeface="Century Schoolbook"/>
              </a:rPr>
              <a:t> </a:t>
            </a:r>
            <a:r>
              <a:rPr lang="es-AR" sz="2400" b="0" i="0" u="none" strike="noStrike" cap="none">
                <a:solidFill>
                  <a:srgbClr val="000000"/>
                </a:solidFill>
                <a:latin typeface="Century Schoolbook"/>
                <a:ea typeface="Century Schoolbook"/>
                <a:cs typeface="Century Schoolbook"/>
                <a:sym typeface="Century Schoolbook"/>
              </a:rPr>
              <a:t>(interrupciones)</a:t>
            </a:r>
            <a:endParaRPr sz="2400" b="0" i="0" u="none" strike="noStrike" cap="none">
              <a:latin typeface="Arial"/>
              <a:ea typeface="Arial"/>
              <a:cs typeface="Arial"/>
              <a:sym typeface="Arial"/>
            </a:endParaRPr>
          </a:p>
          <a:p>
            <a:pPr marL="343080" marR="0" lvl="0" indent="-343080" algn="l" rtl="0">
              <a:lnSpc>
                <a:spcPct val="100000"/>
              </a:lnSpc>
              <a:spcBef>
                <a:spcPts val="0"/>
              </a:spcBef>
              <a:spcAft>
                <a:spcPts val="0"/>
              </a:spcAft>
              <a:buClr>
                <a:srgbClr val="000000"/>
              </a:buClr>
              <a:buSzPts val="2400"/>
              <a:buFont typeface="Noto Sans Symbols"/>
              <a:buChar char="▪"/>
            </a:pPr>
            <a:r>
              <a:rPr lang="es-AR" sz="2400" b="1" i="1" u="none" strike="noStrike" cap="none">
                <a:solidFill>
                  <a:srgbClr val="000000"/>
                </a:solidFill>
                <a:latin typeface="Century Schoolbook"/>
                <a:ea typeface="Century Schoolbook"/>
                <a:cs typeface="Century Schoolbook"/>
                <a:sym typeface="Century Schoolbook"/>
              </a:rPr>
              <a:t>mecanismos del Sistema Operativo</a:t>
            </a:r>
            <a:r>
              <a:rPr lang="es-AR" sz="2400" b="0" i="0" u="none" strike="noStrike" cap="none">
                <a:solidFill>
                  <a:srgbClr val="000000"/>
                </a:solidFill>
                <a:latin typeface="Century Schoolbook"/>
                <a:ea typeface="Century Schoolbook"/>
                <a:cs typeface="Century Schoolbook"/>
                <a:sym typeface="Century Schoolbook"/>
              </a:rPr>
              <a:t> </a:t>
            </a:r>
            <a:r>
              <a:rPr lang="es-AR" sz="2400" b="0" i="1" u="none" strike="noStrike" cap="none">
                <a:solidFill>
                  <a:srgbClr val="000000"/>
                </a:solidFill>
                <a:latin typeface="Century Schoolbook"/>
                <a:ea typeface="Century Schoolbook"/>
                <a:cs typeface="Century Schoolbook"/>
                <a:sym typeface="Century Schoolbook"/>
              </a:rPr>
              <a:t>(comunicación entre procesos (IPC), señales)</a:t>
            </a:r>
            <a:endParaRPr sz="2400" b="0" i="0" u="none" strike="noStrike" cap="none">
              <a:latin typeface="Arial"/>
              <a:ea typeface="Arial"/>
              <a:cs typeface="Arial"/>
              <a:sym typeface="Arial"/>
            </a:endParaRPr>
          </a:p>
        </p:txBody>
      </p:sp>
      <p:pic>
        <p:nvPicPr>
          <p:cNvPr id="358" name="Google Shape;358;p3"/>
          <p:cNvPicPr preferRelativeResize="0"/>
          <p:nvPr/>
        </p:nvPicPr>
        <p:blipFill rotWithShape="1">
          <a:blip r:embed="rId3">
            <a:alphaModFix/>
          </a:blip>
          <a:srcRect/>
          <a:stretch/>
        </p:blipFill>
        <p:spPr>
          <a:xfrm>
            <a:off x="3071160" y="4452120"/>
            <a:ext cx="2156040" cy="2156040"/>
          </a:xfrm>
          <a:prstGeom prst="rect">
            <a:avLst/>
          </a:prstGeom>
          <a:noFill/>
          <a:ln>
            <a:noFill/>
          </a:ln>
        </p:spPr>
      </p:pic>
      <p:sp>
        <p:nvSpPr>
          <p:cNvPr id="359" name="Google Shape;359;p3"/>
          <p:cNvSpPr/>
          <p:nvPr/>
        </p:nvSpPr>
        <p:spPr>
          <a:xfrm>
            <a:off x="8200800" y="58374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3</a:t>
            </a:fld>
            <a:endParaRPr sz="1800" b="0" i="0" u="none" strike="noStrike" cap="none">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4"/>
        <p:cNvGrpSpPr/>
        <p:nvPr/>
      </p:nvGrpSpPr>
      <p:grpSpPr>
        <a:xfrm>
          <a:off x="0" y="0"/>
          <a:ext cx="0" cy="0"/>
          <a:chOff x="0" y="0"/>
          <a:chExt cx="0" cy="0"/>
        </a:xfrm>
      </p:grpSpPr>
      <p:sp>
        <p:nvSpPr>
          <p:cNvPr id="365" name="Google Shape;365;p4"/>
          <p:cNvSpPr/>
          <p:nvPr/>
        </p:nvSpPr>
        <p:spPr>
          <a:xfrm>
            <a:off x="457200" y="27468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4400"/>
              <a:buFont typeface="Century Schoolbook"/>
              <a:buNone/>
            </a:pPr>
            <a:r>
              <a:rPr lang="es-AR" sz="4400" b="0" i="0" u="none" strike="noStrike" cap="small">
                <a:solidFill>
                  <a:srgbClr val="575F6D"/>
                </a:solidFill>
                <a:latin typeface="Century Schoolbook"/>
                <a:ea typeface="Century Schoolbook"/>
                <a:cs typeface="Century Schoolbook"/>
                <a:sym typeface="Century Schoolbook"/>
              </a:rPr>
              <a:t>Excepciones</a:t>
            </a:r>
            <a:endParaRPr sz="4400" b="0" i="0" u="none" strike="noStrike" cap="none">
              <a:latin typeface="Arial"/>
              <a:ea typeface="Arial"/>
              <a:cs typeface="Arial"/>
              <a:sym typeface="Arial"/>
            </a:endParaRPr>
          </a:p>
        </p:txBody>
      </p:sp>
      <p:sp>
        <p:nvSpPr>
          <p:cNvPr id="366" name="Google Shape;366;p4"/>
          <p:cNvSpPr/>
          <p:nvPr/>
        </p:nvSpPr>
        <p:spPr>
          <a:xfrm>
            <a:off x="457200" y="1413360"/>
            <a:ext cx="8241120" cy="5057640"/>
          </a:xfrm>
          <a:prstGeom prst="rect">
            <a:avLst/>
          </a:prstGeom>
          <a:noFill/>
          <a:ln>
            <a:noFill/>
          </a:ln>
        </p:spPr>
        <p:txBody>
          <a:bodyPr spcFirstLastPara="1" wrap="square" lIns="90000" tIns="45000" rIns="90000" bIns="45000" anchor="t" anchorCtr="0">
            <a:noAutofit/>
          </a:bodyPr>
          <a:lstStyle/>
          <a:p>
            <a:pPr marL="272520" marR="0" lvl="0" indent="-270000" algn="ctr" rtl="0">
              <a:lnSpc>
                <a:spcPct val="100000"/>
              </a:lnSpc>
              <a:spcBef>
                <a:spcPts val="0"/>
              </a:spcBef>
              <a:spcAft>
                <a:spcPts val="0"/>
              </a:spcAft>
              <a:buClr>
                <a:srgbClr val="000000"/>
              </a:buClr>
              <a:buSzPts val="2400"/>
              <a:buFont typeface="Century Schoolbook"/>
              <a:buNone/>
            </a:pPr>
            <a:r>
              <a:rPr lang="es-AR" sz="2400" b="1" i="0" u="none" strike="noStrike" cap="none">
                <a:solidFill>
                  <a:srgbClr val="000000"/>
                </a:solidFill>
                <a:latin typeface="Century Schoolbook"/>
                <a:ea typeface="Century Schoolbook"/>
                <a:cs typeface="Century Schoolbook"/>
                <a:sym typeface="Century Schoolbook"/>
              </a:rPr>
              <a:t>¿Qué es una excepción?</a:t>
            </a:r>
            <a:endParaRPr sz="2400" b="0" i="0" u="none" strike="noStrike" cap="none">
              <a:latin typeface="Arial"/>
              <a:ea typeface="Arial"/>
              <a:cs typeface="Arial"/>
              <a:sym typeface="Arial"/>
            </a:endParaRPr>
          </a:p>
          <a:p>
            <a:pPr marL="272520" marR="0" lvl="0" indent="-270000" algn="just" rtl="0">
              <a:lnSpc>
                <a:spcPct val="100000"/>
              </a:lnSpc>
              <a:spcBef>
                <a:spcPts val="0"/>
              </a:spcBef>
              <a:spcAft>
                <a:spcPts val="0"/>
              </a:spcAft>
              <a:buSzPts val="2400"/>
              <a:buFont typeface="Arial"/>
              <a:buNone/>
            </a:pPr>
            <a:endParaRPr sz="2400" b="0" i="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Century Schoolbook"/>
              <a:buNone/>
            </a:pPr>
            <a:r>
              <a:rPr lang="es-AR" sz="2400" b="1" i="1" u="none" strike="noStrike" cap="none">
                <a:solidFill>
                  <a:srgbClr val="000000"/>
                </a:solidFill>
                <a:latin typeface="Century Schoolbook"/>
                <a:ea typeface="Century Schoolbook"/>
                <a:cs typeface="Century Schoolbook"/>
                <a:sym typeface="Century Schoolbook"/>
              </a:rPr>
              <a:t>Condición inesperada o inusual, que ocurre durante la ejecución del programa y no puede ser manejada en el contexto local. </a:t>
            </a:r>
            <a:endParaRPr sz="2400" b="0" i="0" u="none" strike="noStrike" cap="none">
              <a:latin typeface="Arial"/>
              <a:ea typeface="Arial"/>
              <a:cs typeface="Arial"/>
              <a:sym typeface="Arial"/>
            </a:endParaRPr>
          </a:p>
          <a:p>
            <a:pPr marL="0" marR="0" lvl="0" indent="0" algn="just" rtl="0">
              <a:lnSpc>
                <a:spcPct val="100000"/>
              </a:lnSpc>
              <a:spcBef>
                <a:spcPts val="0"/>
              </a:spcBef>
              <a:spcAft>
                <a:spcPts val="0"/>
              </a:spcAft>
              <a:buSzPts val="2400"/>
              <a:buFont typeface="Arial"/>
              <a:buNone/>
            </a:pPr>
            <a:endParaRPr sz="2400" b="0" i="0" u="none" strike="noStrike" cap="none">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Century Schoolbook"/>
              <a:buNone/>
            </a:pPr>
            <a:r>
              <a:rPr lang="es-AR" sz="2400" b="0" i="0" u="none" strike="noStrike" cap="none">
                <a:solidFill>
                  <a:srgbClr val="000000"/>
                </a:solidFill>
                <a:latin typeface="Century Schoolbook"/>
                <a:ea typeface="Century Schoolbook"/>
                <a:cs typeface="Century Schoolbook"/>
                <a:sym typeface="Century Schoolbook"/>
              </a:rPr>
              <a:t>Denota un </a:t>
            </a:r>
            <a:r>
              <a:rPr lang="es-AR" sz="2400" b="1" i="0" u="none" strike="noStrike" cap="none">
                <a:solidFill>
                  <a:srgbClr val="000000"/>
                </a:solidFill>
                <a:latin typeface="Century Schoolbook"/>
                <a:ea typeface="Century Schoolbook"/>
                <a:cs typeface="Century Schoolbook"/>
                <a:sym typeface="Century Schoolbook"/>
              </a:rPr>
              <a:t>comportamiento anómalo e indeseable </a:t>
            </a:r>
            <a:r>
              <a:rPr lang="es-AR" sz="2400" b="0" i="0" u="none" strike="noStrike" cap="none">
                <a:solidFill>
                  <a:srgbClr val="000000"/>
                </a:solidFill>
                <a:latin typeface="Century Schoolbook"/>
                <a:ea typeface="Century Schoolbook"/>
                <a:cs typeface="Century Schoolbook"/>
                <a:sym typeface="Century Schoolbook"/>
              </a:rPr>
              <a:t>que supuestamente </a:t>
            </a:r>
            <a:r>
              <a:rPr lang="es-AR" sz="2400" b="1" i="0" u="none" strike="noStrike" cap="none">
                <a:solidFill>
                  <a:srgbClr val="000000"/>
                </a:solidFill>
                <a:latin typeface="Century Schoolbook"/>
                <a:ea typeface="Century Schoolbook"/>
                <a:cs typeface="Century Schoolbook"/>
                <a:sym typeface="Century Schoolbook"/>
              </a:rPr>
              <a:t>ocurre raramente</a:t>
            </a:r>
            <a:r>
              <a:rPr lang="es-AR" sz="2400" b="0" i="0" u="none" strike="noStrike" cap="none">
                <a:solidFill>
                  <a:srgbClr val="000000"/>
                </a:solidFill>
                <a:latin typeface="Century Schoolbook"/>
                <a:ea typeface="Century Schoolbook"/>
                <a:cs typeface="Century Schoolbook"/>
                <a:sym typeface="Century Schoolbook"/>
              </a:rPr>
              <a:t>, pero </a:t>
            </a:r>
            <a:r>
              <a:rPr lang="es-AR" sz="2400" b="1" i="0" u="sng" strike="noStrike" cap="none">
                <a:solidFill>
                  <a:srgbClr val="000000"/>
                </a:solidFill>
                <a:latin typeface="Century Schoolbook"/>
                <a:ea typeface="Century Schoolbook"/>
                <a:cs typeface="Century Schoolbook"/>
                <a:sym typeface="Century Schoolbook"/>
              </a:rPr>
              <a:t>es necesario controlarlo.</a:t>
            </a:r>
            <a:r>
              <a:rPr lang="es-AR" sz="2400" b="1" i="0" u="none" strike="noStrike" cap="none">
                <a:solidFill>
                  <a:srgbClr val="000000"/>
                </a:solidFill>
                <a:latin typeface="Century Schoolbook"/>
                <a:ea typeface="Century Schoolbook"/>
                <a:cs typeface="Century Schoolbook"/>
                <a:sym typeface="Century Schoolbook"/>
              </a:rPr>
              <a:t> </a:t>
            </a:r>
            <a:r>
              <a:rPr lang="es-AR" sz="2400" b="0" i="0" u="none" strike="noStrike" cap="none">
                <a:solidFill>
                  <a:srgbClr val="000000"/>
                </a:solidFill>
                <a:latin typeface="Century Schoolbook"/>
                <a:ea typeface="Century Schoolbook"/>
                <a:cs typeface="Century Schoolbook"/>
                <a:sym typeface="Century Schoolbook"/>
              </a:rPr>
              <a:t>Pero, </a:t>
            </a:r>
            <a:r>
              <a:rPr lang="es-AR" sz="2400" b="1" i="0" u="none" strike="noStrike" cap="none">
                <a:solidFill>
                  <a:srgbClr val="000000"/>
                </a:solidFill>
                <a:latin typeface="Century Schoolbook"/>
                <a:ea typeface="Century Schoolbook"/>
                <a:cs typeface="Century Schoolbook"/>
                <a:sym typeface="Century Schoolbook"/>
              </a:rPr>
              <a:t>suelen ocurrir con frecuencia.</a:t>
            </a:r>
            <a:endParaRPr sz="2400" b="0" i="0" u="none" strike="noStrike" cap="none">
              <a:latin typeface="Arial"/>
              <a:ea typeface="Arial"/>
              <a:cs typeface="Arial"/>
              <a:sym typeface="Arial"/>
            </a:endParaRPr>
          </a:p>
          <a:p>
            <a:pPr marL="0" marR="0" lvl="0" indent="0" algn="just" rtl="0">
              <a:lnSpc>
                <a:spcPct val="100000"/>
              </a:lnSpc>
              <a:spcBef>
                <a:spcPts val="0"/>
              </a:spcBef>
              <a:spcAft>
                <a:spcPts val="0"/>
              </a:spcAft>
              <a:buSzPts val="2400"/>
              <a:buFont typeface="Arial"/>
              <a:buNone/>
            </a:pPr>
            <a:endParaRPr sz="2400" b="0" i="0" u="none" strike="noStrike" cap="none">
              <a:latin typeface="Arial"/>
              <a:ea typeface="Arial"/>
              <a:cs typeface="Arial"/>
              <a:sym typeface="Arial"/>
            </a:endParaRPr>
          </a:p>
        </p:txBody>
      </p:sp>
      <p:sp>
        <p:nvSpPr>
          <p:cNvPr id="367" name="Google Shape;367;p4"/>
          <p:cNvSpPr/>
          <p:nvPr/>
        </p:nvSpPr>
        <p:spPr>
          <a:xfrm>
            <a:off x="8287200" y="593784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4</a:t>
            </a:fld>
            <a:endParaRPr sz="1800" b="0" i="0" u="none" strike="noStrike" cap="none">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
          <p:cNvSpPr txBox="1">
            <a:spLocks noGrp="1"/>
          </p:cNvSpPr>
          <p:nvPr>
            <p:ph type="subTitle" idx="4294967295"/>
          </p:nvPr>
        </p:nvSpPr>
        <p:spPr>
          <a:xfrm>
            <a:off x="629640" y="848520"/>
            <a:ext cx="8228880" cy="1144440"/>
          </a:xfrm>
          <a:prstGeom prst="rect">
            <a:avLst/>
          </a:prstGeom>
          <a:noFill/>
          <a:ln>
            <a:noFill/>
          </a:ln>
        </p:spPr>
        <p:txBody>
          <a:bodyPr spcFirstLastPara="1" wrap="square" lIns="0" tIns="0" rIns="0" bIns="0" anchor="ctr" anchorCtr="0">
            <a:noAutofit/>
          </a:bodyPr>
          <a:lstStyle/>
          <a:p>
            <a:pPr marL="228600" marR="0" lvl="0" indent="-228600" algn="l" rtl="0">
              <a:lnSpc>
                <a:spcPct val="90000"/>
              </a:lnSpc>
              <a:spcBef>
                <a:spcPts val="0"/>
              </a:spcBef>
              <a:spcAft>
                <a:spcPts val="0"/>
              </a:spcAft>
              <a:buClr>
                <a:srgbClr val="000000"/>
              </a:buClr>
              <a:buSzPts val="2400"/>
              <a:buFont typeface="Arial"/>
              <a:buChar char="•"/>
            </a:pPr>
            <a:r>
              <a:rPr lang="es-AR" sz="2400" b="1" i="0" u="none" strike="noStrike" cap="none">
                <a:solidFill>
                  <a:srgbClr val="000000"/>
                </a:solidFill>
                <a:latin typeface="Century Schoolbook"/>
                <a:ea typeface="Century Schoolbook"/>
                <a:cs typeface="Century Schoolbook"/>
                <a:sym typeface="Century Schoolbook"/>
              </a:rPr>
              <a:t>Cohete Ariane 5 explotó a los 37 segundos por una excepción de software no manejada.</a:t>
            </a:r>
            <a:endParaRPr sz="2400" b="0" i="0" u="none" strike="noStrike" cap="none">
              <a:latin typeface="Arial"/>
              <a:ea typeface="Arial"/>
              <a:cs typeface="Arial"/>
              <a:sym typeface="Arial"/>
            </a:endParaRPr>
          </a:p>
        </p:txBody>
      </p:sp>
      <p:sp>
        <p:nvSpPr>
          <p:cNvPr id="373" name="Google Shape;373;p5"/>
          <p:cNvSpPr/>
          <p:nvPr/>
        </p:nvSpPr>
        <p:spPr>
          <a:xfrm>
            <a:off x="457200" y="-214200"/>
            <a:ext cx="893124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4400"/>
              <a:buFont typeface="Century Schoolbook"/>
              <a:buNone/>
            </a:pPr>
            <a:r>
              <a:rPr lang="es-AR" sz="4400" b="0" i="0" u="none" strike="noStrike" cap="small">
                <a:solidFill>
                  <a:srgbClr val="575F6D"/>
                </a:solidFill>
                <a:latin typeface="Century Schoolbook"/>
                <a:ea typeface="Century Schoolbook"/>
                <a:cs typeface="Century Schoolbook"/>
                <a:sym typeface="Century Schoolbook"/>
              </a:rPr>
              <a:t>Excepciones - caso ariadne 5</a:t>
            </a:r>
            <a:endParaRPr sz="4400" b="0" i="0" u="none" strike="noStrike" cap="none">
              <a:latin typeface="Arial"/>
              <a:ea typeface="Arial"/>
              <a:cs typeface="Arial"/>
              <a:sym typeface="Arial"/>
            </a:endParaRPr>
          </a:p>
        </p:txBody>
      </p:sp>
      <p:pic>
        <p:nvPicPr>
          <p:cNvPr id="374" name="Google Shape;374;p5" descr="Imagen que contiene foto, hombre, pequeño, pájaro&#10;&#10;Descripción generada automáticamente"/>
          <p:cNvPicPr preferRelativeResize="0"/>
          <p:nvPr/>
        </p:nvPicPr>
        <p:blipFill rotWithShape="1">
          <a:blip r:embed="rId3">
            <a:alphaModFix/>
          </a:blip>
          <a:srcRect/>
          <a:stretch/>
        </p:blipFill>
        <p:spPr>
          <a:xfrm>
            <a:off x="123480" y="2115720"/>
            <a:ext cx="5215680" cy="4020840"/>
          </a:xfrm>
          <a:prstGeom prst="rect">
            <a:avLst/>
          </a:prstGeom>
          <a:noFill/>
          <a:ln>
            <a:noFill/>
          </a:ln>
        </p:spPr>
      </p:pic>
      <p:sp>
        <p:nvSpPr>
          <p:cNvPr id="375" name="Google Shape;375;p5"/>
          <p:cNvSpPr/>
          <p:nvPr/>
        </p:nvSpPr>
        <p:spPr>
          <a:xfrm>
            <a:off x="5457600" y="2122200"/>
            <a:ext cx="3303720" cy="466488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374151"/>
              </a:buClr>
              <a:buSzPts val="2000"/>
              <a:buFont typeface="Century Schoolbook"/>
              <a:buNone/>
            </a:pPr>
            <a:r>
              <a:rPr lang="es-AR" sz="2000" b="0" i="0" u="none" strike="noStrike" cap="none">
                <a:solidFill>
                  <a:srgbClr val="374151"/>
                </a:solidFill>
                <a:latin typeface="Century Schoolbook"/>
                <a:ea typeface="Century Schoolbook"/>
                <a:cs typeface="Century Schoolbook"/>
                <a:sym typeface="Century Schoolbook"/>
              </a:rPr>
              <a:t>El software utilizado en el A5 fue heredado del A4. El A5 generó valores más grandes de lo que otro software podía manejar, lo que provocó una excepción de desbordamiento entero (integer overflow) durante la conversión de un número de punto flotante a un entero de 16 bits. La excepción no estaba controlada y se ejecutaron otras acciones</a:t>
            </a:r>
            <a:endParaRPr sz="2000" b="0" i="0" u="none" strike="noStrike" cap="none">
              <a:latin typeface="Arial"/>
              <a:ea typeface="Arial"/>
              <a:cs typeface="Arial"/>
              <a:sym typeface="Arial"/>
            </a:endParaRPr>
          </a:p>
        </p:txBody>
      </p:sp>
      <p:sp>
        <p:nvSpPr>
          <p:cNvPr id="376" name="Google Shape;376;p5"/>
          <p:cNvSpPr/>
          <p:nvPr/>
        </p:nvSpPr>
        <p:spPr>
          <a:xfrm>
            <a:off x="129600" y="6200280"/>
            <a:ext cx="5336280" cy="63972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rgbClr val="000000"/>
                </a:solidFill>
                <a:latin typeface="Arial"/>
                <a:ea typeface="Arial"/>
                <a:cs typeface="Arial"/>
                <a:sym typeface="Arial"/>
              </a:rPr>
              <a:t>Más de 10 años de fabricación </a:t>
            </a:r>
            <a:endParaRPr sz="1800" b="0" i="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s-AR" sz="1800" b="1" i="0" u="none" strike="noStrike" cap="none">
                <a:solidFill>
                  <a:srgbClr val="000000"/>
                </a:solidFill>
                <a:latin typeface="Arial"/>
                <a:ea typeface="Arial"/>
                <a:cs typeface="Arial"/>
                <a:sym typeface="Arial"/>
              </a:rPr>
              <a:t>Mas de 7 millones de U$S</a:t>
            </a:r>
            <a:endParaRPr sz="1800" b="0" i="0" u="none" strike="noStrike" cap="none">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0"/>
        <p:cNvGrpSpPr/>
        <p:nvPr/>
      </p:nvGrpSpPr>
      <p:grpSpPr>
        <a:xfrm>
          <a:off x="0" y="0"/>
          <a:ext cx="0" cy="0"/>
          <a:chOff x="0" y="0"/>
          <a:chExt cx="0" cy="0"/>
        </a:xfrm>
      </p:grpSpPr>
      <p:sp>
        <p:nvSpPr>
          <p:cNvPr id="381" name="Google Shape;381;p6"/>
          <p:cNvSpPr/>
          <p:nvPr/>
        </p:nvSpPr>
        <p:spPr>
          <a:xfrm>
            <a:off x="457200" y="27468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4400"/>
              <a:buFont typeface="Century Schoolbook"/>
              <a:buNone/>
            </a:pPr>
            <a:r>
              <a:rPr lang="es-AR" sz="4400" b="0" i="0" u="none" strike="noStrike" cap="small">
                <a:solidFill>
                  <a:srgbClr val="575F6D"/>
                </a:solidFill>
                <a:latin typeface="Century Schoolbook"/>
                <a:ea typeface="Century Schoolbook"/>
                <a:cs typeface="Century Schoolbook"/>
                <a:sym typeface="Century Schoolbook"/>
              </a:rPr>
              <a:t>Excepciones</a:t>
            </a:r>
            <a:endParaRPr sz="4400" b="0" i="0" u="none" strike="noStrike" cap="none">
              <a:latin typeface="Arial"/>
              <a:ea typeface="Arial"/>
              <a:cs typeface="Arial"/>
              <a:sym typeface="Arial"/>
            </a:endParaRPr>
          </a:p>
        </p:txBody>
      </p:sp>
      <p:sp>
        <p:nvSpPr>
          <p:cNvPr id="382" name="Google Shape;382;p6"/>
          <p:cNvSpPr/>
          <p:nvPr/>
        </p:nvSpPr>
        <p:spPr>
          <a:xfrm>
            <a:off x="716040" y="1701000"/>
            <a:ext cx="7982280" cy="4770000"/>
          </a:xfrm>
          <a:prstGeom prst="rect">
            <a:avLst/>
          </a:prstGeom>
          <a:noFill/>
          <a:ln>
            <a:noFill/>
          </a:ln>
        </p:spPr>
        <p:txBody>
          <a:bodyPr spcFirstLastPara="1" wrap="square" lIns="90000" tIns="45000" rIns="90000" bIns="45000" anchor="t" anchorCtr="0">
            <a:noAutofit/>
          </a:bodyPr>
          <a:lstStyle/>
          <a:p>
            <a:pPr marL="0" marR="0" lvl="0" indent="0" algn="just" rtl="0">
              <a:lnSpc>
                <a:spcPct val="100000"/>
              </a:lnSpc>
              <a:spcBef>
                <a:spcPts val="0"/>
              </a:spcBef>
              <a:spcAft>
                <a:spcPts val="0"/>
              </a:spcAft>
              <a:buClr>
                <a:srgbClr val="000000"/>
              </a:buClr>
              <a:buSzPts val="2400"/>
              <a:buFont typeface="Century Schoolbook"/>
              <a:buNone/>
            </a:pPr>
            <a:r>
              <a:rPr lang="es-AR" sz="2400" b="0" i="0" u="none" strike="noStrike" cap="none">
                <a:solidFill>
                  <a:srgbClr val="000000"/>
                </a:solidFill>
                <a:latin typeface="Century Schoolbook"/>
                <a:ea typeface="Century Schoolbook"/>
                <a:cs typeface="Century Schoolbook"/>
                <a:sym typeface="Century Schoolbook"/>
              </a:rPr>
              <a:t>La </a:t>
            </a:r>
            <a:r>
              <a:rPr lang="es-AR" sz="2400" b="1" i="0" u="none" strike="noStrike" cap="none">
                <a:solidFill>
                  <a:srgbClr val="000000"/>
                </a:solidFill>
                <a:latin typeface="Century Schoolbook"/>
                <a:ea typeface="Century Schoolbook"/>
                <a:cs typeface="Century Schoolbook"/>
                <a:sym typeface="Century Schoolbook"/>
              </a:rPr>
              <a:t>excepción interrumpe </a:t>
            </a:r>
            <a:r>
              <a:rPr lang="es-AR" sz="2400" b="0" i="0" u="none" strike="noStrike" cap="none">
                <a:solidFill>
                  <a:srgbClr val="000000"/>
                </a:solidFill>
                <a:latin typeface="Century Schoolbook"/>
                <a:ea typeface="Century Schoolbook"/>
                <a:cs typeface="Century Schoolbook"/>
                <a:sym typeface="Century Schoolbook"/>
              </a:rPr>
              <a:t>el </a:t>
            </a:r>
            <a:r>
              <a:rPr lang="es-AR" sz="2400" b="1" i="0" u="none" strike="noStrike" cap="none">
                <a:solidFill>
                  <a:srgbClr val="000000"/>
                </a:solidFill>
                <a:latin typeface="Century Schoolbook"/>
                <a:ea typeface="Century Schoolbook"/>
                <a:cs typeface="Century Schoolbook"/>
                <a:sym typeface="Century Schoolbook"/>
              </a:rPr>
              <a:t>flujo normal de ejecución</a:t>
            </a:r>
            <a:r>
              <a:rPr lang="es-AR" sz="2400" b="0" i="0" u="none" strike="noStrike" cap="none">
                <a:solidFill>
                  <a:srgbClr val="000000"/>
                </a:solidFill>
                <a:latin typeface="Century Schoolbook"/>
                <a:ea typeface="Century Schoolbook"/>
                <a:cs typeface="Century Schoolbook"/>
                <a:sym typeface="Century Schoolbook"/>
              </a:rPr>
              <a:t> y </a:t>
            </a:r>
            <a:r>
              <a:rPr lang="es-AR" sz="2400" b="1" i="0" u="none" strike="noStrike" cap="none">
                <a:solidFill>
                  <a:srgbClr val="000000"/>
                </a:solidFill>
                <a:latin typeface="Century Schoolbook"/>
                <a:ea typeface="Century Schoolbook"/>
                <a:cs typeface="Century Schoolbook"/>
                <a:sym typeface="Century Schoolbook"/>
              </a:rPr>
              <a:t>ejecuta un controlador de excepciones</a:t>
            </a:r>
            <a:r>
              <a:rPr lang="es-AR" sz="2400" b="0" i="0" u="none" strike="noStrike" cap="none">
                <a:solidFill>
                  <a:srgbClr val="000000"/>
                </a:solidFill>
                <a:latin typeface="Century Schoolbook"/>
                <a:ea typeface="Century Schoolbook"/>
                <a:cs typeface="Century Schoolbook"/>
                <a:sym typeface="Century Schoolbook"/>
              </a:rPr>
              <a:t> registrado previamente.</a:t>
            </a:r>
            <a:endParaRPr sz="2400" b="0" i="0" u="none" strike="noStrike" cap="none">
              <a:latin typeface="Arial"/>
              <a:ea typeface="Arial"/>
              <a:cs typeface="Arial"/>
              <a:sym typeface="Arial"/>
            </a:endParaRPr>
          </a:p>
          <a:p>
            <a:pPr marL="0" marR="0" lvl="0" indent="0" algn="just" rtl="0">
              <a:lnSpc>
                <a:spcPct val="100000"/>
              </a:lnSpc>
              <a:spcBef>
                <a:spcPts val="0"/>
              </a:spcBef>
              <a:spcAft>
                <a:spcPts val="0"/>
              </a:spcAft>
              <a:buSzPts val="2400"/>
              <a:buFont typeface="Arial"/>
              <a:buNone/>
            </a:pPr>
            <a:endParaRPr sz="2400" b="0" i="0" u="none" strike="noStrike" cap="none">
              <a:latin typeface="Arial"/>
              <a:ea typeface="Arial"/>
              <a:cs typeface="Arial"/>
              <a:sym typeface="Arial"/>
            </a:endParaRPr>
          </a:p>
          <a:p>
            <a:pPr marL="0" marR="0" lvl="0" indent="0" algn="just" rtl="0">
              <a:lnSpc>
                <a:spcPct val="100000"/>
              </a:lnSpc>
              <a:spcBef>
                <a:spcPts val="0"/>
              </a:spcBef>
              <a:spcAft>
                <a:spcPts val="0"/>
              </a:spcAft>
              <a:buSzPts val="2400"/>
              <a:buFont typeface="Arial"/>
              <a:buNone/>
            </a:pPr>
            <a:endParaRPr sz="2400" b="0" i="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Century Schoolbook"/>
              <a:buNone/>
            </a:pPr>
            <a:r>
              <a:rPr lang="es-AR" sz="2400" b="0" i="0" u="none" strike="noStrike" cap="none">
                <a:solidFill>
                  <a:srgbClr val="000000"/>
                </a:solidFill>
                <a:latin typeface="Century Schoolbook"/>
                <a:ea typeface="Century Schoolbook"/>
                <a:cs typeface="Century Schoolbook"/>
                <a:sym typeface="Century Schoolbook"/>
              </a:rPr>
              <a:t>Los </a:t>
            </a:r>
            <a:r>
              <a:rPr lang="es-AR" sz="2400" b="1" i="0" u="none" strike="noStrike" cap="none">
                <a:solidFill>
                  <a:srgbClr val="000000"/>
                </a:solidFill>
                <a:latin typeface="Century Schoolbook"/>
                <a:ea typeface="Century Schoolbook"/>
                <a:cs typeface="Century Schoolbook"/>
                <a:sym typeface="Century Schoolbook"/>
              </a:rPr>
              <a:t>lenguajes </a:t>
            </a:r>
            <a:r>
              <a:rPr lang="es-AR" sz="2400" b="0" i="0" u="none" strike="noStrike" cap="none">
                <a:solidFill>
                  <a:srgbClr val="000000"/>
                </a:solidFill>
                <a:latin typeface="Century Schoolbook"/>
                <a:ea typeface="Century Schoolbook"/>
                <a:cs typeface="Century Schoolbook"/>
                <a:sym typeface="Century Schoolbook"/>
              </a:rPr>
              <a:t>pueden proporcionar estas facilidades, pero </a:t>
            </a:r>
            <a:r>
              <a:rPr lang="es-AR" sz="2400" b="1" i="0" u="none" strike="noStrike" cap="none">
                <a:solidFill>
                  <a:srgbClr val="000000"/>
                </a:solidFill>
                <a:latin typeface="Century Schoolbook"/>
                <a:ea typeface="Century Schoolbook"/>
                <a:cs typeface="Century Schoolbook"/>
                <a:sym typeface="Century Schoolbook"/>
              </a:rPr>
              <a:t>no todos funcionan igual.</a:t>
            </a:r>
            <a:endParaRPr sz="2400" b="0" i="0" u="none" strike="noStrike" cap="none">
              <a:latin typeface="Arial"/>
              <a:ea typeface="Arial"/>
              <a:cs typeface="Arial"/>
              <a:sym typeface="Arial"/>
            </a:endParaRPr>
          </a:p>
        </p:txBody>
      </p:sp>
      <p:sp>
        <p:nvSpPr>
          <p:cNvPr id="383" name="Google Shape;383;p6"/>
          <p:cNvSpPr/>
          <p:nvPr/>
        </p:nvSpPr>
        <p:spPr>
          <a:xfrm>
            <a:off x="388800" y="1487520"/>
            <a:ext cx="8135280" cy="34354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6"/>
          <p:cNvSpPr/>
          <p:nvPr/>
        </p:nvSpPr>
        <p:spPr>
          <a:xfrm>
            <a:off x="8229600" y="588024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6</a:t>
            </a:fld>
            <a:endParaRPr sz="1800" b="0" i="0" u="none" strike="noStrike" cap="none">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8"/>
        <p:cNvGrpSpPr/>
        <p:nvPr/>
      </p:nvGrpSpPr>
      <p:grpSpPr>
        <a:xfrm>
          <a:off x="0" y="0"/>
          <a:ext cx="0" cy="0"/>
          <a:chOff x="0" y="0"/>
          <a:chExt cx="0" cy="0"/>
        </a:xfrm>
      </p:grpSpPr>
      <p:sp>
        <p:nvSpPr>
          <p:cNvPr id="389" name="Google Shape;389;p7"/>
          <p:cNvSpPr/>
          <p:nvPr/>
        </p:nvSpPr>
        <p:spPr>
          <a:xfrm>
            <a:off x="457200" y="27468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4400"/>
              <a:buFont typeface="Century Schoolbook"/>
              <a:buNone/>
            </a:pPr>
            <a:r>
              <a:rPr lang="es-AR" sz="4400" b="0" i="0" u="none" strike="noStrike" cap="small">
                <a:solidFill>
                  <a:srgbClr val="575F6D"/>
                </a:solidFill>
                <a:latin typeface="Century Schoolbook"/>
                <a:ea typeface="Century Schoolbook"/>
                <a:cs typeface="Century Schoolbook"/>
                <a:sym typeface="Century Schoolbook"/>
              </a:rPr>
              <a:t>Excepciones</a:t>
            </a:r>
            <a:endParaRPr sz="4400" b="0" i="0" u="none" strike="noStrike" cap="none">
              <a:latin typeface="Arial"/>
              <a:ea typeface="Arial"/>
              <a:cs typeface="Arial"/>
              <a:sym typeface="Arial"/>
            </a:endParaRPr>
          </a:p>
        </p:txBody>
      </p:sp>
      <p:sp>
        <p:nvSpPr>
          <p:cNvPr id="390" name="Google Shape;390;p7"/>
          <p:cNvSpPr/>
          <p:nvPr/>
        </p:nvSpPr>
        <p:spPr>
          <a:xfrm>
            <a:off x="514800" y="1413360"/>
            <a:ext cx="7939080" cy="4985640"/>
          </a:xfrm>
          <a:prstGeom prst="rect">
            <a:avLst/>
          </a:prstGeom>
          <a:noFill/>
          <a:ln>
            <a:noFill/>
          </a:ln>
        </p:spPr>
        <p:txBody>
          <a:bodyPr spcFirstLastPara="1" wrap="square" lIns="90000" tIns="45000" rIns="90000" bIns="45000" anchor="t" anchorCtr="0">
            <a:noAutofit/>
          </a:bodyPr>
          <a:lstStyle/>
          <a:p>
            <a:pPr marL="0" marR="0" lvl="0" indent="0" algn="just" rtl="0">
              <a:lnSpc>
                <a:spcPct val="100000"/>
              </a:lnSpc>
              <a:spcBef>
                <a:spcPts val="0"/>
              </a:spcBef>
              <a:spcAft>
                <a:spcPts val="0"/>
              </a:spcAft>
              <a:buSzPts val="2400"/>
              <a:buFont typeface="Arial"/>
              <a:buNone/>
            </a:pPr>
            <a:endParaRPr sz="2400" b="0" i="0" u="none" strike="noStrike" cap="none">
              <a:latin typeface="Arial"/>
              <a:ea typeface="Arial"/>
              <a:cs typeface="Arial"/>
              <a:sym typeface="Arial"/>
            </a:endParaRPr>
          </a:p>
          <a:p>
            <a:pPr marL="0" marR="0" lvl="0" indent="0" algn="just" rtl="0">
              <a:lnSpc>
                <a:spcPct val="93000"/>
              </a:lnSpc>
              <a:spcBef>
                <a:spcPts val="0"/>
              </a:spcBef>
              <a:spcAft>
                <a:spcPts val="0"/>
              </a:spcAft>
              <a:buClr>
                <a:srgbClr val="000000"/>
              </a:buClr>
              <a:buSzPts val="2400"/>
              <a:buFont typeface="Century Schoolbook"/>
              <a:buNone/>
            </a:pPr>
            <a:r>
              <a:rPr lang="es-AR" sz="2400" b="0" i="0" u="none" strike="noStrike" cap="none">
                <a:solidFill>
                  <a:srgbClr val="000000"/>
                </a:solidFill>
                <a:latin typeface="Century Schoolbook"/>
                <a:ea typeface="Century Schoolbook"/>
                <a:cs typeface="Century Schoolbook"/>
                <a:sym typeface="Century Schoolbook"/>
              </a:rPr>
              <a:t>Para que un </a:t>
            </a:r>
            <a:r>
              <a:rPr lang="es-AR" sz="2400" b="1" i="0" u="none" strike="noStrike" cap="none">
                <a:solidFill>
                  <a:srgbClr val="000000"/>
                </a:solidFill>
                <a:latin typeface="Century Schoolbook"/>
                <a:ea typeface="Century Schoolbook"/>
                <a:cs typeface="Century Schoolbook"/>
                <a:sym typeface="Century Schoolbook"/>
              </a:rPr>
              <a:t>lenguaje trate excepciones debe proveer mínimamente:</a:t>
            </a:r>
            <a:endParaRPr sz="2400" b="0" i="0" u="none" strike="noStrike" cap="none">
              <a:latin typeface="Arial"/>
              <a:ea typeface="Arial"/>
              <a:cs typeface="Arial"/>
              <a:sym typeface="Arial"/>
            </a:endParaRPr>
          </a:p>
          <a:p>
            <a:pPr marL="0" marR="0" lvl="0" indent="0" algn="just" rtl="0">
              <a:lnSpc>
                <a:spcPct val="93000"/>
              </a:lnSpc>
              <a:spcBef>
                <a:spcPts val="0"/>
              </a:spcBef>
              <a:spcAft>
                <a:spcPts val="0"/>
              </a:spcAft>
              <a:buSzPts val="2400"/>
              <a:buFont typeface="Arial"/>
              <a:buNone/>
            </a:pPr>
            <a:endParaRPr sz="2400" b="0" i="0" u="none" strike="noStrike" cap="none">
              <a:latin typeface="Arial"/>
              <a:ea typeface="Arial"/>
              <a:cs typeface="Arial"/>
              <a:sym typeface="Arial"/>
            </a:endParaRPr>
          </a:p>
          <a:p>
            <a:pPr marL="457200" marR="0" lvl="0" indent="-457200" algn="just" rtl="0">
              <a:lnSpc>
                <a:spcPct val="93000"/>
              </a:lnSpc>
              <a:spcBef>
                <a:spcPts val="0"/>
              </a:spcBef>
              <a:spcAft>
                <a:spcPts val="0"/>
              </a:spcAft>
              <a:buClr>
                <a:srgbClr val="000000"/>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Un modo de </a:t>
            </a:r>
            <a:r>
              <a:rPr lang="es-AR" sz="2400" b="1" i="0" u="none" strike="noStrike" cap="none">
                <a:solidFill>
                  <a:srgbClr val="000000"/>
                </a:solidFill>
                <a:latin typeface="Century Schoolbook"/>
                <a:ea typeface="Century Schoolbook"/>
                <a:cs typeface="Century Schoolbook"/>
                <a:sym typeface="Century Schoolbook"/>
              </a:rPr>
              <a:t>definirlas</a:t>
            </a:r>
            <a:endParaRPr sz="2400" b="0" i="0" u="none" strike="noStrike" cap="none">
              <a:latin typeface="Arial"/>
              <a:ea typeface="Arial"/>
              <a:cs typeface="Arial"/>
              <a:sym typeface="Arial"/>
            </a:endParaRPr>
          </a:p>
          <a:p>
            <a:pPr marL="457200" marR="0" lvl="0" indent="-457200" algn="just" rtl="0">
              <a:lnSpc>
                <a:spcPct val="93000"/>
              </a:lnSpc>
              <a:spcBef>
                <a:spcPts val="0"/>
              </a:spcBef>
              <a:spcAft>
                <a:spcPts val="0"/>
              </a:spcAft>
              <a:buClr>
                <a:srgbClr val="000000"/>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Una forma de </a:t>
            </a:r>
            <a:r>
              <a:rPr lang="es-AR" sz="2400" b="1" i="0" u="none" strike="noStrike" cap="none">
                <a:solidFill>
                  <a:srgbClr val="000000"/>
                </a:solidFill>
                <a:latin typeface="Century Schoolbook"/>
                <a:ea typeface="Century Schoolbook"/>
                <a:cs typeface="Century Schoolbook"/>
                <a:sym typeface="Century Schoolbook"/>
              </a:rPr>
              <a:t>reconocerlas</a:t>
            </a:r>
            <a:endParaRPr sz="2400" b="0" i="0" u="none" strike="noStrike" cap="none">
              <a:latin typeface="Arial"/>
              <a:ea typeface="Arial"/>
              <a:cs typeface="Arial"/>
              <a:sym typeface="Arial"/>
            </a:endParaRPr>
          </a:p>
          <a:p>
            <a:pPr marL="457200" marR="0" lvl="0" indent="-457200" algn="just" rtl="0">
              <a:lnSpc>
                <a:spcPct val="93000"/>
              </a:lnSpc>
              <a:spcBef>
                <a:spcPts val="0"/>
              </a:spcBef>
              <a:spcAft>
                <a:spcPts val="0"/>
              </a:spcAft>
              <a:buClr>
                <a:srgbClr val="000000"/>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Una forma de </a:t>
            </a:r>
            <a:r>
              <a:rPr lang="es-AR" sz="2400" b="1" i="0" u="none" strike="noStrike" cap="none">
                <a:solidFill>
                  <a:srgbClr val="000000"/>
                </a:solidFill>
                <a:latin typeface="Century Schoolbook"/>
                <a:ea typeface="Century Schoolbook"/>
                <a:cs typeface="Century Schoolbook"/>
                <a:sym typeface="Century Schoolbook"/>
              </a:rPr>
              <a:t>lanzarlas y capturarlas</a:t>
            </a:r>
            <a:endParaRPr sz="2400" b="0" i="0" u="none" strike="noStrike" cap="none">
              <a:latin typeface="Arial"/>
              <a:ea typeface="Arial"/>
              <a:cs typeface="Arial"/>
              <a:sym typeface="Arial"/>
            </a:endParaRPr>
          </a:p>
          <a:p>
            <a:pPr marL="457200" marR="0" lvl="0" indent="-457200" algn="just" rtl="0">
              <a:lnSpc>
                <a:spcPct val="93000"/>
              </a:lnSpc>
              <a:spcBef>
                <a:spcPts val="0"/>
              </a:spcBef>
              <a:spcAft>
                <a:spcPts val="0"/>
              </a:spcAft>
              <a:buClr>
                <a:srgbClr val="000000"/>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Una forma de </a:t>
            </a:r>
            <a:r>
              <a:rPr lang="es-AR" sz="2400" b="1" i="0" u="none" strike="noStrike" cap="none">
                <a:solidFill>
                  <a:srgbClr val="000000"/>
                </a:solidFill>
                <a:latin typeface="Century Schoolbook"/>
                <a:ea typeface="Century Schoolbook"/>
                <a:cs typeface="Century Schoolbook"/>
                <a:sym typeface="Century Schoolbook"/>
              </a:rPr>
              <a:t>manejarlas </a:t>
            </a:r>
            <a:r>
              <a:rPr lang="es-AR" sz="2400" b="0" i="0" u="none" strike="noStrike" cap="none">
                <a:solidFill>
                  <a:srgbClr val="000000"/>
                </a:solidFill>
                <a:latin typeface="Century Schoolbook"/>
                <a:ea typeface="Century Schoolbook"/>
                <a:cs typeface="Century Schoolbook"/>
                <a:sym typeface="Century Schoolbook"/>
              </a:rPr>
              <a:t>especificando el </a:t>
            </a:r>
            <a:r>
              <a:rPr lang="es-AR" sz="2400" b="1" i="0" u="none" strike="noStrike" cap="none">
                <a:solidFill>
                  <a:srgbClr val="000000"/>
                </a:solidFill>
                <a:latin typeface="Century Schoolbook"/>
                <a:ea typeface="Century Schoolbook"/>
                <a:cs typeface="Century Schoolbook"/>
                <a:sym typeface="Century Schoolbook"/>
              </a:rPr>
              <a:t>código y respuestas</a:t>
            </a:r>
            <a:endParaRPr sz="2400" b="0" i="0" u="none" strike="noStrike" cap="none">
              <a:latin typeface="Arial"/>
              <a:ea typeface="Arial"/>
              <a:cs typeface="Arial"/>
              <a:sym typeface="Arial"/>
            </a:endParaRPr>
          </a:p>
          <a:p>
            <a:pPr marL="457200" marR="0" lvl="0" indent="-457200" algn="just" rtl="0">
              <a:lnSpc>
                <a:spcPct val="93000"/>
              </a:lnSpc>
              <a:spcBef>
                <a:spcPts val="0"/>
              </a:spcBef>
              <a:spcAft>
                <a:spcPts val="0"/>
              </a:spcAft>
              <a:buClr>
                <a:srgbClr val="000000"/>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Un </a:t>
            </a:r>
            <a:r>
              <a:rPr lang="es-AR" sz="2400" b="1" i="0" u="none" strike="noStrike" cap="none">
                <a:solidFill>
                  <a:srgbClr val="000000"/>
                </a:solidFill>
                <a:latin typeface="Century Schoolbook"/>
                <a:ea typeface="Century Schoolbook"/>
                <a:cs typeface="Century Schoolbook"/>
                <a:sym typeface="Century Schoolbook"/>
              </a:rPr>
              <a:t>criterio de continuación</a:t>
            </a:r>
            <a:endParaRPr sz="2400" b="0" i="0" u="none" strike="noStrike" cap="none">
              <a:latin typeface="Arial"/>
              <a:ea typeface="Arial"/>
              <a:cs typeface="Arial"/>
              <a:sym typeface="Arial"/>
            </a:endParaRPr>
          </a:p>
        </p:txBody>
      </p:sp>
      <p:sp>
        <p:nvSpPr>
          <p:cNvPr id="391" name="Google Shape;391;p7"/>
          <p:cNvSpPr/>
          <p:nvPr/>
        </p:nvSpPr>
        <p:spPr>
          <a:xfrm>
            <a:off x="388800" y="1487520"/>
            <a:ext cx="8135280" cy="45424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7"/>
          <p:cNvSpPr/>
          <p:nvPr/>
        </p:nvSpPr>
        <p:spPr>
          <a:xfrm>
            <a:off x="8316000" y="58086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7</a:t>
            </a:fld>
            <a:endParaRPr sz="1800" b="0" i="0" u="none" strike="noStrike" cap="none">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6"/>
        <p:cNvGrpSpPr/>
        <p:nvPr/>
      </p:nvGrpSpPr>
      <p:grpSpPr>
        <a:xfrm>
          <a:off x="0" y="0"/>
          <a:ext cx="0" cy="0"/>
          <a:chOff x="0" y="0"/>
          <a:chExt cx="0" cy="0"/>
        </a:xfrm>
      </p:grpSpPr>
      <p:sp>
        <p:nvSpPr>
          <p:cNvPr id="397" name="Google Shape;397;p8"/>
          <p:cNvSpPr/>
          <p:nvPr/>
        </p:nvSpPr>
        <p:spPr>
          <a:xfrm>
            <a:off x="457200" y="27468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4400"/>
              <a:buFont typeface="Century Schoolbook"/>
              <a:buNone/>
            </a:pPr>
            <a:r>
              <a:rPr lang="es-AR" sz="4400" b="0" i="0" u="none" strike="noStrike" cap="small">
                <a:solidFill>
                  <a:srgbClr val="575F6D"/>
                </a:solidFill>
                <a:latin typeface="Century Schoolbook"/>
                <a:ea typeface="Century Schoolbook"/>
                <a:cs typeface="Century Schoolbook"/>
                <a:sym typeface="Century Schoolbook"/>
              </a:rPr>
              <a:t>Excepciones</a:t>
            </a:r>
            <a:endParaRPr sz="4400" b="0" i="0" u="none" strike="noStrike" cap="none">
              <a:latin typeface="Arial"/>
              <a:ea typeface="Arial"/>
              <a:cs typeface="Arial"/>
              <a:sym typeface="Arial"/>
            </a:endParaRPr>
          </a:p>
        </p:txBody>
      </p:sp>
      <p:sp>
        <p:nvSpPr>
          <p:cNvPr id="398" name="Google Shape;398;p8"/>
          <p:cNvSpPr/>
          <p:nvPr/>
        </p:nvSpPr>
        <p:spPr>
          <a:xfrm>
            <a:off x="457200" y="1413360"/>
            <a:ext cx="8241120" cy="5057640"/>
          </a:xfrm>
          <a:prstGeom prst="rect">
            <a:avLst/>
          </a:prstGeom>
          <a:noFill/>
          <a:ln>
            <a:noFill/>
          </a:ln>
        </p:spPr>
        <p:txBody>
          <a:bodyPr spcFirstLastPara="1" wrap="square" lIns="90000" tIns="45000" rIns="90000" bIns="45000" anchor="t" anchorCtr="0">
            <a:noAutofit/>
          </a:bodyPr>
          <a:lstStyle/>
          <a:p>
            <a:pPr marL="0" marR="0" lvl="0" indent="0" algn="just" rtl="0">
              <a:lnSpc>
                <a:spcPct val="100000"/>
              </a:lnSpc>
              <a:spcBef>
                <a:spcPts val="0"/>
              </a:spcBef>
              <a:spcAft>
                <a:spcPts val="0"/>
              </a:spcAft>
              <a:buClr>
                <a:srgbClr val="000000"/>
              </a:buClr>
              <a:buSzPts val="2800"/>
              <a:buFont typeface="Century Schoolbook"/>
              <a:buNone/>
            </a:pPr>
            <a:r>
              <a:rPr lang="es-AR" sz="2800" b="1" i="0" u="none" strike="noStrike" cap="none">
                <a:solidFill>
                  <a:srgbClr val="000000"/>
                </a:solidFill>
                <a:latin typeface="Century Schoolbook"/>
                <a:ea typeface="Century Schoolbook"/>
                <a:cs typeface="Century Schoolbook"/>
                <a:sym typeface="Century Schoolbook"/>
              </a:rPr>
              <a:t>Controlador de excepciones/Manejador</a:t>
            </a:r>
            <a:endParaRPr sz="2800" b="0" i="0" u="none" strike="noStrike" cap="none">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Century Schoolbook"/>
              <a:buNone/>
            </a:pPr>
            <a:r>
              <a:rPr lang="es-AR" sz="2400" b="0" i="0" u="none" strike="noStrike" cap="none">
                <a:solidFill>
                  <a:srgbClr val="000000"/>
                </a:solidFill>
                <a:latin typeface="Century Schoolbook"/>
                <a:ea typeface="Century Schoolbook"/>
                <a:cs typeface="Century Schoolbook"/>
                <a:sym typeface="Century Schoolbook"/>
              </a:rPr>
              <a:t>Es una </a:t>
            </a:r>
            <a:r>
              <a:rPr lang="es-AR" sz="2400" b="1" i="0" u="none" strike="noStrike" cap="none">
                <a:solidFill>
                  <a:srgbClr val="000000"/>
                </a:solidFill>
                <a:latin typeface="Century Schoolbook"/>
                <a:ea typeface="Century Schoolbook"/>
                <a:cs typeface="Century Schoolbook"/>
                <a:sym typeface="Century Schoolbook"/>
              </a:rPr>
              <a:t>sección de código</a:t>
            </a:r>
            <a:r>
              <a:rPr lang="es-AR" sz="2400" b="0" i="0" u="none" strike="noStrike" cap="none">
                <a:solidFill>
                  <a:srgbClr val="000000"/>
                </a:solidFill>
                <a:latin typeface="Century Schoolbook"/>
                <a:ea typeface="Century Schoolbook"/>
                <a:cs typeface="Century Schoolbook"/>
                <a:sym typeface="Century Schoolbook"/>
              </a:rPr>
              <a:t> que se encarga de </a:t>
            </a:r>
            <a:r>
              <a:rPr lang="es-AR" sz="2400" b="1" i="0" u="none" strike="noStrike" cap="none">
                <a:solidFill>
                  <a:srgbClr val="000000"/>
                </a:solidFill>
                <a:latin typeface="Century Schoolbook"/>
                <a:ea typeface="Century Schoolbook"/>
                <a:cs typeface="Century Schoolbook"/>
                <a:sym typeface="Century Schoolbook"/>
              </a:rPr>
              <a:t>manejar una excepción</a:t>
            </a:r>
            <a:r>
              <a:rPr lang="es-AR" sz="2400" b="0" i="0" u="none" strike="noStrike" cap="none">
                <a:solidFill>
                  <a:srgbClr val="000000"/>
                </a:solidFill>
                <a:latin typeface="Century Schoolbook"/>
                <a:ea typeface="Century Schoolbook"/>
                <a:cs typeface="Century Schoolbook"/>
                <a:sym typeface="Century Schoolbook"/>
              </a:rPr>
              <a:t> en un programa. </a:t>
            </a:r>
            <a:endParaRPr sz="2400" b="0" i="0" u="none" strike="noStrike" cap="none">
              <a:latin typeface="Arial"/>
              <a:ea typeface="Arial"/>
              <a:cs typeface="Arial"/>
              <a:sym typeface="Arial"/>
            </a:endParaRPr>
          </a:p>
          <a:p>
            <a:pPr marL="0" marR="0" lvl="0" indent="0" algn="just" rtl="0">
              <a:lnSpc>
                <a:spcPct val="100000"/>
              </a:lnSpc>
              <a:spcBef>
                <a:spcPts val="0"/>
              </a:spcBef>
              <a:spcAft>
                <a:spcPts val="0"/>
              </a:spcAft>
              <a:buSzPts val="2400"/>
              <a:buFont typeface="Arial"/>
              <a:buNone/>
            </a:pPr>
            <a:endParaRPr sz="2400" b="0" i="0" u="none" strike="noStrike" cap="none">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Century Schoolbook"/>
              <a:buNone/>
            </a:pPr>
            <a:r>
              <a:rPr lang="es-AR" sz="2400" b="0" i="0" u="none" strike="noStrike" cap="none">
                <a:solidFill>
                  <a:srgbClr val="000000"/>
                </a:solidFill>
                <a:latin typeface="Century Schoolbook"/>
                <a:ea typeface="Century Schoolbook"/>
                <a:cs typeface="Century Schoolbook"/>
                <a:sym typeface="Century Schoolbook"/>
              </a:rPr>
              <a:t>Su </a:t>
            </a:r>
            <a:r>
              <a:rPr lang="es-AR" sz="2400" b="1" i="0" u="none" strike="noStrike" cap="none">
                <a:solidFill>
                  <a:srgbClr val="000000"/>
                </a:solidFill>
                <a:latin typeface="Century Schoolbook"/>
                <a:ea typeface="Century Schoolbook"/>
                <a:cs typeface="Century Schoolbook"/>
                <a:sym typeface="Century Schoolbook"/>
              </a:rPr>
              <a:t>objetivo principal</a:t>
            </a:r>
            <a:r>
              <a:rPr lang="es-AR" sz="2400" b="0" i="0" u="none" strike="noStrike" cap="none">
                <a:solidFill>
                  <a:srgbClr val="000000"/>
                </a:solidFill>
                <a:latin typeface="Century Schoolbook"/>
                <a:ea typeface="Century Schoolbook"/>
                <a:cs typeface="Century Schoolbook"/>
                <a:sym typeface="Century Schoolbook"/>
              </a:rPr>
              <a:t> es proporcionar una forma de </a:t>
            </a:r>
            <a:r>
              <a:rPr lang="es-AR" sz="2400" b="1" i="0" u="none" strike="noStrike" cap="none">
                <a:solidFill>
                  <a:srgbClr val="000000"/>
                </a:solidFill>
                <a:latin typeface="Century Schoolbook"/>
                <a:ea typeface="Century Schoolbook"/>
                <a:cs typeface="Century Schoolbook"/>
                <a:sym typeface="Century Schoolbook"/>
              </a:rPr>
              <a:t>recuperarse de un error o falla</a:t>
            </a:r>
            <a:r>
              <a:rPr lang="es-AR" sz="2400" b="0" i="0" u="none" strike="noStrike" cap="none">
                <a:solidFill>
                  <a:srgbClr val="000000"/>
                </a:solidFill>
                <a:latin typeface="Century Schoolbook"/>
                <a:ea typeface="Century Schoolbook"/>
                <a:cs typeface="Century Schoolbook"/>
                <a:sym typeface="Century Schoolbook"/>
              </a:rPr>
              <a:t>, permitiendo que </a:t>
            </a:r>
            <a:r>
              <a:rPr lang="es-AR" sz="2400" b="1" i="0" u="none" strike="noStrike" cap="none">
                <a:solidFill>
                  <a:srgbClr val="000000"/>
                </a:solidFill>
                <a:latin typeface="Century Schoolbook"/>
                <a:ea typeface="Century Schoolbook"/>
                <a:cs typeface="Century Schoolbook"/>
                <a:sym typeface="Century Schoolbook"/>
              </a:rPr>
              <a:t>el programa continúe ejecutándose en lugar de detenerse abruptamente.</a:t>
            </a:r>
            <a:endParaRPr sz="2400" b="0" i="0" u="none" strike="noStrike" cap="none">
              <a:latin typeface="Arial"/>
              <a:ea typeface="Arial"/>
              <a:cs typeface="Arial"/>
              <a:sym typeface="Arial"/>
            </a:endParaRPr>
          </a:p>
          <a:p>
            <a:pPr marL="0" marR="0" lvl="0" indent="0" algn="just" rtl="0">
              <a:lnSpc>
                <a:spcPct val="100000"/>
              </a:lnSpc>
              <a:spcBef>
                <a:spcPts val="0"/>
              </a:spcBef>
              <a:spcAft>
                <a:spcPts val="0"/>
              </a:spcAft>
              <a:buSzPts val="2000"/>
              <a:buFont typeface="Arial"/>
              <a:buNone/>
            </a:pPr>
            <a:endParaRPr sz="2000" b="0" i="0" u="none" strike="noStrike" cap="none">
              <a:latin typeface="Arial"/>
              <a:ea typeface="Arial"/>
              <a:cs typeface="Arial"/>
              <a:sym typeface="Arial"/>
            </a:endParaRPr>
          </a:p>
          <a:p>
            <a:pPr marL="0" marR="0" lvl="0" indent="0" algn="just" rtl="0">
              <a:lnSpc>
                <a:spcPct val="100000"/>
              </a:lnSpc>
              <a:spcBef>
                <a:spcPts val="0"/>
              </a:spcBef>
              <a:spcAft>
                <a:spcPts val="0"/>
              </a:spcAft>
              <a:buSzPts val="2000"/>
              <a:buFont typeface="Arial"/>
              <a:buNone/>
            </a:pPr>
            <a:endParaRPr sz="2000" b="0" i="0" u="none" strike="noStrike" cap="none">
              <a:latin typeface="Arial"/>
              <a:ea typeface="Arial"/>
              <a:cs typeface="Arial"/>
              <a:sym typeface="Arial"/>
            </a:endParaRPr>
          </a:p>
        </p:txBody>
      </p:sp>
      <p:sp>
        <p:nvSpPr>
          <p:cNvPr id="399" name="Google Shape;399;p8"/>
          <p:cNvSpPr/>
          <p:nvPr/>
        </p:nvSpPr>
        <p:spPr>
          <a:xfrm>
            <a:off x="388800" y="1487520"/>
            <a:ext cx="8135280" cy="34354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8"/>
          <p:cNvSpPr/>
          <p:nvPr/>
        </p:nvSpPr>
        <p:spPr>
          <a:xfrm>
            <a:off x="8272800" y="57654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8</a:t>
            </a:fld>
            <a:endParaRPr sz="1800" b="0" i="0" u="none" strike="noStrike" cap="none">
              <a:latin typeface="Arial"/>
              <a:ea typeface="Arial"/>
              <a:cs typeface="Arial"/>
              <a:sym typeface="Arial"/>
            </a:endParaRPr>
          </a:p>
        </p:txBody>
      </p:sp>
      <p:pic>
        <p:nvPicPr>
          <p:cNvPr id="401" name="Google Shape;401;p8" descr="Imagen que contiene Dibujo de ingeniería&#10;&#10;Descripción generada automáticamente"/>
          <p:cNvPicPr preferRelativeResize="0"/>
          <p:nvPr/>
        </p:nvPicPr>
        <p:blipFill rotWithShape="1">
          <a:blip r:embed="rId3">
            <a:alphaModFix/>
          </a:blip>
          <a:srcRect/>
          <a:stretch/>
        </p:blipFill>
        <p:spPr>
          <a:xfrm>
            <a:off x="4566240" y="4318560"/>
            <a:ext cx="3418560" cy="25333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5"/>
        <p:cNvGrpSpPr/>
        <p:nvPr/>
      </p:nvGrpSpPr>
      <p:grpSpPr>
        <a:xfrm>
          <a:off x="0" y="0"/>
          <a:ext cx="0" cy="0"/>
          <a:chOff x="0" y="0"/>
          <a:chExt cx="0" cy="0"/>
        </a:xfrm>
      </p:grpSpPr>
      <p:sp>
        <p:nvSpPr>
          <p:cNvPr id="406" name="Google Shape;406;p9"/>
          <p:cNvSpPr/>
          <p:nvPr/>
        </p:nvSpPr>
        <p:spPr>
          <a:xfrm>
            <a:off x="457200" y="27468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4400"/>
              <a:buFont typeface="Century Schoolbook"/>
              <a:buNone/>
            </a:pPr>
            <a:r>
              <a:rPr lang="es-AR" sz="4400" b="0" i="0" u="none" strike="noStrike" cap="small">
                <a:solidFill>
                  <a:srgbClr val="575F6D"/>
                </a:solidFill>
                <a:latin typeface="Century Schoolbook"/>
                <a:ea typeface="Century Schoolbook"/>
                <a:cs typeface="Century Schoolbook"/>
                <a:sym typeface="Century Schoolbook"/>
              </a:rPr>
              <a:t>Excepciones</a:t>
            </a:r>
            <a:endParaRPr sz="4400" b="0" i="0" u="none" strike="noStrike" cap="none">
              <a:latin typeface="Arial"/>
              <a:ea typeface="Arial"/>
              <a:cs typeface="Arial"/>
              <a:sym typeface="Arial"/>
            </a:endParaRPr>
          </a:p>
        </p:txBody>
      </p:sp>
      <p:sp>
        <p:nvSpPr>
          <p:cNvPr id="407" name="Google Shape;407;p9"/>
          <p:cNvSpPr/>
          <p:nvPr/>
        </p:nvSpPr>
        <p:spPr>
          <a:xfrm>
            <a:off x="1060920" y="1413360"/>
            <a:ext cx="7637040" cy="5057640"/>
          </a:xfrm>
          <a:prstGeom prst="rect">
            <a:avLst/>
          </a:prstGeom>
          <a:noFill/>
          <a:ln>
            <a:noFill/>
          </a:ln>
        </p:spPr>
        <p:txBody>
          <a:bodyPr spcFirstLastPara="1" wrap="square" lIns="90000" tIns="45000" rIns="90000" bIns="45000" anchor="t" anchorCtr="0">
            <a:noAutofit/>
          </a:bodyPr>
          <a:lstStyle/>
          <a:p>
            <a:pPr marL="0" marR="0" lvl="0" indent="0" algn="just" rtl="0">
              <a:lnSpc>
                <a:spcPct val="100000"/>
              </a:lnSpc>
              <a:spcBef>
                <a:spcPts val="0"/>
              </a:spcBef>
              <a:spcAft>
                <a:spcPts val="0"/>
              </a:spcAft>
              <a:buClr>
                <a:srgbClr val="000000"/>
              </a:buClr>
              <a:buSzPts val="2800"/>
              <a:buFont typeface="Century Schoolbook"/>
              <a:buNone/>
            </a:pPr>
            <a:r>
              <a:rPr lang="es-AR" sz="2800" b="1" i="0" u="none" strike="noStrike" cap="none">
                <a:solidFill>
                  <a:srgbClr val="000000"/>
                </a:solidFill>
                <a:latin typeface="Century Schoolbook"/>
                <a:ea typeface="Century Schoolbook"/>
                <a:cs typeface="Century Schoolbook"/>
                <a:sym typeface="Century Schoolbook"/>
              </a:rPr>
              <a:t>Controlador de excepciones</a:t>
            </a:r>
            <a:endParaRPr sz="2800" b="0" i="0" u="none" strike="noStrike" cap="none">
              <a:latin typeface="Arial"/>
              <a:ea typeface="Arial"/>
              <a:cs typeface="Arial"/>
              <a:sym typeface="Arial"/>
            </a:endParaRPr>
          </a:p>
          <a:p>
            <a:pPr marL="0" marR="0" lvl="0" indent="0" algn="just" rtl="0">
              <a:lnSpc>
                <a:spcPct val="100000"/>
              </a:lnSpc>
              <a:spcBef>
                <a:spcPts val="0"/>
              </a:spcBef>
              <a:spcAft>
                <a:spcPts val="0"/>
              </a:spcAft>
              <a:buSzPts val="2800"/>
              <a:buFont typeface="Arial"/>
              <a:buNone/>
            </a:pPr>
            <a:endParaRPr sz="2800" b="0" i="0" u="none" strike="noStrike" cap="none">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Century Schoolbook"/>
              <a:buNone/>
            </a:pPr>
            <a:r>
              <a:rPr lang="es-AR" sz="2400" b="1" i="0" u="none" strike="noStrike" cap="none">
                <a:solidFill>
                  <a:srgbClr val="000000"/>
                </a:solidFill>
                <a:latin typeface="Century Schoolbook"/>
                <a:ea typeface="Century Schoolbook"/>
                <a:cs typeface="Century Schoolbook"/>
                <a:sym typeface="Century Schoolbook"/>
              </a:rPr>
              <a:t>Encargado de </a:t>
            </a:r>
            <a:r>
              <a:rPr lang="es-AR" sz="2400" b="1">
                <a:latin typeface="Century Schoolbook"/>
                <a:ea typeface="Century Schoolbook"/>
                <a:cs typeface="Century Schoolbook"/>
                <a:sym typeface="Century Schoolbook"/>
              </a:rPr>
              <a:t>manejar</a:t>
            </a:r>
            <a:r>
              <a:rPr lang="es-AR" sz="2400" b="1" i="0" u="none" strike="noStrike" cap="none">
                <a:solidFill>
                  <a:srgbClr val="000000"/>
                </a:solidFill>
                <a:latin typeface="Century Schoolbook"/>
                <a:ea typeface="Century Schoolbook"/>
                <a:cs typeface="Century Schoolbook"/>
                <a:sym typeface="Century Schoolbook"/>
              </a:rPr>
              <a:t> la excepción. </a:t>
            </a:r>
            <a:endParaRPr sz="2400" b="0" i="0" u="none" strike="noStrike" cap="none">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Century Schoolbook"/>
              <a:buNone/>
            </a:pPr>
            <a:r>
              <a:rPr lang="es-AR" sz="2400" b="0" i="0" u="none" strike="noStrike" cap="none">
                <a:solidFill>
                  <a:srgbClr val="000000"/>
                </a:solidFill>
                <a:latin typeface="Century Schoolbook"/>
                <a:ea typeface="Century Schoolbook"/>
                <a:cs typeface="Century Schoolbook"/>
                <a:sym typeface="Century Schoolbook"/>
              </a:rPr>
              <a:t>Puede tomar </a:t>
            </a:r>
            <a:r>
              <a:rPr lang="es-AR" sz="2400" b="1" i="0" u="none" strike="noStrike" cap="none">
                <a:solidFill>
                  <a:srgbClr val="000000"/>
                </a:solidFill>
                <a:latin typeface="Century Schoolbook"/>
                <a:ea typeface="Century Schoolbook"/>
                <a:cs typeface="Century Schoolbook"/>
                <a:sym typeface="Century Schoolbook"/>
              </a:rPr>
              <a:t>distintas acciones según la situación</a:t>
            </a:r>
            <a:r>
              <a:rPr lang="es-AR" sz="2400" b="0" i="0" u="none" strike="noStrike" cap="none">
                <a:solidFill>
                  <a:srgbClr val="000000"/>
                </a:solidFill>
                <a:latin typeface="Century Schoolbook"/>
                <a:ea typeface="Century Schoolbook"/>
                <a:cs typeface="Century Schoolbook"/>
                <a:sym typeface="Century Schoolbook"/>
              </a:rPr>
              <a:t>:</a:t>
            </a:r>
            <a:endParaRPr sz="2400" b="0" i="0" u="none" strike="noStrike" cap="none">
              <a:latin typeface="Arial"/>
              <a:ea typeface="Arial"/>
              <a:cs typeface="Arial"/>
              <a:sym typeface="Arial"/>
            </a:endParaRPr>
          </a:p>
          <a:p>
            <a:pPr marL="0" marR="0" lvl="0" indent="0" algn="just" rtl="0">
              <a:lnSpc>
                <a:spcPct val="100000"/>
              </a:lnSpc>
              <a:spcBef>
                <a:spcPts val="0"/>
              </a:spcBef>
              <a:spcAft>
                <a:spcPts val="0"/>
              </a:spcAft>
              <a:buSzPts val="2400"/>
              <a:buFont typeface="Arial"/>
              <a:buNone/>
            </a:pPr>
            <a:endParaRPr sz="2400" b="0" i="0" u="none" strike="noStrike" cap="none">
              <a:latin typeface="Arial"/>
              <a:ea typeface="Arial"/>
              <a:cs typeface="Arial"/>
              <a:sym typeface="Arial"/>
            </a:endParaRPr>
          </a:p>
          <a:p>
            <a:pPr marL="285840" marR="0" lvl="0" indent="-285840" algn="just" rtl="0">
              <a:lnSpc>
                <a:spcPct val="100000"/>
              </a:lnSpc>
              <a:spcBef>
                <a:spcPts val="0"/>
              </a:spcBef>
              <a:spcAft>
                <a:spcPts val="0"/>
              </a:spcAft>
              <a:buClr>
                <a:srgbClr val="000000"/>
              </a:buClr>
              <a:buSzPts val="2400"/>
              <a:buFont typeface="Arial"/>
              <a:buChar char="•"/>
            </a:pPr>
            <a:r>
              <a:rPr lang="es-AR" sz="2400" b="1" i="0" u="none" strike="noStrike" cap="none">
                <a:solidFill>
                  <a:srgbClr val="000000"/>
                </a:solidFill>
                <a:latin typeface="Century Schoolbook"/>
                <a:ea typeface="Century Schoolbook"/>
                <a:cs typeface="Century Schoolbook"/>
                <a:sym typeface="Century Schoolbook"/>
              </a:rPr>
              <a:t>Imprimir </a:t>
            </a:r>
            <a:r>
              <a:rPr lang="es-AR" sz="2400" b="0" i="0" u="none" strike="noStrike" cap="none">
                <a:solidFill>
                  <a:srgbClr val="000000"/>
                </a:solidFill>
                <a:latin typeface="Century Schoolbook"/>
                <a:ea typeface="Century Schoolbook"/>
                <a:cs typeface="Century Schoolbook"/>
                <a:sym typeface="Century Schoolbook"/>
              </a:rPr>
              <a:t>un </a:t>
            </a:r>
            <a:r>
              <a:rPr lang="es-AR" sz="2400" b="1" i="0" u="none" strike="noStrike" cap="none">
                <a:solidFill>
                  <a:srgbClr val="000000"/>
                </a:solidFill>
                <a:latin typeface="Century Schoolbook"/>
                <a:ea typeface="Century Schoolbook"/>
                <a:cs typeface="Century Schoolbook"/>
                <a:sym typeface="Century Schoolbook"/>
              </a:rPr>
              <a:t>mensaje de error</a:t>
            </a:r>
            <a:endParaRPr sz="2400" b="0" i="0" u="none" strike="noStrike" cap="none">
              <a:latin typeface="Arial"/>
              <a:ea typeface="Arial"/>
              <a:cs typeface="Arial"/>
              <a:sym typeface="Arial"/>
            </a:endParaRPr>
          </a:p>
          <a:p>
            <a:pPr marL="285840" marR="0" lvl="0" indent="-285840" algn="just" rtl="0">
              <a:lnSpc>
                <a:spcPct val="100000"/>
              </a:lnSpc>
              <a:spcBef>
                <a:spcPts val="0"/>
              </a:spcBef>
              <a:spcAft>
                <a:spcPts val="0"/>
              </a:spcAft>
              <a:buClr>
                <a:srgbClr val="000000"/>
              </a:buClr>
              <a:buSzPts val="2400"/>
              <a:buFont typeface="Arial"/>
              <a:buChar char="•"/>
            </a:pPr>
            <a:r>
              <a:rPr lang="es-AR" sz="2400" b="0" i="0" u="none" strike="noStrike" cap="none">
                <a:solidFill>
                  <a:srgbClr val="000000"/>
                </a:solidFill>
                <a:latin typeface="Century Schoolbook"/>
                <a:ea typeface="Century Schoolbook"/>
                <a:cs typeface="Century Schoolbook"/>
                <a:sym typeface="Century Schoolbook"/>
              </a:rPr>
              <a:t>Realizar </a:t>
            </a:r>
            <a:r>
              <a:rPr lang="es-AR" sz="2400" b="1" i="0" u="none" strike="noStrike" cap="none">
                <a:solidFill>
                  <a:srgbClr val="000000"/>
                </a:solidFill>
                <a:latin typeface="Century Schoolbook"/>
                <a:ea typeface="Century Schoolbook"/>
                <a:cs typeface="Century Schoolbook"/>
                <a:sym typeface="Century Schoolbook"/>
              </a:rPr>
              <a:t>acciones correctivas</a:t>
            </a:r>
            <a:r>
              <a:rPr lang="es-AR" sz="2400" b="0" i="0" u="none" strike="noStrike" cap="none">
                <a:solidFill>
                  <a:srgbClr val="000000"/>
                </a:solidFill>
                <a:latin typeface="Century Schoolbook"/>
                <a:ea typeface="Century Schoolbook"/>
                <a:cs typeface="Century Schoolbook"/>
                <a:sym typeface="Century Schoolbook"/>
              </a:rPr>
              <a:t> </a:t>
            </a:r>
            <a:endParaRPr sz="2400" b="0" i="0" u="none" strike="noStrike" cap="none">
              <a:latin typeface="Arial"/>
              <a:ea typeface="Arial"/>
              <a:cs typeface="Arial"/>
              <a:sym typeface="Arial"/>
            </a:endParaRPr>
          </a:p>
          <a:p>
            <a:pPr marL="285840" marR="0" lvl="0" indent="-285840" algn="just" rtl="0">
              <a:lnSpc>
                <a:spcPct val="100000"/>
              </a:lnSpc>
              <a:spcBef>
                <a:spcPts val="0"/>
              </a:spcBef>
              <a:spcAft>
                <a:spcPts val="0"/>
              </a:spcAft>
              <a:buClr>
                <a:srgbClr val="000000"/>
              </a:buClr>
              <a:buSzPts val="2400"/>
              <a:buFont typeface="Arial"/>
              <a:buChar char="•"/>
            </a:pPr>
            <a:r>
              <a:rPr lang="es-AR" sz="2400" b="1" i="0" u="none" strike="noStrike" cap="none">
                <a:solidFill>
                  <a:srgbClr val="000000"/>
                </a:solidFill>
                <a:latin typeface="Century Schoolbook"/>
                <a:ea typeface="Century Schoolbook"/>
                <a:cs typeface="Century Schoolbook"/>
                <a:sym typeface="Century Schoolbook"/>
              </a:rPr>
              <a:t>Lanzar otra excepción</a:t>
            </a:r>
            <a:endParaRPr sz="2400" b="0" i="0" u="none" strike="noStrike" cap="none">
              <a:latin typeface="Arial"/>
              <a:ea typeface="Arial"/>
              <a:cs typeface="Arial"/>
              <a:sym typeface="Arial"/>
            </a:endParaRPr>
          </a:p>
          <a:p>
            <a:pPr marL="285840" marR="0" lvl="0" indent="-285840" algn="just" rtl="0">
              <a:lnSpc>
                <a:spcPct val="100000"/>
              </a:lnSpc>
              <a:spcBef>
                <a:spcPts val="0"/>
              </a:spcBef>
              <a:spcAft>
                <a:spcPts val="0"/>
              </a:spcAft>
              <a:buClr>
                <a:srgbClr val="000000"/>
              </a:buClr>
              <a:buSzPts val="2400"/>
              <a:buFont typeface="Arial"/>
              <a:buChar char="•"/>
            </a:pPr>
            <a:r>
              <a:rPr lang="es-AR" sz="2400" b="1" i="0" u="none" strike="noStrike" cap="none">
                <a:solidFill>
                  <a:srgbClr val="000000"/>
                </a:solidFill>
                <a:latin typeface="Century Schoolbook"/>
                <a:ea typeface="Century Schoolbook"/>
                <a:cs typeface="Century Schoolbook"/>
                <a:sym typeface="Century Schoolbook"/>
              </a:rPr>
              <a:t>Finalizar </a:t>
            </a:r>
            <a:r>
              <a:rPr lang="es-AR" sz="2400" b="0" i="0" u="none" strike="noStrike" cap="none">
                <a:solidFill>
                  <a:srgbClr val="000000"/>
                </a:solidFill>
                <a:latin typeface="Century Schoolbook"/>
                <a:ea typeface="Century Schoolbook"/>
                <a:cs typeface="Century Schoolbook"/>
                <a:sym typeface="Century Schoolbook"/>
              </a:rPr>
              <a:t>la ejecución del </a:t>
            </a:r>
            <a:r>
              <a:rPr lang="es-AR" sz="2400" b="1" i="0" u="none" strike="noStrike" cap="none">
                <a:solidFill>
                  <a:srgbClr val="000000"/>
                </a:solidFill>
                <a:latin typeface="Century Schoolbook"/>
                <a:ea typeface="Century Schoolbook"/>
                <a:cs typeface="Century Schoolbook"/>
                <a:sym typeface="Century Schoolbook"/>
              </a:rPr>
              <a:t>programa </a:t>
            </a:r>
            <a:endParaRPr sz="2400" b="0" i="0" u="none" strike="noStrike" cap="none">
              <a:latin typeface="Arial"/>
              <a:ea typeface="Arial"/>
              <a:cs typeface="Arial"/>
              <a:sym typeface="Arial"/>
            </a:endParaRPr>
          </a:p>
          <a:p>
            <a:pPr marL="0" marR="0" lvl="0" indent="0" algn="just" rtl="0">
              <a:lnSpc>
                <a:spcPct val="100000"/>
              </a:lnSpc>
              <a:spcBef>
                <a:spcPts val="0"/>
              </a:spcBef>
              <a:spcAft>
                <a:spcPts val="0"/>
              </a:spcAft>
              <a:buSzPts val="2400"/>
              <a:buFont typeface="Arial"/>
              <a:buNone/>
            </a:pPr>
            <a:endParaRPr sz="2400" b="0" i="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Century Schoolbook"/>
              <a:buNone/>
            </a:pPr>
            <a:r>
              <a:rPr lang="es-AR" sz="2400" b="1" i="0" u="none" strike="noStrike" cap="none">
                <a:solidFill>
                  <a:srgbClr val="000000"/>
                </a:solidFill>
                <a:latin typeface="Century Schoolbook"/>
                <a:ea typeface="Century Schoolbook"/>
                <a:cs typeface="Century Schoolbook"/>
                <a:sym typeface="Century Schoolbook"/>
              </a:rPr>
              <a:t>Debe ser la solución menos perjudicial</a:t>
            </a:r>
            <a:endParaRPr sz="2400" b="0" i="0" u="none" strike="noStrike" cap="none">
              <a:latin typeface="Arial"/>
              <a:ea typeface="Arial"/>
              <a:cs typeface="Arial"/>
              <a:sym typeface="Arial"/>
            </a:endParaRPr>
          </a:p>
          <a:p>
            <a:pPr marL="0" marR="0" lvl="0" indent="0" algn="just" rtl="0">
              <a:lnSpc>
                <a:spcPct val="100000"/>
              </a:lnSpc>
              <a:spcBef>
                <a:spcPts val="0"/>
              </a:spcBef>
              <a:spcAft>
                <a:spcPts val="0"/>
              </a:spcAft>
              <a:buSzPts val="2000"/>
              <a:buFont typeface="Arial"/>
              <a:buNone/>
            </a:pPr>
            <a:endParaRPr sz="2000" b="0" i="0" u="none" strike="noStrike" cap="none">
              <a:latin typeface="Arial"/>
              <a:ea typeface="Arial"/>
              <a:cs typeface="Arial"/>
              <a:sym typeface="Arial"/>
            </a:endParaRPr>
          </a:p>
        </p:txBody>
      </p:sp>
      <p:sp>
        <p:nvSpPr>
          <p:cNvPr id="408" name="Google Shape;408;p9"/>
          <p:cNvSpPr/>
          <p:nvPr/>
        </p:nvSpPr>
        <p:spPr>
          <a:xfrm>
            <a:off x="388800" y="1487520"/>
            <a:ext cx="8135280" cy="34354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9"/>
          <p:cNvSpPr/>
          <p:nvPr/>
        </p:nvSpPr>
        <p:spPr>
          <a:xfrm>
            <a:off x="8244000" y="5765400"/>
            <a:ext cx="81864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9</a:t>
            </a:fld>
            <a:endParaRPr sz="1800" b="0" i="0" u="none" strike="noStrike" cap="none">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3"/>
        <p:cNvGrpSpPr/>
        <p:nvPr/>
      </p:nvGrpSpPr>
      <p:grpSpPr>
        <a:xfrm>
          <a:off x="0" y="0"/>
          <a:ext cx="0" cy="0"/>
          <a:chOff x="0" y="0"/>
          <a:chExt cx="0" cy="0"/>
        </a:xfrm>
      </p:grpSpPr>
      <p:sp>
        <p:nvSpPr>
          <p:cNvPr id="414" name="Google Shape;414;p10"/>
          <p:cNvSpPr/>
          <p:nvPr/>
        </p:nvSpPr>
        <p:spPr>
          <a:xfrm>
            <a:off x="457200" y="27468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4400"/>
              <a:buFont typeface="Century Schoolbook"/>
              <a:buNone/>
            </a:pPr>
            <a:r>
              <a:rPr lang="es-AR" sz="4400" b="0" i="0" u="none" strike="noStrike" cap="small">
                <a:solidFill>
                  <a:srgbClr val="575F6D"/>
                </a:solidFill>
                <a:latin typeface="Century Schoolbook"/>
                <a:ea typeface="Century Schoolbook"/>
                <a:cs typeface="Century Schoolbook"/>
                <a:sym typeface="Century Schoolbook"/>
              </a:rPr>
              <a:t>Excepciones</a:t>
            </a:r>
            <a:endParaRPr sz="4400" b="0" i="0" u="none" strike="noStrike" cap="none">
              <a:latin typeface="Arial"/>
              <a:ea typeface="Arial"/>
              <a:cs typeface="Arial"/>
              <a:sym typeface="Arial"/>
            </a:endParaRPr>
          </a:p>
        </p:txBody>
      </p:sp>
      <p:sp>
        <p:nvSpPr>
          <p:cNvPr id="415" name="Google Shape;415;p10"/>
          <p:cNvSpPr/>
          <p:nvPr/>
        </p:nvSpPr>
        <p:spPr>
          <a:xfrm>
            <a:off x="514800" y="1413360"/>
            <a:ext cx="7939080" cy="4985640"/>
          </a:xfrm>
          <a:prstGeom prst="rect">
            <a:avLst/>
          </a:prstGeom>
          <a:noFill/>
          <a:ln>
            <a:noFill/>
          </a:ln>
        </p:spPr>
        <p:txBody>
          <a:bodyPr spcFirstLastPara="1" wrap="square" lIns="90000" tIns="45000" rIns="90000" bIns="45000" anchor="t" anchorCtr="0">
            <a:noAutofit/>
          </a:bodyPr>
          <a:lstStyle/>
          <a:p>
            <a:pPr marL="0" marR="0" lvl="0" indent="0" algn="just" rtl="0">
              <a:lnSpc>
                <a:spcPct val="100000"/>
              </a:lnSpc>
              <a:spcBef>
                <a:spcPts val="0"/>
              </a:spcBef>
              <a:spcAft>
                <a:spcPts val="0"/>
              </a:spcAft>
              <a:buSzPts val="2400"/>
              <a:buFont typeface="Arial"/>
              <a:buNone/>
            </a:pPr>
            <a:endParaRPr sz="2400" b="0" i="0" u="none" strike="noStrike" cap="none">
              <a:latin typeface="Arial"/>
              <a:ea typeface="Arial"/>
              <a:cs typeface="Arial"/>
              <a:sym typeface="Arial"/>
            </a:endParaRPr>
          </a:p>
          <a:p>
            <a:pPr marL="0" marR="0" lvl="0" indent="0" algn="just" rtl="0">
              <a:lnSpc>
                <a:spcPct val="93000"/>
              </a:lnSpc>
              <a:spcBef>
                <a:spcPts val="0"/>
              </a:spcBef>
              <a:spcAft>
                <a:spcPts val="0"/>
              </a:spcAft>
              <a:buClr>
                <a:srgbClr val="000000"/>
              </a:buClr>
              <a:buSzPts val="2400"/>
              <a:buFont typeface="Century Schoolbook"/>
              <a:buNone/>
            </a:pPr>
            <a:r>
              <a:rPr lang="es-AR" sz="2400" b="1" i="0" u="none" strike="noStrike" cap="none">
                <a:solidFill>
                  <a:srgbClr val="000000"/>
                </a:solidFill>
                <a:latin typeface="Century Schoolbook"/>
                <a:ea typeface="Century Schoolbook"/>
                <a:cs typeface="Century Schoolbook"/>
                <a:sym typeface="Century Schoolbook"/>
              </a:rPr>
              <a:t>Tipos de excepciones:</a:t>
            </a:r>
            <a:endParaRPr sz="2400" b="0" i="0" u="none" strike="noStrike" cap="none">
              <a:latin typeface="Arial"/>
              <a:ea typeface="Arial"/>
              <a:cs typeface="Arial"/>
              <a:sym typeface="Arial"/>
            </a:endParaRPr>
          </a:p>
          <a:p>
            <a:pPr marL="0" marR="0" lvl="0" indent="0" algn="just" rtl="0">
              <a:lnSpc>
                <a:spcPct val="93000"/>
              </a:lnSpc>
              <a:spcBef>
                <a:spcPts val="0"/>
              </a:spcBef>
              <a:spcAft>
                <a:spcPts val="0"/>
              </a:spcAft>
              <a:buSzPts val="2400"/>
              <a:buFont typeface="Arial"/>
              <a:buNone/>
            </a:pPr>
            <a:endParaRPr sz="2400" b="0" i="0" u="none" strike="noStrike" cap="none">
              <a:latin typeface="Arial"/>
              <a:ea typeface="Arial"/>
              <a:cs typeface="Arial"/>
              <a:sym typeface="Arial"/>
            </a:endParaRPr>
          </a:p>
          <a:p>
            <a:pPr marL="343080" marR="0" lvl="0" indent="-343080" algn="l" rtl="0">
              <a:lnSpc>
                <a:spcPct val="93000"/>
              </a:lnSpc>
              <a:spcBef>
                <a:spcPts val="0"/>
              </a:spcBef>
              <a:spcAft>
                <a:spcPts val="0"/>
              </a:spcAft>
              <a:buClr>
                <a:srgbClr val="000000"/>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Implícitas</a:t>
            </a:r>
            <a:r>
              <a:rPr lang="es-AR" sz="2400" b="0" i="0" u="none" strike="noStrike" cap="none">
                <a:solidFill>
                  <a:srgbClr val="000000"/>
                </a:solidFill>
                <a:latin typeface="Century Schoolbook"/>
                <a:ea typeface="Century Schoolbook"/>
                <a:cs typeface="Century Schoolbook"/>
                <a:sym typeface="Century Schoolbook"/>
              </a:rPr>
              <a:t>: </a:t>
            </a:r>
            <a:r>
              <a:rPr lang="es-AR" sz="2400" b="1" i="0" u="none" strike="noStrike" cap="none">
                <a:solidFill>
                  <a:srgbClr val="000000"/>
                </a:solidFill>
                <a:latin typeface="Century Schoolbook"/>
                <a:ea typeface="Century Schoolbook"/>
                <a:cs typeface="Century Schoolbook"/>
                <a:sym typeface="Century Schoolbook"/>
              </a:rPr>
              <a:t>Definidas </a:t>
            </a:r>
            <a:r>
              <a:rPr lang="es-AR" sz="2400" b="0" i="0" u="none" strike="noStrike" cap="none">
                <a:solidFill>
                  <a:srgbClr val="000000"/>
                </a:solidFill>
                <a:latin typeface="Century Schoolbook"/>
                <a:ea typeface="Century Schoolbook"/>
                <a:cs typeface="Century Schoolbook"/>
                <a:sym typeface="Century Schoolbook"/>
              </a:rPr>
              <a:t>por el </a:t>
            </a:r>
            <a:r>
              <a:rPr lang="es-AR" sz="2400" b="1" i="0" u="none" strike="noStrike" cap="none">
                <a:solidFill>
                  <a:srgbClr val="000000"/>
                </a:solidFill>
                <a:latin typeface="Century Schoolbook"/>
                <a:ea typeface="Century Schoolbook"/>
                <a:cs typeface="Century Schoolbook"/>
                <a:sym typeface="Century Schoolbook"/>
              </a:rPr>
              <a:t>lenguaje </a:t>
            </a:r>
            <a:r>
              <a:rPr lang="es-AR" sz="2400" b="1" i="1" u="none" strike="noStrike" cap="none">
                <a:solidFill>
                  <a:srgbClr val="000000"/>
                </a:solidFill>
                <a:latin typeface="Century Schoolbook"/>
                <a:ea typeface="Century Schoolbook"/>
                <a:cs typeface="Century Schoolbook"/>
                <a:sym typeface="Century Schoolbook"/>
              </a:rPr>
              <a:t>(built-in)</a:t>
            </a:r>
            <a:endParaRPr sz="2400" b="0" i="0" u="none" strike="noStrike" cap="none">
              <a:latin typeface="Arial"/>
              <a:ea typeface="Arial"/>
              <a:cs typeface="Arial"/>
              <a:sym typeface="Arial"/>
            </a:endParaRPr>
          </a:p>
          <a:p>
            <a:pPr marL="0" marR="0" lvl="0" indent="0" algn="l" rtl="0">
              <a:lnSpc>
                <a:spcPct val="93000"/>
              </a:lnSpc>
              <a:spcBef>
                <a:spcPts val="0"/>
              </a:spcBef>
              <a:spcAft>
                <a:spcPts val="0"/>
              </a:spcAft>
              <a:buSzPts val="2400"/>
              <a:buFont typeface="Arial"/>
              <a:buNone/>
            </a:pPr>
            <a:endParaRPr sz="2400" b="0" i="0" u="none" strike="noStrike" cap="none">
              <a:latin typeface="Arial"/>
              <a:ea typeface="Arial"/>
              <a:cs typeface="Arial"/>
              <a:sym typeface="Arial"/>
            </a:endParaRPr>
          </a:p>
          <a:p>
            <a:pPr marL="343080" marR="0" lvl="0" indent="-343080" algn="l" rtl="0">
              <a:lnSpc>
                <a:spcPct val="93000"/>
              </a:lnSpc>
              <a:spcBef>
                <a:spcPts val="0"/>
              </a:spcBef>
              <a:spcAft>
                <a:spcPts val="0"/>
              </a:spcAft>
              <a:buClr>
                <a:srgbClr val="000000"/>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Explícitas</a:t>
            </a:r>
            <a:r>
              <a:rPr lang="es-AR" sz="2400" b="0" i="0" u="none" strike="noStrike" cap="none">
                <a:solidFill>
                  <a:srgbClr val="000000"/>
                </a:solidFill>
                <a:latin typeface="Century Schoolbook"/>
                <a:ea typeface="Century Schoolbook"/>
                <a:cs typeface="Century Schoolbook"/>
                <a:sym typeface="Century Schoolbook"/>
              </a:rPr>
              <a:t>: </a:t>
            </a:r>
            <a:r>
              <a:rPr lang="es-AR" sz="2400" b="1" i="0" u="none" strike="noStrike" cap="none">
                <a:solidFill>
                  <a:srgbClr val="000000"/>
                </a:solidFill>
                <a:latin typeface="Century Schoolbook"/>
                <a:ea typeface="Century Schoolbook"/>
                <a:cs typeface="Century Schoolbook"/>
                <a:sym typeface="Century Schoolbook"/>
              </a:rPr>
              <a:t>Definidas </a:t>
            </a:r>
            <a:r>
              <a:rPr lang="es-AR" sz="2400" b="0" i="0" u="none" strike="noStrike" cap="none">
                <a:solidFill>
                  <a:srgbClr val="000000"/>
                </a:solidFill>
                <a:latin typeface="Century Schoolbook"/>
                <a:ea typeface="Century Schoolbook"/>
                <a:cs typeface="Century Schoolbook"/>
                <a:sym typeface="Century Schoolbook"/>
              </a:rPr>
              <a:t>por el </a:t>
            </a:r>
            <a:r>
              <a:rPr lang="es-AR" sz="2400" b="1" i="0" u="none" strike="noStrike" cap="none">
                <a:solidFill>
                  <a:srgbClr val="000000"/>
                </a:solidFill>
                <a:latin typeface="Century Schoolbook"/>
                <a:ea typeface="Century Schoolbook"/>
                <a:cs typeface="Century Schoolbook"/>
                <a:sym typeface="Century Schoolbook"/>
              </a:rPr>
              <a:t>programador</a:t>
            </a:r>
            <a:endParaRPr sz="2400" b="0" i="0" u="none" strike="noStrike" cap="none">
              <a:latin typeface="Arial"/>
              <a:ea typeface="Arial"/>
              <a:cs typeface="Arial"/>
              <a:sym typeface="Arial"/>
            </a:endParaRPr>
          </a:p>
        </p:txBody>
      </p:sp>
      <p:sp>
        <p:nvSpPr>
          <p:cNvPr id="416" name="Google Shape;416;p10"/>
          <p:cNvSpPr/>
          <p:nvPr/>
        </p:nvSpPr>
        <p:spPr>
          <a:xfrm>
            <a:off x="388800" y="1487520"/>
            <a:ext cx="8135280" cy="45424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0"/>
          <p:cNvSpPr/>
          <p:nvPr/>
        </p:nvSpPr>
        <p:spPr>
          <a:xfrm>
            <a:off x="8316000" y="58086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10</a:t>
            </a:fld>
            <a:endParaRPr sz="1800" b="0" i="0" u="none" strike="noStrike" cap="none">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11"/>
          <p:cNvSpPr/>
          <p:nvPr/>
        </p:nvSpPr>
        <p:spPr>
          <a:xfrm>
            <a:off x="457200" y="-9900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4000"/>
              <a:buFont typeface="Century Schoolbook"/>
              <a:buNone/>
            </a:pPr>
            <a:r>
              <a:rPr lang="es-AR" sz="4000" b="0" i="0" u="none" strike="noStrike" cap="small">
                <a:solidFill>
                  <a:srgbClr val="575F6D"/>
                </a:solidFill>
                <a:latin typeface="Century Schoolbook"/>
                <a:ea typeface="Century Schoolbook"/>
                <a:cs typeface="Century Schoolbook"/>
                <a:sym typeface="Century Schoolbook"/>
              </a:rPr>
              <a:t>Excepciones</a:t>
            </a:r>
            <a:endParaRPr sz="4000" b="0" i="0" u="none" strike="noStrike" cap="none">
              <a:latin typeface="Arial"/>
              <a:ea typeface="Arial"/>
              <a:cs typeface="Arial"/>
              <a:sym typeface="Arial"/>
            </a:endParaRPr>
          </a:p>
        </p:txBody>
      </p:sp>
      <p:sp>
        <p:nvSpPr>
          <p:cNvPr id="424" name="Google Shape;424;p11"/>
          <p:cNvSpPr/>
          <p:nvPr/>
        </p:nvSpPr>
        <p:spPr>
          <a:xfrm>
            <a:off x="457200" y="1039320"/>
            <a:ext cx="8283960" cy="5589720"/>
          </a:xfrm>
          <a:prstGeom prst="rect">
            <a:avLst/>
          </a:prstGeom>
          <a:noFill/>
          <a:ln>
            <a:noFill/>
          </a:ln>
        </p:spPr>
        <p:txBody>
          <a:bodyPr spcFirstLastPara="1" wrap="square" lIns="90000" tIns="45000" rIns="90000" bIns="45000" anchor="t" anchorCtr="0">
            <a:noAutofit/>
          </a:bodyPr>
          <a:lstStyle/>
          <a:p>
            <a:pPr marL="171360" marR="0" lvl="0" indent="14039" algn="l" rtl="0">
              <a:lnSpc>
                <a:spcPct val="90000"/>
              </a:lnSpc>
              <a:spcBef>
                <a:spcPts val="0"/>
              </a:spcBef>
              <a:spcAft>
                <a:spcPts val="0"/>
              </a:spcAft>
              <a:buClr>
                <a:srgbClr val="000000"/>
              </a:buClr>
              <a:buSzPts val="2400"/>
              <a:buFont typeface="Arial"/>
              <a:buNone/>
            </a:pPr>
            <a:r>
              <a:rPr lang="es-AR" sz="2400" b="1" i="0" u="none" strike="noStrike" cap="none">
                <a:solidFill>
                  <a:srgbClr val="000000"/>
                </a:solidFill>
                <a:latin typeface="Arial"/>
                <a:ea typeface="Arial"/>
                <a:cs typeface="Arial"/>
                <a:sym typeface="Arial"/>
              </a:rPr>
              <a:t>¿Qué se debe tener en cuenta un lenguaje que provee manejo de  excepciones?</a:t>
            </a:r>
            <a:endParaRPr sz="2400" b="0" i="0" u="none" strike="noStrike" cap="none">
              <a:latin typeface="Arial"/>
              <a:ea typeface="Arial"/>
              <a:cs typeface="Arial"/>
              <a:sym typeface="Arial"/>
            </a:endParaRPr>
          </a:p>
          <a:p>
            <a:pPr marL="57240" marR="0" lvl="0" indent="-57240" algn="l" rtl="0">
              <a:lnSpc>
                <a:spcPct val="90000"/>
              </a:lnSpc>
              <a:spcBef>
                <a:spcPts val="0"/>
              </a:spcBef>
              <a:spcAft>
                <a:spcPts val="0"/>
              </a:spcAft>
              <a:buSzPts val="2400"/>
              <a:buFont typeface="Arial"/>
              <a:buNone/>
            </a:pPr>
            <a:endParaRPr sz="2400" b="0" i="0" u="none" strike="noStrike" cap="none">
              <a:latin typeface="Arial"/>
              <a:ea typeface="Arial"/>
              <a:cs typeface="Arial"/>
              <a:sym typeface="Arial"/>
            </a:endParaRPr>
          </a:p>
          <a:p>
            <a:pPr marL="274320" marR="0" lvl="0" indent="-271800" algn="l" rtl="0">
              <a:lnSpc>
                <a:spcPct val="90000"/>
              </a:lnSpc>
              <a:spcBef>
                <a:spcPts val="601"/>
              </a:spcBef>
              <a:spcAft>
                <a:spcPts val="0"/>
              </a:spcAft>
              <a:buClr>
                <a:srgbClr val="FE8637"/>
              </a:buClr>
              <a:buSzPts val="2000"/>
              <a:buFont typeface="Noto Sans Symbols"/>
              <a:buChar char="•"/>
            </a:pPr>
            <a:r>
              <a:rPr lang="es-AR" sz="2000" b="1" i="0" u="none" strike="noStrike" cap="none">
                <a:solidFill>
                  <a:srgbClr val="000000"/>
                </a:solidFill>
                <a:latin typeface="Arial"/>
                <a:ea typeface="Arial"/>
                <a:cs typeface="Arial"/>
                <a:sym typeface="Arial"/>
              </a:rPr>
              <a:t>¿Cuáles son las excepciones </a:t>
            </a:r>
            <a:r>
              <a:rPr lang="es-AR" sz="2000" b="0" i="0" u="none" strike="noStrike" cap="none">
                <a:solidFill>
                  <a:srgbClr val="000000"/>
                </a:solidFill>
                <a:latin typeface="Arial"/>
                <a:ea typeface="Arial"/>
                <a:cs typeface="Arial"/>
                <a:sym typeface="Arial"/>
              </a:rPr>
              <a:t>que se pueden manejar? </a:t>
            </a:r>
            <a:r>
              <a:rPr lang="es-AR" sz="2000" b="1" i="0" u="none" strike="noStrike" cap="none">
                <a:solidFill>
                  <a:srgbClr val="000000"/>
                </a:solidFill>
                <a:latin typeface="Arial"/>
                <a:ea typeface="Arial"/>
                <a:cs typeface="Arial"/>
                <a:sym typeface="Arial"/>
              </a:rPr>
              <a:t>¿Cómo se definen?</a:t>
            </a:r>
            <a:endParaRPr sz="2000" b="0" i="0" u="none" strike="noStrike" cap="none">
              <a:latin typeface="Arial"/>
              <a:ea typeface="Arial"/>
              <a:cs typeface="Arial"/>
              <a:sym typeface="Arial"/>
            </a:endParaRPr>
          </a:p>
          <a:p>
            <a:pPr marL="274320" marR="0" lvl="0" indent="-271800" algn="l" rtl="0">
              <a:lnSpc>
                <a:spcPct val="90000"/>
              </a:lnSpc>
              <a:spcBef>
                <a:spcPts val="601"/>
              </a:spcBef>
              <a:spcAft>
                <a:spcPts val="0"/>
              </a:spcAft>
              <a:buClr>
                <a:srgbClr val="FE8637"/>
              </a:buClr>
              <a:buSzPts val="2000"/>
              <a:buFont typeface="Noto Sans Symbols"/>
              <a:buChar char="•"/>
            </a:pPr>
            <a:r>
              <a:rPr lang="es-AR" sz="2000" b="1" i="0" u="none" strike="noStrike" cap="none">
                <a:solidFill>
                  <a:srgbClr val="000000"/>
                </a:solidFill>
                <a:latin typeface="Arial"/>
                <a:ea typeface="Arial"/>
                <a:cs typeface="Arial"/>
                <a:sym typeface="Arial"/>
              </a:rPr>
              <a:t>¿Cómo</a:t>
            </a:r>
            <a:r>
              <a:rPr lang="es-AR" sz="2000" b="0" i="0" u="none" strike="noStrike" cap="none">
                <a:solidFill>
                  <a:srgbClr val="000000"/>
                </a:solidFill>
                <a:latin typeface="Arial"/>
                <a:ea typeface="Arial"/>
                <a:cs typeface="Arial"/>
                <a:sym typeface="Arial"/>
              </a:rPr>
              <a:t> </a:t>
            </a:r>
            <a:r>
              <a:rPr lang="es-AR" sz="2000" b="1" i="0" u="none" strike="noStrike" cap="none">
                <a:solidFill>
                  <a:srgbClr val="000000"/>
                </a:solidFill>
                <a:latin typeface="Arial"/>
                <a:ea typeface="Arial"/>
                <a:cs typeface="Arial"/>
                <a:sym typeface="Arial"/>
              </a:rPr>
              <a:t>se maneja</a:t>
            </a:r>
            <a:r>
              <a:rPr lang="es-AR" sz="2000" b="0" i="0" u="none" strike="noStrike" cap="none">
                <a:solidFill>
                  <a:srgbClr val="000000"/>
                </a:solidFill>
                <a:latin typeface="Arial"/>
                <a:ea typeface="Arial"/>
                <a:cs typeface="Arial"/>
                <a:sym typeface="Arial"/>
              </a:rPr>
              <a:t> una excepción y</a:t>
            </a:r>
            <a:r>
              <a:rPr lang="es-AR" sz="2000" b="1" i="0" u="none" strike="noStrike" cap="none">
                <a:solidFill>
                  <a:srgbClr val="000000"/>
                </a:solidFill>
                <a:latin typeface="Arial"/>
                <a:ea typeface="Arial"/>
                <a:cs typeface="Arial"/>
                <a:sym typeface="Arial"/>
              </a:rPr>
              <a:t> cuál es su ámbito</a:t>
            </a:r>
            <a:r>
              <a:rPr lang="es-AR" sz="2000" b="0" i="0" u="none" strike="noStrike" cap="none">
                <a:solidFill>
                  <a:srgbClr val="000000"/>
                </a:solidFill>
                <a:latin typeface="Arial"/>
                <a:ea typeface="Arial"/>
                <a:cs typeface="Arial"/>
                <a:sym typeface="Arial"/>
              </a:rPr>
              <a:t>?</a:t>
            </a:r>
            <a:endParaRPr sz="2000" b="0" i="0" u="none" strike="noStrike" cap="none">
              <a:latin typeface="Arial"/>
              <a:ea typeface="Arial"/>
              <a:cs typeface="Arial"/>
              <a:sym typeface="Arial"/>
            </a:endParaRPr>
          </a:p>
          <a:p>
            <a:pPr marL="274320" marR="0" lvl="0" indent="-271800" algn="l" rtl="0">
              <a:lnSpc>
                <a:spcPct val="90000"/>
              </a:lnSpc>
              <a:spcBef>
                <a:spcPts val="601"/>
              </a:spcBef>
              <a:spcAft>
                <a:spcPts val="0"/>
              </a:spcAft>
              <a:buClr>
                <a:srgbClr val="FE8637"/>
              </a:buClr>
              <a:buSzPts val="2000"/>
              <a:buFont typeface="Noto Sans Symbols"/>
              <a:buChar char="•"/>
            </a:pPr>
            <a:r>
              <a:rPr lang="es-AR" sz="2000" b="1" i="0" u="none" strike="noStrike" cap="none">
                <a:solidFill>
                  <a:srgbClr val="000000"/>
                </a:solidFill>
                <a:latin typeface="Arial"/>
                <a:ea typeface="Arial"/>
                <a:cs typeface="Arial"/>
                <a:sym typeface="Arial"/>
              </a:rPr>
              <a:t>¿Cómo se lanza una excepción?</a:t>
            </a:r>
            <a:endParaRPr sz="2000" b="0" i="0" u="none" strike="noStrike" cap="none">
              <a:latin typeface="Arial"/>
              <a:ea typeface="Arial"/>
              <a:cs typeface="Arial"/>
              <a:sym typeface="Arial"/>
            </a:endParaRPr>
          </a:p>
          <a:p>
            <a:pPr marL="274320" marR="0" lvl="0" indent="-271800" algn="l" rtl="0">
              <a:lnSpc>
                <a:spcPct val="90000"/>
              </a:lnSpc>
              <a:spcBef>
                <a:spcPts val="601"/>
              </a:spcBef>
              <a:spcAft>
                <a:spcPts val="0"/>
              </a:spcAft>
              <a:buClr>
                <a:srgbClr val="FE8637"/>
              </a:buClr>
              <a:buSzPts val="2000"/>
              <a:buFont typeface="Noto Sans Symbols"/>
              <a:buChar char="•"/>
            </a:pPr>
            <a:r>
              <a:rPr lang="es-AR" sz="2000" b="1" i="0" u="none" strike="noStrike" cap="none">
                <a:solidFill>
                  <a:srgbClr val="000000"/>
                </a:solidFill>
                <a:latin typeface="Arial"/>
                <a:ea typeface="Arial"/>
                <a:cs typeface="Arial"/>
                <a:sym typeface="Arial"/>
              </a:rPr>
              <a:t>¿Cómo especificar los controladores de excepciones</a:t>
            </a:r>
            <a:r>
              <a:rPr lang="es-AR" sz="2000" b="0" i="0" u="none" strike="noStrike" cap="none">
                <a:solidFill>
                  <a:srgbClr val="000000"/>
                </a:solidFill>
                <a:latin typeface="Arial"/>
                <a:ea typeface="Arial"/>
                <a:cs typeface="Arial"/>
                <a:sym typeface="Arial"/>
              </a:rPr>
              <a:t> que se han de ejecutar cuando se alcanza las excepciones?</a:t>
            </a:r>
            <a:endParaRPr sz="2000" b="0" i="0" u="none" strike="noStrike" cap="none">
              <a:latin typeface="Arial"/>
              <a:ea typeface="Arial"/>
              <a:cs typeface="Arial"/>
              <a:sym typeface="Arial"/>
            </a:endParaRPr>
          </a:p>
          <a:p>
            <a:pPr marL="274320" marR="0" lvl="0" indent="-271800" algn="l" rtl="0">
              <a:lnSpc>
                <a:spcPct val="90000"/>
              </a:lnSpc>
              <a:spcBef>
                <a:spcPts val="601"/>
              </a:spcBef>
              <a:spcAft>
                <a:spcPts val="0"/>
              </a:spcAft>
              <a:buClr>
                <a:srgbClr val="FE8637"/>
              </a:buClr>
              <a:buSzPts val="2000"/>
              <a:buFont typeface="Noto Sans Symbols"/>
              <a:buChar char="•"/>
            </a:pPr>
            <a:r>
              <a:rPr lang="es-AR" sz="2000" b="1" i="0" u="none" strike="noStrike" cap="none">
                <a:solidFill>
                  <a:srgbClr val="000000"/>
                </a:solidFill>
                <a:latin typeface="Arial"/>
                <a:ea typeface="Arial"/>
                <a:cs typeface="Arial"/>
                <a:sym typeface="Arial"/>
              </a:rPr>
              <a:t>¿A dónde se cede el control cuando se termina de atender una excepción?</a:t>
            </a:r>
            <a:endParaRPr sz="2000" b="0" i="0" u="none" strike="noStrike" cap="none">
              <a:latin typeface="Arial"/>
              <a:ea typeface="Arial"/>
              <a:cs typeface="Arial"/>
              <a:sym typeface="Arial"/>
            </a:endParaRPr>
          </a:p>
          <a:p>
            <a:pPr marL="274320" marR="0" lvl="0" indent="-271800" algn="l" rtl="0">
              <a:lnSpc>
                <a:spcPct val="90000"/>
              </a:lnSpc>
              <a:spcBef>
                <a:spcPts val="601"/>
              </a:spcBef>
              <a:spcAft>
                <a:spcPts val="0"/>
              </a:spcAft>
              <a:buClr>
                <a:srgbClr val="FE8637"/>
              </a:buClr>
              <a:buSzPts val="2000"/>
              <a:buFont typeface="Noto Sans Symbols"/>
              <a:buChar char="•"/>
            </a:pPr>
            <a:r>
              <a:rPr lang="es-AR" sz="2000" b="1" i="0" u="none" strike="noStrike" cap="none">
                <a:solidFill>
                  <a:srgbClr val="000000"/>
                </a:solidFill>
                <a:latin typeface="Arial"/>
                <a:ea typeface="Arial"/>
                <a:cs typeface="Arial"/>
                <a:sym typeface="Arial"/>
              </a:rPr>
              <a:t>¿Cómo se propagan</a:t>
            </a:r>
            <a:r>
              <a:rPr lang="es-AR" sz="2000" b="0" i="0" u="none" strike="noStrike" cap="none">
                <a:solidFill>
                  <a:srgbClr val="000000"/>
                </a:solidFill>
                <a:latin typeface="Arial"/>
                <a:ea typeface="Arial"/>
                <a:cs typeface="Arial"/>
                <a:sym typeface="Arial"/>
              </a:rPr>
              <a:t> las excepciones?</a:t>
            </a:r>
            <a:endParaRPr sz="2000" b="0" i="0" u="none" strike="noStrike" cap="none">
              <a:latin typeface="Arial"/>
              <a:ea typeface="Arial"/>
              <a:cs typeface="Arial"/>
              <a:sym typeface="Arial"/>
            </a:endParaRPr>
          </a:p>
          <a:p>
            <a:pPr marL="274320" marR="0" lvl="0" indent="-271800" algn="l" rtl="0">
              <a:lnSpc>
                <a:spcPct val="90000"/>
              </a:lnSpc>
              <a:spcBef>
                <a:spcPts val="601"/>
              </a:spcBef>
              <a:spcAft>
                <a:spcPts val="0"/>
              </a:spcAft>
              <a:buClr>
                <a:srgbClr val="FE8637"/>
              </a:buClr>
              <a:buSzPts val="2000"/>
              <a:buFont typeface="Noto Sans Symbols"/>
              <a:buChar char="•"/>
            </a:pPr>
            <a:r>
              <a:rPr lang="es-AR" sz="2000" b="1" i="0" u="none" strike="noStrike" cap="none">
                <a:solidFill>
                  <a:srgbClr val="000000"/>
                </a:solidFill>
                <a:latin typeface="Arial"/>
                <a:ea typeface="Arial"/>
                <a:cs typeface="Arial"/>
                <a:sym typeface="Arial"/>
              </a:rPr>
              <a:t>¿Hay excepciones predefinidas?</a:t>
            </a:r>
            <a:endParaRPr sz="2000" b="0" i="0" u="none" strike="noStrike" cap="none">
              <a:latin typeface="Arial"/>
              <a:ea typeface="Arial"/>
              <a:cs typeface="Arial"/>
              <a:sym typeface="Arial"/>
            </a:endParaRPr>
          </a:p>
          <a:p>
            <a:pPr marL="274320" marR="0" lvl="0" indent="-271800" algn="l" rtl="0">
              <a:lnSpc>
                <a:spcPct val="90000"/>
              </a:lnSpc>
              <a:spcBef>
                <a:spcPts val="601"/>
              </a:spcBef>
              <a:spcAft>
                <a:spcPts val="0"/>
              </a:spcAft>
              <a:buClr>
                <a:srgbClr val="FE8637"/>
              </a:buClr>
              <a:buSzPts val="2000"/>
              <a:buFont typeface="Noto Sans Symbols"/>
              <a:buChar char="•"/>
            </a:pPr>
            <a:r>
              <a:rPr lang="es-AR" sz="2000" b="1" i="0" u="none" strike="noStrike" cap="none">
                <a:solidFill>
                  <a:srgbClr val="000000"/>
                </a:solidFill>
                <a:latin typeface="Arial"/>
                <a:ea typeface="Arial"/>
                <a:cs typeface="Arial"/>
                <a:sym typeface="Arial"/>
              </a:rPr>
              <a:t>¿Hay situaciones no controladas que lleven a mayores fallos?</a:t>
            </a:r>
            <a:endParaRPr sz="2000" b="0" i="0" u="none" strike="noStrike" cap="none">
              <a:latin typeface="Arial"/>
              <a:ea typeface="Arial"/>
              <a:cs typeface="Arial"/>
              <a:sym typeface="Arial"/>
            </a:endParaRPr>
          </a:p>
          <a:p>
            <a:pPr marL="0" marR="0" lvl="0" indent="0" algn="l" rtl="0">
              <a:lnSpc>
                <a:spcPct val="9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0" marR="0" lvl="0" indent="0" algn="l" rtl="0">
              <a:lnSpc>
                <a:spcPct val="90000"/>
              </a:lnSpc>
              <a:spcBef>
                <a:spcPts val="601"/>
              </a:spcBef>
              <a:spcAft>
                <a:spcPts val="0"/>
              </a:spcAft>
              <a:buSzPts val="2400"/>
              <a:buFont typeface="Arial"/>
              <a:buNone/>
            </a:pPr>
            <a:endParaRPr sz="2400" b="0" i="0" u="none" strike="noStrike" cap="none">
              <a:latin typeface="Arial"/>
              <a:ea typeface="Arial"/>
              <a:cs typeface="Arial"/>
              <a:sym typeface="Arial"/>
            </a:endParaRPr>
          </a:p>
        </p:txBody>
      </p:sp>
      <p:sp>
        <p:nvSpPr>
          <p:cNvPr id="425" name="Google Shape;425;p11"/>
          <p:cNvSpPr/>
          <p:nvPr/>
        </p:nvSpPr>
        <p:spPr>
          <a:xfrm>
            <a:off x="8133840" y="57888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11</a:t>
            </a:fld>
            <a:endParaRPr sz="1800" b="0" i="0" u="none" strike="noStrike" cap="none">
              <a:latin typeface="Arial"/>
              <a:ea typeface="Arial"/>
              <a:cs typeface="Arial"/>
              <a:sym typeface="Arial"/>
            </a:endParaRPr>
          </a:p>
        </p:txBody>
      </p:sp>
      <p:sp>
        <p:nvSpPr>
          <p:cNvPr id="426" name="Google Shape;426;p11"/>
          <p:cNvSpPr/>
          <p:nvPr/>
        </p:nvSpPr>
        <p:spPr>
          <a:xfrm>
            <a:off x="2628360" y="5897160"/>
            <a:ext cx="3748680" cy="36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E36C09"/>
              </a:buClr>
              <a:buSzPts val="1800"/>
              <a:buFont typeface="Arial"/>
              <a:buNone/>
            </a:pPr>
            <a:r>
              <a:rPr lang="es-AR" sz="1800" b="1" i="0" u="none" strike="noStrike" cap="none">
                <a:solidFill>
                  <a:srgbClr val="E36C09"/>
                </a:solidFill>
                <a:latin typeface="Arial"/>
                <a:ea typeface="Arial"/>
                <a:cs typeface="Arial"/>
                <a:sym typeface="Arial"/>
              </a:rPr>
              <a:t>Dependerá de cada lenguaje</a:t>
            </a:r>
            <a:endParaRPr sz="1800" b="0" i="0" u="none" strike="noStrike" cap="none">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0"/>
        <p:cNvGrpSpPr/>
        <p:nvPr/>
      </p:nvGrpSpPr>
      <p:grpSpPr>
        <a:xfrm>
          <a:off x="0" y="0"/>
          <a:ext cx="0" cy="0"/>
          <a:chOff x="0" y="0"/>
          <a:chExt cx="0" cy="0"/>
        </a:xfrm>
      </p:grpSpPr>
      <p:sp>
        <p:nvSpPr>
          <p:cNvPr id="431" name="Google Shape;431;p12"/>
          <p:cNvSpPr/>
          <p:nvPr/>
        </p:nvSpPr>
        <p:spPr>
          <a:xfrm>
            <a:off x="457200" y="27468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4400"/>
              <a:buFont typeface="Century Schoolbook"/>
              <a:buNone/>
            </a:pPr>
            <a:r>
              <a:rPr lang="es-AR" sz="4400" b="0" i="0" u="none" strike="noStrike" cap="small">
                <a:solidFill>
                  <a:srgbClr val="575F6D"/>
                </a:solidFill>
                <a:latin typeface="Century Schoolbook"/>
                <a:ea typeface="Century Schoolbook"/>
                <a:cs typeface="Century Schoolbook"/>
                <a:sym typeface="Century Schoolbook"/>
              </a:rPr>
              <a:t>Excepciones</a:t>
            </a:r>
            <a:endParaRPr sz="4400" b="0" i="0" u="none" strike="noStrike" cap="none">
              <a:latin typeface="Arial"/>
              <a:ea typeface="Arial"/>
              <a:cs typeface="Arial"/>
              <a:sym typeface="Arial"/>
            </a:endParaRPr>
          </a:p>
        </p:txBody>
      </p:sp>
      <p:sp>
        <p:nvSpPr>
          <p:cNvPr id="432" name="Google Shape;432;p12"/>
          <p:cNvSpPr/>
          <p:nvPr/>
        </p:nvSpPr>
        <p:spPr>
          <a:xfrm>
            <a:off x="514800" y="1413360"/>
            <a:ext cx="7939080" cy="4985640"/>
          </a:xfrm>
          <a:prstGeom prst="rect">
            <a:avLst/>
          </a:prstGeom>
          <a:noFill/>
          <a:ln>
            <a:noFill/>
          </a:ln>
        </p:spPr>
        <p:txBody>
          <a:bodyPr spcFirstLastPara="1" wrap="square" lIns="90000" tIns="45000" rIns="90000" bIns="45000" anchor="t" anchorCtr="0">
            <a:noAutofit/>
          </a:bodyPr>
          <a:lstStyle/>
          <a:p>
            <a:pPr marL="0" marR="0" lvl="0" indent="0" algn="just" rtl="0">
              <a:lnSpc>
                <a:spcPct val="100000"/>
              </a:lnSpc>
              <a:spcBef>
                <a:spcPts val="0"/>
              </a:spcBef>
              <a:spcAft>
                <a:spcPts val="0"/>
              </a:spcAft>
              <a:buSzPts val="2400"/>
              <a:buFont typeface="Arial"/>
              <a:buNone/>
            </a:pPr>
            <a:endParaRPr sz="2400" b="0" i="0" u="none" strike="noStrike" cap="none">
              <a:latin typeface="Arial"/>
              <a:ea typeface="Arial"/>
              <a:cs typeface="Arial"/>
              <a:sym typeface="Arial"/>
            </a:endParaRPr>
          </a:p>
          <a:p>
            <a:pPr marL="0" marR="0" lvl="0" indent="0" algn="just" rtl="0">
              <a:lnSpc>
                <a:spcPct val="93000"/>
              </a:lnSpc>
              <a:spcBef>
                <a:spcPts val="0"/>
              </a:spcBef>
              <a:spcAft>
                <a:spcPts val="0"/>
              </a:spcAft>
              <a:buClr>
                <a:srgbClr val="000000"/>
              </a:buClr>
              <a:buSzPts val="2400"/>
              <a:buFont typeface="Century Schoolbook"/>
              <a:buNone/>
            </a:pPr>
            <a:r>
              <a:rPr lang="es-AR" sz="2400" b="1" i="0" u="none" strike="noStrike" cap="none">
                <a:solidFill>
                  <a:srgbClr val="000000"/>
                </a:solidFill>
                <a:latin typeface="Century Schoolbook"/>
                <a:ea typeface="Century Schoolbook"/>
                <a:cs typeface="Century Schoolbook"/>
                <a:sym typeface="Century Schoolbook"/>
              </a:rPr>
              <a:t>Los lenguajes deben proveer </a:t>
            </a:r>
            <a:r>
              <a:rPr lang="es-AR" sz="2400" b="1" i="0" u="sng" strike="noStrike" cap="none">
                <a:solidFill>
                  <a:srgbClr val="000000"/>
                </a:solidFill>
                <a:latin typeface="Century Schoolbook"/>
                <a:ea typeface="Century Schoolbook"/>
                <a:cs typeface="Century Schoolbook"/>
                <a:sym typeface="Century Schoolbook"/>
              </a:rPr>
              <a:t>instrucciones </a:t>
            </a:r>
            <a:r>
              <a:rPr lang="es-AR" sz="2400" b="1" i="0" u="none" strike="noStrike" cap="none">
                <a:solidFill>
                  <a:srgbClr val="000000"/>
                </a:solidFill>
                <a:latin typeface="Century Schoolbook"/>
                <a:ea typeface="Century Schoolbook"/>
                <a:cs typeface="Century Schoolbook"/>
                <a:sym typeface="Century Schoolbook"/>
              </a:rPr>
              <a:t>para:</a:t>
            </a:r>
            <a:endParaRPr sz="2400" b="0" i="0" u="none" strike="noStrike" cap="none">
              <a:latin typeface="Arial"/>
              <a:ea typeface="Arial"/>
              <a:cs typeface="Arial"/>
              <a:sym typeface="Arial"/>
            </a:endParaRPr>
          </a:p>
          <a:p>
            <a:pPr marL="0" marR="0" lvl="0" indent="0" algn="just" rtl="0">
              <a:lnSpc>
                <a:spcPct val="93000"/>
              </a:lnSpc>
              <a:spcBef>
                <a:spcPts val="0"/>
              </a:spcBef>
              <a:spcAft>
                <a:spcPts val="0"/>
              </a:spcAft>
              <a:buSzPts val="2400"/>
              <a:buFont typeface="Arial"/>
              <a:buNone/>
            </a:pPr>
            <a:endParaRPr sz="2400" b="0" i="0" u="none" strike="noStrike" cap="none">
              <a:latin typeface="Arial"/>
              <a:ea typeface="Arial"/>
              <a:cs typeface="Arial"/>
              <a:sym typeface="Arial"/>
            </a:endParaRPr>
          </a:p>
          <a:p>
            <a:pPr marL="800280" marR="0" lvl="1" indent="-343079" algn="l" rtl="0">
              <a:lnSpc>
                <a:spcPct val="93000"/>
              </a:lnSpc>
              <a:spcBef>
                <a:spcPts val="0"/>
              </a:spcBef>
              <a:spcAft>
                <a:spcPts val="0"/>
              </a:spcAft>
              <a:buClr>
                <a:srgbClr val="000000"/>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Definición</a:t>
            </a:r>
            <a:r>
              <a:rPr lang="es-AR" sz="2400" b="0" i="0" u="none" strike="noStrike" cap="none">
                <a:solidFill>
                  <a:srgbClr val="000000"/>
                </a:solidFill>
                <a:latin typeface="Century Schoolbook"/>
                <a:ea typeface="Century Schoolbook"/>
                <a:cs typeface="Century Schoolbook"/>
                <a:sym typeface="Century Schoolbook"/>
              </a:rPr>
              <a:t> de la excepción</a:t>
            </a:r>
            <a:endParaRPr sz="2400" b="0" i="0" u="none" strike="noStrike" cap="none">
              <a:latin typeface="Arial"/>
              <a:ea typeface="Arial"/>
              <a:cs typeface="Arial"/>
              <a:sym typeface="Arial"/>
            </a:endParaRPr>
          </a:p>
          <a:p>
            <a:pPr marL="0" marR="0" lvl="0" indent="0" algn="l" rtl="0">
              <a:lnSpc>
                <a:spcPct val="93000"/>
              </a:lnSpc>
              <a:spcBef>
                <a:spcPts val="0"/>
              </a:spcBef>
              <a:spcAft>
                <a:spcPts val="0"/>
              </a:spcAft>
              <a:buSzPts val="2400"/>
              <a:buFont typeface="Arial"/>
              <a:buNone/>
            </a:pPr>
            <a:endParaRPr sz="2400" b="0" i="0" u="none" strike="noStrike" cap="none">
              <a:latin typeface="Arial"/>
              <a:ea typeface="Arial"/>
              <a:cs typeface="Arial"/>
              <a:sym typeface="Arial"/>
            </a:endParaRPr>
          </a:p>
          <a:p>
            <a:pPr marL="800280" marR="0" lvl="1" indent="-343079" algn="l" rtl="0">
              <a:lnSpc>
                <a:spcPct val="93000"/>
              </a:lnSpc>
              <a:spcBef>
                <a:spcPts val="0"/>
              </a:spcBef>
              <a:spcAft>
                <a:spcPts val="0"/>
              </a:spcAft>
              <a:buClr>
                <a:srgbClr val="000000"/>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Levantamiento </a:t>
            </a:r>
            <a:r>
              <a:rPr lang="es-AR" sz="2400" b="0" i="0" u="none" strike="noStrike" cap="none">
                <a:solidFill>
                  <a:srgbClr val="000000"/>
                </a:solidFill>
                <a:latin typeface="Century Schoolbook"/>
                <a:ea typeface="Century Schoolbook"/>
                <a:cs typeface="Century Schoolbook"/>
                <a:sym typeface="Century Schoolbook"/>
              </a:rPr>
              <a:t>de una excepción</a:t>
            </a:r>
            <a:endParaRPr sz="2400" b="0" i="0" u="none" strike="noStrike" cap="none">
              <a:latin typeface="Arial"/>
              <a:ea typeface="Arial"/>
              <a:cs typeface="Arial"/>
              <a:sym typeface="Arial"/>
            </a:endParaRPr>
          </a:p>
          <a:p>
            <a:pPr marL="0" marR="0" lvl="0" indent="0" algn="l" rtl="0">
              <a:lnSpc>
                <a:spcPct val="93000"/>
              </a:lnSpc>
              <a:spcBef>
                <a:spcPts val="0"/>
              </a:spcBef>
              <a:spcAft>
                <a:spcPts val="0"/>
              </a:spcAft>
              <a:buSzPts val="2400"/>
              <a:buFont typeface="Arial"/>
              <a:buNone/>
            </a:pPr>
            <a:endParaRPr sz="2400" b="0" i="0" u="none" strike="noStrike" cap="none">
              <a:latin typeface="Arial"/>
              <a:ea typeface="Arial"/>
              <a:cs typeface="Arial"/>
              <a:sym typeface="Arial"/>
            </a:endParaRPr>
          </a:p>
          <a:p>
            <a:pPr marL="800280" marR="0" lvl="1" indent="-343079" algn="l" rtl="0">
              <a:lnSpc>
                <a:spcPct val="93000"/>
              </a:lnSpc>
              <a:spcBef>
                <a:spcPts val="0"/>
              </a:spcBef>
              <a:spcAft>
                <a:spcPts val="0"/>
              </a:spcAft>
              <a:buClr>
                <a:srgbClr val="000000"/>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Manejador </a:t>
            </a:r>
            <a:r>
              <a:rPr lang="es-AR" sz="2400" b="0" i="0" u="none" strike="noStrike" cap="none">
                <a:solidFill>
                  <a:srgbClr val="000000"/>
                </a:solidFill>
                <a:latin typeface="Century Schoolbook"/>
                <a:ea typeface="Century Schoolbook"/>
                <a:cs typeface="Century Schoolbook"/>
                <a:sym typeface="Century Schoolbook"/>
              </a:rPr>
              <a:t>de la excepción</a:t>
            </a:r>
            <a:endParaRPr sz="2400" b="0" i="0" u="none" strike="noStrike" cap="none">
              <a:latin typeface="Arial"/>
              <a:ea typeface="Arial"/>
              <a:cs typeface="Arial"/>
              <a:sym typeface="Arial"/>
            </a:endParaRPr>
          </a:p>
          <a:p>
            <a:pPr marL="0" marR="0" lvl="0" indent="0" algn="l" rtl="0">
              <a:lnSpc>
                <a:spcPct val="93000"/>
              </a:lnSpc>
              <a:spcBef>
                <a:spcPts val="0"/>
              </a:spcBef>
              <a:spcAft>
                <a:spcPts val="0"/>
              </a:spcAft>
              <a:buSzPts val="2400"/>
              <a:buFont typeface="Arial"/>
              <a:buNone/>
            </a:pPr>
            <a:endParaRPr sz="2400" b="0" i="0" u="none" strike="noStrike" cap="none">
              <a:latin typeface="Arial"/>
              <a:ea typeface="Arial"/>
              <a:cs typeface="Arial"/>
              <a:sym typeface="Arial"/>
            </a:endParaRPr>
          </a:p>
          <a:p>
            <a:pPr marL="0" marR="0" lvl="0" indent="0" algn="l" rtl="0">
              <a:lnSpc>
                <a:spcPct val="93000"/>
              </a:lnSpc>
              <a:spcBef>
                <a:spcPts val="0"/>
              </a:spcBef>
              <a:spcAft>
                <a:spcPts val="0"/>
              </a:spcAft>
              <a:buSzPts val="2400"/>
              <a:buFont typeface="Arial"/>
              <a:buNone/>
            </a:pPr>
            <a:endParaRPr sz="2400" b="0" i="0" u="none" strike="noStrike" cap="none">
              <a:latin typeface="Arial"/>
              <a:ea typeface="Arial"/>
              <a:cs typeface="Arial"/>
              <a:sym typeface="Arial"/>
            </a:endParaRPr>
          </a:p>
        </p:txBody>
      </p:sp>
      <p:sp>
        <p:nvSpPr>
          <p:cNvPr id="433" name="Google Shape;433;p12"/>
          <p:cNvSpPr/>
          <p:nvPr/>
        </p:nvSpPr>
        <p:spPr>
          <a:xfrm>
            <a:off x="388800" y="1487520"/>
            <a:ext cx="8135280" cy="45424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2"/>
          <p:cNvSpPr/>
          <p:nvPr/>
        </p:nvSpPr>
        <p:spPr>
          <a:xfrm>
            <a:off x="8316000" y="58086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12</a:t>
            </a:fld>
            <a:endParaRPr sz="1800" b="0" i="0" u="none" strike="noStrike" cap="none">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13"/>
          <p:cNvSpPr/>
          <p:nvPr/>
        </p:nvSpPr>
        <p:spPr>
          <a:xfrm>
            <a:off x="414000" y="144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a:t>
            </a:r>
            <a:endParaRPr sz="3000" b="0" i="0" u="none" strike="noStrike" cap="none">
              <a:latin typeface="Arial"/>
              <a:ea typeface="Arial"/>
              <a:cs typeface="Arial"/>
              <a:sym typeface="Arial"/>
            </a:endParaRPr>
          </a:p>
        </p:txBody>
      </p:sp>
      <p:sp>
        <p:nvSpPr>
          <p:cNvPr id="441" name="Google Shape;441;p13"/>
          <p:cNvSpPr/>
          <p:nvPr/>
        </p:nvSpPr>
        <p:spPr>
          <a:xfrm>
            <a:off x="989280" y="1226520"/>
            <a:ext cx="7580160" cy="4870800"/>
          </a:xfrm>
          <a:prstGeom prst="rect">
            <a:avLst/>
          </a:prstGeom>
          <a:noFill/>
          <a:ln>
            <a:noFill/>
          </a:ln>
        </p:spPr>
        <p:txBody>
          <a:bodyPr spcFirstLastPara="1" wrap="square" lIns="90000" tIns="45000" rIns="90000" bIns="45000" anchor="t" anchorCtr="0">
            <a:noAutofit/>
          </a:bodyPr>
          <a:lstStyle/>
          <a:p>
            <a:pPr marL="0" marR="0" lvl="0" indent="0" algn="just" rtl="0">
              <a:lnSpc>
                <a:spcPct val="100000"/>
              </a:lnSpc>
              <a:spcBef>
                <a:spcPts val="0"/>
              </a:spcBef>
              <a:spcAft>
                <a:spcPts val="0"/>
              </a:spcAft>
              <a:buClr>
                <a:srgbClr val="000000"/>
              </a:buClr>
              <a:buSzPts val="2000"/>
              <a:buFont typeface="Century Schoolbook"/>
              <a:buNone/>
            </a:pPr>
            <a:r>
              <a:rPr lang="es-AR" sz="2000" b="1" i="0" u="none" strike="noStrike" cap="none">
                <a:solidFill>
                  <a:srgbClr val="000000"/>
                </a:solidFill>
                <a:latin typeface="Century Schoolbook"/>
                <a:ea typeface="Century Schoolbook"/>
                <a:cs typeface="Century Schoolbook"/>
                <a:sym typeface="Century Schoolbook"/>
              </a:rPr>
              <a:t>Punto de retorno:</a:t>
            </a:r>
            <a:endParaRPr sz="2000" b="0" i="0" u="none" strike="noStrike" cap="none">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Century Schoolbook"/>
              <a:buNone/>
            </a:pPr>
            <a:r>
              <a:rPr lang="es-AR" sz="2000" b="1" i="0" u="none" strike="noStrike" cap="none">
                <a:solidFill>
                  <a:srgbClr val="000000"/>
                </a:solidFill>
                <a:latin typeface="Century Schoolbook"/>
                <a:ea typeface="Century Schoolbook"/>
                <a:cs typeface="Century Schoolbook"/>
                <a:sym typeface="Century Schoolbook"/>
              </a:rPr>
              <a:t>Después </a:t>
            </a:r>
            <a:r>
              <a:rPr lang="es-AR" sz="2000" b="0" i="0" u="none" strike="noStrike" cap="none">
                <a:solidFill>
                  <a:srgbClr val="000000"/>
                </a:solidFill>
                <a:latin typeface="Century Schoolbook"/>
                <a:ea typeface="Century Schoolbook"/>
                <a:cs typeface="Century Schoolbook"/>
                <a:sym typeface="Century Schoolbook"/>
              </a:rPr>
              <a:t>de </a:t>
            </a:r>
            <a:r>
              <a:rPr lang="es-AR" sz="2000" b="1" i="0" u="none" strike="noStrike" cap="none">
                <a:solidFill>
                  <a:srgbClr val="000000"/>
                </a:solidFill>
                <a:latin typeface="Century Schoolbook"/>
                <a:ea typeface="Century Schoolbook"/>
                <a:cs typeface="Century Schoolbook"/>
                <a:sym typeface="Century Schoolbook"/>
              </a:rPr>
              <a:t>atender </a:t>
            </a:r>
            <a:r>
              <a:rPr lang="es-AR" sz="2000" b="0" i="0" u="none" strike="noStrike" cap="none">
                <a:solidFill>
                  <a:srgbClr val="000000"/>
                </a:solidFill>
                <a:latin typeface="Century Schoolbook"/>
                <a:ea typeface="Century Schoolbook"/>
                <a:cs typeface="Century Schoolbook"/>
                <a:sym typeface="Century Schoolbook"/>
              </a:rPr>
              <a:t>a una </a:t>
            </a:r>
            <a:r>
              <a:rPr lang="es-AR" sz="2000" b="1" i="0" u="none" strike="noStrike" cap="none">
                <a:solidFill>
                  <a:srgbClr val="000000"/>
                </a:solidFill>
                <a:latin typeface="Century Schoolbook"/>
                <a:ea typeface="Century Schoolbook"/>
                <a:cs typeface="Century Schoolbook"/>
                <a:sym typeface="Century Schoolbook"/>
              </a:rPr>
              <a:t>excepción,</a:t>
            </a:r>
            <a:r>
              <a:rPr lang="es-AR" sz="2000" b="0" i="0" u="none" strike="noStrike" cap="none">
                <a:solidFill>
                  <a:srgbClr val="000000"/>
                </a:solidFill>
                <a:latin typeface="Century Schoolbook"/>
                <a:ea typeface="Century Schoolbook"/>
                <a:cs typeface="Century Schoolbook"/>
                <a:sym typeface="Century Schoolbook"/>
              </a:rPr>
              <a:t> el punto de retorno </a:t>
            </a:r>
            <a:r>
              <a:rPr lang="es-AR" sz="2000" b="1" i="0" u="none" strike="noStrike" cap="none">
                <a:solidFill>
                  <a:srgbClr val="000000"/>
                </a:solidFill>
                <a:latin typeface="Century Schoolbook"/>
                <a:ea typeface="Century Schoolbook"/>
                <a:cs typeface="Century Schoolbook"/>
                <a:sym typeface="Century Schoolbook"/>
              </a:rPr>
              <a:t>dependerá </a:t>
            </a:r>
            <a:r>
              <a:rPr lang="es-AR" sz="2000" b="0" i="0" u="none" strike="noStrike" cap="none">
                <a:solidFill>
                  <a:srgbClr val="000000"/>
                </a:solidFill>
                <a:latin typeface="Century Schoolbook"/>
                <a:ea typeface="Century Schoolbook"/>
                <a:cs typeface="Century Schoolbook"/>
                <a:sym typeface="Century Schoolbook"/>
              </a:rPr>
              <a:t>del </a:t>
            </a:r>
            <a:r>
              <a:rPr lang="es-AR" sz="2000" b="1" i="0" u="none" strike="noStrike" cap="none">
                <a:solidFill>
                  <a:srgbClr val="000000"/>
                </a:solidFill>
                <a:latin typeface="Century Schoolbook"/>
                <a:ea typeface="Century Schoolbook"/>
                <a:cs typeface="Century Schoolbook"/>
                <a:sym typeface="Century Schoolbook"/>
              </a:rPr>
              <a:t>flujo de ejecución</a:t>
            </a:r>
            <a:r>
              <a:rPr lang="es-AR" sz="2000" b="0" i="0" u="none" strike="noStrike" cap="none">
                <a:solidFill>
                  <a:srgbClr val="000000"/>
                </a:solidFill>
                <a:latin typeface="Century Schoolbook"/>
                <a:ea typeface="Century Schoolbook"/>
                <a:cs typeface="Century Schoolbook"/>
                <a:sym typeface="Century Schoolbook"/>
              </a:rPr>
              <a:t> del programa y de </a:t>
            </a:r>
            <a:r>
              <a:rPr lang="es-AR" sz="2000" b="1" i="0" u="none" strike="noStrike" cap="none">
                <a:solidFill>
                  <a:srgbClr val="000000"/>
                </a:solidFill>
                <a:latin typeface="Century Schoolbook"/>
                <a:ea typeface="Century Schoolbook"/>
                <a:cs typeface="Century Schoolbook"/>
                <a:sym typeface="Century Schoolbook"/>
              </a:rPr>
              <a:t>cómo se haya diseñado el manejo de excepciones </a:t>
            </a:r>
            <a:r>
              <a:rPr lang="es-AR" sz="2000" b="0" i="0" u="none" strike="noStrike" cap="none">
                <a:solidFill>
                  <a:srgbClr val="000000"/>
                </a:solidFill>
                <a:latin typeface="Century Schoolbook"/>
                <a:ea typeface="Century Schoolbook"/>
                <a:cs typeface="Century Schoolbook"/>
                <a:sym typeface="Century Schoolbook"/>
              </a:rPr>
              <a:t>en el código. También va a depender </a:t>
            </a:r>
            <a:r>
              <a:rPr lang="es-AR" sz="2000" b="1" i="0" u="none" strike="noStrike" cap="none">
                <a:solidFill>
                  <a:srgbClr val="000000"/>
                </a:solidFill>
                <a:latin typeface="Century Schoolbook"/>
                <a:ea typeface="Century Schoolbook"/>
                <a:cs typeface="Century Schoolbook"/>
                <a:sym typeface="Century Schoolbook"/>
              </a:rPr>
              <a:t>del lenguaje.</a:t>
            </a:r>
            <a:endParaRPr sz="2000" b="0" i="0" u="none" strike="noStrike" cap="none">
              <a:latin typeface="Arial"/>
              <a:ea typeface="Arial"/>
              <a:cs typeface="Arial"/>
              <a:sym typeface="Arial"/>
            </a:endParaRPr>
          </a:p>
          <a:p>
            <a:pPr marL="0" marR="0" lvl="0" indent="0" algn="just" rtl="0">
              <a:lnSpc>
                <a:spcPct val="100000"/>
              </a:lnSpc>
              <a:spcBef>
                <a:spcPts val="0"/>
              </a:spcBef>
              <a:spcAft>
                <a:spcPts val="0"/>
              </a:spcAft>
              <a:buSzPts val="2000"/>
              <a:buFont typeface="Arial"/>
              <a:buNone/>
            </a:pPr>
            <a:endParaRPr sz="2000" b="0" i="0" u="none" strike="noStrike" cap="none">
              <a:latin typeface="Arial"/>
              <a:ea typeface="Arial"/>
              <a:cs typeface="Arial"/>
              <a:sym typeface="Arial"/>
            </a:endParaRPr>
          </a:p>
          <a:p>
            <a:pPr marL="0" marR="0" lvl="0" indent="0" algn="just" rtl="0">
              <a:lnSpc>
                <a:spcPct val="100000"/>
              </a:lnSpc>
              <a:spcBef>
                <a:spcPts val="0"/>
              </a:spcBef>
              <a:spcAft>
                <a:spcPts val="0"/>
              </a:spcAft>
              <a:buSzPts val="2000"/>
              <a:buFont typeface="Arial"/>
              <a:buNone/>
            </a:pPr>
            <a:endParaRPr sz="2000" b="0" i="0" u="none" strike="noStrike" cap="none">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Century Schoolbook"/>
              <a:buNone/>
            </a:pPr>
            <a:r>
              <a:rPr lang="es-AR" sz="2000" b="1" i="0" u="sng" strike="noStrike" cap="none">
                <a:solidFill>
                  <a:srgbClr val="000000"/>
                </a:solidFill>
                <a:latin typeface="Century Schoolbook"/>
                <a:ea typeface="Century Schoolbook"/>
                <a:cs typeface="Century Schoolbook"/>
                <a:sym typeface="Century Schoolbook"/>
              </a:rPr>
              <a:t>Se puede tener en cuenta</a:t>
            </a:r>
            <a:r>
              <a:rPr lang="es-AR" sz="2000" b="0" i="0" u="none" strike="noStrike" cap="none">
                <a:solidFill>
                  <a:srgbClr val="000000"/>
                </a:solidFill>
                <a:latin typeface="Century Schoolbook"/>
                <a:ea typeface="Century Schoolbook"/>
                <a:cs typeface="Century Schoolbook"/>
                <a:sym typeface="Century Schoolbook"/>
              </a:rPr>
              <a:t>:</a:t>
            </a:r>
            <a:endParaRPr sz="2000" b="0" i="0" u="none" strike="noStrike" cap="none">
              <a:latin typeface="Arial"/>
              <a:ea typeface="Arial"/>
              <a:cs typeface="Arial"/>
              <a:sym typeface="Arial"/>
            </a:endParaRPr>
          </a:p>
          <a:p>
            <a:pPr marL="285840" marR="0" lvl="0" indent="-285840" algn="just" rtl="0">
              <a:lnSpc>
                <a:spcPct val="100000"/>
              </a:lnSpc>
              <a:spcBef>
                <a:spcPts val="0"/>
              </a:spcBef>
              <a:spcAft>
                <a:spcPts val="0"/>
              </a:spcAft>
              <a:buClr>
                <a:srgbClr val="000000"/>
              </a:buClr>
              <a:buSzPts val="2000"/>
              <a:buFont typeface="Arial"/>
              <a:buChar char="•"/>
            </a:pPr>
            <a:r>
              <a:rPr lang="es-AR" sz="2000" b="1" i="0" u="none" strike="noStrike" cap="none">
                <a:solidFill>
                  <a:srgbClr val="000000"/>
                </a:solidFill>
                <a:latin typeface="Century Schoolbook"/>
                <a:ea typeface="Century Schoolbook"/>
                <a:cs typeface="Century Schoolbook"/>
                <a:sym typeface="Century Schoolbook"/>
              </a:rPr>
              <a:t>Continuar la ejecución normal del programa</a:t>
            </a:r>
            <a:endParaRPr sz="2000" b="0" i="0" u="none" strike="noStrike" cap="none">
              <a:latin typeface="Arial"/>
              <a:ea typeface="Arial"/>
              <a:cs typeface="Arial"/>
              <a:sym typeface="Arial"/>
            </a:endParaRPr>
          </a:p>
          <a:p>
            <a:pPr marL="285840" marR="0" lvl="0" indent="-285840" algn="just" rtl="0">
              <a:lnSpc>
                <a:spcPct val="100000"/>
              </a:lnSpc>
              <a:spcBef>
                <a:spcPts val="0"/>
              </a:spcBef>
              <a:spcAft>
                <a:spcPts val="0"/>
              </a:spcAft>
              <a:buClr>
                <a:srgbClr val="000000"/>
              </a:buClr>
              <a:buSzPts val="2000"/>
              <a:buFont typeface="Arial"/>
              <a:buChar char="•"/>
            </a:pPr>
            <a:r>
              <a:rPr lang="es-AR" sz="2000" b="1" i="0" u="none" strike="noStrike" cap="none">
                <a:solidFill>
                  <a:srgbClr val="000000"/>
                </a:solidFill>
                <a:latin typeface="Century Schoolbook"/>
                <a:ea typeface="Century Schoolbook"/>
                <a:cs typeface="Century Schoolbook"/>
                <a:sym typeface="Century Schoolbook"/>
              </a:rPr>
              <a:t>Retornar a un estado anterior</a:t>
            </a:r>
            <a:endParaRPr sz="2000" b="0" i="0" u="none" strike="noStrike" cap="none">
              <a:latin typeface="Arial"/>
              <a:ea typeface="Arial"/>
              <a:cs typeface="Arial"/>
              <a:sym typeface="Arial"/>
            </a:endParaRPr>
          </a:p>
          <a:p>
            <a:pPr marL="285840" marR="0" lvl="0" indent="-285840" algn="just" rtl="0">
              <a:lnSpc>
                <a:spcPct val="100000"/>
              </a:lnSpc>
              <a:spcBef>
                <a:spcPts val="0"/>
              </a:spcBef>
              <a:spcAft>
                <a:spcPts val="0"/>
              </a:spcAft>
              <a:buClr>
                <a:srgbClr val="000000"/>
              </a:buClr>
              <a:buSzPts val="2000"/>
              <a:buFont typeface="Arial"/>
              <a:buChar char="•"/>
            </a:pPr>
            <a:r>
              <a:rPr lang="es-AR" sz="2000" b="1" i="0" u="none" strike="noStrike" cap="none">
                <a:solidFill>
                  <a:srgbClr val="000000"/>
                </a:solidFill>
                <a:latin typeface="Century Schoolbook"/>
                <a:ea typeface="Century Schoolbook"/>
                <a:cs typeface="Century Schoolbook"/>
                <a:sym typeface="Century Schoolbook"/>
              </a:rPr>
              <a:t>Propagar la excepción</a:t>
            </a:r>
            <a:endParaRPr sz="2000" b="0" i="0" u="none" strike="noStrike" cap="none">
              <a:latin typeface="Arial"/>
              <a:ea typeface="Arial"/>
              <a:cs typeface="Arial"/>
              <a:sym typeface="Arial"/>
            </a:endParaRPr>
          </a:p>
          <a:p>
            <a:pPr marL="285840" marR="0" lvl="0" indent="-285840" algn="just" rtl="0">
              <a:lnSpc>
                <a:spcPct val="100000"/>
              </a:lnSpc>
              <a:spcBef>
                <a:spcPts val="0"/>
              </a:spcBef>
              <a:spcAft>
                <a:spcPts val="0"/>
              </a:spcAft>
              <a:buClr>
                <a:srgbClr val="000000"/>
              </a:buClr>
              <a:buSzPts val="2000"/>
              <a:buFont typeface="Arial"/>
              <a:buChar char="•"/>
            </a:pPr>
            <a:r>
              <a:rPr lang="es-AR" sz="2000" b="1" i="0" u="none" strike="noStrike" cap="none">
                <a:solidFill>
                  <a:srgbClr val="000000"/>
                </a:solidFill>
                <a:latin typeface="Century Schoolbook"/>
                <a:ea typeface="Century Schoolbook"/>
                <a:cs typeface="Century Schoolbook"/>
                <a:sym typeface="Century Schoolbook"/>
              </a:rPr>
              <a:t>Terminar la ejecución del programa</a:t>
            </a:r>
            <a:endParaRPr sz="2000" b="0" i="0" u="none" strike="noStrike" cap="none">
              <a:latin typeface="Arial"/>
              <a:ea typeface="Arial"/>
              <a:cs typeface="Arial"/>
              <a:sym typeface="Arial"/>
            </a:endParaRPr>
          </a:p>
          <a:p>
            <a:pPr marL="0" marR="0" lvl="0" indent="0" algn="just" rtl="0">
              <a:lnSpc>
                <a:spcPct val="100000"/>
              </a:lnSpc>
              <a:spcBef>
                <a:spcPts val="0"/>
              </a:spcBef>
              <a:spcAft>
                <a:spcPts val="0"/>
              </a:spcAft>
              <a:buSzPts val="2000"/>
              <a:buFont typeface="Arial"/>
              <a:buNone/>
            </a:pPr>
            <a:endParaRPr sz="2000" b="0" i="0" u="none" strike="noStrike" cap="none">
              <a:latin typeface="Arial"/>
              <a:ea typeface="Arial"/>
              <a:cs typeface="Arial"/>
              <a:sym typeface="Arial"/>
            </a:endParaRPr>
          </a:p>
        </p:txBody>
      </p:sp>
      <p:sp>
        <p:nvSpPr>
          <p:cNvPr id="442" name="Google Shape;442;p13"/>
          <p:cNvSpPr/>
          <p:nvPr/>
        </p:nvSpPr>
        <p:spPr>
          <a:xfrm>
            <a:off x="8255880" y="5837400"/>
            <a:ext cx="89028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13</a:t>
            </a:fld>
            <a:endParaRPr sz="1800" b="0" i="0" u="none" strike="noStrike" cap="none">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14"/>
          <p:cNvSpPr/>
          <p:nvPr/>
        </p:nvSpPr>
        <p:spPr>
          <a:xfrm>
            <a:off x="414000" y="144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a:t>
            </a:r>
            <a:endParaRPr sz="3000" b="0" i="0" u="none" strike="noStrike" cap="none">
              <a:latin typeface="Arial"/>
              <a:ea typeface="Arial"/>
              <a:cs typeface="Arial"/>
              <a:sym typeface="Arial"/>
            </a:endParaRPr>
          </a:p>
        </p:txBody>
      </p:sp>
      <p:sp>
        <p:nvSpPr>
          <p:cNvPr id="449" name="Google Shape;449;p14"/>
          <p:cNvSpPr/>
          <p:nvPr/>
        </p:nvSpPr>
        <p:spPr>
          <a:xfrm>
            <a:off x="615240" y="1456560"/>
            <a:ext cx="7824600" cy="4870800"/>
          </a:xfrm>
          <a:prstGeom prst="rect">
            <a:avLst/>
          </a:prstGeom>
          <a:noFill/>
          <a:ln>
            <a:noFill/>
          </a:ln>
        </p:spPr>
        <p:txBody>
          <a:bodyPr spcFirstLastPara="1" wrap="square" lIns="90000" tIns="45000" rIns="90000" bIns="45000" anchor="t" anchorCtr="0">
            <a:noAutofit/>
          </a:bodyPr>
          <a:lstStyle/>
          <a:p>
            <a:pPr marL="0" marR="0" lvl="0" indent="0" algn="just" rtl="0">
              <a:lnSpc>
                <a:spcPct val="100000"/>
              </a:lnSpc>
              <a:spcBef>
                <a:spcPts val="0"/>
              </a:spcBef>
              <a:spcAft>
                <a:spcPts val="0"/>
              </a:spcAft>
              <a:buClr>
                <a:srgbClr val="000000"/>
              </a:buClr>
              <a:buSzPts val="2000"/>
              <a:buFont typeface="Century Schoolbook"/>
              <a:buNone/>
            </a:pPr>
            <a:r>
              <a:rPr lang="es-AR" sz="2000" b="1" i="0" u="none" strike="noStrike" cap="none">
                <a:solidFill>
                  <a:srgbClr val="000000"/>
                </a:solidFill>
                <a:latin typeface="Century Schoolbook"/>
                <a:ea typeface="Century Schoolbook"/>
                <a:cs typeface="Century Schoolbook"/>
                <a:sym typeface="Century Schoolbook"/>
              </a:rPr>
              <a:t>Continuar la ejecución normal del programa:</a:t>
            </a:r>
            <a:endParaRPr sz="2000" b="0" i="0" u="none" strike="noStrike" cap="none">
              <a:latin typeface="Arial"/>
              <a:ea typeface="Arial"/>
              <a:cs typeface="Arial"/>
              <a:sym typeface="Arial"/>
            </a:endParaRPr>
          </a:p>
          <a:p>
            <a:pPr marL="743040" marR="0" lvl="1" indent="-285840" algn="just" rtl="0">
              <a:lnSpc>
                <a:spcPct val="100000"/>
              </a:lnSpc>
              <a:spcBef>
                <a:spcPts val="0"/>
              </a:spcBef>
              <a:spcAft>
                <a:spcPts val="0"/>
              </a:spcAft>
              <a:buClr>
                <a:srgbClr val="000000"/>
              </a:buClr>
              <a:buSzPts val="2000"/>
              <a:buFont typeface="Arial"/>
              <a:buChar char="•"/>
            </a:pPr>
            <a:r>
              <a:rPr lang="es-AR" sz="2000" b="1" i="0" u="none" strike="noStrike" cap="none">
                <a:solidFill>
                  <a:srgbClr val="000000"/>
                </a:solidFill>
                <a:latin typeface="Century Schoolbook"/>
                <a:ea typeface="Century Schoolbook"/>
                <a:cs typeface="Century Schoolbook"/>
                <a:sym typeface="Century Schoolbook"/>
              </a:rPr>
              <a:t>Si </a:t>
            </a:r>
            <a:r>
              <a:rPr lang="es-AR" sz="2000" b="0" i="0" u="none" strike="noStrike" cap="none">
                <a:solidFill>
                  <a:srgbClr val="000000"/>
                </a:solidFill>
                <a:latin typeface="Century Schoolbook"/>
                <a:ea typeface="Century Schoolbook"/>
                <a:cs typeface="Century Schoolbook"/>
                <a:sym typeface="Century Schoolbook"/>
              </a:rPr>
              <a:t>después de manejar una excepción </a:t>
            </a:r>
            <a:r>
              <a:rPr lang="es-AR" sz="2000" b="1" i="0" u="none" strike="noStrike" cap="none">
                <a:solidFill>
                  <a:srgbClr val="000000"/>
                </a:solidFill>
                <a:latin typeface="Century Schoolbook"/>
                <a:ea typeface="Century Schoolbook"/>
                <a:cs typeface="Century Schoolbook"/>
                <a:sym typeface="Century Schoolbook"/>
              </a:rPr>
              <a:t>el programa puede continuar</a:t>
            </a:r>
            <a:r>
              <a:rPr lang="es-AR" sz="2000" b="0" i="0" u="none" strike="noStrike" cap="none">
                <a:solidFill>
                  <a:srgbClr val="000000"/>
                </a:solidFill>
                <a:latin typeface="Century Schoolbook"/>
                <a:ea typeface="Century Schoolbook"/>
                <a:cs typeface="Century Schoolbook"/>
                <a:sym typeface="Century Schoolbook"/>
              </a:rPr>
              <a:t> la ejecución del código restante sin problemas</a:t>
            </a:r>
            <a:endParaRPr sz="2000" b="0" i="0" u="none" strike="noStrike" cap="none">
              <a:latin typeface="Arial"/>
              <a:ea typeface="Arial"/>
              <a:cs typeface="Arial"/>
              <a:sym typeface="Arial"/>
            </a:endParaRPr>
          </a:p>
          <a:p>
            <a:pPr marL="743040" marR="0" lvl="1" indent="-285840" algn="just" rtl="0">
              <a:lnSpc>
                <a:spcPct val="100000"/>
              </a:lnSpc>
              <a:spcBef>
                <a:spcPts val="0"/>
              </a:spcBef>
              <a:spcAft>
                <a:spcPts val="0"/>
              </a:spcAft>
              <a:buClr>
                <a:srgbClr val="000000"/>
              </a:buClr>
              <a:buSzPts val="2000"/>
              <a:buFont typeface="Arial"/>
              <a:buChar char="•"/>
            </a:pPr>
            <a:r>
              <a:rPr lang="es-AR" sz="2000" b="0" i="0" u="none" strike="noStrike" cap="none">
                <a:solidFill>
                  <a:srgbClr val="000000"/>
                </a:solidFill>
                <a:latin typeface="Century Schoolbook"/>
                <a:ea typeface="Century Schoolbook"/>
                <a:cs typeface="Century Schoolbook"/>
                <a:sym typeface="Century Schoolbook"/>
              </a:rPr>
              <a:t>El </a:t>
            </a:r>
            <a:r>
              <a:rPr lang="es-AR" sz="2000" b="1" i="0" u="none" strike="noStrike" cap="none">
                <a:solidFill>
                  <a:srgbClr val="000000"/>
                </a:solidFill>
                <a:latin typeface="Century Schoolbook"/>
                <a:ea typeface="Century Schoolbook"/>
                <a:cs typeface="Century Schoolbook"/>
                <a:sym typeface="Century Schoolbook"/>
              </a:rPr>
              <a:t>punto de retorno</a:t>
            </a:r>
            <a:r>
              <a:rPr lang="es-AR" sz="2000" b="0" i="0" u="none" strike="noStrike" cap="none">
                <a:solidFill>
                  <a:srgbClr val="000000"/>
                </a:solidFill>
                <a:latin typeface="Century Schoolbook"/>
                <a:ea typeface="Century Schoolbook"/>
                <a:cs typeface="Century Schoolbook"/>
                <a:sym typeface="Century Schoolbook"/>
              </a:rPr>
              <a:t> será </a:t>
            </a:r>
            <a:r>
              <a:rPr lang="es-AR" sz="2000" b="1" i="0" u="none" strike="noStrike" cap="none">
                <a:solidFill>
                  <a:srgbClr val="000000"/>
                </a:solidFill>
                <a:latin typeface="Century Schoolbook"/>
                <a:ea typeface="Century Schoolbook"/>
                <a:cs typeface="Century Schoolbook"/>
                <a:sym typeface="Century Schoolbook"/>
              </a:rPr>
              <a:t>definido por el lenguaje</a:t>
            </a:r>
            <a:r>
              <a:rPr lang="es-AR" sz="2000" b="0" i="0" u="none" strike="noStrike" cap="none">
                <a:solidFill>
                  <a:srgbClr val="000000"/>
                </a:solidFill>
                <a:latin typeface="Century Schoolbook"/>
                <a:ea typeface="Century Schoolbook"/>
                <a:cs typeface="Century Schoolbook"/>
                <a:sym typeface="Century Schoolbook"/>
              </a:rPr>
              <a:t> </a:t>
            </a:r>
            <a:r>
              <a:rPr lang="es-AR" sz="1800" b="0" i="0" u="none" strike="noStrike" cap="none">
                <a:solidFill>
                  <a:srgbClr val="000000"/>
                </a:solidFill>
                <a:latin typeface="Century Schoolbook"/>
                <a:ea typeface="Century Schoolbook"/>
                <a:cs typeface="Century Schoolbook"/>
                <a:sym typeface="Century Schoolbook"/>
              </a:rPr>
              <a:t>(por ejemplo, </a:t>
            </a:r>
            <a:r>
              <a:rPr lang="es-AR" sz="1800" b="1" i="0" u="none" strike="noStrike" cap="none">
                <a:solidFill>
                  <a:srgbClr val="000000"/>
                </a:solidFill>
                <a:latin typeface="Century Schoolbook"/>
                <a:ea typeface="Century Schoolbook"/>
                <a:cs typeface="Century Schoolbook"/>
                <a:sym typeface="Century Schoolbook"/>
              </a:rPr>
              <a:t>el siguiente bloque de código después del bloque de manejo de excepciones o siguiente instrucción)</a:t>
            </a:r>
            <a:endParaRPr sz="1800" b="0" i="0" u="none" strike="noStrike" cap="none">
              <a:latin typeface="Arial"/>
              <a:ea typeface="Arial"/>
              <a:cs typeface="Arial"/>
              <a:sym typeface="Arial"/>
            </a:endParaRPr>
          </a:p>
          <a:p>
            <a:pPr marL="0" marR="0" lvl="0" indent="0" algn="just" rtl="0">
              <a:lnSpc>
                <a:spcPct val="100000"/>
              </a:lnSpc>
              <a:spcBef>
                <a:spcPts val="0"/>
              </a:spcBef>
              <a:spcAft>
                <a:spcPts val="0"/>
              </a:spcAft>
              <a:buSzPts val="2000"/>
              <a:buFont typeface="Arial"/>
              <a:buNone/>
            </a:pPr>
            <a:endParaRPr sz="2000" b="0" i="0" u="none" strike="noStrike" cap="none">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Century Schoolbook"/>
              <a:buNone/>
            </a:pPr>
            <a:r>
              <a:rPr lang="es-AR" sz="2000" b="1" i="0" u="none" strike="noStrike" cap="none">
                <a:solidFill>
                  <a:srgbClr val="000000"/>
                </a:solidFill>
                <a:latin typeface="Century Schoolbook"/>
                <a:ea typeface="Century Schoolbook"/>
                <a:cs typeface="Century Schoolbook"/>
                <a:sym typeface="Century Schoolbook"/>
              </a:rPr>
              <a:t>Retornar a un estado anterior: </a:t>
            </a:r>
            <a:endParaRPr sz="2000" b="0" i="0" u="none" strike="noStrike" cap="none">
              <a:latin typeface="Arial"/>
              <a:ea typeface="Arial"/>
              <a:cs typeface="Arial"/>
              <a:sym typeface="Arial"/>
            </a:endParaRPr>
          </a:p>
          <a:p>
            <a:pPr marL="743040" marR="0" lvl="1" indent="-285840" algn="just" rtl="0">
              <a:lnSpc>
                <a:spcPct val="100000"/>
              </a:lnSpc>
              <a:spcBef>
                <a:spcPts val="0"/>
              </a:spcBef>
              <a:spcAft>
                <a:spcPts val="0"/>
              </a:spcAft>
              <a:buClr>
                <a:srgbClr val="000000"/>
              </a:buClr>
              <a:buSzPts val="2000"/>
              <a:buFont typeface="Arial"/>
              <a:buChar char="•"/>
            </a:pPr>
            <a:r>
              <a:rPr lang="es-AR" sz="2000" b="0" i="0" u="none" strike="noStrike" cap="none">
                <a:solidFill>
                  <a:srgbClr val="000000"/>
                </a:solidFill>
                <a:latin typeface="Century Schoolbook"/>
                <a:ea typeface="Century Schoolbook"/>
                <a:cs typeface="Century Schoolbook"/>
                <a:sym typeface="Century Schoolbook"/>
              </a:rPr>
              <a:t>Cuando el manejo de excepciones puede requerir que el programa</a:t>
            </a:r>
            <a:r>
              <a:rPr lang="es-AR" sz="2000" b="1" i="0" u="none" strike="noStrike" cap="none">
                <a:solidFill>
                  <a:srgbClr val="4A452A"/>
                </a:solidFill>
                <a:latin typeface="Century Schoolbook"/>
                <a:ea typeface="Century Schoolbook"/>
                <a:cs typeface="Century Schoolbook"/>
                <a:sym typeface="Century Schoolbook"/>
              </a:rPr>
              <a:t> </a:t>
            </a:r>
            <a:r>
              <a:rPr lang="es-AR" sz="2000" b="1" i="0" u="none" strike="noStrike" cap="none">
                <a:solidFill>
                  <a:srgbClr val="000000"/>
                </a:solidFill>
                <a:latin typeface="Century Schoolbook"/>
                <a:ea typeface="Century Schoolbook"/>
                <a:cs typeface="Century Schoolbook"/>
                <a:sym typeface="Century Schoolbook"/>
              </a:rPr>
              <a:t>regrese a un estado anterior o deshaga acciones</a:t>
            </a:r>
            <a:r>
              <a:rPr lang="es-AR" sz="2000" b="0" i="0" u="none" strike="noStrike" cap="none">
                <a:solidFill>
                  <a:srgbClr val="000000"/>
                </a:solidFill>
                <a:latin typeface="Century Schoolbook"/>
                <a:ea typeface="Century Schoolbook"/>
                <a:cs typeface="Century Schoolbook"/>
                <a:sym typeface="Century Schoolbook"/>
              </a:rPr>
              <a:t> realizadas antes de que se produjera la excepción.</a:t>
            </a:r>
            <a:endParaRPr sz="2000" b="0" i="0" u="none" strike="noStrike" cap="none">
              <a:latin typeface="Arial"/>
              <a:ea typeface="Arial"/>
              <a:cs typeface="Arial"/>
              <a:sym typeface="Arial"/>
            </a:endParaRPr>
          </a:p>
        </p:txBody>
      </p:sp>
      <p:sp>
        <p:nvSpPr>
          <p:cNvPr id="450" name="Google Shape;450;p14"/>
          <p:cNvSpPr/>
          <p:nvPr/>
        </p:nvSpPr>
        <p:spPr>
          <a:xfrm>
            <a:off x="8255880" y="5837400"/>
            <a:ext cx="89028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14</a:t>
            </a:fld>
            <a:endParaRPr sz="1800" b="0" i="0" u="none" strike="noStrike" cap="none">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15"/>
          <p:cNvSpPr/>
          <p:nvPr/>
        </p:nvSpPr>
        <p:spPr>
          <a:xfrm>
            <a:off x="414000" y="1440"/>
            <a:ext cx="7464600" cy="89568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a:t>
            </a:r>
            <a:endParaRPr sz="3000" b="0" i="0" u="none" strike="noStrike" cap="none">
              <a:latin typeface="Arial"/>
              <a:ea typeface="Arial"/>
              <a:cs typeface="Arial"/>
              <a:sym typeface="Arial"/>
            </a:endParaRPr>
          </a:p>
        </p:txBody>
      </p:sp>
      <p:sp>
        <p:nvSpPr>
          <p:cNvPr id="457" name="Google Shape;457;p15"/>
          <p:cNvSpPr/>
          <p:nvPr/>
        </p:nvSpPr>
        <p:spPr>
          <a:xfrm>
            <a:off x="112320" y="895680"/>
            <a:ext cx="8586720" cy="5762160"/>
          </a:xfrm>
          <a:prstGeom prst="rect">
            <a:avLst/>
          </a:prstGeom>
          <a:noFill/>
          <a:ln>
            <a:noFill/>
          </a:ln>
        </p:spPr>
        <p:txBody>
          <a:bodyPr spcFirstLastPara="1" wrap="square" lIns="90000" tIns="45000" rIns="90000" bIns="45000" anchor="t" anchorCtr="0">
            <a:noAutofit/>
          </a:bodyPr>
          <a:lstStyle/>
          <a:p>
            <a:pPr marL="0" marR="0" lvl="0" indent="0" algn="just" rtl="0">
              <a:lnSpc>
                <a:spcPct val="100000"/>
              </a:lnSpc>
              <a:spcBef>
                <a:spcPts val="0"/>
              </a:spcBef>
              <a:spcAft>
                <a:spcPts val="0"/>
              </a:spcAft>
              <a:buClr>
                <a:srgbClr val="000000"/>
              </a:buClr>
              <a:buSzPts val="2000"/>
              <a:buFont typeface="Century Schoolbook"/>
              <a:buNone/>
            </a:pPr>
            <a:r>
              <a:rPr lang="es-AR" sz="2000" b="1" i="0" u="none" strike="noStrike" cap="none">
                <a:solidFill>
                  <a:srgbClr val="000000"/>
                </a:solidFill>
                <a:latin typeface="Century Schoolbook"/>
                <a:ea typeface="Century Schoolbook"/>
                <a:cs typeface="Century Schoolbook"/>
                <a:sym typeface="Century Schoolbook"/>
              </a:rPr>
              <a:t>Propagar la excepción: </a:t>
            </a:r>
            <a:endParaRPr sz="2000" b="0" i="0" u="none" strike="noStrike" cap="none">
              <a:latin typeface="Arial"/>
              <a:ea typeface="Arial"/>
              <a:cs typeface="Arial"/>
              <a:sym typeface="Arial"/>
            </a:endParaRPr>
          </a:p>
          <a:p>
            <a:pPr marL="743040" marR="0" lvl="1" indent="-285840" algn="just" rtl="0">
              <a:lnSpc>
                <a:spcPct val="100000"/>
              </a:lnSpc>
              <a:spcBef>
                <a:spcPts val="0"/>
              </a:spcBef>
              <a:spcAft>
                <a:spcPts val="0"/>
              </a:spcAft>
              <a:buClr>
                <a:srgbClr val="000000"/>
              </a:buClr>
              <a:buSzPts val="2000"/>
              <a:buFont typeface="Arial"/>
              <a:buChar char="•"/>
            </a:pPr>
            <a:r>
              <a:rPr lang="es-AR" sz="2000" b="0" i="0" u="none" strike="noStrike" cap="none">
                <a:solidFill>
                  <a:srgbClr val="000000"/>
                </a:solidFill>
                <a:latin typeface="Century Schoolbook"/>
                <a:ea typeface="Century Schoolbook"/>
                <a:cs typeface="Century Schoolbook"/>
                <a:sym typeface="Century Schoolbook"/>
              </a:rPr>
              <a:t>En el </a:t>
            </a:r>
            <a:r>
              <a:rPr lang="es-AR" sz="2000" b="1" i="0" u="none" strike="noStrike" cap="none">
                <a:solidFill>
                  <a:srgbClr val="000000"/>
                </a:solidFill>
                <a:latin typeface="Century Schoolbook"/>
                <a:ea typeface="Century Schoolbook"/>
                <a:cs typeface="Century Schoolbook"/>
                <a:sym typeface="Century Schoolbook"/>
              </a:rPr>
              <a:t>controlador de excepciones que</a:t>
            </a:r>
            <a:r>
              <a:rPr lang="es-AR" sz="2000" b="0" i="0" u="none" strike="noStrike" cap="none">
                <a:solidFill>
                  <a:srgbClr val="000000"/>
                </a:solidFill>
                <a:latin typeface="Century Schoolbook"/>
                <a:ea typeface="Century Schoolbook"/>
                <a:cs typeface="Century Schoolbook"/>
                <a:sym typeface="Century Schoolbook"/>
              </a:rPr>
              <a:t> </a:t>
            </a:r>
            <a:r>
              <a:rPr lang="es-AR" sz="2000" b="1" i="0" u="none" strike="noStrike" cap="none">
                <a:solidFill>
                  <a:srgbClr val="000000"/>
                </a:solidFill>
                <a:latin typeface="Century Schoolbook"/>
                <a:ea typeface="Century Schoolbook"/>
                <a:cs typeface="Century Schoolbook"/>
                <a:sym typeface="Century Schoolbook"/>
              </a:rPr>
              <a:t>no puede manejar completamente la excepción, puede optar por propagarla a un nivel superior</a:t>
            </a:r>
            <a:r>
              <a:rPr lang="es-AR" sz="2000" b="1" i="0" u="none" strike="noStrike" cap="none">
                <a:solidFill>
                  <a:srgbClr val="4A452A"/>
                </a:solidFill>
                <a:latin typeface="Century Schoolbook"/>
                <a:ea typeface="Century Schoolbook"/>
                <a:cs typeface="Century Schoolbook"/>
                <a:sym typeface="Century Schoolbook"/>
              </a:rPr>
              <a:t> </a:t>
            </a:r>
            <a:r>
              <a:rPr lang="es-AR" sz="2000" b="0" i="0" u="none" strike="noStrike" cap="none">
                <a:solidFill>
                  <a:srgbClr val="4A452A"/>
                </a:solidFill>
                <a:latin typeface="Century Schoolbook"/>
                <a:ea typeface="Century Schoolbook"/>
                <a:cs typeface="Century Schoolbook"/>
                <a:sym typeface="Century Schoolbook"/>
              </a:rPr>
              <a:t>en la jerarquía de llamadas.</a:t>
            </a:r>
            <a:r>
              <a:rPr lang="es-AR" sz="2000" b="0" i="0" u="none" strike="noStrike" cap="none">
                <a:solidFill>
                  <a:srgbClr val="000000"/>
                </a:solidFill>
                <a:latin typeface="Century Schoolbook"/>
                <a:ea typeface="Century Schoolbook"/>
                <a:cs typeface="Century Schoolbook"/>
                <a:sym typeface="Century Schoolbook"/>
              </a:rPr>
              <a:t> </a:t>
            </a:r>
            <a:endParaRPr sz="2000" b="0" i="0" u="none" strike="noStrike" cap="none">
              <a:latin typeface="Arial"/>
              <a:ea typeface="Arial"/>
              <a:cs typeface="Arial"/>
              <a:sym typeface="Arial"/>
            </a:endParaRPr>
          </a:p>
          <a:p>
            <a:pPr marL="743040" marR="0" lvl="1" indent="-285840" algn="just" rtl="0">
              <a:lnSpc>
                <a:spcPct val="100000"/>
              </a:lnSpc>
              <a:spcBef>
                <a:spcPts val="0"/>
              </a:spcBef>
              <a:spcAft>
                <a:spcPts val="0"/>
              </a:spcAft>
              <a:buClr>
                <a:srgbClr val="000000"/>
              </a:buClr>
              <a:buSzPts val="2000"/>
              <a:buFont typeface="Arial"/>
              <a:buChar char="•"/>
            </a:pPr>
            <a:r>
              <a:rPr lang="es-AR" sz="2000" b="0" i="0" u="none" strike="noStrike" cap="none">
                <a:solidFill>
                  <a:srgbClr val="000000"/>
                </a:solidFill>
                <a:latin typeface="Century Schoolbook"/>
                <a:ea typeface="Century Schoolbook"/>
                <a:cs typeface="Century Schoolbook"/>
                <a:sym typeface="Century Schoolbook"/>
              </a:rPr>
              <a:t>El </a:t>
            </a:r>
            <a:r>
              <a:rPr lang="es-AR" sz="2000" b="1" i="0" u="none" strike="noStrike" cap="none">
                <a:solidFill>
                  <a:srgbClr val="000000"/>
                </a:solidFill>
                <a:latin typeface="Century Schoolbook"/>
                <a:ea typeface="Century Schoolbook"/>
                <a:cs typeface="Century Schoolbook"/>
                <a:sym typeface="Century Schoolbook"/>
              </a:rPr>
              <a:t>punto de retorno</a:t>
            </a:r>
            <a:r>
              <a:rPr lang="es-AR" sz="2000" b="0" i="0" u="none" strike="noStrike" cap="none">
                <a:solidFill>
                  <a:srgbClr val="000000"/>
                </a:solidFill>
                <a:latin typeface="Century Schoolbook"/>
                <a:ea typeface="Century Schoolbook"/>
                <a:cs typeface="Century Schoolbook"/>
                <a:sym typeface="Century Schoolbook"/>
              </a:rPr>
              <a:t> sería </a:t>
            </a:r>
            <a:r>
              <a:rPr lang="es-AR" sz="2000" b="1" i="0" u="none" strike="noStrike" cap="none">
                <a:solidFill>
                  <a:srgbClr val="000000"/>
                </a:solidFill>
                <a:latin typeface="Century Schoolbook"/>
                <a:ea typeface="Century Schoolbook"/>
                <a:cs typeface="Century Schoolbook"/>
                <a:sym typeface="Century Schoolbook"/>
              </a:rPr>
              <a:t>el controlador de excepciones en el nivel superior</a:t>
            </a:r>
            <a:r>
              <a:rPr lang="es-AR" sz="2000" b="0" i="0" u="none" strike="noStrike" cap="none">
                <a:solidFill>
                  <a:srgbClr val="000000"/>
                </a:solidFill>
                <a:latin typeface="Century Schoolbook"/>
                <a:ea typeface="Century Schoolbook"/>
                <a:cs typeface="Century Schoolbook"/>
                <a:sym typeface="Century Schoolbook"/>
              </a:rPr>
              <a:t> que pueda manejar la excepción o decidir cómo manejarla.</a:t>
            </a:r>
            <a:endParaRPr sz="2000" b="0" i="0" u="none" strike="noStrike" cap="none">
              <a:latin typeface="Arial"/>
              <a:ea typeface="Arial"/>
              <a:cs typeface="Arial"/>
              <a:sym typeface="Arial"/>
            </a:endParaRPr>
          </a:p>
          <a:p>
            <a:pPr marL="0" marR="0" lvl="0" indent="0" algn="just" rtl="0">
              <a:lnSpc>
                <a:spcPct val="100000"/>
              </a:lnSpc>
              <a:spcBef>
                <a:spcPts val="0"/>
              </a:spcBef>
              <a:spcAft>
                <a:spcPts val="0"/>
              </a:spcAft>
              <a:buSzPts val="2000"/>
              <a:buFont typeface="Arial"/>
              <a:buNone/>
            </a:pPr>
            <a:endParaRPr sz="2000" b="0" i="0" u="none" strike="noStrike" cap="none">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Century Schoolbook"/>
              <a:buNone/>
            </a:pPr>
            <a:r>
              <a:rPr lang="es-AR" sz="2000" b="1" i="0" u="none" strike="noStrike" cap="none">
                <a:solidFill>
                  <a:srgbClr val="000000"/>
                </a:solidFill>
                <a:latin typeface="Century Schoolbook"/>
                <a:ea typeface="Century Schoolbook"/>
                <a:cs typeface="Century Schoolbook"/>
                <a:sym typeface="Century Schoolbook"/>
              </a:rPr>
              <a:t>Terminar la ejecución del programa: </a:t>
            </a:r>
            <a:endParaRPr sz="2000" b="0" i="0" u="none" strike="noStrike" cap="none">
              <a:latin typeface="Arial"/>
              <a:ea typeface="Arial"/>
              <a:cs typeface="Arial"/>
              <a:sym typeface="Arial"/>
            </a:endParaRPr>
          </a:p>
          <a:p>
            <a:pPr marL="743040" marR="0" lvl="1" indent="-285840" algn="just" rtl="0">
              <a:lnSpc>
                <a:spcPct val="100000"/>
              </a:lnSpc>
              <a:spcBef>
                <a:spcPts val="0"/>
              </a:spcBef>
              <a:spcAft>
                <a:spcPts val="0"/>
              </a:spcAft>
              <a:buClr>
                <a:srgbClr val="000000"/>
              </a:buClr>
              <a:buSzPts val="2000"/>
              <a:buFont typeface="Arial"/>
              <a:buChar char="•"/>
            </a:pPr>
            <a:r>
              <a:rPr lang="es-AR" sz="2000" b="0" i="0" u="none" strike="noStrike" cap="none">
                <a:solidFill>
                  <a:srgbClr val="000000"/>
                </a:solidFill>
                <a:latin typeface="Century Schoolbook"/>
                <a:ea typeface="Century Schoolbook"/>
                <a:cs typeface="Century Schoolbook"/>
                <a:sym typeface="Century Schoolbook"/>
              </a:rPr>
              <a:t>En </a:t>
            </a:r>
            <a:r>
              <a:rPr lang="es-AR" sz="2000" b="1" i="0" u="none" strike="noStrike" cap="none">
                <a:solidFill>
                  <a:srgbClr val="000000"/>
                </a:solidFill>
                <a:latin typeface="Century Schoolbook"/>
                <a:ea typeface="Century Schoolbook"/>
                <a:cs typeface="Century Schoolbook"/>
                <a:sym typeface="Century Schoolbook"/>
              </a:rPr>
              <a:t>situaciones excepcionales o críticas,</a:t>
            </a:r>
            <a:r>
              <a:rPr lang="es-AR" sz="2000" b="0" i="0" u="none" strike="noStrike" cap="none">
                <a:solidFill>
                  <a:srgbClr val="000000"/>
                </a:solidFill>
                <a:latin typeface="Century Schoolbook"/>
                <a:ea typeface="Century Schoolbook"/>
                <a:cs typeface="Century Schoolbook"/>
                <a:sym typeface="Century Schoolbook"/>
              </a:rPr>
              <a:t> es posible que el </a:t>
            </a:r>
            <a:r>
              <a:rPr lang="es-AR" sz="2000" b="1" i="0" u="none" strike="noStrike" cap="none">
                <a:solidFill>
                  <a:srgbClr val="000000"/>
                </a:solidFill>
                <a:latin typeface="Century Schoolbook"/>
                <a:ea typeface="Century Schoolbook"/>
                <a:cs typeface="Century Schoolbook"/>
                <a:sym typeface="Century Schoolbook"/>
              </a:rPr>
              <a:t>controlador de excepciones determine que no se puede continuar </a:t>
            </a:r>
            <a:r>
              <a:rPr lang="es-AR" sz="2000" b="0" i="0" u="none" strike="noStrike" cap="none">
                <a:solidFill>
                  <a:srgbClr val="000000"/>
                </a:solidFill>
                <a:latin typeface="Century Schoolbook"/>
                <a:ea typeface="Century Schoolbook"/>
                <a:cs typeface="Century Schoolbook"/>
                <a:sym typeface="Century Schoolbook"/>
              </a:rPr>
              <a:t>ejecutando el programa </a:t>
            </a:r>
            <a:r>
              <a:rPr lang="es-AR" sz="2000" b="1" i="0" u="none" strike="noStrike" cap="none">
                <a:solidFill>
                  <a:srgbClr val="000000"/>
                </a:solidFill>
                <a:latin typeface="Century Schoolbook"/>
                <a:ea typeface="Century Schoolbook"/>
                <a:cs typeface="Century Schoolbook"/>
                <a:sym typeface="Century Schoolbook"/>
              </a:rPr>
              <a:t>de manera segura.</a:t>
            </a:r>
            <a:r>
              <a:rPr lang="es-AR" sz="2000" b="0" i="0" u="none" strike="noStrike" cap="none">
                <a:solidFill>
                  <a:srgbClr val="000000"/>
                </a:solidFill>
                <a:latin typeface="Century Schoolbook"/>
                <a:ea typeface="Century Schoolbook"/>
                <a:cs typeface="Century Schoolbook"/>
                <a:sym typeface="Century Schoolbook"/>
              </a:rPr>
              <a:t> </a:t>
            </a:r>
            <a:endParaRPr sz="2000" b="0" i="0" u="none" strike="noStrike" cap="none">
              <a:latin typeface="Arial"/>
              <a:ea typeface="Arial"/>
              <a:cs typeface="Arial"/>
              <a:sym typeface="Arial"/>
            </a:endParaRPr>
          </a:p>
          <a:p>
            <a:pPr marL="743040" marR="0" lvl="1" indent="-285840" algn="just" rtl="0">
              <a:lnSpc>
                <a:spcPct val="100000"/>
              </a:lnSpc>
              <a:spcBef>
                <a:spcPts val="0"/>
              </a:spcBef>
              <a:spcAft>
                <a:spcPts val="0"/>
              </a:spcAft>
              <a:buClr>
                <a:srgbClr val="000000"/>
              </a:buClr>
              <a:buSzPts val="2000"/>
              <a:buFont typeface="Arial"/>
              <a:buChar char="•"/>
            </a:pPr>
            <a:r>
              <a:rPr lang="es-AR" sz="2000" b="0" i="0" u="none" strike="noStrike" cap="none">
                <a:solidFill>
                  <a:srgbClr val="000000"/>
                </a:solidFill>
                <a:latin typeface="Century Schoolbook"/>
                <a:ea typeface="Century Schoolbook"/>
                <a:cs typeface="Century Schoolbook"/>
                <a:sym typeface="Century Schoolbook"/>
              </a:rPr>
              <a:t>El</a:t>
            </a:r>
            <a:r>
              <a:rPr lang="es-AR" sz="2000" b="1" i="0" u="none" strike="noStrike" cap="none">
                <a:solidFill>
                  <a:srgbClr val="000000"/>
                </a:solidFill>
                <a:latin typeface="Century Schoolbook"/>
                <a:ea typeface="Century Schoolbook"/>
                <a:cs typeface="Century Schoolbook"/>
                <a:sym typeface="Century Schoolbook"/>
              </a:rPr>
              <a:t> punto de retorno</a:t>
            </a:r>
            <a:r>
              <a:rPr lang="es-AR" sz="2000" b="0" i="0" u="none" strike="noStrike" cap="none">
                <a:solidFill>
                  <a:srgbClr val="000000"/>
                </a:solidFill>
                <a:latin typeface="Century Schoolbook"/>
                <a:ea typeface="Century Schoolbook"/>
                <a:cs typeface="Century Schoolbook"/>
                <a:sym typeface="Century Schoolbook"/>
              </a:rPr>
              <a:t> puede ser la </a:t>
            </a:r>
            <a:r>
              <a:rPr lang="es-AR" sz="2000" b="1" i="0" u="none" strike="noStrike" cap="none">
                <a:solidFill>
                  <a:srgbClr val="000000"/>
                </a:solidFill>
                <a:latin typeface="Century Schoolbook"/>
                <a:ea typeface="Century Schoolbook"/>
                <a:cs typeface="Century Schoolbook"/>
                <a:sym typeface="Century Schoolbook"/>
              </a:rPr>
              <a:t>finalización del programa </a:t>
            </a:r>
            <a:r>
              <a:rPr lang="es-AR" sz="2000" b="0" i="0" u="none" strike="noStrike" cap="none">
                <a:solidFill>
                  <a:srgbClr val="000000"/>
                </a:solidFill>
                <a:latin typeface="Century Schoolbook"/>
                <a:ea typeface="Century Schoolbook"/>
                <a:cs typeface="Century Schoolbook"/>
                <a:sym typeface="Century Schoolbook"/>
              </a:rPr>
              <a:t>o</a:t>
            </a:r>
            <a:r>
              <a:rPr lang="es-AR" sz="2000" b="1" i="0" u="none" strike="noStrike" cap="none">
                <a:solidFill>
                  <a:srgbClr val="000000"/>
                </a:solidFill>
                <a:latin typeface="Century Schoolbook"/>
                <a:ea typeface="Century Schoolbook"/>
                <a:cs typeface="Century Schoolbook"/>
                <a:sym typeface="Century Schoolbook"/>
              </a:rPr>
              <a:t> alguna acción específica de cierre antes de la finalización.</a:t>
            </a:r>
            <a:endParaRPr sz="2000" b="0" i="0" u="none" strike="noStrike" cap="none">
              <a:latin typeface="Arial"/>
              <a:ea typeface="Arial"/>
              <a:cs typeface="Arial"/>
              <a:sym typeface="Arial"/>
            </a:endParaRPr>
          </a:p>
        </p:txBody>
      </p:sp>
      <p:sp>
        <p:nvSpPr>
          <p:cNvPr id="458" name="Google Shape;458;p15"/>
          <p:cNvSpPr/>
          <p:nvPr/>
        </p:nvSpPr>
        <p:spPr>
          <a:xfrm>
            <a:off x="8255880" y="5837400"/>
            <a:ext cx="89028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15</a:t>
            </a:fld>
            <a:endParaRPr sz="1800" b="0" i="0" u="none" strike="noStrike" cap="none">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16"/>
          <p:cNvSpPr/>
          <p:nvPr/>
        </p:nvSpPr>
        <p:spPr>
          <a:xfrm>
            <a:off x="356400" y="1440"/>
            <a:ext cx="834156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2 modelos de manejo de excepciones</a:t>
            </a:r>
            <a:endParaRPr sz="3000" b="0" i="0" u="none" strike="noStrike" cap="none">
              <a:latin typeface="Arial"/>
              <a:ea typeface="Arial"/>
              <a:cs typeface="Arial"/>
              <a:sym typeface="Arial"/>
            </a:endParaRPr>
          </a:p>
        </p:txBody>
      </p:sp>
      <p:sp>
        <p:nvSpPr>
          <p:cNvPr id="465" name="Google Shape;465;p16"/>
          <p:cNvSpPr/>
          <p:nvPr/>
        </p:nvSpPr>
        <p:spPr>
          <a:xfrm>
            <a:off x="112320" y="1082520"/>
            <a:ext cx="5509800" cy="5488920"/>
          </a:xfrm>
          <a:prstGeom prst="rect">
            <a:avLst/>
          </a:prstGeom>
          <a:noFill/>
          <a:ln>
            <a:noFill/>
          </a:ln>
        </p:spPr>
        <p:txBody>
          <a:bodyPr spcFirstLastPara="1" wrap="square" lIns="90000" tIns="45000" rIns="90000" bIns="45000" anchor="t" anchorCtr="0">
            <a:noAutofit/>
          </a:bodyPr>
          <a:lstStyle/>
          <a:p>
            <a:pPr marL="285840" marR="0" lvl="0" indent="-285840" algn="just" rtl="0">
              <a:lnSpc>
                <a:spcPct val="100000"/>
              </a:lnSpc>
              <a:spcBef>
                <a:spcPts val="0"/>
              </a:spcBef>
              <a:spcAft>
                <a:spcPts val="0"/>
              </a:spcAft>
              <a:buClr>
                <a:srgbClr val="000000"/>
              </a:buClr>
              <a:buSzPts val="2000"/>
              <a:buFont typeface="Arial"/>
              <a:buChar char="•"/>
            </a:pPr>
            <a:r>
              <a:rPr lang="es-AR" sz="2000" b="1" i="0" u="none" strike="noStrike" cap="none">
                <a:solidFill>
                  <a:srgbClr val="000000"/>
                </a:solidFill>
                <a:latin typeface="Century Schoolbook"/>
                <a:ea typeface="Century Schoolbook"/>
                <a:cs typeface="Century Schoolbook"/>
                <a:sym typeface="Century Schoolbook"/>
              </a:rPr>
              <a:t>Reasunción</a:t>
            </a:r>
            <a:r>
              <a:rPr lang="es-AR" sz="2000" b="0" i="0" u="none" strike="noStrike" cap="none">
                <a:solidFill>
                  <a:srgbClr val="000000"/>
                </a:solidFill>
                <a:latin typeface="Century Schoolbook"/>
                <a:ea typeface="Century Schoolbook"/>
                <a:cs typeface="Century Schoolbook"/>
                <a:sym typeface="Century Schoolbook"/>
              </a:rPr>
              <a:t>: se refiere a la </a:t>
            </a:r>
            <a:r>
              <a:rPr lang="es-AR" sz="2000" b="1" i="0" u="none" strike="noStrike" cap="none">
                <a:solidFill>
                  <a:srgbClr val="000000"/>
                </a:solidFill>
                <a:latin typeface="Century Schoolbook"/>
                <a:ea typeface="Century Schoolbook"/>
                <a:cs typeface="Century Schoolbook"/>
                <a:sym typeface="Century Schoolbook"/>
              </a:rPr>
              <a:t>posibilidad de retomar la ejecución normal del programa después de manejar una excepción.</a:t>
            </a:r>
            <a:r>
              <a:rPr lang="es-AR" sz="2000" b="0" i="0" u="none" strike="noStrike" cap="none">
                <a:solidFill>
                  <a:srgbClr val="000000"/>
                </a:solidFill>
                <a:latin typeface="Century Schoolbook"/>
                <a:ea typeface="Century Schoolbook"/>
                <a:cs typeface="Century Schoolbook"/>
                <a:sym typeface="Century Schoolbook"/>
              </a:rPr>
              <a:t> El controlador de excepciones realiza las acciones necesarias para manejar la excepción (medidas correctivas) y luego </a:t>
            </a:r>
            <a:r>
              <a:rPr lang="es-AR" sz="2000" b="1" i="0" u="none" strike="noStrike" cap="none">
                <a:solidFill>
                  <a:srgbClr val="000000"/>
                </a:solidFill>
                <a:latin typeface="Century Schoolbook"/>
                <a:ea typeface="Century Schoolbook"/>
                <a:cs typeface="Century Schoolbook"/>
                <a:sym typeface="Century Schoolbook"/>
              </a:rPr>
              <a:t>el programa continúa su ejecución a partir del punto donde se produjo la excepción.</a:t>
            </a:r>
            <a:endParaRPr sz="2000" b="0" i="0" u="none" strike="noStrike" cap="none">
              <a:latin typeface="Arial"/>
              <a:ea typeface="Arial"/>
              <a:cs typeface="Arial"/>
              <a:sym typeface="Arial"/>
            </a:endParaRPr>
          </a:p>
          <a:p>
            <a:pPr marL="0" marR="0" lvl="0" indent="0" algn="just" rtl="0">
              <a:lnSpc>
                <a:spcPct val="100000"/>
              </a:lnSpc>
              <a:spcBef>
                <a:spcPts val="0"/>
              </a:spcBef>
              <a:spcAft>
                <a:spcPts val="0"/>
              </a:spcAft>
              <a:buSzPts val="2000"/>
              <a:buFont typeface="Arial"/>
              <a:buNone/>
            </a:pPr>
            <a:endParaRPr sz="2000" b="0" i="0" u="none" strike="noStrike" cap="none">
              <a:latin typeface="Arial"/>
              <a:ea typeface="Arial"/>
              <a:cs typeface="Arial"/>
              <a:sym typeface="Arial"/>
            </a:endParaRPr>
          </a:p>
          <a:p>
            <a:pPr marL="343080" marR="0" lvl="0" indent="-343080" algn="just" rtl="0">
              <a:lnSpc>
                <a:spcPct val="100000"/>
              </a:lnSpc>
              <a:spcBef>
                <a:spcPts val="0"/>
              </a:spcBef>
              <a:spcAft>
                <a:spcPts val="0"/>
              </a:spcAft>
              <a:buClr>
                <a:srgbClr val="000000"/>
              </a:buClr>
              <a:buSzPts val="2000"/>
              <a:buFont typeface="Arial"/>
              <a:buChar char="•"/>
            </a:pPr>
            <a:r>
              <a:rPr lang="es-AR" sz="2000" b="1" i="0" u="none" strike="noStrike" cap="none">
                <a:solidFill>
                  <a:srgbClr val="000000"/>
                </a:solidFill>
                <a:latin typeface="Century Schoolbook"/>
                <a:ea typeface="Century Schoolbook"/>
                <a:cs typeface="Century Schoolbook"/>
                <a:sym typeface="Century Schoolbook"/>
              </a:rPr>
              <a:t>Terminación</a:t>
            </a:r>
            <a:r>
              <a:rPr lang="es-AR" sz="2000" b="0" i="0" u="none" strike="noStrike" cap="none">
                <a:solidFill>
                  <a:srgbClr val="000000"/>
                </a:solidFill>
                <a:latin typeface="Century Schoolbook"/>
                <a:ea typeface="Century Schoolbook"/>
                <a:cs typeface="Century Schoolbook"/>
                <a:sym typeface="Century Schoolbook"/>
              </a:rPr>
              <a:t>: El controlador de excepciones realiza las acciones necesarias para manejar la excepción, pero no se retorna al punto donde se produjo la excepción (invocador), </a:t>
            </a:r>
            <a:r>
              <a:rPr lang="es-AR" sz="2000" b="1" i="0" u="none" strike="noStrike" cap="none">
                <a:solidFill>
                  <a:srgbClr val="000000"/>
                </a:solidFill>
                <a:latin typeface="Century Schoolbook"/>
                <a:ea typeface="Century Schoolbook"/>
                <a:cs typeface="Century Schoolbook"/>
                <a:sym typeface="Century Schoolbook"/>
              </a:rPr>
              <a:t>continúa su ejecución a partir de la finalización del manejador.</a:t>
            </a:r>
            <a:endParaRPr sz="2000" b="0" i="0" u="none" strike="noStrike" cap="none">
              <a:latin typeface="Arial"/>
              <a:ea typeface="Arial"/>
              <a:cs typeface="Arial"/>
              <a:sym typeface="Arial"/>
            </a:endParaRPr>
          </a:p>
          <a:p>
            <a:pPr marL="0" marR="0" lvl="0" indent="0" algn="just" rtl="0">
              <a:lnSpc>
                <a:spcPct val="100000"/>
              </a:lnSpc>
              <a:spcBef>
                <a:spcPts val="0"/>
              </a:spcBef>
              <a:spcAft>
                <a:spcPts val="0"/>
              </a:spcAft>
              <a:buSzPts val="2000"/>
              <a:buFont typeface="Arial"/>
              <a:buNone/>
            </a:pPr>
            <a:endParaRPr sz="2000" b="0" i="0" u="none" strike="noStrike" cap="none">
              <a:latin typeface="Arial"/>
              <a:ea typeface="Arial"/>
              <a:cs typeface="Arial"/>
              <a:sym typeface="Arial"/>
            </a:endParaRPr>
          </a:p>
          <a:p>
            <a:pPr marL="0" marR="0" lvl="0" indent="0" algn="just" rtl="0">
              <a:lnSpc>
                <a:spcPct val="100000"/>
              </a:lnSpc>
              <a:spcBef>
                <a:spcPts val="0"/>
              </a:spcBef>
              <a:spcAft>
                <a:spcPts val="0"/>
              </a:spcAft>
              <a:buSzPts val="1800"/>
              <a:buFont typeface="Arial"/>
              <a:buNone/>
            </a:pPr>
            <a:endParaRPr sz="1800" b="0" i="0" u="none" strike="noStrike" cap="none">
              <a:latin typeface="Arial"/>
              <a:ea typeface="Arial"/>
              <a:cs typeface="Arial"/>
              <a:sym typeface="Arial"/>
            </a:endParaRPr>
          </a:p>
          <a:p>
            <a:pPr marL="2520" marR="0" lvl="0" indent="0" algn="just" rtl="0">
              <a:lnSpc>
                <a:spcPct val="100000"/>
              </a:lnSpc>
              <a:spcBef>
                <a:spcPts val="0"/>
              </a:spcBef>
              <a:spcAft>
                <a:spcPts val="0"/>
              </a:spcAft>
              <a:buSzPts val="1800"/>
              <a:buFont typeface="Arial"/>
              <a:buNone/>
            </a:pPr>
            <a:endParaRPr sz="1800" b="0" i="0" u="none" strike="noStrike" cap="none">
              <a:latin typeface="Arial"/>
              <a:ea typeface="Arial"/>
              <a:cs typeface="Arial"/>
              <a:sym typeface="Arial"/>
            </a:endParaRPr>
          </a:p>
          <a:p>
            <a:pPr marL="0" marR="0" lvl="0" indent="0" algn="just" rtl="0">
              <a:lnSpc>
                <a:spcPct val="100000"/>
              </a:lnSpc>
              <a:spcBef>
                <a:spcPts val="561"/>
              </a:spcBef>
              <a:spcAft>
                <a:spcPts val="0"/>
              </a:spcAft>
              <a:buSzPts val="2000"/>
              <a:buFont typeface="Arial"/>
              <a:buNone/>
            </a:pPr>
            <a:endParaRPr sz="2000" b="0" i="0" u="none" strike="noStrike" cap="none">
              <a:latin typeface="Arial"/>
              <a:ea typeface="Arial"/>
              <a:cs typeface="Arial"/>
              <a:sym typeface="Arial"/>
            </a:endParaRPr>
          </a:p>
        </p:txBody>
      </p:sp>
      <p:sp>
        <p:nvSpPr>
          <p:cNvPr id="466" name="Google Shape;466;p16"/>
          <p:cNvSpPr/>
          <p:nvPr/>
        </p:nvSpPr>
        <p:spPr>
          <a:xfrm>
            <a:off x="8255880" y="5837400"/>
            <a:ext cx="89028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16</a:t>
            </a:fld>
            <a:endParaRPr sz="1800" b="0" i="0" u="none" strike="noStrike" cap="none">
              <a:latin typeface="Arial"/>
              <a:ea typeface="Arial"/>
              <a:cs typeface="Arial"/>
              <a:sym typeface="Arial"/>
            </a:endParaRPr>
          </a:p>
        </p:txBody>
      </p:sp>
      <p:sp>
        <p:nvSpPr>
          <p:cNvPr id="467" name="Google Shape;467;p16"/>
          <p:cNvSpPr/>
          <p:nvPr/>
        </p:nvSpPr>
        <p:spPr>
          <a:xfrm rot="312000">
            <a:off x="5598360" y="1483200"/>
            <a:ext cx="2909880" cy="1418040"/>
          </a:xfrm>
          <a:custGeom>
            <a:avLst/>
            <a:gdLst/>
            <a:ahLst/>
            <a:cxnLst/>
            <a:rect l="l" t="t" r="r" b="b"/>
            <a:pathLst>
              <a:path w="21600" h="21600" extrusionOk="0">
                <a:moveTo>
                  <a:pt x="11464" y="4340"/>
                </a:moveTo>
                <a:lnTo>
                  <a:pt x="9722" y="1887"/>
                </a:lnTo>
                <a:lnTo>
                  <a:pt x="8548" y="6383"/>
                </a:lnTo>
                <a:lnTo>
                  <a:pt x="4503" y="3626"/>
                </a:lnTo>
                <a:lnTo>
                  <a:pt x="5373" y="7816"/>
                </a:lnTo>
                <a:lnTo>
                  <a:pt x="1174" y="8270"/>
                </a:lnTo>
                <a:lnTo>
                  <a:pt x="3934" y="11592"/>
                </a:lnTo>
                <a:lnTo>
                  <a:pt x="0" y="12875"/>
                </a:lnTo>
                <a:lnTo>
                  <a:pt x="3329" y="15372"/>
                </a:lnTo>
                <a:lnTo>
                  <a:pt x="1283" y="17824"/>
                </a:lnTo>
                <a:lnTo>
                  <a:pt x="4804" y="18239"/>
                </a:lnTo>
                <a:lnTo>
                  <a:pt x="4918" y="21600"/>
                </a:lnTo>
                <a:lnTo>
                  <a:pt x="7525" y="18125"/>
                </a:lnTo>
                <a:lnTo>
                  <a:pt x="8698" y="19712"/>
                </a:lnTo>
                <a:lnTo>
                  <a:pt x="9871" y="17371"/>
                </a:lnTo>
                <a:lnTo>
                  <a:pt x="11614" y="18844"/>
                </a:lnTo>
                <a:lnTo>
                  <a:pt x="12178" y="15937"/>
                </a:lnTo>
                <a:lnTo>
                  <a:pt x="14943" y="17371"/>
                </a:lnTo>
                <a:lnTo>
                  <a:pt x="14640" y="14348"/>
                </a:lnTo>
                <a:lnTo>
                  <a:pt x="18878" y="15632"/>
                </a:lnTo>
                <a:lnTo>
                  <a:pt x="16382" y="12311"/>
                </a:lnTo>
                <a:lnTo>
                  <a:pt x="18270" y="11292"/>
                </a:lnTo>
                <a:lnTo>
                  <a:pt x="16986" y="9404"/>
                </a:lnTo>
                <a:lnTo>
                  <a:pt x="21600" y="6646"/>
                </a:lnTo>
                <a:lnTo>
                  <a:pt x="16382" y="6533"/>
                </a:lnTo>
                <a:lnTo>
                  <a:pt x="18005" y="3172"/>
                </a:lnTo>
                <a:lnTo>
                  <a:pt x="14524" y="5778"/>
                </a:lnTo>
                <a:lnTo>
                  <a:pt x="14789" y="0"/>
                </a:lnTo>
                <a:lnTo>
                  <a:pt x="11464" y="4340"/>
                </a:lnTo>
                <a:close/>
              </a:path>
            </a:pathLst>
          </a:custGeom>
          <a:solidFill>
            <a:srgbClr val="729FCF"/>
          </a:solidFill>
          <a:ln w="9525" cap="flat" cmpd="sng">
            <a:solidFill>
              <a:srgbClr val="3465A4"/>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s-AR" sz="1500" b="0" i="0" u="none" strike="noStrike" cap="none">
                <a:solidFill>
                  <a:srgbClr val="000000"/>
                </a:solidFill>
                <a:latin typeface="Arial"/>
                <a:ea typeface="Arial"/>
                <a:cs typeface="Arial"/>
                <a:sym typeface="Arial"/>
              </a:rPr>
              <a:t>Maneja la excepción y</a:t>
            </a:r>
            <a:endParaRPr sz="1500" b="0" i="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1500"/>
              <a:buFont typeface="Arial"/>
              <a:buNone/>
            </a:pPr>
            <a:r>
              <a:rPr lang="es-AR" sz="1500" b="0" i="0" u="none" strike="noStrike" cap="none">
                <a:solidFill>
                  <a:srgbClr val="000000"/>
                </a:solidFill>
                <a:latin typeface="Arial"/>
                <a:ea typeface="Arial"/>
                <a:cs typeface="Arial"/>
                <a:sym typeface="Arial"/>
              </a:rPr>
              <a:t>continúa la ejecución!!</a:t>
            </a:r>
            <a:endParaRPr sz="1500" b="0" i="0" u="none" strike="noStrike" cap="none">
              <a:latin typeface="Arial"/>
              <a:ea typeface="Arial"/>
              <a:cs typeface="Arial"/>
              <a:sym typeface="Arial"/>
            </a:endParaRPr>
          </a:p>
        </p:txBody>
      </p:sp>
      <p:sp>
        <p:nvSpPr>
          <p:cNvPr id="468" name="Google Shape;468;p16"/>
          <p:cNvSpPr/>
          <p:nvPr/>
        </p:nvSpPr>
        <p:spPr>
          <a:xfrm rot="312000">
            <a:off x="5770080" y="3650400"/>
            <a:ext cx="2909880" cy="1418040"/>
          </a:xfrm>
          <a:custGeom>
            <a:avLst/>
            <a:gdLst/>
            <a:ahLst/>
            <a:cxnLst/>
            <a:rect l="l" t="t" r="r" b="b"/>
            <a:pathLst>
              <a:path w="21600" h="21600" extrusionOk="0">
                <a:moveTo>
                  <a:pt x="11464" y="4340"/>
                </a:moveTo>
                <a:lnTo>
                  <a:pt x="9722" y="1887"/>
                </a:lnTo>
                <a:lnTo>
                  <a:pt x="8548" y="6383"/>
                </a:lnTo>
                <a:lnTo>
                  <a:pt x="4503" y="3626"/>
                </a:lnTo>
                <a:lnTo>
                  <a:pt x="5373" y="7816"/>
                </a:lnTo>
                <a:lnTo>
                  <a:pt x="1174" y="8270"/>
                </a:lnTo>
                <a:lnTo>
                  <a:pt x="3934" y="11592"/>
                </a:lnTo>
                <a:lnTo>
                  <a:pt x="0" y="12875"/>
                </a:lnTo>
                <a:lnTo>
                  <a:pt x="3329" y="15372"/>
                </a:lnTo>
                <a:lnTo>
                  <a:pt x="1283" y="17824"/>
                </a:lnTo>
                <a:lnTo>
                  <a:pt x="4804" y="18239"/>
                </a:lnTo>
                <a:lnTo>
                  <a:pt x="4918" y="21600"/>
                </a:lnTo>
                <a:lnTo>
                  <a:pt x="7525" y="18125"/>
                </a:lnTo>
                <a:lnTo>
                  <a:pt x="8698" y="19712"/>
                </a:lnTo>
                <a:lnTo>
                  <a:pt x="9871" y="17371"/>
                </a:lnTo>
                <a:lnTo>
                  <a:pt x="11614" y="18844"/>
                </a:lnTo>
                <a:lnTo>
                  <a:pt x="12178" y="15937"/>
                </a:lnTo>
                <a:lnTo>
                  <a:pt x="14943" y="17371"/>
                </a:lnTo>
                <a:lnTo>
                  <a:pt x="14640" y="14348"/>
                </a:lnTo>
                <a:lnTo>
                  <a:pt x="18878" y="15632"/>
                </a:lnTo>
                <a:lnTo>
                  <a:pt x="16382" y="12311"/>
                </a:lnTo>
                <a:lnTo>
                  <a:pt x="18270" y="11292"/>
                </a:lnTo>
                <a:lnTo>
                  <a:pt x="16986" y="9404"/>
                </a:lnTo>
                <a:lnTo>
                  <a:pt x="21600" y="6646"/>
                </a:lnTo>
                <a:lnTo>
                  <a:pt x="16382" y="6533"/>
                </a:lnTo>
                <a:lnTo>
                  <a:pt x="18005" y="3172"/>
                </a:lnTo>
                <a:lnTo>
                  <a:pt x="14524" y="5778"/>
                </a:lnTo>
                <a:lnTo>
                  <a:pt x="14789" y="0"/>
                </a:lnTo>
                <a:lnTo>
                  <a:pt x="11464" y="4340"/>
                </a:lnTo>
                <a:close/>
              </a:path>
            </a:pathLst>
          </a:custGeom>
          <a:solidFill>
            <a:srgbClr val="729FCF"/>
          </a:solidFill>
          <a:ln w="9525" cap="flat" cmpd="sng">
            <a:solidFill>
              <a:srgbClr val="3465A4"/>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s-AR" sz="1500" b="0" i="0" u="none" strike="noStrike" cap="none">
                <a:solidFill>
                  <a:srgbClr val="000000"/>
                </a:solidFill>
                <a:latin typeface="Arial"/>
                <a:ea typeface="Arial"/>
                <a:cs typeface="Arial"/>
                <a:sym typeface="Arial"/>
              </a:rPr>
              <a:t>Terminar la ejecución y </a:t>
            </a:r>
            <a:endParaRPr sz="1500" b="0" i="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1500"/>
              <a:buFont typeface="Arial"/>
              <a:buNone/>
            </a:pPr>
            <a:r>
              <a:rPr lang="es-AR" sz="1500" b="0" i="0" u="none" strike="noStrike" cap="none">
                <a:solidFill>
                  <a:srgbClr val="000000"/>
                </a:solidFill>
                <a:latin typeface="Arial"/>
                <a:ea typeface="Arial"/>
                <a:cs typeface="Arial"/>
                <a:sym typeface="Arial"/>
              </a:rPr>
              <a:t>Maneja la excepción!!</a:t>
            </a:r>
            <a:endParaRPr sz="1500" b="0" i="0" u="none" strike="noStrike" cap="none">
              <a:latin typeface="Arial"/>
              <a:ea typeface="Arial"/>
              <a:cs typeface="Arial"/>
              <a:sym typeface="Arial"/>
            </a:endParaRPr>
          </a:p>
        </p:txBody>
      </p:sp>
      <p:sp>
        <p:nvSpPr>
          <p:cNvPr id="469" name="Google Shape;469;p16"/>
          <p:cNvSpPr/>
          <p:nvPr/>
        </p:nvSpPr>
        <p:spPr>
          <a:xfrm>
            <a:off x="5960880" y="5256360"/>
            <a:ext cx="2742840" cy="100584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Consolas"/>
              <a:buNone/>
            </a:pPr>
            <a:r>
              <a:rPr lang="es-AR" sz="2000" b="1" i="0" u="none" strike="noStrike" cap="none">
                <a:solidFill>
                  <a:srgbClr val="000000"/>
                </a:solidFill>
                <a:latin typeface="Consolas"/>
                <a:ea typeface="Consolas"/>
                <a:cs typeface="Consolas"/>
                <a:sym typeface="Consolas"/>
              </a:rPr>
              <a:t>Terminación es el más utilizado actualmente</a:t>
            </a:r>
            <a:endParaRPr sz="2000" b="0" i="0" u="none" strike="noStrike" cap="none">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17"/>
          <p:cNvSpPr/>
          <p:nvPr/>
        </p:nvSpPr>
        <p:spPr>
          <a:xfrm>
            <a:off x="457200" y="27468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Arial"/>
              <a:buNone/>
            </a:pPr>
            <a:r>
              <a:rPr lang="es-AR" sz="3000" b="0" i="0" u="none" strike="noStrike" cap="small">
                <a:solidFill>
                  <a:srgbClr val="575F6D"/>
                </a:solidFill>
                <a:latin typeface="Arial"/>
                <a:ea typeface="Arial"/>
                <a:cs typeface="Arial"/>
                <a:sym typeface="Arial"/>
              </a:rPr>
              <a:t>Excepciones – 2 modelos de manejo de excepciones</a:t>
            </a:r>
            <a:endParaRPr sz="3000" b="0" i="0" u="none" strike="noStrike" cap="none">
              <a:latin typeface="Arial"/>
              <a:ea typeface="Arial"/>
              <a:cs typeface="Arial"/>
              <a:sym typeface="Arial"/>
            </a:endParaRPr>
          </a:p>
        </p:txBody>
      </p:sp>
      <p:sp>
        <p:nvSpPr>
          <p:cNvPr id="476" name="Google Shape;476;p17"/>
          <p:cNvSpPr/>
          <p:nvPr/>
        </p:nvSpPr>
        <p:spPr>
          <a:xfrm>
            <a:off x="457200" y="1600200"/>
            <a:ext cx="7464600" cy="4870800"/>
          </a:xfrm>
          <a:prstGeom prst="rect">
            <a:avLst/>
          </a:prstGeom>
          <a:noFill/>
          <a:ln>
            <a:noFill/>
          </a:ln>
        </p:spPr>
        <p:txBody>
          <a:bodyPr spcFirstLastPara="1" wrap="square" lIns="90000" tIns="45000" rIns="90000" bIns="45000" anchor="t" anchorCtr="0">
            <a:noAutofit/>
          </a:bodyPr>
          <a:lstStyle/>
          <a:p>
            <a:pPr marL="272520" marR="0" lvl="0" indent="-270000" algn="l" rtl="0">
              <a:lnSpc>
                <a:spcPct val="100000"/>
              </a:lnSpc>
              <a:spcBef>
                <a:spcPts val="0"/>
              </a:spcBef>
              <a:spcAft>
                <a:spcPts val="0"/>
              </a:spcAft>
              <a:buClr>
                <a:srgbClr val="FE8637"/>
              </a:buClr>
              <a:buSzPts val="2800"/>
              <a:buFont typeface="Noto Sans Symbols"/>
              <a:buChar char="•"/>
            </a:pPr>
            <a:r>
              <a:rPr lang="es-AR" sz="2800" b="1" i="0" u="none" strike="noStrike" cap="none">
                <a:solidFill>
                  <a:srgbClr val="000000"/>
                </a:solidFill>
                <a:latin typeface="Century Schoolbook"/>
                <a:ea typeface="Century Schoolbook"/>
                <a:cs typeface="Century Schoolbook"/>
                <a:sym typeface="Century Schoolbook"/>
              </a:rPr>
              <a:t>Reasunción</a:t>
            </a:r>
            <a:endParaRPr sz="2800" b="0" i="0" u="none" strike="noStrike" cap="none">
              <a:latin typeface="Arial"/>
              <a:ea typeface="Arial"/>
              <a:cs typeface="Arial"/>
              <a:sym typeface="Arial"/>
            </a:endParaRPr>
          </a:p>
          <a:p>
            <a:pPr marL="914400" marR="0" lvl="2" indent="-179640" algn="l" rtl="0">
              <a:lnSpc>
                <a:spcPct val="100000"/>
              </a:lnSpc>
              <a:spcBef>
                <a:spcPts val="479"/>
              </a:spcBef>
              <a:spcAft>
                <a:spcPts val="0"/>
              </a:spcAft>
              <a:buClr>
                <a:srgbClr val="E0752F"/>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PL/1</a:t>
            </a:r>
            <a:endParaRPr sz="2400" b="0" i="0" u="none" strike="noStrike" cap="none">
              <a:latin typeface="Arial"/>
              <a:ea typeface="Arial"/>
              <a:cs typeface="Arial"/>
              <a:sym typeface="Arial"/>
            </a:endParaRPr>
          </a:p>
          <a:p>
            <a:pPr marL="0" marR="0" lvl="0" indent="0" algn="l" rtl="0">
              <a:lnSpc>
                <a:spcPct val="100000"/>
              </a:lnSpc>
              <a:spcBef>
                <a:spcPts val="479"/>
              </a:spcBef>
              <a:spcAft>
                <a:spcPts val="0"/>
              </a:spcAft>
              <a:buSzPts val="2400"/>
              <a:buFont typeface="Arial"/>
              <a:buNone/>
            </a:pPr>
            <a:endParaRPr sz="2400" b="0" i="0" u="none" strike="noStrike" cap="none">
              <a:latin typeface="Arial"/>
              <a:ea typeface="Arial"/>
              <a:cs typeface="Arial"/>
              <a:sym typeface="Arial"/>
            </a:endParaRPr>
          </a:p>
          <a:p>
            <a:pPr marL="0" marR="0" lvl="0" indent="0" algn="l" rtl="0">
              <a:lnSpc>
                <a:spcPct val="100000"/>
              </a:lnSpc>
              <a:spcBef>
                <a:spcPts val="479"/>
              </a:spcBef>
              <a:spcAft>
                <a:spcPts val="0"/>
              </a:spcAft>
              <a:buSzPts val="2400"/>
              <a:buFont typeface="Arial"/>
              <a:buNone/>
            </a:pPr>
            <a:endParaRPr sz="2400" b="0" i="0" u="none" strike="noStrike" cap="none">
              <a:latin typeface="Arial"/>
              <a:ea typeface="Arial"/>
              <a:cs typeface="Arial"/>
              <a:sym typeface="Arial"/>
            </a:endParaRPr>
          </a:p>
          <a:p>
            <a:pPr marL="639360" marR="0" lvl="1" indent="-270000" algn="l" rtl="0">
              <a:lnSpc>
                <a:spcPct val="100000"/>
              </a:lnSpc>
              <a:spcBef>
                <a:spcPts val="561"/>
              </a:spcBef>
              <a:spcAft>
                <a:spcPts val="0"/>
              </a:spcAft>
              <a:buClr>
                <a:srgbClr val="FE8637"/>
              </a:buClr>
              <a:buSzPts val="2800"/>
              <a:buFont typeface="Noto Sans Symbols"/>
              <a:buChar char="●"/>
            </a:pPr>
            <a:r>
              <a:rPr lang="es-AR" sz="2800" b="1" i="0" u="none" strike="noStrike" cap="none">
                <a:solidFill>
                  <a:srgbClr val="000000"/>
                </a:solidFill>
                <a:latin typeface="Century Schoolbook"/>
                <a:ea typeface="Century Schoolbook"/>
                <a:cs typeface="Century Schoolbook"/>
                <a:sym typeface="Century Schoolbook"/>
              </a:rPr>
              <a:t>Terminación</a:t>
            </a:r>
            <a:endParaRPr sz="2800" b="0" i="0" u="none" strike="noStrike" cap="none">
              <a:latin typeface="Arial"/>
              <a:ea typeface="Arial"/>
              <a:cs typeface="Arial"/>
              <a:sym typeface="Arial"/>
            </a:endParaRPr>
          </a:p>
          <a:p>
            <a:pPr marL="914400" marR="0" lvl="2" indent="-240839" algn="l" rtl="0">
              <a:lnSpc>
                <a:spcPct val="100000"/>
              </a:lnSpc>
              <a:spcBef>
                <a:spcPts val="479"/>
              </a:spcBef>
              <a:spcAft>
                <a:spcPts val="0"/>
              </a:spcAft>
              <a:buClr>
                <a:srgbClr val="E0752F"/>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ADA</a:t>
            </a:r>
            <a:endParaRPr sz="2400" b="0" i="0" u="none" strike="noStrike" cap="none">
              <a:latin typeface="Arial"/>
              <a:ea typeface="Arial"/>
              <a:cs typeface="Arial"/>
              <a:sym typeface="Arial"/>
            </a:endParaRPr>
          </a:p>
          <a:p>
            <a:pPr marL="914400" marR="0" lvl="2" indent="-240839" algn="l" rtl="0">
              <a:lnSpc>
                <a:spcPct val="100000"/>
              </a:lnSpc>
              <a:spcBef>
                <a:spcPts val="479"/>
              </a:spcBef>
              <a:spcAft>
                <a:spcPts val="0"/>
              </a:spcAft>
              <a:buClr>
                <a:srgbClr val="E0752F"/>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CLU</a:t>
            </a:r>
            <a:endParaRPr sz="2400" b="0" i="0" u="none" strike="noStrike" cap="none">
              <a:latin typeface="Arial"/>
              <a:ea typeface="Arial"/>
              <a:cs typeface="Arial"/>
              <a:sym typeface="Arial"/>
            </a:endParaRPr>
          </a:p>
          <a:p>
            <a:pPr marL="914400" marR="0" lvl="2" indent="-240839" algn="l" rtl="0">
              <a:lnSpc>
                <a:spcPct val="100000"/>
              </a:lnSpc>
              <a:spcBef>
                <a:spcPts val="479"/>
              </a:spcBef>
              <a:spcAft>
                <a:spcPts val="0"/>
              </a:spcAft>
              <a:buClr>
                <a:srgbClr val="E0752F"/>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C++</a:t>
            </a:r>
            <a:endParaRPr sz="2400" b="0" i="0" u="none" strike="noStrike" cap="none">
              <a:latin typeface="Arial"/>
              <a:ea typeface="Arial"/>
              <a:cs typeface="Arial"/>
              <a:sym typeface="Arial"/>
            </a:endParaRPr>
          </a:p>
          <a:p>
            <a:pPr marL="914400" marR="0" lvl="2" indent="-240839" algn="l" rtl="0">
              <a:lnSpc>
                <a:spcPct val="100000"/>
              </a:lnSpc>
              <a:spcBef>
                <a:spcPts val="479"/>
              </a:spcBef>
              <a:spcAft>
                <a:spcPts val="0"/>
              </a:spcAft>
              <a:buClr>
                <a:srgbClr val="E0752F"/>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Java</a:t>
            </a:r>
            <a:endParaRPr sz="2400" b="0" i="0" u="none" strike="noStrike" cap="none">
              <a:latin typeface="Arial"/>
              <a:ea typeface="Arial"/>
              <a:cs typeface="Arial"/>
              <a:sym typeface="Arial"/>
            </a:endParaRPr>
          </a:p>
          <a:p>
            <a:pPr marL="914400" marR="0" lvl="2" indent="-240839" algn="l" rtl="0">
              <a:lnSpc>
                <a:spcPct val="100000"/>
              </a:lnSpc>
              <a:spcBef>
                <a:spcPts val="479"/>
              </a:spcBef>
              <a:spcAft>
                <a:spcPts val="0"/>
              </a:spcAft>
              <a:buClr>
                <a:srgbClr val="E0752F"/>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Phyton</a:t>
            </a:r>
            <a:endParaRPr sz="2400" b="0" i="0" u="none" strike="noStrike" cap="none">
              <a:latin typeface="Arial"/>
              <a:ea typeface="Arial"/>
              <a:cs typeface="Arial"/>
              <a:sym typeface="Arial"/>
            </a:endParaRPr>
          </a:p>
          <a:p>
            <a:pPr marL="914400" marR="0" lvl="2" indent="-240839" algn="l" rtl="0">
              <a:lnSpc>
                <a:spcPct val="100000"/>
              </a:lnSpc>
              <a:spcBef>
                <a:spcPts val="479"/>
              </a:spcBef>
              <a:spcAft>
                <a:spcPts val="0"/>
              </a:spcAft>
              <a:buClr>
                <a:srgbClr val="E0752F"/>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PHP</a:t>
            </a:r>
            <a:endParaRPr sz="2400" b="0" i="0" u="none" strike="noStrike" cap="none">
              <a:latin typeface="Arial"/>
              <a:ea typeface="Arial"/>
              <a:cs typeface="Arial"/>
              <a:sym typeface="Arial"/>
            </a:endParaRPr>
          </a:p>
          <a:p>
            <a:pPr marL="914400" marR="0" lvl="0" indent="0" algn="l" rtl="0">
              <a:lnSpc>
                <a:spcPct val="100000"/>
              </a:lnSpc>
              <a:spcBef>
                <a:spcPts val="479"/>
              </a:spcBef>
              <a:spcAft>
                <a:spcPts val="0"/>
              </a:spcAft>
              <a:buSzPts val="2400"/>
              <a:buFont typeface="Arial"/>
              <a:buNone/>
            </a:pPr>
            <a:endParaRPr sz="2400" b="0" i="0" u="none" strike="noStrike" cap="none">
              <a:latin typeface="Arial"/>
              <a:ea typeface="Arial"/>
              <a:cs typeface="Arial"/>
              <a:sym typeface="Arial"/>
            </a:endParaRPr>
          </a:p>
        </p:txBody>
      </p:sp>
      <p:pic>
        <p:nvPicPr>
          <p:cNvPr id="477" name="Google Shape;477;p17"/>
          <p:cNvPicPr preferRelativeResize="0"/>
          <p:nvPr/>
        </p:nvPicPr>
        <p:blipFill rotWithShape="1">
          <a:blip r:embed="rId3">
            <a:alphaModFix/>
          </a:blip>
          <a:srcRect/>
          <a:stretch/>
        </p:blipFill>
        <p:spPr>
          <a:xfrm>
            <a:off x="6336000" y="2376000"/>
            <a:ext cx="2279160" cy="2920680"/>
          </a:xfrm>
          <a:prstGeom prst="rect">
            <a:avLst/>
          </a:prstGeom>
          <a:noFill/>
          <a:ln>
            <a:noFill/>
          </a:ln>
        </p:spPr>
      </p:pic>
      <p:sp>
        <p:nvSpPr>
          <p:cNvPr id="478" name="Google Shape;478;p17"/>
          <p:cNvSpPr/>
          <p:nvPr/>
        </p:nvSpPr>
        <p:spPr>
          <a:xfrm>
            <a:off x="7911000" y="58374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17</a:t>
            </a:fld>
            <a:endParaRPr sz="1800" b="0" i="0" u="none" strike="noStrike" cap="none">
              <a:latin typeface="Arial"/>
              <a:ea typeface="Arial"/>
              <a:cs typeface="Arial"/>
              <a:sym typeface="Arial"/>
            </a:endParaRPr>
          </a:p>
        </p:txBody>
      </p:sp>
      <p:sp>
        <p:nvSpPr>
          <p:cNvPr id="479" name="Google Shape;479;p17"/>
          <p:cNvSpPr/>
          <p:nvPr/>
        </p:nvSpPr>
        <p:spPr>
          <a:xfrm rot="312000">
            <a:off x="3441600" y="1928880"/>
            <a:ext cx="2909880" cy="1418040"/>
          </a:xfrm>
          <a:custGeom>
            <a:avLst/>
            <a:gdLst/>
            <a:ahLst/>
            <a:cxnLst/>
            <a:rect l="l" t="t" r="r" b="b"/>
            <a:pathLst>
              <a:path w="21600" h="21600" extrusionOk="0">
                <a:moveTo>
                  <a:pt x="11464" y="4340"/>
                </a:moveTo>
                <a:lnTo>
                  <a:pt x="9722" y="1887"/>
                </a:lnTo>
                <a:lnTo>
                  <a:pt x="8548" y="6383"/>
                </a:lnTo>
                <a:lnTo>
                  <a:pt x="4503" y="3626"/>
                </a:lnTo>
                <a:lnTo>
                  <a:pt x="5373" y="7816"/>
                </a:lnTo>
                <a:lnTo>
                  <a:pt x="1174" y="8270"/>
                </a:lnTo>
                <a:lnTo>
                  <a:pt x="3934" y="11592"/>
                </a:lnTo>
                <a:lnTo>
                  <a:pt x="0" y="12875"/>
                </a:lnTo>
                <a:lnTo>
                  <a:pt x="3329" y="15372"/>
                </a:lnTo>
                <a:lnTo>
                  <a:pt x="1283" y="17824"/>
                </a:lnTo>
                <a:lnTo>
                  <a:pt x="4804" y="18239"/>
                </a:lnTo>
                <a:lnTo>
                  <a:pt x="4918" y="21600"/>
                </a:lnTo>
                <a:lnTo>
                  <a:pt x="7525" y="18125"/>
                </a:lnTo>
                <a:lnTo>
                  <a:pt x="8698" y="19712"/>
                </a:lnTo>
                <a:lnTo>
                  <a:pt x="9871" y="17371"/>
                </a:lnTo>
                <a:lnTo>
                  <a:pt x="11614" y="18844"/>
                </a:lnTo>
                <a:lnTo>
                  <a:pt x="12178" y="15937"/>
                </a:lnTo>
                <a:lnTo>
                  <a:pt x="14943" y="17371"/>
                </a:lnTo>
                <a:lnTo>
                  <a:pt x="14640" y="14348"/>
                </a:lnTo>
                <a:lnTo>
                  <a:pt x="18878" y="15632"/>
                </a:lnTo>
                <a:lnTo>
                  <a:pt x="16382" y="12311"/>
                </a:lnTo>
                <a:lnTo>
                  <a:pt x="18270" y="11292"/>
                </a:lnTo>
                <a:lnTo>
                  <a:pt x="16986" y="9404"/>
                </a:lnTo>
                <a:lnTo>
                  <a:pt x="21600" y="6646"/>
                </a:lnTo>
                <a:lnTo>
                  <a:pt x="16382" y="6533"/>
                </a:lnTo>
                <a:lnTo>
                  <a:pt x="18005" y="3172"/>
                </a:lnTo>
                <a:lnTo>
                  <a:pt x="14524" y="5778"/>
                </a:lnTo>
                <a:lnTo>
                  <a:pt x="14789" y="0"/>
                </a:lnTo>
                <a:lnTo>
                  <a:pt x="11464" y="4340"/>
                </a:lnTo>
                <a:close/>
              </a:path>
            </a:pathLst>
          </a:custGeom>
          <a:solidFill>
            <a:srgbClr val="729FCF"/>
          </a:solidFill>
          <a:ln w="9525" cap="flat" cmpd="sng">
            <a:solidFill>
              <a:srgbClr val="3465A4"/>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s-AR" sz="1500" b="0" i="0" u="none" strike="noStrike" cap="none">
                <a:solidFill>
                  <a:srgbClr val="000000"/>
                </a:solidFill>
                <a:latin typeface="Arial"/>
                <a:ea typeface="Arial"/>
                <a:cs typeface="Arial"/>
                <a:sym typeface="Arial"/>
              </a:rPr>
              <a:t>Maneja y continúa!!</a:t>
            </a:r>
            <a:endParaRPr sz="1500" b="0" i="0" u="none" strike="noStrike" cap="none">
              <a:latin typeface="Arial"/>
              <a:ea typeface="Arial"/>
              <a:cs typeface="Arial"/>
              <a:sym typeface="Arial"/>
            </a:endParaRPr>
          </a:p>
        </p:txBody>
      </p:sp>
      <p:sp>
        <p:nvSpPr>
          <p:cNvPr id="480" name="Google Shape;480;p17"/>
          <p:cNvSpPr/>
          <p:nvPr/>
        </p:nvSpPr>
        <p:spPr>
          <a:xfrm rot="312000">
            <a:off x="3168000" y="3751200"/>
            <a:ext cx="2909880" cy="1418040"/>
          </a:xfrm>
          <a:custGeom>
            <a:avLst/>
            <a:gdLst/>
            <a:ahLst/>
            <a:cxnLst/>
            <a:rect l="l" t="t" r="r" b="b"/>
            <a:pathLst>
              <a:path w="21600" h="21600" extrusionOk="0">
                <a:moveTo>
                  <a:pt x="11464" y="4340"/>
                </a:moveTo>
                <a:lnTo>
                  <a:pt x="9722" y="1887"/>
                </a:lnTo>
                <a:lnTo>
                  <a:pt x="8548" y="6383"/>
                </a:lnTo>
                <a:lnTo>
                  <a:pt x="4503" y="3626"/>
                </a:lnTo>
                <a:lnTo>
                  <a:pt x="5373" y="7816"/>
                </a:lnTo>
                <a:lnTo>
                  <a:pt x="1174" y="8270"/>
                </a:lnTo>
                <a:lnTo>
                  <a:pt x="3934" y="11592"/>
                </a:lnTo>
                <a:lnTo>
                  <a:pt x="0" y="12875"/>
                </a:lnTo>
                <a:lnTo>
                  <a:pt x="3329" y="15372"/>
                </a:lnTo>
                <a:lnTo>
                  <a:pt x="1283" y="17824"/>
                </a:lnTo>
                <a:lnTo>
                  <a:pt x="4804" y="18239"/>
                </a:lnTo>
                <a:lnTo>
                  <a:pt x="4918" y="21600"/>
                </a:lnTo>
                <a:lnTo>
                  <a:pt x="7525" y="18125"/>
                </a:lnTo>
                <a:lnTo>
                  <a:pt x="8698" y="19712"/>
                </a:lnTo>
                <a:lnTo>
                  <a:pt x="9871" y="17371"/>
                </a:lnTo>
                <a:lnTo>
                  <a:pt x="11614" y="18844"/>
                </a:lnTo>
                <a:lnTo>
                  <a:pt x="12178" y="15937"/>
                </a:lnTo>
                <a:lnTo>
                  <a:pt x="14943" y="17371"/>
                </a:lnTo>
                <a:lnTo>
                  <a:pt x="14640" y="14348"/>
                </a:lnTo>
                <a:lnTo>
                  <a:pt x="18878" y="15632"/>
                </a:lnTo>
                <a:lnTo>
                  <a:pt x="16382" y="12311"/>
                </a:lnTo>
                <a:lnTo>
                  <a:pt x="18270" y="11292"/>
                </a:lnTo>
                <a:lnTo>
                  <a:pt x="16986" y="9404"/>
                </a:lnTo>
                <a:lnTo>
                  <a:pt x="21600" y="6646"/>
                </a:lnTo>
                <a:lnTo>
                  <a:pt x="16382" y="6533"/>
                </a:lnTo>
                <a:lnTo>
                  <a:pt x="18005" y="3172"/>
                </a:lnTo>
                <a:lnTo>
                  <a:pt x="14524" y="5778"/>
                </a:lnTo>
                <a:lnTo>
                  <a:pt x="14789" y="0"/>
                </a:lnTo>
                <a:lnTo>
                  <a:pt x="11464" y="4340"/>
                </a:lnTo>
                <a:close/>
              </a:path>
            </a:pathLst>
          </a:custGeom>
          <a:solidFill>
            <a:srgbClr val="729FCF"/>
          </a:solidFill>
          <a:ln w="9525" cap="flat" cmpd="sng">
            <a:solidFill>
              <a:srgbClr val="3465A4"/>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s-AR" sz="1500" b="0" i="0" u="none" strike="noStrike" cap="none">
                <a:solidFill>
                  <a:srgbClr val="000000"/>
                </a:solidFill>
                <a:latin typeface="Arial"/>
                <a:ea typeface="Arial"/>
                <a:cs typeface="Arial"/>
                <a:sym typeface="Arial"/>
              </a:rPr>
              <a:t>Termina ymaneja!!</a:t>
            </a:r>
            <a:endParaRPr sz="1500" b="0" i="0" u="none" strike="noStrike" cap="none">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18"/>
          <p:cNvSpPr/>
          <p:nvPr/>
        </p:nvSpPr>
        <p:spPr>
          <a:xfrm>
            <a:off x="457200" y="216000"/>
            <a:ext cx="8252640" cy="9655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2600"/>
              <a:buFont typeface="Century Schoolbook"/>
              <a:buNone/>
            </a:pPr>
            <a:r>
              <a:rPr lang="es-AR" sz="2600" b="0" i="0" u="none" strike="noStrike" cap="small">
                <a:solidFill>
                  <a:srgbClr val="575F6D"/>
                </a:solidFill>
                <a:latin typeface="Century Schoolbook"/>
                <a:ea typeface="Century Schoolbook"/>
                <a:cs typeface="Century Schoolbook"/>
                <a:sym typeface="Century Schoolbook"/>
              </a:rPr>
              <a:t>Algunos lenguajes que incorporaron el manejo de excepciones- PL/I</a:t>
            </a:r>
            <a:endParaRPr sz="2600" b="0" i="0" u="none" strike="noStrike" cap="none">
              <a:latin typeface="Arial"/>
              <a:ea typeface="Arial"/>
              <a:cs typeface="Arial"/>
              <a:sym typeface="Arial"/>
            </a:endParaRPr>
          </a:p>
        </p:txBody>
      </p:sp>
      <p:sp>
        <p:nvSpPr>
          <p:cNvPr id="487" name="Google Shape;487;p18"/>
          <p:cNvSpPr/>
          <p:nvPr/>
        </p:nvSpPr>
        <p:spPr>
          <a:xfrm>
            <a:off x="457200" y="1174680"/>
            <a:ext cx="8215560" cy="5275440"/>
          </a:xfrm>
          <a:prstGeom prst="rect">
            <a:avLst/>
          </a:prstGeom>
          <a:noFill/>
          <a:ln>
            <a:noFill/>
          </a:ln>
        </p:spPr>
        <p:txBody>
          <a:bodyPr spcFirstLastPara="1" wrap="square" lIns="90000" tIns="45000" rIns="90000" bIns="45000" anchor="t" anchorCtr="0">
            <a:noAutofit/>
          </a:bodyPr>
          <a:lstStyle/>
          <a:p>
            <a:pPr marL="272520" marR="0" lvl="0" indent="-270000" algn="just" rtl="0">
              <a:lnSpc>
                <a:spcPct val="100000"/>
              </a:lnSpc>
              <a:spcBef>
                <a:spcPts val="0"/>
              </a:spcBef>
              <a:spcAft>
                <a:spcPts val="0"/>
              </a:spcAft>
              <a:buClr>
                <a:srgbClr val="FE8637"/>
              </a:buClr>
              <a:buSzPts val="2000"/>
              <a:buFont typeface="Noto Sans Symbols"/>
              <a:buChar char="•"/>
            </a:pPr>
            <a:r>
              <a:rPr lang="es-AR" sz="2000" b="0" i="0" u="none" strike="noStrike" cap="none">
                <a:solidFill>
                  <a:srgbClr val="000000"/>
                </a:solidFill>
                <a:latin typeface="Century Schoolbook"/>
                <a:ea typeface="Century Schoolbook"/>
                <a:cs typeface="Century Schoolbook"/>
                <a:sym typeface="Century Schoolbook"/>
              </a:rPr>
              <a:t>Fue el primer lenguaje. que incorporó el manejo de excepciones. </a:t>
            </a:r>
            <a:endParaRPr sz="2000" b="0" i="0" u="none" strike="noStrike" cap="none">
              <a:latin typeface="Arial"/>
              <a:ea typeface="Arial"/>
              <a:cs typeface="Arial"/>
              <a:sym typeface="Arial"/>
            </a:endParaRPr>
          </a:p>
          <a:p>
            <a:pPr marL="272520" marR="0" lvl="0" indent="-270000" algn="just" rtl="0">
              <a:lnSpc>
                <a:spcPct val="100000"/>
              </a:lnSpc>
              <a:spcBef>
                <a:spcPts val="601"/>
              </a:spcBef>
              <a:spcAft>
                <a:spcPts val="0"/>
              </a:spcAft>
              <a:buClr>
                <a:srgbClr val="FE8637"/>
              </a:buClr>
              <a:buSzPts val="2000"/>
              <a:buFont typeface="Noto Sans Symbols"/>
              <a:buChar char="•"/>
            </a:pPr>
            <a:r>
              <a:rPr lang="es-AR" sz="2000" b="0" i="0" u="none" strike="noStrike" cap="none">
                <a:solidFill>
                  <a:srgbClr val="000000"/>
                </a:solidFill>
                <a:latin typeface="Century Schoolbook"/>
                <a:ea typeface="Century Schoolbook"/>
                <a:cs typeface="Century Schoolbook"/>
                <a:sym typeface="Century Schoolbook"/>
              </a:rPr>
              <a:t>Utiliza el criterio de </a:t>
            </a:r>
            <a:r>
              <a:rPr lang="es-AR" sz="2000" b="1" i="0" u="none" strike="noStrike" cap="none">
                <a:solidFill>
                  <a:srgbClr val="000000"/>
                </a:solidFill>
                <a:latin typeface="Century Schoolbook"/>
                <a:ea typeface="Century Schoolbook"/>
                <a:cs typeface="Century Schoolbook"/>
                <a:sym typeface="Century Schoolbook"/>
              </a:rPr>
              <a:t>Reasunción. </a:t>
            </a:r>
            <a:r>
              <a:rPr lang="es-AR" sz="2000" b="0" i="0" u="none" strike="noStrike" cap="none">
                <a:solidFill>
                  <a:srgbClr val="000000"/>
                </a:solidFill>
                <a:latin typeface="Century Schoolbook"/>
                <a:ea typeface="Century Schoolbook"/>
                <a:cs typeface="Century Schoolbook"/>
                <a:sym typeface="Century Schoolbook"/>
              </a:rPr>
              <a:t>Cada vez que se produce la excepción, la maneja </a:t>
            </a:r>
            <a:r>
              <a:rPr lang="es-AR" sz="2000" b="1" i="0" u="none" strike="noStrike" cap="none">
                <a:solidFill>
                  <a:srgbClr val="000000"/>
                </a:solidFill>
                <a:latin typeface="Century Schoolbook"/>
                <a:ea typeface="Century Schoolbook"/>
                <a:cs typeface="Century Schoolbook"/>
                <a:sym typeface="Century Schoolbook"/>
              </a:rPr>
              <a:t>el manejador y devuelve el control a la </a:t>
            </a:r>
            <a:r>
              <a:rPr lang="es-AR" sz="2000" b="1" i="0" u="sng" strike="noStrike" cap="none">
                <a:solidFill>
                  <a:srgbClr val="000000"/>
                </a:solidFill>
                <a:latin typeface="Century Schoolbook"/>
                <a:ea typeface="Century Schoolbook"/>
                <a:cs typeface="Century Schoolbook"/>
                <a:sym typeface="Century Schoolbook"/>
              </a:rPr>
              <a:t>sentencia siguiente de dónde se levantó.</a:t>
            </a:r>
            <a:endParaRPr sz="2000" b="0" i="0" u="none" strike="noStrike" cap="none">
              <a:latin typeface="Arial"/>
              <a:ea typeface="Arial"/>
              <a:cs typeface="Arial"/>
              <a:sym typeface="Arial"/>
            </a:endParaRPr>
          </a:p>
          <a:p>
            <a:pPr marL="272520" marR="0" lvl="0" indent="-270000" algn="just" rtl="0">
              <a:lnSpc>
                <a:spcPct val="100000"/>
              </a:lnSpc>
              <a:spcBef>
                <a:spcPts val="601"/>
              </a:spcBef>
              <a:spcAft>
                <a:spcPts val="0"/>
              </a:spcAft>
              <a:buClr>
                <a:srgbClr val="FE8637"/>
              </a:buClr>
              <a:buSzPts val="2000"/>
              <a:buFont typeface="Noto Sans Symbols"/>
              <a:buChar char="•"/>
            </a:pPr>
            <a:r>
              <a:rPr lang="es-AR" sz="2000" b="1" i="0" u="none" strike="noStrike" cap="none">
                <a:solidFill>
                  <a:srgbClr val="000000"/>
                </a:solidFill>
                <a:latin typeface="Century Schoolbook"/>
                <a:ea typeface="Century Schoolbook"/>
                <a:cs typeface="Century Schoolbook"/>
                <a:sym typeface="Century Schoolbook"/>
              </a:rPr>
              <a:t>Las excepciones se llaman CONDITIONS en PL/1</a:t>
            </a:r>
            <a:endParaRPr sz="2000" b="0" i="0" u="none" strike="noStrike" cap="none">
              <a:latin typeface="Arial"/>
              <a:ea typeface="Arial"/>
              <a:cs typeface="Arial"/>
              <a:sym typeface="Arial"/>
            </a:endParaRPr>
          </a:p>
          <a:p>
            <a:pPr marL="272520" marR="0" lvl="0" indent="-270000" algn="just" rtl="0">
              <a:lnSpc>
                <a:spcPct val="100000"/>
              </a:lnSpc>
              <a:spcBef>
                <a:spcPts val="601"/>
              </a:spcBef>
              <a:spcAft>
                <a:spcPts val="0"/>
              </a:spcAft>
              <a:buClr>
                <a:srgbClr val="FE8637"/>
              </a:buClr>
              <a:buSzPts val="2000"/>
              <a:buFont typeface="Noto Sans Symbols"/>
              <a:buChar char="•"/>
            </a:pPr>
            <a:r>
              <a:rPr lang="es-AR" sz="2000" b="0" i="0" u="none" strike="noStrike" cap="none">
                <a:solidFill>
                  <a:srgbClr val="000000"/>
                </a:solidFill>
                <a:latin typeface="Century Schoolbook"/>
                <a:ea typeface="Century Schoolbook"/>
                <a:cs typeface="Century Schoolbook"/>
                <a:sym typeface="Century Schoolbook"/>
              </a:rPr>
              <a:t>Los </a:t>
            </a:r>
            <a:r>
              <a:rPr lang="es-AR" sz="2000" b="1" i="0" u="none" strike="noStrike" cap="none">
                <a:solidFill>
                  <a:srgbClr val="000000"/>
                </a:solidFill>
                <a:latin typeface="Century Schoolbook"/>
                <a:ea typeface="Century Schoolbook"/>
                <a:cs typeface="Century Schoolbook"/>
                <a:sym typeface="Century Schoolbook"/>
              </a:rPr>
              <a:t>manejadores se </a:t>
            </a:r>
            <a:r>
              <a:rPr lang="es-AR" sz="2000" b="1" i="0" u="sng" strike="noStrike" cap="none">
                <a:solidFill>
                  <a:srgbClr val="000000"/>
                </a:solidFill>
                <a:latin typeface="Century Schoolbook"/>
                <a:ea typeface="Century Schoolbook"/>
                <a:cs typeface="Century Schoolbook"/>
                <a:sym typeface="Century Schoolbook"/>
              </a:rPr>
              <a:t>declaran </a:t>
            </a:r>
            <a:r>
              <a:rPr lang="es-AR" sz="2000" b="1" i="0" u="none" strike="noStrike" cap="none">
                <a:solidFill>
                  <a:srgbClr val="000000"/>
                </a:solidFill>
                <a:latin typeface="Century Schoolbook"/>
                <a:ea typeface="Century Schoolbook"/>
                <a:cs typeface="Century Schoolbook"/>
                <a:sym typeface="Century Schoolbook"/>
              </a:rPr>
              <a:t>con la sentencia </a:t>
            </a:r>
            <a:r>
              <a:rPr lang="es-AR" sz="2000" b="1" i="0" u="none" strike="noStrike" cap="none">
                <a:solidFill>
                  <a:srgbClr val="E87605"/>
                </a:solidFill>
                <a:latin typeface="Century Schoolbook"/>
                <a:ea typeface="Century Schoolbook"/>
                <a:cs typeface="Century Schoolbook"/>
                <a:sym typeface="Century Schoolbook"/>
              </a:rPr>
              <a:t>ON</a:t>
            </a:r>
            <a:r>
              <a:rPr lang="es-AR" sz="2000" b="0" i="0" u="none" strike="noStrike" cap="none">
                <a:solidFill>
                  <a:srgbClr val="000000"/>
                </a:solidFill>
                <a:latin typeface="Century Schoolbook"/>
                <a:ea typeface="Century Schoolbook"/>
                <a:cs typeface="Century Schoolbook"/>
                <a:sym typeface="Century Schoolbook"/>
              </a:rPr>
              <a:t>:</a:t>
            </a:r>
            <a:endParaRPr sz="2000" b="0" i="0" u="none" strike="noStrike" cap="none">
              <a:latin typeface="Arial"/>
              <a:ea typeface="Arial"/>
              <a:cs typeface="Arial"/>
              <a:sym typeface="Arial"/>
            </a:endParaRPr>
          </a:p>
          <a:p>
            <a:pPr marL="272520" marR="0" lvl="0" indent="-270000" algn="l" rtl="0">
              <a:lnSpc>
                <a:spcPct val="100000"/>
              </a:lnSpc>
              <a:spcBef>
                <a:spcPts val="601"/>
              </a:spcBef>
              <a:spcAft>
                <a:spcPts val="0"/>
              </a:spcAft>
              <a:buClr>
                <a:srgbClr val="000000"/>
              </a:buClr>
              <a:buSzPts val="2000"/>
              <a:buFont typeface="Century Schoolbook"/>
              <a:buNone/>
            </a:pPr>
            <a:r>
              <a:rPr lang="es-AR" sz="2000" b="1" i="0" u="none" strike="noStrike" cap="none">
                <a:solidFill>
                  <a:srgbClr val="000000"/>
                </a:solidFill>
                <a:latin typeface="Century Schoolbook"/>
                <a:ea typeface="Century Schoolbook"/>
                <a:cs typeface="Century Schoolbook"/>
                <a:sym typeface="Century Schoolbook"/>
              </a:rPr>
              <a:t>     </a:t>
            </a:r>
            <a:r>
              <a:rPr lang="es-AR" sz="2000" b="1" i="0" u="none" strike="noStrike" cap="none">
                <a:solidFill>
                  <a:srgbClr val="E46C0A"/>
                </a:solidFill>
                <a:latin typeface="Century Schoolbook"/>
                <a:ea typeface="Century Schoolbook"/>
                <a:cs typeface="Century Schoolbook"/>
                <a:sym typeface="Century Schoolbook"/>
              </a:rPr>
              <a:t>ON CONDITION(Nombre-excepción) Manejador</a:t>
            </a:r>
            <a:endParaRPr sz="2000" b="0" i="0" u="none" strike="noStrike" cap="none">
              <a:latin typeface="Arial"/>
              <a:ea typeface="Arial"/>
              <a:cs typeface="Arial"/>
              <a:sym typeface="Arial"/>
            </a:endParaRPr>
          </a:p>
          <a:p>
            <a:pPr marL="272520" marR="0" lvl="0" indent="-270000" algn="l" rtl="0">
              <a:lnSpc>
                <a:spcPct val="100000"/>
              </a:lnSpc>
              <a:spcBef>
                <a:spcPts val="601"/>
              </a:spcBef>
              <a:spcAft>
                <a:spcPts val="0"/>
              </a:spcAft>
              <a:buClr>
                <a:srgbClr val="FE8637"/>
              </a:buClr>
              <a:buSzPts val="2000"/>
              <a:buFont typeface="Noto Sans Symbols"/>
              <a:buChar char="•"/>
            </a:pPr>
            <a:r>
              <a:rPr lang="es-AR" sz="2000" b="0" i="0" u="none" strike="noStrike" cap="none">
                <a:solidFill>
                  <a:srgbClr val="000000"/>
                </a:solidFill>
                <a:latin typeface="Century Schoolbook"/>
                <a:ea typeface="Century Schoolbook"/>
                <a:cs typeface="Century Schoolbook"/>
                <a:sym typeface="Century Schoolbook"/>
              </a:rPr>
              <a:t>El </a:t>
            </a:r>
            <a:r>
              <a:rPr lang="es-AR" sz="2000" b="1" i="0" u="none" strike="noStrike" cap="none">
                <a:solidFill>
                  <a:srgbClr val="000000"/>
                </a:solidFill>
                <a:latin typeface="Century Schoolbook"/>
                <a:ea typeface="Century Schoolbook"/>
                <a:cs typeface="Century Schoolbook"/>
                <a:sym typeface="Century Schoolbook"/>
              </a:rPr>
              <a:t>Manejador </a:t>
            </a:r>
            <a:r>
              <a:rPr lang="es-AR" sz="2000" b="0" i="0" u="none" strike="noStrike" cap="none">
                <a:solidFill>
                  <a:srgbClr val="000000"/>
                </a:solidFill>
                <a:latin typeface="Century Schoolbook"/>
                <a:ea typeface="Century Schoolbook"/>
                <a:cs typeface="Century Schoolbook"/>
                <a:sym typeface="Century Schoolbook"/>
              </a:rPr>
              <a:t>puede ser </a:t>
            </a:r>
            <a:r>
              <a:rPr lang="es-AR" sz="2000" b="1" i="0" u="none" strike="noStrike" cap="none">
                <a:solidFill>
                  <a:srgbClr val="000000"/>
                </a:solidFill>
                <a:latin typeface="Century Schoolbook"/>
                <a:ea typeface="Century Schoolbook"/>
                <a:cs typeface="Century Schoolbook"/>
                <a:sym typeface="Century Schoolbook"/>
              </a:rPr>
              <a:t>una instrucción o un bloque </a:t>
            </a:r>
            <a:r>
              <a:rPr lang="es-AR" sz="2000" b="0" i="0" u="none" strike="noStrike" cap="none">
                <a:solidFill>
                  <a:srgbClr val="000000"/>
                </a:solidFill>
                <a:latin typeface="Century Schoolbook"/>
                <a:ea typeface="Century Schoolbook"/>
                <a:cs typeface="Century Schoolbook"/>
                <a:sym typeface="Century Schoolbook"/>
              </a:rPr>
              <a:t>(entre </a:t>
            </a:r>
            <a:r>
              <a:rPr lang="es-AR" sz="2000" b="1" i="0" u="none" strike="noStrike" cap="none">
                <a:solidFill>
                  <a:srgbClr val="E87605"/>
                </a:solidFill>
                <a:latin typeface="Century Schoolbook"/>
                <a:ea typeface="Century Schoolbook"/>
                <a:cs typeface="Century Schoolbook"/>
                <a:sym typeface="Century Schoolbook"/>
              </a:rPr>
              <a:t>begin </a:t>
            </a:r>
            <a:r>
              <a:rPr lang="es-AR" sz="2000" b="0" i="0" u="none" strike="noStrike" cap="none">
                <a:solidFill>
                  <a:srgbClr val="000000"/>
                </a:solidFill>
                <a:latin typeface="Century Schoolbook"/>
                <a:ea typeface="Century Schoolbook"/>
                <a:cs typeface="Century Schoolbook"/>
                <a:sym typeface="Century Schoolbook"/>
              </a:rPr>
              <a:t>y </a:t>
            </a:r>
            <a:r>
              <a:rPr lang="es-AR" sz="2000" b="1" i="0" u="none" strike="noStrike" cap="none">
                <a:solidFill>
                  <a:srgbClr val="E87605"/>
                </a:solidFill>
                <a:latin typeface="Century Schoolbook"/>
                <a:ea typeface="Century Schoolbook"/>
                <a:cs typeface="Century Schoolbook"/>
                <a:sym typeface="Century Schoolbook"/>
              </a:rPr>
              <a:t>end</a:t>
            </a:r>
            <a:r>
              <a:rPr lang="es-AR" sz="2000" b="0" i="0" u="none" strike="noStrike" cap="none">
                <a:solidFill>
                  <a:srgbClr val="000000"/>
                </a:solidFill>
                <a:latin typeface="Century Schoolbook"/>
                <a:ea typeface="Century Schoolbook"/>
                <a:cs typeface="Century Schoolbook"/>
                <a:sym typeface="Century Schoolbook"/>
              </a:rPr>
              <a:t>)</a:t>
            </a:r>
            <a:endParaRPr sz="2000" b="0" i="0" u="none" strike="noStrike" cap="none">
              <a:latin typeface="Arial"/>
              <a:ea typeface="Arial"/>
              <a:cs typeface="Arial"/>
              <a:sym typeface="Arial"/>
            </a:endParaRPr>
          </a:p>
          <a:p>
            <a:pPr marL="272520" marR="0" lvl="0" indent="-270000" algn="l" rtl="0">
              <a:lnSpc>
                <a:spcPct val="100000"/>
              </a:lnSpc>
              <a:spcBef>
                <a:spcPts val="601"/>
              </a:spcBef>
              <a:spcAft>
                <a:spcPts val="0"/>
              </a:spcAft>
              <a:buClr>
                <a:srgbClr val="FE8637"/>
              </a:buClr>
              <a:buSzPts val="2000"/>
              <a:buFont typeface="Noto Sans Symbols"/>
              <a:buChar char="•"/>
            </a:pPr>
            <a:r>
              <a:rPr lang="es-AR" sz="2000" b="0" i="0" u="none" strike="noStrike" cap="none">
                <a:solidFill>
                  <a:srgbClr val="000000"/>
                </a:solidFill>
                <a:latin typeface="Century Schoolbook"/>
                <a:ea typeface="Century Schoolbook"/>
                <a:cs typeface="Century Schoolbook"/>
                <a:sym typeface="Century Schoolbook"/>
              </a:rPr>
              <a:t>Las </a:t>
            </a:r>
            <a:r>
              <a:rPr lang="es-AR" sz="2000" b="1" i="0" u="none" strike="noStrike" cap="none">
                <a:solidFill>
                  <a:srgbClr val="000000"/>
                </a:solidFill>
                <a:latin typeface="Century Schoolbook"/>
                <a:ea typeface="Century Schoolbook"/>
                <a:cs typeface="Century Schoolbook"/>
                <a:sym typeface="Century Schoolbook"/>
              </a:rPr>
              <a:t>exepciones se </a:t>
            </a:r>
            <a:r>
              <a:rPr lang="es-AR" sz="2000" b="1" i="0" u="sng" strike="noStrike" cap="none">
                <a:solidFill>
                  <a:srgbClr val="000000"/>
                </a:solidFill>
                <a:latin typeface="Century Schoolbook"/>
                <a:ea typeface="Century Schoolbook"/>
                <a:cs typeface="Century Schoolbook"/>
                <a:sym typeface="Century Schoolbook"/>
              </a:rPr>
              <a:t>lanzan </a:t>
            </a:r>
            <a:r>
              <a:rPr lang="es-AR" sz="2000" b="1" i="0" u="none" strike="noStrike" cap="none">
                <a:solidFill>
                  <a:srgbClr val="000000"/>
                </a:solidFill>
                <a:latin typeface="Century Schoolbook"/>
                <a:ea typeface="Century Schoolbook"/>
                <a:cs typeface="Century Schoolbook"/>
                <a:sym typeface="Century Schoolbook"/>
              </a:rPr>
              <a:t>explícitamente </a:t>
            </a:r>
            <a:r>
              <a:rPr lang="es-AR" sz="2000" b="0" i="0" u="none" strike="noStrike" cap="none">
                <a:solidFill>
                  <a:srgbClr val="000000"/>
                </a:solidFill>
                <a:latin typeface="Century Schoolbook"/>
                <a:ea typeface="Century Schoolbook"/>
                <a:cs typeface="Century Schoolbook"/>
                <a:sym typeface="Century Schoolbook"/>
              </a:rPr>
              <a:t>con la palabra clave </a:t>
            </a:r>
            <a:r>
              <a:rPr lang="es-AR" sz="2000" b="1" i="0" u="none" strike="noStrike" cap="none">
                <a:solidFill>
                  <a:srgbClr val="000000"/>
                </a:solidFill>
                <a:latin typeface="Century Schoolbook"/>
                <a:ea typeface="Century Schoolbook"/>
                <a:cs typeface="Century Schoolbook"/>
                <a:sym typeface="Century Schoolbook"/>
              </a:rPr>
              <a:t>SIGNAL:</a:t>
            </a:r>
            <a:endParaRPr sz="2000" b="0" i="0" u="none" strike="noStrike" cap="none">
              <a:latin typeface="Arial"/>
              <a:ea typeface="Arial"/>
              <a:cs typeface="Arial"/>
              <a:sym typeface="Arial"/>
            </a:endParaRPr>
          </a:p>
          <a:p>
            <a:pPr marL="2520" marR="0" lvl="0" indent="0" algn="ctr" rtl="0">
              <a:lnSpc>
                <a:spcPct val="100000"/>
              </a:lnSpc>
              <a:spcBef>
                <a:spcPts val="601"/>
              </a:spcBef>
              <a:spcAft>
                <a:spcPts val="0"/>
              </a:spcAft>
              <a:buClr>
                <a:srgbClr val="E46C0A"/>
              </a:buClr>
              <a:buSzPts val="2000"/>
              <a:buFont typeface="Century Schoolbook"/>
              <a:buNone/>
            </a:pPr>
            <a:r>
              <a:rPr lang="es-AR" sz="2000" b="1" i="0" u="none" strike="noStrike" cap="none">
                <a:solidFill>
                  <a:srgbClr val="E46C0A"/>
                </a:solidFill>
                <a:latin typeface="Century Schoolbook"/>
                <a:ea typeface="Century Schoolbook"/>
                <a:cs typeface="Century Schoolbook"/>
                <a:sym typeface="Century Schoolbook"/>
              </a:rPr>
              <a:t>SIGNAL </a:t>
            </a:r>
            <a:r>
              <a:rPr lang="es-AR" sz="2000" b="1" i="0" u="none" strike="noStrike" cap="none">
                <a:solidFill>
                  <a:srgbClr val="E46C0A"/>
                </a:solidFill>
                <a:latin typeface="Arial"/>
                <a:ea typeface="Arial"/>
                <a:cs typeface="Arial"/>
                <a:sym typeface="Arial"/>
              </a:rPr>
              <a:t>CONDITION</a:t>
            </a:r>
            <a:r>
              <a:rPr lang="es-AR" sz="2000" b="1" i="0" u="none" strike="noStrike" cap="none">
                <a:solidFill>
                  <a:srgbClr val="E46C0A"/>
                </a:solidFill>
                <a:latin typeface="Century Schoolbook"/>
                <a:ea typeface="Century Schoolbook"/>
                <a:cs typeface="Century Schoolbook"/>
                <a:sym typeface="Century Schoolbook"/>
              </a:rPr>
              <a:t>(Nombre-excepción)</a:t>
            </a:r>
            <a:endParaRPr sz="2000" b="0" i="0" u="none" strike="noStrike" cap="none">
              <a:latin typeface="Arial"/>
              <a:ea typeface="Arial"/>
              <a:cs typeface="Arial"/>
              <a:sym typeface="Arial"/>
            </a:endParaRPr>
          </a:p>
        </p:txBody>
      </p:sp>
      <p:sp>
        <p:nvSpPr>
          <p:cNvPr id="488" name="Google Shape;488;p18"/>
          <p:cNvSpPr/>
          <p:nvPr/>
        </p:nvSpPr>
        <p:spPr>
          <a:xfrm>
            <a:off x="8155080" y="58374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18</a:t>
            </a:fld>
            <a:endParaRPr sz="1800" b="0" i="0" u="none" strike="noStrike" cap="none">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4"/>
        <p:cNvGrpSpPr/>
        <p:nvPr/>
      </p:nvGrpSpPr>
      <p:grpSpPr>
        <a:xfrm>
          <a:off x="0" y="0"/>
          <a:ext cx="0" cy="0"/>
          <a:chOff x="0" y="0"/>
          <a:chExt cx="0" cy="0"/>
        </a:xfrm>
      </p:grpSpPr>
      <p:sp>
        <p:nvSpPr>
          <p:cNvPr id="495" name="Google Shape;495;p19"/>
          <p:cNvSpPr txBox="1">
            <a:spLocks noGrp="1"/>
          </p:cNvSpPr>
          <p:nvPr>
            <p:ph type="title" idx="4294967295"/>
          </p:nvPr>
        </p:nvSpPr>
        <p:spPr>
          <a:xfrm>
            <a:off x="456480" y="266760"/>
            <a:ext cx="8227800" cy="786960"/>
          </a:xfrm>
          <a:prstGeom prst="rect">
            <a:avLst/>
          </a:prstGeom>
          <a:noFill/>
          <a:ln>
            <a:noFill/>
          </a:ln>
        </p:spPr>
        <p:txBody>
          <a:bodyPr spcFirstLastPara="1" wrap="square" lIns="0" tIns="35275" rIns="0" bIns="0" anchor="ctr"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PL1 – Ejemplo</a:t>
            </a:r>
            <a:br>
              <a:rPr lang="es-AR" sz="3000" b="0" i="0" u="none" strike="noStrike" cap="none"/>
            </a:br>
            <a:r>
              <a:rPr lang="es-AR" sz="2400" b="0" i="0" u="none" strike="noStrike" cap="small">
                <a:solidFill>
                  <a:srgbClr val="262626"/>
                </a:solidFill>
                <a:latin typeface="Century Schoolbook"/>
                <a:ea typeface="Century Schoolbook"/>
                <a:cs typeface="Century Schoolbook"/>
                <a:sym typeface="Century Schoolbook"/>
              </a:rPr>
              <a:t>Formato en pl/1</a:t>
            </a:r>
            <a:endParaRPr sz="2400" b="0" i="0" u="none" strike="noStrike" cap="none">
              <a:solidFill>
                <a:srgbClr val="000000"/>
              </a:solidFill>
              <a:latin typeface="Arial"/>
              <a:ea typeface="Arial"/>
              <a:cs typeface="Arial"/>
              <a:sym typeface="Arial"/>
            </a:endParaRPr>
          </a:p>
        </p:txBody>
      </p:sp>
      <p:sp>
        <p:nvSpPr>
          <p:cNvPr id="496" name="Google Shape;496;p19"/>
          <p:cNvSpPr txBox="1">
            <a:spLocks noGrp="1"/>
          </p:cNvSpPr>
          <p:nvPr>
            <p:ph type="subTitle" idx="4294967295"/>
          </p:nvPr>
        </p:nvSpPr>
        <p:spPr>
          <a:xfrm>
            <a:off x="352800" y="1356840"/>
            <a:ext cx="8227800" cy="5259960"/>
          </a:xfrm>
          <a:prstGeom prst="rect">
            <a:avLst/>
          </a:prstGeom>
          <a:noFill/>
          <a:ln>
            <a:noFill/>
          </a:ln>
        </p:spPr>
        <p:txBody>
          <a:bodyPr spcFirstLastPara="1" wrap="square" lIns="0" tIns="15475" rIns="0" bIns="0" anchor="t" anchorCtr="0">
            <a:noAutofit/>
          </a:bodyPr>
          <a:lstStyle/>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Prog Main</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        PROC UNO</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        Begin</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        ...</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        ON CONDITION PEPE begin ... end;    </a:t>
            </a:r>
            <a:r>
              <a:rPr lang="es-AR" sz="1700" b="1" i="0" u="none" strike="noStrike" cap="none">
                <a:solidFill>
                  <a:srgbClr val="22228B"/>
                </a:solidFill>
                <a:latin typeface="Consolas"/>
                <a:ea typeface="Consolas"/>
                <a:cs typeface="Consolas"/>
                <a:sym typeface="Consolas"/>
              </a:rPr>
              <a:t> ***DECLARACION (ON....) </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2228B"/>
              </a:buClr>
              <a:buSzPts val="1700"/>
              <a:buFont typeface="Consolas"/>
              <a:buNone/>
            </a:pPr>
            <a:r>
              <a:rPr lang="es-AR" sz="1700" b="1" i="0" u="none" strike="noStrike" cap="none">
                <a:solidFill>
                  <a:srgbClr val="22228B"/>
                </a:solidFill>
                <a:latin typeface="Consolas"/>
                <a:ea typeface="Consolas"/>
                <a:cs typeface="Consolas"/>
                <a:sym typeface="Consolas"/>
              </a:rPr>
              <a:t>                                         y MANEJADOR3 (BEGIN...END)</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        ..</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        If (condError) then</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                 SIGNAL CONDITION PEPE            </a:t>
            </a:r>
            <a:r>
              <a:rPr lang="es-AR" sz="1700" b="1" i="0" u="none" strike="noStrike" cap="none">
                <a:solidFill>
                  <a:srgbClr val="22228B"/>
                </a:solidFill>
                <a:latin typeface="Arial"/>
                <a:ea typeface="Arial"/>
                <a:cs typeface="Arial"/>
                <a:sym typeface="Arial"/>
              </a:rPr>
              <a:t>*** INVOCACIO</a:t>
            </a:r>
            <a:r>
              <a:rPr lang="es-AR" sz="1700" b="0" i="0" u="none" strike="noStrike" cap="none">
                <a:solidFill>
                  <a:srgbClr val="262626"/>
                </a:solidFill>
                <a:latin typeface="Arial"/>
                <a:ea typeface="Arial"/>
                <a:cs typeface="Arial"/>
                <a:sym typeface="Arial"/>
              </a:rPr>
              <a:t>N</a:t>
            </a:r>
            <a:r>
              <a:rPr lang="es-AR" sz="1700" b="1" i="0" u="none" strike="noStrike" cap="none">
                <a:solidFill>
                  <a:srgbClr val="22228B"/>
                </a:solidFill>
                <a:latin typeface="Arial"/>
                <a:ea typeface="Arial"/>
                <a:cs typeface="Arial"/>
                <a:sym typeface="Arial"/>
              </a:rPr>
              <a:t> (SIGNAL....)</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        end</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        ....</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Begin</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ON CONDITION PIPO begin ... end;             </a:t>
            </a:r>
            <a:r>
              <a:rPr lang="es-AR" sz="1700" b="0" i="0" u="none" strike="noStrike" cap="none">
                <a:solidFill>
                  <a:srgbClr val="262626"/>
                </a:solidFill>
                <a:latin typeface="Arial"/>
                <a:ea typeface="Arial"/>
                <a:cs typeface="Arial"/>
                <a:sym typeface="Arial"/>
              </a:rPr>
              <a:t> </a:t>
            </a:r>
            <a:r>
              <a:rPr lang="es-AR" sz="1700" b="1" i="0" u="none" strike="noStrike" cap="none">
                <a:solidFill>
                  <a:srgbClr val="22228B"/>
                </a:solidFill>
                <a:latin typeface="Arial"/>
                <a:ea typeface="Arial"/>
                <a:cs typeface="Arial"/>
                <a:sym typeface="Arial"/>
              </a:rPr>
              <a:t>***DECLARACION y MANEJADOR</a:t>
            </a:r>
            <a:r>
              <a:rPr lang="es-AR" sz="1700" b="0" i="0" u="none" strike="noStrike" cap="none">
                <a:solidFill>
                  <a:srgbClr val="262626"/>
                </a:solidFill>
                <a:latin typeface="Arial"/>
                <a:ea typeface="Arial"/>
                <a:cs typeface="Arial"/>
                <a:sym typeface="Arial"/>
              </a:rPr>
              <a:t>1</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ON CONDITION PEPE begin ... end;            </a:t>
            </a:r>
            <a:r>
              <a:rPr lang="es-AR" sz="1700" b="0" i="0" u="none" strike="noStrike" cap="none">
                <a:solidFill>
                  <a:srgbClr val="262626"/>
                </a:solidFill>
                <a:latin typeface="Arial"/>
                <a:ea typeface="Arial"/>
                <a:cs typeface="Arial"/>
                <a:sym typeface="Arial"/>
              </a:rPr>
              <a:t>*</a:t>
            </a:r>
            <a:r>
              <a:rPr lang="es-AR" sz="1700" b="1" i="0" u="none" strike="noStrike" cap="none">
                <a:solidFill>
                  <a:srgbClr val="22228B"/>
                </a:solidFill>
                <a:latin typeface="Arial"/>
                <a:ea typeface="Arial"/>
                <a:cs typeface="Arial"/>
                <a:sym typeface="Arial"/>
              </a:rPr>
              <a:t>**DECLARACION y MANEJADOR2</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UNO;</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If (condError) then</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                 SIGNAL CONDITION PIPO           </a:t>
            </a:r>
            <a:r>
              <a:rPr lang="es-AR" sz="1700" b="1" i="0" u="none" strike="noStrike" cap="none">
                <a:solidFill>
                  <a:srgbClr val="22228B"/>
                </a:solidFill>
                <a:latin typeface="Arial"/>
                <a:ea typeface="Arial"/>
                <a:cs typeface="Arial"/>
                <a:sym typeface="Arial"/>
              </a:rPr>
              <a:t>*** INVOCACIO</a:t>
            </a:r>
            <a:r>
              <a:rPr lang="es-AR" sz="1700" b="0" i="0" u="none" strike="noStrike" cap="none">
                <a:solidFill>
                  <a:srgbClr val="262626"/>
                </a:solidFill>
                <a:latin typeface="Arial"/>
                <a:ea typeface="Arial"/>
                <a:cs typeface="Arial"/>
                <a:sym typeface="Arial"/>
              </a:rPr>
              <a:t>N</a:t>
            </a:r>
            <a:r>
              <a:rPr lang="es-AR" sz="1700" b="1" i="0" u="none" strike="noStrike" cap="none">
                <a:solidFill>
                  <a:srgbClr val="22228B"/>
                </a:solidFill>
                <a:latin typeface="Arial"/>
                <a:ea typeface="Arial"/>
                <a:cs typeface="Arial"/>
                <a:sym typeface="Arial"/>
              </a:rPr>
              <a:t> (SIGNAL....)</a:t>
            </a:r>
            <a:endParaRPr sz="1700" b="0" i="0" u="none" strike="noStrike" cap="none">
              <a:latin typeface="Arial"/>
              <a:ea typeface="Arial"/>
              <a:cs typeface="Arial"/>
              <a:sym typeface="Arial"/>
            </a:endParaRPr>
          </a:p>
          <a:p>
            <a:pPr marL="310680" marR="0" lvl="0" indent="-306720" algn="just" rtl="0">
              <a:lnSpc>
                <a:spcPct val="93000"/>
              </a:lnSpc>
              <a:spcBef>
                <a:spcPts val="0"/>
              </a:spcBef>
              <a:spcAft>
                <a:spcPts val="0"/>
              </a:spcAft>
              <a:buClr>
                <a:srgbClr val="262626"/>
              </a:buClr>
              <a:buSzPts val="1700"/>
              <a:buFont typeface="Arial"/>
              <a:buNone/>
            </a:pPr>
            <a:r>
              <a:rPr lang="es-AR" sz="1700" b="1" i="0" u="none" strike="noStrike" cap="none">
                <a:solidFill>
                  <a:srgbClr val="262626"/>
                </a:solidFill>
                <a:latin typeface="Arial"/>
                <a:ea typeface="Arial"/>
                <a:cs typeface="Arial"/>
                <a:sym typeface="Arial"/>
              </a:rPr>
              <a:t>end</a:t>
            </a:r>
            <a:endParaRPr sz="1700" b="0" i="0" u="none" strike="noStrike" cap="none">
              <a:latin typeface="Arial"/>
              <a:ea typeface="Arial"/>
              <a:cs typeface="Arial"/>
              <a:sym typeface="Arial"/>
            </a:endParaRPr>
          </a:p>
        </p:txBody>
      </p:sp>
      <p:sp>
        <p:nvSpPr>
          <p:cNvPr id="497" name="Google Shape;497;p19"/>
          <p:cNvSpPr/>
          <p:nvPr/>
        </p:nvSpPr>
        <p:spPr>
          <a:xfrm flipH="1">
            <a:off x="726840" y="1977120"/>
            <a:ext cx="5400" cy="1676160"/>
          </a:xfrm>
          <a:custGeom>
            <a:avLst/>
            <a:gdLst/>
            <a:ahLst/>
            <a:cxnLst/>
            <a:rect l="l" t="t" r="r" b="b"/>
            <a:pathLst>
              <a:path w="21600" h="21600" extrusionOk="0">
                <a:moveTo>
                  <a:pt x="0" y="0"/>
                </a:moveTo>
                <a:lnTo>
                  <a:pt x="21600" y="21600"/>
                </a:lnTo>
              </a:path>
            </a:pathLst>
          </a:custGeom>
          <a:noFill/>
          <a:ln w="38100" cap="flat" cmpd="sng">
            <a:solidFill>
              <a:srgbClr val="2D2DB9"/>
            </a:solidFill>
            <a:prstDash val="solid"/>
            <a:miter lim="8000"/>
            <a:headEnd type="none" w="sm" len="sm"/>
            <a:tailEnd type="none" w="sm" len="sm"/>
          </a:ln>
          <a:effectLst>
            <a:outerShdw blurRad="40000" dist="23000" dir="5400000" rotWithShape="0">
              <a:srgbClr val="000000">
                <a:alpha val="34901"/>
              </a:srgbClr>
            </a:outerShdw>
          </a:effectLst>
        </p:spPr>
      </p:sp>
      <p:sp>
        <p:nvSpPr>
          <p:cNvPr id="498" name="Google Shape;498;p19"/>
          <p:cNvSpPr/>
          <p:nvPr/>
        </p:nvSpPr>
        <p:spPr>
          <a:xfrm flipH="1">
            <a:off x="252360" y="1359000"/>
            <a:ext cx="34200" cy="5270400"/>
          </a:xfrm>
          <a:custGeom>
            <a:avLst/>
            <a:gdLst/>
            <a:ahLst/>
            <a:cxnLst/>
            <a:rect l="l" t="t" r="r" b="b"/>
            <a:pathLst>
              <a:path w="21600" h="21600" extrusionOk="0">
                <a:moveTo>
                  <a:pt x="0" y="0"/>
                </a:moveTo>
                <a:lnTo>
                  <a:pt x="21600" y="21600"/>
                </a:lnTo>
              </a:path>
            </a:pathLst>
          </a:custGeom>
          <a:noFill/>
          <a:ln w="38100" cap="flat" cmpd="sng">
            <a:solidFill>
              <a:srgbClr val="2D2DB9"/>
            </a:solidFill>
            <a:prstDash val="solid"/>
            <a:miter lim="8000"/>
            <a:headEnd type="none" w="sm" len="sm"/>
            <a:tailEnd type="none" w="sm" len="sm"/>
          </a:ln>
          <a:effectLst>
            <a:outerShdw blurRad="40000" dist="23000" dir="5400000" rotWithShape="0">
              <a:srgbClr val="000000">
                <a:alpha val="34901"/>
              </a:srgbClr>
            </a:outerShdw>
          </a:effectLst>
        </p:spPr>
      </p:sp>
      <p:sp>
        <p:nvSpPr>
          <p:cNvPr id="499" name="Google Shape;499;p19"/>
          <p:cNvSpPr txBox="1">
            <a:spLocks noGrp="1"/>
          </p:cNvSpPr>
          <p:nvPr>
            <p:ph type="sldNum" idx="12"/>
          </p:nvPr>
        </p:nvSpPr>
        <p:spPr>
          <a:xfrm>
            <a:off x="6654240" y="5953680"/>
            <a:ext cx="2123640" cy="4662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rgbClr val="000000"/>
              </a:buClr>
              <a:buSzPts val="1270"/>
              <a:buFont typeface="Times New Roman"/>
              <a:buNone/>
            </a:pPr>
            <a:fld id="{00000000-1234-1234-1234-123412341234}" type="slidenum">
              <a:rPr lang="es-AR" sz="1270" b="0" strike="noStrike">
                <a:solidFill>
                  <a:srgbClr val="000000"/>
                </a:solidFill>
                <a:latin typeface="Times New Roman"/>
                <a:ea typeface="Times New Roman"/>
                <a:cs typeface="Times New Roman"/>
                <a:sym typeface="Times New Roman"/>
              </a:rP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20"/>
          <p:cNvSpPr/>
          <p:nvPr/>
        </p:nvSpPr>
        <p:spPr>
          <a:xfrm>
            <a:off x="468360" y="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PL/I</a:t>
            </a:r>
            <a:endParaRPr sz="3000" b="0" i="0" u="none" strike="noStrike" cap="none">
              <a:latin typeface="Arial"/>
              <a:ea typeface="Arial"/>
              <a:cs typeface="Arial"/>
              <a:sym typeface="Arial"/>
            </a:endParaRPr>
          </a:p>
        </p:txBody>
      </p:sp>
      <p:sp>
        <p:nvSpPr>
          <p:cNvPr id="506" name="Google Shape;506;p20"/>
          <p:cNvSpPr/>
          <p:nvPr/>
        </p:nvSpPr>
        <p:spPr>
          <a:xfrm>
            <a:off x="313560" y="1139040"/>
            <a:ext cx="7928280" cy="5648040"/>
          </a:xfrm>
          <a:prstGeom prst="rect">
            <a:avLst/>
          </a:prstGeom>
          <a:noFill/>
          <a:ln>
            <a:noFill/>
          </a:ln>
        </p:spPr>
        <p:txBody>
          <a:bodyPr spcFirstLastPara="1" wrap="square" lIns="90000" tIns="45000" rIns="90000" bIns="45000" anchor="t" anchorCtr="0">
            <a:noAutofit/>
          </a:bodyPr>
          <a:lstStyle/>
          <a:p>
            <a:pPr marL="274320" marR="0" lvl="0" indent="-271800" algn="l" rtl="0">
              <a:lnSpc>
                <a:spcPct val="100000"/>
              </a:lnSpc>
              <a:spcBef>
                <a:spcPts val="0"/>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Este lenguaje tiene una serie de</a:t>
            </a:r>
            <a:r>
              <a:rPr lang="es-AR" sz="2400" b="1" i="0" u="none" strike="noStrike" cap="none">
                <a:solidFill>
                  <a:srgbClr val="000000"/>
                </a:solidFill>
                <a:latin typeface="Century Schoolbook"/>
                <a:ea typeface="Century Schoolbook"/>
                <a:cs typeface="Century Schoolbook"/>
                <a:sym typeface="Century Schoolbook"/>
              </a:rPr>
              <a:t> excepciones ya</a:t>
            </a:r>
            <a:r>
              <a:rPr lang="es-AR" sz="2400" b="0" i="0" u="none" strike="noStrike" cap="none">
                <a:solidFill>
                  <a:srgbClr val="000000"/>
                </a:solidFill>
                <a:latin typeface="Century Schoolbook"/>
                <a:ea typeface="Century Schoolbook"/>
                <a:cs typeface="Century Schoolbook"/>
                <a:sym typeface="Century Schoolbook"/>
              </a:rPr>
              <a:t> </a:t>
            </a:r>
            <a:r>
              <a:rPr lang="es-AR" sz="2400" b="1" i="0" u="none" strike="noStrike" cap="none">
                <a:solidFill>
                  <a:srgbClr val="000000"/>
                </a:solidFill>
                <a:latin typeface="Century Schoolbook"/>
                <a:ea typeface="Century Schoolbook"/>
                <a:cs typeface="Century Schoolbook"/>
                <a:sym typeface="Century Schoolbook"/>
              </a:rPr>
              <a:t>predefinidas </a:t>
            </a:r>
            <a:r>
              <a:rPr lang="es-AR" sz="2400" b="0" i="0" u="none" strike="noStrike" cap="none">
                <a:solidFill>
                  <a:srgbClr val="000000"/>
                </a:solidFill>
                <a:latin typeface="Century Schoolbook"/>
                <a:ea typeface="Century Schoolbook"/>
                <a:cs typeface="Century Schoolbook"/>
                <a:sym typeface="Century Schoolbook"/>
              </a:rPr>
              <a:t>con su manejador asociado. Son las </a:t>
            </a:r>
            <a:r>
              <a:rPr lang="es-AR" sz="2400" b="1" i="0" u="none" strike="noStrike" cap="none">
                <a:solidFill>
                  <a:srgbClr val="000000"/>
                </a:solidFill>
                <a:latin typeface="Century Schoolbook"/>
                <a:ea typeface="Century Schoolbook"/>
                <a:cs typeface="Century Schoolbook"/>
                <a:sym typeface="Century Schoolbook"/>
              </a:rPr>
              <a:t>Built-in exceptions. </a:t>
            </a:r>
            <a:endParaRPr sz="2400" b="0" i="0" u="none" strike="noStrike" cap="none">
              <a:latin typeface="Arial"/>
              <a:ea typeface="Arial"/>
              <a:cs typeface="Arial"/>
              <a:sym typeface="Arial"/>
            </a:endParaRPr>
          </a:p>
          <a:p>
            <a:pPr marL="2520" marR="0" lvl="0" indent="0" algn="ctr" rtl="0">
              <a:lnSpc>
                <a:spcPct val="100000"/>
              </a:lnSpc>
              <a:spcBef>
                <a:spcPts val="601"/>
              </a:spcBef>
              <a:spcAft>
                <a:spcPts val="0"/>
              </a:spcAft>
              <a:buClr>
                <a:srgbClr val="000000"/>
              </a:buClr>
              <a:buSzPts val="2400"/>
              <a:buFont typeface="Century Schoolbook"/>
              <a:buNone/>
            </a:pPr>
            <a:r>
              <a:rPr lang="es-AR" sz="2400" b="1" i="0" u="none" strike="noStrike" cap="none">
                <a:solidFill>
                  <a:srgbClr val="000000"/>
                </a:solidFill>
                <a:latin typeface="Century Schoolbook"/>
                <a:ea typeface="Century Schoolbook"/>
                <a:cs typeface="Century Schoolbook"/>
                <a:sym typeface="Century Schoolbook"/>
              </a:rPr>
              <a:t>Por ej. </a:t>
            </a:r>
            <a:r>
              <a:rPr lang="es-AR" sz="2400" b="1" i="0" u="none" strike="noStrike" cap="none">
                <a:solidFill>
                  <a:srgbClr val="E46C0A"/>
                </a:solidFill>
                <a:latin typeface="Century Schoolbook"/>
                <a:ea typeface="Century Schoolbook"/>
                <a:cs typeface="Century Schoolbook"/>
                <a:sym typeface="Century Schoolbook"/>
              </a:rPr>
              <a:t>zerodivide</a:t>
            </a:r>
            <a:r>
              <a:rPr lang="es-AR" sz="2400" b="1" i="0" u="none" strike="noStrike" cap="none">
                <a:solidFill>
                  <a:srgbClr val="000000"/>
                </a:solidFill>
                <a:latin typeface="Century Schoolbook"/>
                <a:ea typeface="Century Schoolbook"/>
                <a:cs typeface="Century Schoolbook"/>
                <a:sym typeface="Century Schoolbook"/>
              </a:rPr>
              <a:t>, se levanta cuando hay una división por cero.</a:t>
            </a:r>
            <a:endParaRPr sz="2400" b="0" i="0" u="none" strike="noStrike" cap="none">
              <a:latin typeface="Arial"/>
              <a:ea typeface="Arial"/>
              <a:cs typeface="Arial"/>
              <a:sym typeface="Arial"/>
            </a:endParaRPr>
          </a:p>
          <a:p>
            <a:pPr marL="2520" marR="0" lvl="0" indent="0" algn="ctr" rtl="0">
              <a:lnSpc>
                <a:spcPct val="10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274320" marR="0" lvl="0" indent="-271800" algn="l" rtl="0">
              <a:lnSpc>
                <a:spcPct val="100000"/>
              </a:lnSpc>
              <a:spcBef>
                <a:spcPts val="601"/>
              </a:spcBef>
              <a:spcAft>
                <a:spcPts val="0"/>
              </a:spcAft>
              <a:buClr>
                <a:srgbClr val="FE8637"/>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Los manejadores se ligan</a:t>
            </a:r>
            <a:r>
              <a:rPr lang="es-AR" sz="2400" b="0" i="0" u="none" strike="noStrike" cap="none">
                <a:solidFill>
                  <a:srgbClr val="000000"/>
                </a:solidFill>
                <a:latin typeface="Century Schoolbook"/>
                <a:ea typeface="Century Schoolbook"/>
                <a:cs typeface="Century Schoolbook"/>
                <a:sym typeface="Century Schoolbook"/>
              </a:rPr>
              <a:t> </a:t>
            </a:r>
            <a:r>
              <a:rPr lang="es-AR" sz="2400" b="1" i="0" u="none" strike="noStrike" cap="none">
                <a:solidFill>
                  <a:srgbClr val="000000"/>
                </a:solidFill>
                <a:latin typeface="Century Schoolbook"/>
                <a:ea typeface="Century Schoolbook"/>
                <a:cs typeface="Century Schoolbook"/>
                <a:sym typeface="Century Schoolbook"/>
              </a:rPr>
              <a:t>dinámicamente con las excepciones. </a:t>
            </a:r>
            <a:r>
              <a:rPr lang="es-AR" sz="2400" b="0" i="0" u="none" strike="noStrike" cap="none">
                <a:solidFill>
                  <a:srgbClr val="000000"/>
                </a:solidFill>
                <a:latin typeface="Century Schoolbook"/>
                <a:ea typeface="Century Schoolbook"/>
                <a:cs typeface="Century Schoolbook"/>
                <a:sym typeface="Century Schoolbook"/>
              </a:rPr>
              <a:t>Una</a:t>
            </a:r>
            <a:r>
              <a:rPr lang="es-AR" sz="2400" b="1" i="0" u="none" strike="noStrike" cap="none">
                <a:solidFill>
                  <a:srgbClr val="000000"/>
                </a:solidFill>
                <a:latin typeface="Century Schoolbook"/>
                <a:ea typeface="Century Schoolbook"/>
                <a:cs typeface="Century Schoolbook"/>
                <a:sym typeface="Century Schoolbook"/>
              </a:rPr>
              <a:t> </a:t>
            </a:r>
            <a:r>
              <a:rPr lang="es-AR" sz="2400" b="0" i="0" u="none" strike="noStrike" cap="none">
                <a:solidFill>
                  <a:srgbClr val="000000"/>
                </a:solidFill>
                <a:latin typeface="Century Schoolbook"/>
                <a:ea typeface="Century Schoolbook"/>
                <a:cs typeface="Century Schoolbook"/>
                <a:sym typeface="Century Schoolbook"/>
              </a:rPr>
              <a:t>excepción siempre estará </a:t>
            </a:r>
            <a:r>
              <a:rPr lang="es-AR" sz="2400" b="1" i="0" u="none" strike="noStrike" cap="none">
                <a:solidFill>
                  <a:srgbClr val="000000"/>
                </a:solidFill>
                <a:latin typeface="Century Schoolbook"/>
                <a:ea typeface="Century Schoolbook"/>
                <a:cs typeface="Century Schoolbook"/>
                <a:sym typeface="Century Schoolbook"/>
              </a:rPr>
              <a:t>ligada con el último manejador definido</a:t>
            </a:r>
            <a:r>
              <a:rPr lang="es-AR" sz="2400" b="0" i="0" u="none" strike="noStrike" cap="none">
                <a:solidFill>
                  <a:srgbClr val="000000"/>
                </a:solidFill>
                <a:latin typeface="Century Schoolbook"/>
                <a:ea typeface="Century Schoolbook"/>
                <a:cs typeface="Century Schoolbook"/>
                <a:sym typeface="Century Schoolbook"/>
              </a:rPr>
              <a:t>.</a:t>
            </a:r>
            <a:r>
              <a:rPr lang="es-AR" sz="2400" b="0" i="1" u="none" strike="noStrike" cap="none">
                <a:solidFill>
                  <a:srgbClr val="000000"/>
                </a:solidFill>
                <a:latin typeface="Century Schoolbook"/>
                <a:ea typeface="Century Schoolbook"/>
                <a:cs typeface="Century Schoolbook"/>
                <a:sym typeface="Century Schoolbook"/>
              </a:rPr>
              <a:t> (Manejo de pila de manejadores de excepciones)</a:t>
            </a:r>
            <a:endParaRPr sz="2400" b="0" i="0" u="none" strike="noStrike" cap="none">
              <a:latin typeface="Arial"/>
              <a:ea typeface="Arial"/>
              <a:cs typeface="Arial"/>
              <a:sym typeface="Arial"/>
            </a:endParaRPr>
          </a:p>
          <a:p>
            <a:pPr marL="274320" marR="0" lvl="0" indent="-271800" algn="l" rtl="0">
              <a:lnSpc>
                <a:spcPct val="100000"/>
              </a:lnSpc>
              <a:spcBef>
                <a:spcPts val="601"/>
              </a:spcBef>
              <a:spcAft>
                <a:spcPts val="0"/>
              </a:spcAft>
              <a:buClr>
                <a:srgbClr val="FE8637"/>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El alcance de un manejador termina cuando finaliza la ejecución de la unidad donde fue declarado.</a:t>
            </a:r>
            <a:endParaRPr sz="2400" b="0" i="0" u="none" strike="noStrike" cap="none">
              <a:latin typeface="Arial"/>
              <a:ea typeface="Arial"/>
              <a:cs typeface="Arial"/>
              <a:sym typeface="Arial"/>
            </a:endParaRPr>
          </a:p>
          <a:p>
            <a:pPr marL="0" marR="0" lvl="0" indent="0" algn="l" rtl="0">
              <a:lnSpc>
                <a:spcPct val="10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274320" marR="0" lvl="0" indent="-165240" algn="l" rtl="0">
              <a:lnSpc>
                <a:spcPct val="10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274320" marR="0" lvl="0" indent="-165240" algn="l" rtl="0">
              <a:lnSpc>
                <a:spcPct val="10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274320" marR="0" lvl="0" indent="-165240" algn="l" rtl="0">
              <a:lnSpc>
                <a:spcPct val="100000"/>
              </a:lnSpc>
              <a:spcBef>
                <a:spcPts val="601"/>
              </a:spcBef>
              <a:spcAft>
                <a:spcPts val="0"/>
              </a:spcAft>
              <a:buSzPts val="2400"/>
              <a:buFont typeface="Arial"/>
              <a:buNone/>
            </a:pPr>
            <a:endParaRPr sz="2400" b="0" i="0" u="none" strike="noStrike" cap="none">
              <a:latin typeface="Arial"/>
              <a:ea typeface="Arial"/>
              <a:cs typeface="Arial"/>
              <a:sym typeface="Arial"/>
            </a:endParaRPr>
          </a:p>
        </p:txBody>
      </p:sp>
      <p:sp>
        <p:nvSpPr>
          <p:cNvPr id="507" name="Google Shape;507;p20"/>
          <p:cNvSpPr/>
          <p:nvPr/>
        </p:nvSpPr>
        <p:spPr>
          <a:xfrm>
            <a:off x="7851960" y="58320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20</a:t>
            </a:fld>
            <a:endParaRPr sz="1800" b="0" i="0" u="none" strike="noStrike" cap="none">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pic>
        <p:nvPicPr>
          <p:cNvPr id="512" name="Google Shape;512;p21"/>
          <p:cNvPicPr preferRelativeResize="0"/>
          <p:nvPr/>
        </p:nvPicPr>
        <p:blipFill rotWithShape="1">
          <a:blip r:embed="rId3">
            <a:alphaModFix/>
          </a:blip>
          <a:srcRect/>
          <a:stretch/>
        </p:blipFill>
        <p:spPr>
          <a:xfrm>
            <a:off x="223200" y="1571040"/>
            <a:ext cx="8404560" cy="5202360"/>
          </a:xfrm>
          <a:prstGeom prst="rect">
            <a:avLst/>
          </a:prstGeom>
          <a:noFill/>
          <a:ln>
            <a:noFill/>
          </a:ln>
        </p:spPr>
      </p:pic>
      <p:sp>
        <p:nvSpPr>
          <p:cNvPr id="513" name="Google Shape;513;p21"/>
          <p:cNvSpPr/>
          <p:nvPr/>
        </p:nvSpPr>
        <p:spPr>
          <a:xfrm>
            <a:off x="457200" y="7344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PLI ejemplo</a:t>
            </a:r>
            <a:endParaRPr sz="3000" b="0" i="0" u="none" strike="noStrike" cap="none">
              <a:latin typeface="Arial"/>
              <a:ea typeface="Arial"/>
              <a:cs typeface="Arial"/>
              <a:sym typeface="Arial"/>
            </a:endParaRPr>
          </a:p>
        </p:txBody>
      </p:sp>
      <p:sp>
        <p:nvSpPr>
          <p:cNvPr id="514" name="Google Shape;514;p21"/>
          <p:cNvSpPr/>
          <p:nvPr/>
        </p:nvSpPr>
        <p:spPr>
          <a:xfrm>
            <a:off x="7128000" y="360000"/>
            <a:ext cx="1581480" cy="1149480"/>
          </a:xfrm>
          <a:prstGeom prst="rect">
            <a:avLst/>
          </a:prstGeom>
          <a:solidFill>
            <a:srgbClr val="EEEEEE"/>
          </a:solidFill>
          <a:ln w="9525" cap="flat" cmpd="sng">
            <a:solidFill>
              <a:srgbClr val="3465A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1"/>
          <p:cNvSpPr/>
          <p:nvPr/>
        </p:nvSpPr>
        <p:spPr>
          <a:xfrm>
            <a:off x="7272000" y="1080000"/>
            <a:ext cx="1293480" cy="285480"/>
          </a:xfrm>
          <a:prstGeom prst="rect">
            <a:avLst/>
          </a:prstGeom>
          <a:solidFill>
            <a:srgbClr val="729FCF"/>
          </a:solidFill>
          <a:ln w="9525" cap="flat" cmpd="sng">
            <a:solidFill>
              <a:srgbClr val="3465A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1"/>
          <p:cNvSpPr/>
          <p:nvPr/>
        </p:nvSpPr>
        <p:spPr>
          <a:xfrm>
            <a:off x="7272000" y="792000"/>
            <a:ext cx="1293480" cy="285480"/>
          </a:xfrm>
          <a:prstGeom prst="rect">
            <a:avLst/>
          </a:prstGeom>
          <a:solidFill>
            <a:srgbClr val="729FCF"/>
          </a:solidFill>
          <a:ln w="9525" cap="flat" cmpd="sng">
            <a:solidFill>
              <a:srgbClr val="3465A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1"/>
          <p:cNvSpPr/>
          <p:nvPr/>
        </p:nvSpPr>
        <p:spPr>
          <a:xfrm>
            <a:off x="7272000" y="504000"/>
            <a:ext cx="1293480" cy="285480"/>
          </a:xfrm>
          <a:prstGeom prst="rect">
            <a:avLst/>
          </a:prstGeom>
          <a:solidFill>
            <a:srgbClr val="729FCF"/>
          </a:solidFill>
          <a:ln w="9525" cap="flat" cmpd="sng">
            <a:solidFill>
              <a:srgbClr val="3465A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1"/>
          <p:cNvSpPr/>
          <p:nvPr/>
        </p:nvSpPr>
        <p:spPr>
          <a:xfrm>
            <a:off x="5600520" y="71640"/>
            <a:ext cx="1680480" cy="67464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Consolas"/>
              <a:buNone/>
            </a:pPr>
            <a:r>
              <a:rPr lang="es-AR" sz="1800" b="0" i="0" u="none" strike="noStrike" cap="none">
                <a:solidFill>
                  <a:srgbClr val="000000"/>
                </a:solidFill>
                <a:latin typeface="Consolas"/>
                <a:ea typeface="Consolas"/>
                <a:cs typeface="Consolas"/>
                <a:sym typeface="Consolas"/>
              </a:rPr>
              <a:t>Pila de Manejadores</a:t>
            </a:r>
            <a:endParaRPr sz="1800" b="0" i="0" u="none" strike="noStrike" cap="none">
              <a:latin typeface="Arial"/>
              <a:ea typeface="Arial"/>
              <a:cs typeface="Arial"/>
              <a:sym typeface="Arial"/>
            </a:endParaRPr>
          </a:p>
        </p:txBody>
      </p:sp>
      <p:sp>
        <p:nvSpPr>
          <p:cNvPr id="519" name="Google Shape;519;p21"/>
          <p:cNvSpPr/>
          <p:nvPr/>
        </p:nvSpPr>
        <p:spPr>
          <a:xfrm>
            <a:off x="7272000" y="1080000"/>
            <a:ext cx="1293480" cy="285480"/>
          </a:xfrm>
          <a:prstGeom prst="rect">
            <a:avLst/>
          </a:prstGeom>
          <a:solidFill>
            <a:srgbClr val="729FCF"/>
          </a:solidFill>
          <a:ln w="9525" cap="flat" cmpd="sng">
            <a:solidFill>
              <a:srgbClr val="3465A4"/>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e1 (A)</a:t>
            </a:r>
            <a:endParaRPr sz="1800" b="0" i="0" u="none" strike="noStrike" cap="none">
              <a:latin typeface="Arial"/>
              <a:ea typeface="Arial"/>
              <a:cs typeface="Arial"/>
              <a:sym typeface="Arial"/>
            </a:endParaRPr>
          </a:p>
        </p:txBody>
      </p:sp>
      <p:sp>
        <p:nvSpPr>
          <p:cNvPr id="520" name="Google Shape;520;p21"/>
          <p:cNvSpPr/>
          <p:nvPr/>
        </p:nvSpPr>
        <p:spPr>
          <a:xfrm>
            <a:off x="7272000" y="792000"/>
            <a:ext cx="1293480" cy="285480"/>
          </a:xfrm>
          <a:prstGeom prst="rect">
            <a:avLst/>
          </a:prstGeom>
          <a:solidFill>
            <a:srgbClr val="729FCF"/>
          </a:solidFill>
          <a:ln w="9525" cap="flat" cmpd="sng">
            <a:solidFill>
              <a:srgbClr val="3465A4"/>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e1 (B)</a:t>
            </a:r>
            <a:endParaRPr sz="1800" b="0" i="0" u="none" strike="noStrike" cap="none">
              <a:latin typeface="Arial"/>
              <a:ea typeface="Arial"/>
              <a:cs typeface="Arial"/>
              <a:sym typeface="Arial"/>
            </a:endParaRPr>
          </a:p>
        </p:txBody>
      </p:sp>
      <p:sp>
        <p:nvSpPr>
          <p:cNvPr id="521" name="Google Shape;521;p21"/>
          <p:cNvSpPr/>
          <p:nvPr/>
        </p:nvSpPr>
        <p:spPr>
          <a:xfrm>
            <a:off x="8207280" y="57456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21</a:t>
            </a:fld>
            <a:endParaRPr sz="1800" b="0" i="0" u="none" strike="noStrike" cap="none">
              <a:latin typeface="Arial"/>
              <a:ea typeface="Arial"/>
              <a:cs typeface="Arial"/>
              <a:sym typeface="Arial"/>
            </a:endParaRPr>
          </a:p>
        </p:txBody>
      </p:sp>
      <p:sp>
        <p:nvSpPr>
          <p:cNvPr id="522" name="Google Shape;522;p21"/>
          <p:cNvSpPr/>
          <p:nvPr/>
        </p:nvSpPr>
        <p:spPr>
          <a:xfrm flipH="1">
            <a:off x="887760" y="5357520"/>
            <a:ext cx="2550240" cy="180720"/>
          </a:xfrm>
          <a:custGeom>
            <a:avLst/>
            <a:gdLst/>
            <a:ahLst/>
            <a:cxnLst/>
            <a:rect l="l" t="t" r="r" b="b"/>
            <a:pathLst>
              <a:path w="21600" h="21600" extrusionOk="0">
                <a:moveTo>
                  <a:pt x="0" y="0"/>
                </a:moveTo>
                <a:lnTo>
                  <a:pt x="21600" y="21600"/>
                </a:lnTo>
              </a:path>
            </a:pathLst>
          </a:custGeom>
          <a:noFill/>
          <a:ln w="38100" cap="flat" cmpd="sng">
            <a:solidFill>
              <a:srgbClr val="C0504D"/>
            </a:solidFill>
            <a:prstDash val="solid"/>
            <a:miter lim="8000"/>
            <a:headEnd type="none" w="sm" len="sm"/>
            <a:tailEnd type="triangle" w="med" len="med"/>
          </a:ln>
          <a:effectLst>
            <a:outerShdw blurRad="39960" dist="23040" dir="5400000" rotWithShape="0">
              <a:srgbClr val="000000">
                <a:alpha val="34901"/>
              </a:srgbClr>
            </a:outerShdw>
          </a:effectLst>
        </p:spPr>
      </p:sp>
      <p:sp>
        <p:nvSpPr>
          <p:cNvPr id="523" name="Google Shape;523;p21"/>
          <p:cNvSpPr/>
          <p:nvPr/>
        </p:nvSpPr>
        <p:spPr>
          <a:xfrm>
            <a:off x="5314320" y="5345640"/>
            <a:ext cx="1468800" cy="36540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onsolas"/>
              <a:buNone/>
            </a:pPr>
            <a:r>
              <a:rPr lang="es-AR" sz="1800" b="1" i="0" u="none" strike="noStrike" cap="none">
                <a:solidFill>
                  <a:srgbClr val="000000"/>
                </a:solidFill>
                <a:latin typeface="Consolas"/>
                <a:ea typeface="Consolas"/>
                <a:cs typeface="Consolas"/>
                <a:sym typeface="Consolas"/>
              </a:rPr>
              <a:t>E1 de A</a:t>
            </a:r>
            <a:endParaRPr sz="1800" b="0" i="0" u="none" strike="noStrike" cap="none">
              <a:latin typeface="Arial"/>
              <a:ea typeface="Arial"/>
              <a:cs typeface="Arial"/>
              <a:sym typeface="Arial"/>
            </a:endParaRPr>
          </a:p>
        </p:txBody>
      </p:sp>
      <p:sp>
        <p:nvSpPr>
          <p:cNvPr id="524" name="Google Shape;524;p21"/>
          <p:cNvSpPr/>
          <p:nvPr/>
        </p:nvSpPr>
        <p:spPr>
          <a:xfrm rot="10800000">
            <a:off x="2770200" y="2222640"/>
            <a:ext cx="1112400" cy="5400"/>
          </a:xfrm>
          <a:custGeom>
            <a:avLst/>
            <a:gdLst/>
            <a:ahLst/>
            <a:cxnLst/>
            <a:rect l="l" t="t" r="r" b="b"/>
            <a:pathLst>
              <a:path w="21600" h="21600" extrusionOk="0">
                <a:moveTo>
                  <a:pt x="0" y="0"/>
                </a:moveTo>
                <a:lnTo>
                  <a:pt x="21600" y="21600"/>
                </a:lnTo>
              </a:path>
            </a:pathLst>
          </a:custGeom>
          <a:noFill/>
          <a:ln w="38100" cap="flat" cmpd="sng">
            <a:solidFill>
              <a:srgbClr val="C0504D"/>
            </a:solidFill>
            <a:prstDash val="solid"/>
            <a:miter lim="8000"/>
            <a:headEnd type="none" w="sm" len="sm"/>
            <a:tailEnd type="triangle" w="med" len="med"/>
          </a:ln>
          <a:effectLst>
            <a:outerShdw blurRad="39960" dist="23040" dir="5400000" rotWithShape="0">
              <a:srgbClr val="000000">
                <a:alpha val="34901"/>
              </a:srgbClr>
            </a:outerShdw>
          </a:effectLst>
        </p:spPr>
      </p:sp>
      <p:sp>
        <p:nvSpPr>
          <p:cNvPr id="525" name="Google Shape;525;p21"/>
          <p:cNvSpPr/>
          <p:nvPr/>
        </p:nvSpPr>
        <p:spPr>
          <a:xfrm flipH="1">
            <a:off x="2224800" y="3344760"/>
            <a:ext cx="2535840" cy="238320"/>
          </a:xfrm>
          <a:custGeom>
            <a:avLst/>
            <a:gdLst/>
            <a:ahLst/>
            <a:cxnLst/>
            <a:rect l="l" t="t" r="r" b="b"/>
            <a:pathLst>
              <a:path w="21600" h="21600" extrusionOk="0">
                <a:moveTo>
                  <a:pt x="0" y="0"/>
                </a:moveTo>
                <a:lnTo>
                  <a:pt x="21600" y="21600"/>
                </a:lnTo>
              </a:path>
            </a:pathLst>
          </a:custGeom>
          <a:noFill/>
          <a:ln w="38100" cap="flat" cmpd="sng">
            <a:solidFill>
              <a:srgbClr val="C0504D"/>
            </a:solidFill>
            <a:prstDash val="solid"/>
            <a:miter lim="8000"/>
            <a:headEnd type="none" w="sm" len="sm"/>
            <a:tailEnd type="triangle" w="med" len="med"/>
          </a:ln>
          <a:effectLst>
            <a:outerShdw blurRad="39960" dist="23040" dir="5400000" rotWithShape="0">
              <a:srgbClr val="000000">
                <a:alpha val="34901"/>
              </a:srgbClr>
            </a:outerShdw>
          </a:effectLst>
        </p:spPr>
      </p:sp>
      <p:sp>
        <p:nvSpPr>
          <p:cNvPr id="526" name="Google Shape;526;p21"/>
          <p:cNvSpPr/>
          <p:nvPr/>
        </p:nvSpPr>
        <p:spPr>
          <a:xfrm>
            <a:off x="5529960" y="2427120"/>
            <a:ext cx="1468800" cy="36540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onsolas"/>
              <a:buNone/>
            </a:pPr>
            <a:r>
              <a:rPr lang="es-AR" sz="1800" b="1" i="0" u="none" strike="noStrike" cap="none">
                <a:solidFill>
                  <a:srgbClr val="000000"/>
                </a:solidFill>
                <a:latin typeface="Consolas"/>
                <a:ea typeface="Consolas"/>
                <a:cs typeface="Consolas"/>
                <a:sym typeface="Consolas"/>
              </a:rPr>
              <a:t>E1 de A</a:t>
            </a:r>
            <a:endParaRPr sz="1800" b="0" i="0" u="none" strike="noStrike" cap="none">
              <a:latin typeface="Arial"/>
              <a:ea typeface="Arial"/>
              <a:cs typeface="Arial"/>
              <a:sym typeface="Arial"/>
            </a:endParaRPr>
          </a:p>
        </p:txBody>
      </p:sp>
      <p:sp>
        <p:nvSpPr>
          <p:cNvPr id="527" name="Google Shape;527;p21"/>
          <p:cNvSpPr/>
          <p:nvPr/>
        </p:nvSpPr>
        <p:spPr>
          <a:xfrm>
            <a:off x="6335280" y="3649320"/>
            <a:ext cx="1468800" cy="36540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onsolas"/>
              <a:buNone/>
            </a:pPr>
            <a:r>
              <a:rPr lang="es-AR" sz="1800" b="1" i="0" u="none" strike="noStrike" cap="none">
                <a:solidFill>
                  <a:srgbClr val="000000"/>
                </a:solidFill>
                <a:latin typeface="Consolas"/>
                <a:ea typeface="Consolas"/>
                <a:cs typeface="Consolas"/>
                <a:sym typeface="Consolas"/>
              </a:rPr>
              <a:t>E1 de B</a:t>
            </a:r>
            <a:endParaRPr sz="1800" b="0" i="0" u="none" strike="noStrike" cap="none">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22"/>
          <p:cNvSpPr/>
          <p:nvPr/>
        </p:nvSpPr>
        <p:spPr>
          <a:xfrm>
            <a:off x="468360" y="-2700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ADA</a:t>
            </a:r>
            <a:endParaRPr sz="3000" b="0" i="0" u="none" strike="noStrike" cap="none">
              <a:latin typeface="Arial"/>
              <a:ea typeface="Arial"/>
              <a:cs typeface="Arial"/>
              <a:sym typeface="Arial"/>
            </a:endParaRPr>
          </a:p>
        </p:txBody>
      </p:sp>
      <p:sp>
        <p:nvSpPr>
          <p:cNvPr id="533" name="Google Shape;533;p22"/>
          <p:cNvSpPr/>
          <p:nvPr/>
        </p:nvSpPr>
        <p:spPr>
          <a:xfrm>
            <a:off x="770400" y="1245240"/>
            <a:ext cx="7759800" cy="5457600"/>
          </a:xfrm>
          <a:prstGeom prst="rect">
            <a:avLst/>
          </a:prstGeom>
          <a:noFill/>
          <a:ln>
            <a:noFill/>
          </a:ln>
        </p:spPr>
        <p:txBody>
          <a:bodyPr spcFirstLastPara="1" wrap="square" lIns="90000" tIns="45000" rIns="90000" bIns="45000" anchor="t" anchorCtr="0">
            <a:noAutofit/>
          </a:bodyPr>
          <a:lstStyle/>
          <a:p>
            <a:pPr marL="274320" marR="0" lvl="0" indent="-271800" algn="just" rtl="0">
              <a:lnSpc>
                <a:spcPct val="80000"/>
              </a:lnSpc>
              <a:spcBef>
                <a:spcPts val="0"/>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Aplica criterio de </a:t>
            </a:r>
            <a:r>
              <a:rPr lang="es-AR" sz="2400" b="1" i="0" u="none" strike="noStrike" cap="none">
                <a:solidFill>
                  <a:srgbClr val="000000"/>
                </a:solidFill>
                <a:latin typeface="Century Schoolbook"/>
                <a:ea typeface="Century Schoolbook"/>
                <a:cs typeface="Century Schoolbook"/>
                <a:sym typeface="Century Schoolbook"/>
              </a:rPr>
              <a:t>Terminación</a:t>
            </a:r>
            <a:endParaRPr sz="2400" b="0" i="0" u="none" strike="noStrike" cap="none">
              <a:latin typeface="Arial"/>
              <a:ea typeface="Arial"/>
              <a:cs typeface="Arial"/>
              <a:sym typeface="Arial"/>
            </a:endParaRPr>
          </a:p>
          <a:p>
            <a:pPr marL="0" marR="0" lvl="0" indent="0" algn="just" rtl="0">
              <a:lnSpc>
                <a:spcPct val="80000"/>
              </a:lnSpc>
              <a:spcBef>
                <a:spcPts val="0"/>
              </a:spcBef>
              <a:spcAft>
                <a:spcPts val="0"/>
              </a:spcAft>
              <a:buSzPts val="2400"/>
              <a:buFont typeface="Arial"/>
              <a:buNone/>
            </a:pPr>
            <a:endParaRPr sz="2400" b="0" i="0" u="none" strike="noStrike" cap="none">
              <a:latin typeface="Arial"/>
              <a:ea typeface="Arial"/>
              <a:cs typeface="Arial"/>
              <a:sym typeface="Arial"/>
            </a:endParaRPr>
          </a:p>
          <a:p>
            <a:pPr marL="285840" marR="0" lvl="0" indent="0" algn="just" rtl="0">
              <a:lnSpc>
                <a:spcPct val="80000"/>
              </a:lnSpc>
              <a:spcBef>
                <a:spcPts val="0"/>
              </a:spcBef>
              <a:spcAft>
                <a:spcPts val="0"/>
              </a:spcAft>
              <a:buClr>
                <a:srgbClr val="000000"/>
              </a:buClr>
              <a:buSzPts val="2400"/>
              <a:buFont typeface="Century Schoolbook"/>
              <a:buNone/>
            </a:pPr>
            <a:r>
              <a:rPr lang="es-AR" sz="2400" b="0" i="0" u="none" strike="noStrike" cap="none">
                <a:solidFill>
                  <a:srgbClr val="000000"/>
                </a:solidFill>
                <a:latin typeface="Century Schoolbook"/>
                <a:ea typeface="Century Schoolbook"/>
                <a:cs typeface="Century Schoolbook"/>
                <a:sym typeface="Century Schoolbook"/>
              </a:rPr>
              <a:t>Cada vez que se produce una excepción, se </a:t>
            </a:r>
            <a:r>
              <a:rPr lang="es-AR" sz="2400" b="1" i="0" u="none" strike="noStrike" cap="none">
                <a:solidFill>
                  <a:srgbClr val="000000"/>
                </a:solidFill>
                <a:latin typeface="Century Schoolbook"/>
                <a:ea typeface="Century Schoolbook"/>
                <a:cs typeface="Century Schoolbook"/>
                <a:sym typeface="Century Schoolbook"/>
              </a:rPr>
              <a:t>termina el bloque </a:t>
            </a:r>
            <a:r>
              <a:rPr lang="es-AR" sz="2400" b="1">
                <a:latin typeface="Century Schoolbook"/>
                <a:ea typeface="Century Schoolbook"/>
                <a:cs typeface="Century Schoolbook"/>
                <a:sym typeface="Century Schoolbook"/>
              </a:rPr>
              <a:t>donde</a:t>
            </a:r>
            <a:r>
              <a:rPr lang="es-AR" sz="2400" b="1" i="0" u="none" strike="noStrike" cap="none">
                <a:solidFill>
                  <a:srgbClr val="000000"/>
                </a:solidFill>
                <a:latin typeface="Century Schoolbook"/>
                <a:ea typeface="Century Schoolbook"/>
                <a:cs typeface="Century Schoolbook"/>
                <a:sym typeface="Century Schoolbook"/>
              </a:rPr>
              <a:t> se levantó y se ejecuta el manejador asociado, y continúa luego.</a:t>
            </a:r>
            <a:endParaRPr sz="2400" b="0" i="0" u="none" strike="noStrike" cap="none">
              <a:latin typeface="Arial"/>
              <a:ea typeface="Arial"/>
              <a:cs typeface="Arial"/>
              <a:sym typeface="Arial"/>
            </a:endParaRPr>
          </a:p>
          <a:p>
            <a:pPr marL="0" marR="0" lvl="0" indent="0" algn="just" rtl="0">
              <a:lnSpc>
                <a:spcPct val="80000"/>
              </a:lnSpc>
              <a:spcBef>
                <a:spcPts val="0"/>
              </a:spcBef>
              <a:spcAft>
                <a:spcPts val="0"/>
              </a:spcAft>
              <a:buSzPts val="2400"/>
              <a:buFont typeface="Arial"/>
              <a:buNone/>
            </a:pPr>
            <a:endParaRPr sz="2400" b="0" i="0" u="none" strike="noStrike" cap="none">
              <a:latin typeface="Arial"/>
              <a:ea typeface="Arial"/>
              <a:cs typeface="Arial"/>
              <a:sym typeface="Arial"/>
            </a:endParaRPr>
          </a:p>
          <a:p>
            <a:pPr marL="274320" marR="0" lvl="0" indent="-271800" algn="just" rtl="0">
              <a:lnSpc>
                <a:spcPct val="8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Las </a:t>
            </a:r>
            <a:r>
              <a:rPr lang="es-AR" sz="2400" b="1" i="0" u="none" strike="noStrike" cap="none">
                <a:solidFill>
                  <a:srgbClr val="000000"/>
                </a:solidFill>
                <a:latin typeface="Century Schoolbook"/>
                <a:ea typeface="Century Schoolbook"/>
                <a:cs typeface="Century Schoolbook"/>
                <a:sym typeface="Century Schoolbook"/>
              </a:rPr>
              <a:t>excepciones se definen/declaran </a:t>
            </a:r>
            <a:r>
              <a:rPr lang="es-AR" sz="2400" b="0" i="0" u="none" strike="noStrike" cap="none">
                <a:solidFill>
                  <a:srgbClr val="000000"/>
                </a:solidFill>
                <a:latin typeface="Century Schoolbook"/>
                <a:ea typeface="Century Schoolbook"/>
                <a:cs typeface="Century Schoolbook"/>
                <a:sym typeface="Century Schoolbook"/>
              </a:rPr>
              <a:t>en la </a:t>
            </a:r>
            <a:r>
              <a:rPr lang="es-AR" sz="2400" b="1" i="0" u="none" strike="noStrike" cap="none">
                <a:solidFill>
                  <a:srgbClr val="000000"/>
                </a:solidFill>
                <a:latin typeface="Century Schoolbook"/>
                <a:ea typeface="Century Schoolbook"/>
                <a:cs typeface="Century Schoolbook"/>
                <a:sym typeface="Century Schoolbook"/>
              </a:rPr>
              <a:t>zona de definición de variables </a:t>
            </a:r>
            <a:r>
              <a:rPr lang="es-AR" sz="2400" b="0" i="0" u="none" strike="noStrike" cap="none">
                <a:solidFill>
                  <a:srgbClr val="000000"/>
                </a:solidFill>
                <a:latin typeface="Century Schoolbook"/>
                <a:ea typeface="Century Schoolbook"/>
                <a:cs typeface="Century Schoolbook"/>
                <a:sym typeface="Century Schoolbook"/>
              </a:rPr>
              <a:t>y tienen el </a:t>
            </a:r>
            <a:r>
              <a:rPr lang="es-AR" sz="2400" b="1" i="0" u="none" strike="noStrike" cap="none">
                <a:solidFill>
                  <a:srgbClr val="000000"/>
                </a:solidFill>
                <a:latin typeface="Century Schoolbook"/>
                <a:ea typeface="Century Schoolbook"/>
                <a:cs typeface="Century Schoolbook"/>
                <a:sym typeface="Century Schoolbook"/>
              </a:rPr>
              <a:t>mismo alcance </a:t>
            </a:r>
            <a:r>
              <a:rPr lang="es-AR" sz="2400" b="0" i="0" u="none" strike="noStrike" cap="none">
                <a:solidFill>
                  <a:srgbClr val="000000"/>
                </a:solidFill>
                <a:latin typeface="Century Schoolbook"/>
                <a:ea typeface="Century Schoolbook"/>
                <a:cs typeface="Century Schoolbook"/>
                <a:sym typeface="Century Schoolbook"/>
              </a:rPr>
              <a:t>en la unidad</a:t>
            </a:r>
            <a:r>
              <a:rPr lang="es-AR" sz="2400" b="1" i="0" u="none" strike="noStrike" cap="none">
                <a:solidFill>
                  <a:srgbClr val="000000"/>
                </a:solidFill>
                <a:latin typeface="Century Schoolbook"/>
                <a:ea typeface="Century Schoolbook"/>
                <a:cs typeface="Century Schoolbook"/>
                <a:sym typeface="Century Schoolbook"/>
              </a:rPr>
              <a:t>. </a:t>
            </a:r>
            <a:endParaRPr sz="2400" b="0" i="0" u="none" strike="noStrike" cap="none">
              <a:latin typeface="Arial"/>
              <a:ea typeface="Arial"/>
              <a:cs typeface="Arial"/>
              <a:sym typeface="Arial"/>
            </a:endParaRPr>
          </a:p>
          <a:p>
            <a:pPr marL="0" marR="0" lvl="0" indent="0" algn="just" rtl="0">
              <a:lnSpc>
                <a:spcPct val="8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2520" marR="0" lvl="0" indent="0" algn="ctr" rtl="0">
              <a:lnSpc>
                <a:spcPct val="80000"/>
              </a:lnSpc>
              <a:spcBef>
                <a:spcPts val="601"/>
              </a:spcBef>
              <a:spcAft>
                <a:spcPts val="0"/>
              </a:spcAft>
              <a:buClr>
                <a:srgbClr val="000000"/>
              </a:buClr>
              <a:buSzPts val="2400"/>
              <a:buFont typeface="Century Schoolbook"/>
              <a:buNone/>
            </a:pPr>
            <a:r>
              <a:rPr lang="es-AR" sz="2400" b="0" i="0" u="none" strike="noStrike" cap="none">
                <a:solidFill>
                  <a:srgbClr val="000000"/>
                </a:solidFill>
                <a:latin typeface="Century Schoolbook"/>
                <a:ea typeface="Century Schoolbook"/>
                <a:cs typeface="Century Schoolbook"/>
                <a:sym typeface="Century Schoolbook"/>
              </a:rPr>
              <a:t>Su formato para declarar es</a:t>
            </a:r>
            <a:r>
              <a:rPr lang="es-AR" sz="2400" b="1" i="0" u="none" strike="noStrike" cap="none">
                <a:solidFill>
                  <a:srgbClr val="000000"/>
                </a:solidFill>
                <a:latin typeface="Century Schoolbook"/>
                <a:ea typeface="Century Schoolbook"/>
                <a:cs typeface="Century Schoolbook"/>
                <a:sym typeface="Century Schoolbook"/>
              </a:rPr>
              <a:t> </a:t>
            </a:r>
            <a:endParaRPr sz="2400" b="0" i="0" u="none" strike="noStrike" cap="none">
              <a:latin typeface="Arial"/>
              <a:ea typeface="Arial"/>
              <a:cs typeface="Arial"/>
              <a:sym typeface="Arial"/>
            </a:endParaRPr>
          </a:p>
          <a:p>
            <a:pPr marL="2520" marR="0" lvl="0" indent="0" algn="ctr" rtl="0">
              <a:lnSpc>
                <a:spcPct val="80000"/>
              </a:lnSpc>
              <a:spcBef>
                <a:spcPts val="601"/>
              </a:spcBef>
              <a:spcAft>
                <a:spcPts val="0"/>
              </a:spcAft>
              <a:buClr>
                <a:srgbClr val="E87605"/>
              </a:buClr>
              <a:buSzPts val="2400"/>
              <a:buFont typeface="Century Schoolbook"/>
              <a:buNone/>
            </a:pPr>
            <a:r>
              <a:rPr lang="es-AR" sz="2400" b="1" i="0" u="none" strike="noStrike" cap="none">
                <a:solidFill>
                  <a:srgbClr val="E87605"/>
                </a:solidFill>
                <a:latin typeface="Century Schoolbook"/>
                <a:ea typeface="Century Schoolbook"/>
                <a:cs typeface="Century Schoolbook"/>
                <a:sym typeface="Century Schoolbook"/>
              </a:rPr>
              <a:t>MiExcepcion: exception;</a:t>
            </a:r>
            <a:endParaRPr sz="2400" b="0" i="0" u="none" strike="noStrike" cap="none">
              <a:latin typeface="Arial"/>
              <a:ea typeface="Arial"/>
              <a:cs typeface="Arial"/>
              <a:sym typeface="Arial"/>
            </a:endParaRPr>
          </a:p>
          <a:p>
            <a:pPr marL="0" marR="0" lvl="0" indent="0" algn="just" rtl="0">
              <a:lnSpc>
                <a:spcPct val="8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0" marR="0" lvl="0" indent="0" algn="just" rtl="0">
              <a:lnSpc>
                <a:spcPct val="80000"/>
              </a:lnSpc>
              <a:spcBef>
                <a:spcPts val="601"/>
              </a:spcBef>
              <a:spcAft>
                <a:spcPts val="0"/>
              </a:spcAft>
              <a:buSzPts val="2400"/>
              <a:buFont typeface="Arial"/>
              <a:buNone/>
            </a:pPr>
            <a:endParaRPr sz="2400" b="0" i="0" u="none" strike="noStrike" cap="none">
              <a:latin typeface="Arial"/>
              <a:ea typeface="Arial"/>
              <a:cs typeface="Arial"/>
              <a:sym typeface="Arial"/>
            </a:endParaRPr>
          </a:p>
        </p:txBody>
      </p:sp>
      <p:sp>
        <p:nvSpPr>
          <p:cNvPr id="534" name="Google Shape;534;p22"/>
          <p:cNvSpPr/>
          <p:nvPr/>
        </p:nvSpPr>
        <p:spPr>
          <a:xfrm>
            <a:off x="7847640" y="57654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22</a:t>
            </a:fld>
            <a:endParaRPr sz="1800" b="0" i="0" u="none" strike="noStrike" cap="none">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23"/>
          <p:cNvSpPr/>
          <p:nvPr/>
        </p:nvSpPr>
        <p:spPr>
          <a:xfrm>
            <a:off x="468360" y="-2700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ADA</a:t>
            </a:r>
            <a:endParaRPr sz="3000" b="0" i="0" u="none" strike="noStrike" cap="none">
              <a:latin typeface="Arial"/>
              <a:ea typeface="Arial"/>
              <a:cs typeface="Arial"/>
              <a:sym typeface="Arial"/>
            </a:endParaRPr>
          </a:p>
        </p:txBody>
      </p:sp>
      <p:sp>
        <p:nvSpPr>
          <p:cNvPr id="540" name="Google Shape;540;p23"/>
          <p:cNvSpPr/>
          <p:nvPr/>
        </p:nvSpPr>
        <p:spPr>
          <a:xfrm>
            <a:off x="468360" y="1245240"/>
            <a:ext cx="8464320" cy="5457600"/>
          </a:xfrm>
          <a:prstGeom prst="rect">
            <a:avLst/>
          </a:prstGeom>
          <a:noFill/>
          <a:ln>
            <a:noFill/>
          </a:ln>
        </p:spPr>
        <p:txBody>
          <a:bodyPr spcFirstLastPara="1" wrap="square" lIns="90000" tIns="45000" rIns="90000" bIns="45000" anchor="t" anchorCtr="0">
            <a:noAutofit/>
          </a:bodyPr>
          <a:lstStyle/>
          <a:p>
            <a:pPr marL="274320" marR="0" lvl="0" indent="-271800" algn="l" rtl="0">
              <a:lnSpc>
                <a:spcPct val="80000"/>
              </a:lnSpc>
              <a:spcBef>
                <a:spcPts val="0"/>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La </a:t>
            </a:r>
            <a:r>
              <a:rPr lang="es-AR" sz="2400" b="1" i="0" u="none" strike="noStrike" cap="none">
                <a:solidFill>
                  <a:srgbClr val="000000"/>
                </a:solidFill>
                <a:latin typeface="Century Schoolbook"/>
                <a:ea typeface="Century Schoolbook"/>
                <a:cs typeface="Century Schoolbook"/>
                <a:sym typeface="Century Schoolbook"/>
              </a:rPr>
              <a:t>lista de controladores de excepciones</a:t>
            </a:r>
            <a:r>
              <a:rPr lang="es-AR" sz="2400" b="0" i="0" u="none" strike="noStrike" cap="none">
                <a:solidFill>
                  <a:srgbClr val="000000"/>
                </a:solidFill>
                <a:latin typeface="Century Schoolbook"/>
                <a:ea typeface="Century Schoolbook"/>
                <a:cs typeface="Century Schoolbook"/>
                <a:sym typeface="Century Schoolbook"/>
              </a:rPr>
              <a:t> lleva el prefijo de la </a:t>
            </a:r>
            <a:r>
              <a:rPr lang="es-AR" sz="2400" b="1" i="0" u="none" strike="noStrike" cap="none">
                <a:solidFill>
                  <a:srgbClr val="000000"/>
                </a:solidFill>
                <a:latin typeface="Century Schoolbook"/>
                <a:ea typeface="Century Schoolbook"/>
                <a:cs typeface="Century Schoolbook"/>
                <a:sym typeface="Century Schoolbook"/>
              </a:rPr>
              <a:t>palabra clave</a:t>
            </a:r>
            <a:r>
              <a:rPr lang="es-AR" sz="2400" b="0" i="0" u="none" strike="noStrike" cap="none">
                <a:solidFill>
                  <a:srgbClr val="000000"/>
                </a:solidFill>
                <a:latin typeface="Century Schoolbook"/>
                <a:ea typeface="Century Schoolbook"/>
                <a:cs typeface="Century Schoolbook"/>
                <a:sym typeface="Century Schoolbook"/>
              </a:rPr>
              <a:t> </a:t>
            </a:r>
            <a:r>
              <a:rPr lang="es-AR" sz="2400" b="1" i="0" u="none" strike="noStrike" cap="none">
                <a:solidFill>
                  <a:srgbClr val="E87605"/>
                </a:solidFill>
                <a:latin typeface="Century Schoolbook"/>
                <a:ea typeface="Century Schoolbook"/>
                <a:cs typeface="Century Schoolbook"/>
                <a:sym typeface="Century Schoolbook"/>
              </a:rPr>
              <a:t>exception. </a:t>
            </a:r>
            <a:endParaRPr sz="2400" b="0" i="0" u="none" strike="noStrike" cap="none">
              <a:latin typeface="Arial"/>
              <a:ea typeface="Arial"/>
              <a:cs typeface="Arial"/>
              <a:sym typeface="Arial"/>
            </a:endParaRPr>
          </a:p>
          <a:p>
            <a:pPr marL="274320" marR="0" lvl="0" indent="-271800" algn="l" rtl="0">
              <a:lnSpc>
                <a:spcPct val="80000"/>
              </a:lnSpc>
              <a:spcBef>
                <a:spcPts val="601"/>
              </a:spcBef>
              <a:spcAft>
                <a:spcPts val="0"/>
              </a:spcAft>
              <a:buClr>
                <a:srgbClr val="FE8637"/>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Cada controlador</a:t>
            </a:r>
            <a:r>
              <a:rPr lang="es-AR" sz="2400" b="0" i="0" u="none" strike="noStrike" cap="none">
                <a:solidFill>
                  <a:srgbClr val="000000"/>
                </a:solidFill>
                <a:latin typeface="Century Schoolbook"/>
                <a:ea typeface="Century Schoolbook"/>
                <a:cs typeface="Century Schoolbook"/>
                <a:sym typeface="Century Schoolbook"/>
              </a:rPr>
              <a:t> lleva el prefijo de la </a:t>
            </a:r>
            <a:r>
              <a:rPr lang="es-AR" sz="2400" b="1" i="0" u="none" strike="noStrike" cap="none">
                <a:solidFill>
                  <a:srgbClr val="000000"/>
                </a:solidFill>
                <a:latin typeface="Century Schoolbook"/>
                <a:ea typeface="Century Schoolbook"/>
                <a:cs typeface="Century Schoolbook"/>
                <a:sym typeface="Century Schoolbook"/>
              </a:rPr>
              <a:t>palabra clave</a:t>
            </a:r>
            <a:r>
              <a:rPr lang="es-AR" sz="2400" b="0" i="0" u="none" strike="noStrike" cap="none">
                <a:solidFill>
                  <a:srgbClr val="000000"/>
                </a:solidFill>
                <a:latin typeface="Century Schoolbook"/>
                <a:ea typeface="Century Schoolbook"/>
                <a:cs typeface="Century Schoolbook"/>
                <a:sym typeface="Century Schoolbook"/>
              </a:rPr>
              <a:t> </a:t>
            </a:r>
            <a:r>
              <a:rPr lang="es-AR" sz="2400" b="1" i="0" u="none" strike="noStrike" cap="none">
                <a:solidFill>
                  <a:srgbClr val="E87605"/>
                </a:solidFill>
                <a:latin typeface="Century Schoolbook"/>
                <a:ea typeface="Century Schoolbook"/>
                <a:cs typeface="Century Schoolbook"/>
                <a:sym typeface="Century Schoolbook"/>
              </a:rPr>
              <a:t>when </a:t>
            </a:r>
            <a:r>
              <a:rPr lang="es-AR" sz="2400" b="0" i="0" u="none" strike="noStrike" cap="none">
                <a:solidFill>
                  <a:srgbClr val="000000"/>
                </a:solidFill>
                <a:latin typeface="Century Schoolbook"/>
                <a:ea typeface="Century Schoolbook"/>
                <a:cs typeface="Century Schoolbook"/>
                <a:sym typeface="Century Schoolbook"/>
              </a:rPr>
              <a:t>(con un formato específico), seguido de las </a:t>
            </a:r>
            <a:r>
              <a:rPr lang="es-AR" sz="2400" b="1" i="0" u="none" strike="noStrike" cap="none">
                <a:solidFill>
                  <a:srgbClr val="000000"/>
                </a:solidFill>
                <a:latin typeface="Century Schoolbook"/>
                <a:ea typeface="Century Schoolbook"/>
                <a:cs typeface="Century Schoolbook"/>
                <a:sym typeface="Century Schoolbook"/>
              </a:rPr>
              <a:t>acciones</a:t>
            </a:r>
            <a:r>
              <a:rPr lang="es-AR" sz="2400" b="0" i="0" u="none" strike="noStrike" cap="none">
                <a:solidFill>
                  <a:srgbClr val="000000"/>
                </a:solidFill>
                <a:latin typeface="Century Schoolbook"/>
                <a:ea typeface="Century Schoolbook"/>
                <a:cs typeface="Century Schoolbook"/>
                <a:sym typeface="Century Schoolbook"/>
              </a:rPr>
              <a:t>.</a:t>
            </a:r>
            <a:endParaRPr sz="2400" b="0" i="0" u="none" strike="noStrike" cap="none">
              <a:latin typeface="Arial"/>
              <a:ea typeface="Arial"/>
              <a:cs typeface="Arial"/>
              <a:sym typeface="Arial"/>
            </a:endParaRPr>
          </a:p>
          <a:p>
            <a:pPr marL="274320" marR="0" lvl="0" indent="-271800" algn="l" rtl="0">
              <a:lnSpc>
                <a:spcPct val="8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Se puede utilizar </a:t>
            </a:r>
            <a:r>
              <a:rPr lang="es-AR" sz="2400" b="1" i="0" u="none" strike="noStrike" cap="none">
                <a:solidFill>
                  <a:srgbClr val="E87605"/>
                </a:solidFill>
                <a:latin typeface="Century Schoolbook"/>
                <a:ea typeface="Century Schoolbook"/>
                <a:cs typeface="Century Schoolbook"/>
                <a:sym typeface="Century Schoolbook"/>
              </a:rPr>
              <a:t>when others </a:t>
            </a:r>
            <a:r>
              <a:rPr lang="es-AR" sz="2400" b="0" i="0" u="none" strike="noStrike" cap="none">
                <a:solidFill>
                  <a:srgbClr val="000000"/>
                </a:solidFill>
                <a:latin typeface="Century Schoolbook"/>
                <a:ea typeface="Century Schoolbook"/>
                <a:cs typeface="Century Schoolbook"/>
                <a:sym typeface="Century Schoolbook"/>
              </a:rPr>
              <a:t>para </a:t>
            </a:r>
            <a:r>
              <a:rPr lang="es-AR" sz="2400" b="1" i="0" u="none" strike="noStrike" cap="none">
                <a:solidFill>
                  <a:srgbClr val="000000"/>
                </a:solidFill>
                <a:latin typeface="Century Schoolbook"/>
                <a:ea typeface="Century Schoolbook"/>
                <a:cs typeface="Century Schoolbook"/>
                <a:sym typeface="Century Schoolbook"/>
              </a:rPr>
              <a:t>capturar cualquier excepción no especificada</a:t>
            </a:r>
            <a:r>
              <a:rPr lang="es-AR" sz="2400" b="0" i="0" u="none" strike="noStrike" cap="none">
                <a:solidFill>
                  <a:srgbClr val="000000"/>
                </a:solidFill>
                <a:latin typeface="Century Schoolbook"/>
                <a:ea typeface="Century Schoolbook"/>
                <a:cs typeface="Century Schoolbook"/>
                <a:sym typeface="Century Schoolbook"/>
              </a:rPr>
              <a:t>, </a:t>
            </a:r>
            <a:endParaRPr sz="2400" b="0" i="0" u="none" strike="noStrike" cap="none">
              <a:latin typeface="Arial"/>
              <a:ea typeface="Arial"/>
              <a:cs typeface="Arial"/>
              <a:sym typeface="Arial"/>
            </a:endParaRPr>
          </a:p>
          <a:p>
            <a:pPr marL="1085760" marR="0" lvl="1" indent="-343079" algn="l" rtl="0">
              <a:lnSpc>
                <a:spcPct val="80000"/>
              </a:lnSpc>
              <a:spcBef>
                <a:spcPts val="601"/>
              </a:spcBef>
              <a:spcAft>
                <a:spcPts val="0"/>
              </a:spcAft>
              <a:buClr>
                <a:srgbClr val="FE8637"/>
              </a:buClr>
              <a:buSzPts val="2400"/>
              <a:buFont typeface="Arial"/>
              <a:buChar char="•"/>
            </a:pPr>
            <a:r>
              <a:rPr lang="es-AR" sz="2400" b="1" i="0" u="none" strike="noStrike" cap="none">
                <a:solidFill>
                  <a:srgbClr val="000000"/>
                </a:solidFill>
                <a:latin typeface="Century Schoolbook"/>
                <a:ea typeface="Century Schoolbook"/>
                <a:cs typeface="Century Schoolbook"/>
                <a:sym typeface="Century Schoolbook"/>
              </a:rPr>
              <a:t>debe </a:t>
            </a:r>
            <a:r>
              <a:rPr lang="es-AR" sz="2400" b="0" i="0" u="none" strike="noStrike" cap="none">
                <a:solidFill>
                  <a:srgbClr val="000000"/>
                </a:solidFill>
                <a:latin typeface="Century Schoolbook"/>
                <a:ea typeface="Century Schoolbook"/>
                <a:cs typeface="Century Schoolbook"/>
                <a:sym typeface="Century Schoolbook"/>
              </a:rPr>
              <a:t>colocarse </a:t>
            </a:r>
            <a:r>
              <a:rPr lang="es-AR" sz="2400" b="1" i="0" u="none" strike="noStrike" cap="none">
                <a:solidFill>
                  <a:srgbClr val="000000"/>
                </a:solidFill>
                <a:latin typeface="Century Schoolbook"/>
                <a:ea typeface="Century Schoolbook"/>
                <a:cs typeface="Century Schoolbook"/>
                <a:sym typeface="Century Schoolbook"/>
              </a:rPr>
              <a:t>al final del bloque </a:t>
            </a:r>
            <a:r>
              <a:rPr lang="es-AR" sz="2400" b="0" i="0" u="none" strike="noStrike" cap="none">
                <a:solidFill>
                  <a:srgbClr val="000000"/>
                </a:solidFill>
                <a:latin typeface="Century Schoolbook"/>
                <a:ea typeface="Century Schoolbook"/>
                <a:cs typeface="Century Schoolbook"/>
                <a:sym typeface="Century Schoolbook"/>
              </a:rPr>
              <a:t>de manejo de excepciones, </a:t>
            </a:r>
            <a:endParaRPr sz="2400" b="0" i="0" u="none" strike="noStrike" cap="none">
              <a:latin typeface="Arial"/>
              <a:ea typeface="Arial"/>
              <a:cs typeface="Arial"/>
              <a:sym typeface="Arial"/>
            </a:endParaRPr>
          </a:p>
          <a:p>
            <a:pPr marL="1085760" marR="0" lvl="1" indent="-343079" algn="l" rtl="0">
              <a:lnSpc>
                <a:spcPct val="80000"/>
              </a:lnSpc>
              <a:spcBef>
                <a:spcPts val="601"/>
              </a:spcBef>
              <a:spcAft>
                <a:spcPts val="0"/>
              </a:spcAft>
              <a:buClr>
                <a:srgbClr val="000000"/>
              </a:buClr>
              <a:buSzPts val="2400"/>
              <a:buFont typeface="Arial"/>
              <a:buChar char="•"/>
            </a:pPr>
            <a:r>
              <a:rPr lang="es-AR" sz="2400" b="0" i="0" u="none" strike="noStrike" cap="none">
                <a:solidFill>
                  <a:srgbClr val="000000"/>
                </a:solidFill>
                <a:latin typeface="Century Schoolbook"/>
                <a:ea typeface="Century Schoolbook"/>
                <a:cs typeface="Century Schoolbook"/>
                <a:sym typeface="Century Schoolbook"/>
              </a:rPr>
              <a:t>posee </a:t>
            </a:r>
            <a:r>
              <a:rPr lang="es-AR" sz="2400" b="1" i="0" u="none" strike="noStrike" cap="none">
                <a:solidFill>
                  <a:srgbClr val="000000"/>
                </a:solidFill>
                <a:latin typeface="Century Schoolbook"/>
                <a:ea typeface="Century Schoolbook"/>
                <a:cs typeface="Century Schoolbook"/>
                <a:sym typeface="Century Schoolbook"/>
              </a:rPr>
              <a:t>efectos colaterales</a:t>
            </a:r>
            <a:endParaRPr sz="2400" b="0" i="0" u="none" strike="noStrike" cap="none">
              <a:latin typeface="Arial"/>
              <a:ea typeface="Arial"/>
              <a:cs typeface="Arial"/>
              <a:sym typeface="Arial"/>
            </a:endParaRPr>
          </a:p>
          <a:p>
            <a:pPr marL="274320" marR="0" lvl="0" indent="-271800" algn="l" rtl="0">
              <a:lnSpc>
                <a:spcPct val="8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Las excepciones </a:t>
            </a:r>
            <a:r>
              <a:rPr lang="es-AR" sz="2400" b="1" i="0" u="none" strike="noStrike" cap="none">
                <a:solidFill>
                  <a:srgbClr val="000000"/>
                </a:solidFill>
                <a:latin typeface="Century Schoolbook"/>
                <a:ea typeface="Century Schoolbook"/>
                <a:cs typeface="Century Schoolbook"/>
                <a:sym typeface="Century Schoolbook"/>
              </a:rPr>
              <a:t>se levantan</a:t>
            </a:r>
            <a:r>
              <a:rPr lang="es-AR" sz="2400" b="0" i="0" u="none" strike="noStrike" cap="none">
                <a:solidFill>
                  <a:srgbClr val="000000"/>
                </a:solidFill>
                <a:latin typeface="Century Schoolbook"/>
                <a:ea typeface="Century Schoolbook"/>
                <a:cs typeface="Century Schoolbook"/>
                <a:sym typeface="Century Schoolbook"/>
              </a:rPr>
              <a:t> </a:t>
            </a:r>
            <a:r>
              <a:rPr lang="es-AR" sz="2400" b="1" i="0" u="none" strike="noStrike" cap="none">
                <a:solidFill>
                  <a:srgbClr val="000000"/>
                </a:solidFill>
                <a:latin typeface="Century Schoolbook"/>
                <a:ea typeface="Century Schoolbook"/>
                <a:cs typeface="Century Schoolbook"/>
                <a:sym typeface="Century Schoolbook"/>
              </a:rPr>
              <a:t>explícitamente con </a:t>
            </a:r>
            <a:r>
              <a:rPr lang="es-AR" sz="2400" b="0" i="0" u="none" strike="noStrike" cap="none">
                <a:solidFill>
                  <a:srgbClr val="000000"/>
                </a:solidFill>
                <a:latin typeface="Century Schoolbook"/>
                <a:ea typeface="Century Schoolbook"/>
                <a:cs typeface="Century Schoolbook"/>
                <a:sym typeface="Century Schoolbook"/>
              </a:rPr>
              <a:t>la </a:t>
            </a:r>
            <a:r>
              <a:rPr lang="es-AR" sz="2400" b="1" i="0" u="none" strike="noStrike" cap="none">
                <a:solidFill>
                  <a:srgbClr val="000000"/>
                </a:solidFill>
                <a:latin typeface="Century Schoolbook"/>
                <a:ea typeface="Century Schoolbook"/>
                <a:cs typeface="Century Schoolbook"/>
                <a:sym typeface="Century Schoolbook"/>
              </a:rPr>
              <a:t>palabra clave</a:t>
            </a:r>
            <a:r>
              <a:rPr lang="es-AR" sz="2400" b="0" i="0" u="none" strike="noStrike" cap="none">
                <a:solidFill>
                  <a:srgbClr val="000000"/>
                </a:solidFill>
                <a:latin typeface="Century Schoolbook"/>
                <a:ea typeface="Century Schoolbook"/>
                <a:cs typeface="Century Schoolbook"/>
                <a:sym typeface="Century Schoolbook"/>
              </a:rPr>
              <a:t> </a:t>
            </a:r>
            <a:r>
              <a:rPr lang="es-AR" sz="2400" b="1" i="0" u="none" strike="noStrike" cap="none">
                <a:solidFill>
                  <a:srgbClr val="E87605"/>
                </a:solidFill>
                <a:latin typeface="Century Schoolbook"/>
                <a:ea typeface="Century Schoolbook"/>
                <a:cs typeface="Century Schoolbook"/>
                <a:sym typeface="Century Schoolbook"/>
              </a:rPr>
              <a:t>raise</a:t>
            </a:r>
            <a:r>
              <a:rPr lang="es-AR" sz="2400" b="1" i="0" u="none" strike="noStrike" cap="none">
                <a:solidFill>
                  <a:srgbClr val="000000"/>
                </a:solidFill>
                <a:latin typeface="Century Schoolbook"/>
                <a:ea typeface="Century Schoolbook"/>
                <a:cs typeface="Century Schoolbook"/>
                <a:sym typeface="Century Schoolbook"/>
              </a:rPr>
              <a:t>.</a:t>
            </a:r>
            <a:endParaRPr sz="2400" b="0" i="0" u="none" strike="noStrike" cap="none">
              <a:latin typeface="Arial"/>
              <a:ea typeface="Arial"/>
              <a:cs typeface="Arial"/>
              <a:sym typeface="Arial"/>
            </a:endParaRPr>
          </a:p>
          <a:p>
            <a:pPr marL="274320" marR="0" lvl="0" indent="-271800" algn="l" rtl="0">
              <a:lnSpc>
                <a:spcPct val="8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Los </a:t>
            </a:r>
            <a:r>
              <a:rPr lang="es-AR" sz="2400" b="1" i="0" u="none" strike="noStrike" cap="none">
                <a:solidFill>
                  <a:srgbClr val="000000"/>
                </a:solidFill>
                <a:latin typeface="Century Schoolbook"/>
                <a:ea typeface="Century Schoolbook"/>
                <a:cs typeface="Century Schoolbook"/>
                <a:sym typeface="Century Schoolbook"/>
              </a:rPr>
              <a:t>manejadores  pueden  agregarse  y  encontrar-se </a:t>
            </a:r>
            <a:r>
              <a:rPr lang="es-AR" sz="2400" b="1" i="0" u="sng" strike="noStrike" cap="none">
                <a:solidFill>
                  <a:srgbClr val="000000"/>
                </a:solidFill>
                <a:latin typeface="Century Schoolbook"/>
                <a:ea typeface="Century Schoolbook"/>
                <a:cs typeface="Century Schoolbook"/>
                <a:sym typeface="Century Schoolbook"/>
              </a:rPr>
              <a:t>al  final</a:t>
            </a:r>
            <a:r>
              <a:rPr lang="es-AR" sz="2400" b="1" i="0" u="none" strike="noStrike" cap="none">
                <a:solidFill>
                  <a:srgbClr val="000000"/>
                </a:solidFill>
                <a:latin typeface="Century Schoolbook"/>
                <a:ea typeface="Century Schoolbook"/>
                <a:cs typeface="Century Schoolbook"/>
                <a:sym typeface="Century Schoolbook"/>
              </a:rPr>
              <a:t>  de  diferentes unidades</a:t>
            </a:r>
            <a:r>
              <a:rPr lang="es-AR" sz="2400" b="0" i="0" u="none" strike="noStrike" cap="none">
                <a:solidFill>
                  <a:srgbClr val="000000"/>
                </a:solidFill>
                <a:latin typeface="Century Schoolbook"/>
                <a:ea typeface="Century Schoolbook"/>
                <a:cs typeface="Century Schoolbook"/>
                <a:sym typeface="Century Schoolbook"/>
              </a:rPr>
              <a:t> de programa: </a:t>
            </a:r>
            <a:endParaRPr sz="2400" b="0" i="0" u="none" strike="noStrike" cap="none">
              <a:latin typeface="Arial"/>
              <a:ea typeface="Arial"/>
              <a:cs typeface="Arial"/>
              <a:sym typeface="Arial"/>
            </a:endParaRPr>
          </a:p>
          <a:p>
            <a:pPr marL="285840" marR="0" lvl="0" indent="0" algn="l" rtl="0">
              <a:lnSpc>
                <a:spcPct val="80000"/>
              </a:lnSpc>
              <a:spcBef>
                <a:spcPts val="601"/>
              </a:spcBef>
              <a:spcAft>
                <a:spcPts val="0"/>
              </a:spcAft>
              <a:buClr>
                <a:srgbClr val="000000"/>
              </a:buClr>
              <a:buSzPts val="2200"/>
              <a:buFont typeface="Century Schoolbook"/>
              <a:buNone/>
            </a:pPr>
            <a:r>
              <a:rPr lang="es-AR" sz="2200" b="1" i="1" u="none" strike="noStrike" cap="none">
                <a:solidFill>
                  <a:srgbClr val="000000"/>
                </a:solidFill>
                <a:latin typeface="Century Schoolbook"/>
                <a:ea typeface="Century Schoolbook"/>
                <a:cs typeface="Century Schoolbook"/>
                <a:sym typeface="Century Schoolbook"/>
              </a:rPr>
              <a:t>Subprograma</a:t>
            </a:r>
            <a:r>
              <a:rPr lang="es-AR" sz="2200" b="0" i="1" u="none" strike="noStrike" cap="none">
                <a:solidFill>
                  <a:srgbClr val="000000"/>
                </a:solidFill>
                <a:latin typeface="Century Schoolbook"/>
                <a:ea typeface="Century Schoolbook"/>
                <a:cs typeface="Century Schoolbook"/>
                <a:sym typeface="Century Schoolbook"/>
              </a:rPr>
              <a:t>, </a:t>
            </a:r>
            <a:r>
              <a:rPr lang="es-AR" sz="2200" b="1" i="1" u="none" strike="noStrike" cap="none">
                <a:solidFill>
                  <a:srgbClr val="000000"/>
                </a:solidFill>
                <a:latin typeface="Century Schoolbook"/>
                <a:ea typeface="Century Schoolbook"/>
                <a:cs typeface="Century Schoolbook"/>
                <a:sym typeface="Century Schoolbook"/>
              </a:rPr>
              <a:t>Bloque, Procedimiento, Paquete o Tarea </a:t>
            </a:r>
            <a:r>
              <a:rPr lang="es-AR" sz="2400" b="0" i="0" u="none" strike="noStrike" cap="none">
                <a:solidFill>
                  <a:srgbClr val="000000"/>
                </a:solidFill>
                <a:latin typeface="Century Schoolbook"/>
                <a:ea typeface="Century Schoolbook"/>
                <a:cs typeface="Century Schoolbook"/>
                <a:sym typeface="Century Schoolbook"/>
              </a:rPr>
              <a:t>que maneja la excepción</a:t>
            </a:r>
            <a:r>
              <a:rPr lang="es-AR" sz="2400" b="1" i="0" u="none" strike="noStrike" cap="none">
                <a:solidFill>
                  <a:srgbClr val="000000"/>
                </a:solidFill>
                <a:latin typeface="Century Schoolbook"/>
                <a:ea typeface="Century Schoolbook"/>
                <a:cs typeface="Century Schoolbook"/>
                <a:sym typeface="Century Schoolbook"/>
              </a:rPr>
              <a:t>. </a:t>
            </a:r>
            <a:endParaRPr sz="2400" b="0" i="0" u="none" strike="noStrike" cap="none">
              <a:latin typeface="Arial"/>
              <a:ea typeface="Arial"/>
              <a:cs typeface="Arial"/>
              <a:sym typeface="Arial"/>
            </a:endParaRPr>
          </a:p>
          <a:p>
            <a:pPr marL="0" marR="0" lvl="0" indent="0" algn="l" rtl="0">
              <a:lnSpc>
                <a:spcPct val="8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0" marR="0" lvl="0" indent="0" algn="just" rtl="0">
              <a:lnSpc>
                <a:spcPct val="8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0" marR="0" lvl="0" indent="0" algn="just" rtl="0">
              <a:lnSpc>
                <a:spcPct val="80000"/>
              </a:lnSpc>
              <a:spcBef>
                <a:spcPts val="601"/>
              </a:spcBef>
              <a:spcAft>
                <a:spcPts val="0"/>
              </a:spcAft>
              <a:buSzPts val="2400"/>
              <a:buFont typeface="Arial"/>
              <a:buNone/>
            </a:pPr>
            <a:endParaRPr sz="2400" b="0" i="0" u="none" strike="noStrike" cap="none">
              <a:latin typeface="Arial"/>
              <a:ea typeface="Arial"/>
              <a:cs typeface="Arial"/>
              <a:sym typeface="Arial"/>
            </a:endParaRPr>
          </a:p>
        </p:txBody>
      </p:sp>
      <p:sp>
        <p:nvSpPr>
          <p:cNvPr id="541" name="Google Shape;541;p23"/>
          <p:cNvSpPr/>
          <p:nvPr/>
        </p:nvSpPr>
        <p:spPr>
          <a:xfrm>
            <a:off x="8264520" y="57942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23</a:t>
            </a:fld>
            <a:endParaRPr sz="1800" b="0" i="0" u="none" strike="noStrike" cap="none">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24"/>
          <p:cNvSpPr/>
          <p:nvPr/>
        </p:nvSpPr>
        <p:spPr>
          <a:xfrm>
            <a:off x="468360" y="-2700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ADA</a:t>
            </a:r>
            <a:endParaRPr sz="3000" b="0" i="0" u="none" strike="noStrike" cap="none">
              <a:latin typeface="Arial"/>
              <a:ea typeface="Arial"/>
              <a:cs typeface="Arial"/>
              <a:sym typeface="Arial"/>
            </a:endParaRPr>
          </a:p>
        </p:txBody>
      </p:sp>
      <p:sp>
        <p:nvSpPr>
          <p:cNvPr id="547" name="Google Shape;547;p24"/>
          <p:cNvSpPr/>
          <p:nvPr/>
        </p:nvSpPr>
        <p:spPr>
          <a:xfrm>
            <a:off x="8235720" y="57654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24</a:t>
            </a:fld>
            <a:endParaRPr sz="1800" b="0" i="0" u="none" strike="noStrike" cap="none">
              <a:latin typeface="Arial"/>
              <a:ea typeface="Arial"/>
              <a:cs typeface="Arial"/>
              <a:sym typeface="Arial"/>
            </a:endParaRPr>
          </a:p>
        </p:txBody>
      </p:sp>
      <p:pic>
        <p:nvPicPr>
          <p:cNvPr id="548" name="Google Shape;548;p24" descr="Texto, Carta&#10;&#10;Descripción generada automáticamente"/>
          <p:cNvPicPr preferRelativeResize="0"/>
          <p:nvPr/>
        </p:nvPicPr>
        <p:blipFill rotWithShape="1">
          <a:blip r:embed="rId3">
            <a:alphaModFix/>
          </a:blip>
          <a:srcRect/>
          <a:stretch/>
        </p:blipFill>
        <p:spPr>
          <a:xfrm>
            <a:off x="1343425" y="2846875"/>
            <a:ext cx="5778875" cy="3344775"/>
          </a:xfrm>
          <a:prstGeom prst="rect">
            <a:avLst/>
          </a:prstGeom>
          <a:noFill/>
          <a:ln>
            <a:noFill/>
          </a:ln>
        </p:spPr>
      </p:pic>
      <p:sp>
        <p:nvSpPr>
          <p:cNvPr id="549" name="Google Shape;549;p24"/>
          <p:cNvSpPr/>
          <p:nvPr/>
        </p:nvSpPr>
        <p:spPr>
          <a:xfrm>
            <a:off x="5289120" y="5828760"/>
            <a:ext cx="2759400" cy="106452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onsolas"/>
              <a:buNone/>
            </a:pPr>
            <a:r>
              <a:rPr lang="es-AR" sz="1600" b="0" i="0" u="none" strike="noStrike" cap="none">
                <a:solidFill>
                  <a:srgbClr val="000000"/>
                </a:solidFill>
                <a:latin typeface="Consolas"/>
                <a:ea typeface="Consolas"/>
                <a:cs typeface="Consolas"/>
                <a:sym typeface="Consolas"/>
              </a:rPr>
              <a:t>Se debe ser cuidadoso porque entrarían todas las restantes excepciones</a:t>
            </a:r>
            <a:endParaRPr sz="1600" b="0" i="0" u="none" strike="noStrike" cap="none">
              <a:latin typeface="Arial"/>
              <a:ea typeface="Arial"/>
              <a:cs typeface="Arial"/>
              <a:sym typeface="Arial"/>
            </a:endParaRPr>
          </a:p>
        </p:txBody>
      </p:sp>
      <p:sp>
        <p:nvSpPr>
          <p:cNvPr id="550" name="Google Shape;550;p24"/>
          <p:cNvSpPr/>
          <p:nvPr/>
        </p:nvSpPr>
        <p:spPr>
          <a:xfrm rot="10800000">
            <a:off x="3216600" y="5480640"/>
            <a:ext cx="2032560" cy="824760"/>
          </a:xfrm>
          <a:custGeom>
            <a:avLst/>
            <a:gdLst/>
            <a:ahLst/>
            <a:cxnLst/>
            <a:rect l="l" t="t" r="r" b="b"/>
            <a:pathLst>
              <a:path w="21600" h="21600" extrusionOk="0">
                <a:moveTo>
                  <a:pt x="0" y="0"/>
                </a:moveTo>
                <a:lnTo>
                  <a:pt x="21600" y="21600"/>
                </a:lnTo>
              </a:path>
            </a:pathLst>
          </a:custGeom>
          <a:noFill/>
          <a:ln w="25400" cap="flat" cmpd="sng">
            <a:solidFill>
              <a:srgbClr val="C0504D"/>
            </a:solidFill>
            <a:prstDash val="solid"/>
            <a:miter lim="8000"/>
            <a:headEnd type="none" w="sm" len="sm"/>
            <a:tailEnd type="triangle" w="med" len="med"/>
          </a:ln>
          <a:effectLst>
            <a:outerShdw blurRad="39960" dist="20160" dir="5400000" rotWithShape="0">
              <a:srgbClr val="000000">
                <a:alpha val="37647"/>
              </a:srgbClr>
            </a:outerShdw>
          </a:effectLst>
        </p:spPr>
      </p:sp>
      <p:sp>
        <p:nvSpPr>
          <p:cNvPr id="551" name="Google Shape;551;p24"/>
          <p:cNvSpPr/>
          <p:nvPr/>
        </p:nvSpPr>
        <p:spPr>
          <a:xfrm>
            <a:off x="376560" y="1764000"/>
            <a:ext cx="22680" cy="4767120"/>
          </a:xfrm>
          <a:custGeom>
            <a:avLst/>
            <a:gdLst/>
            <a:ahLst/>
            <a:cxnLst/>
            <a:rect l="l" t="t" r="r" b="b"/>
            <a:pathLst>
              <a:path w="21600" h="21600" extrusionOk="0">
                <a:moveTo>
                  <a:pt x="0" y="0"/>
                </a:moveTo>
                <a:lnTo>
                  <a:pt x="21600" y="21600"/>
                </a:lnTo>
              </a:path>
            </a:pathLst>
          </a:custGeom>
          <a:noFill/>
          <a:ln w="38100" cap="flat" cmpd="sng">
            <a:solidFill>
              <a:srgbClr val="4F81BD"/>
            </a:solidFill>
            <a:prstDash val="solid"/>
            <a:miter lim="8000"/>
            <a:headEnd type="none" w="sm" len="sm"/>
            <a:tailEnd type="none" w="sm" len="sm"/>
          </a:ln>
          <a:effectLst>
            <a:outerShdw blurRad="39960" dist="23040" dir="5400000" rotWithShape="0">
              <a:srgbClr val="000000">
                <a:alpha val="34901"/>
              </a:srgbClr>
            </a:outerShdw>
          </a:effectLst>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25"/>
          <p:cNvSpPr/>
          <p:nvPr/>
        </p:nvSpPr>
        <p:spPr>
          <a:xfrm>
            <a:off x="457200" y="54000"/>
            <a:ext cx="7435800" cy="75204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ADA</a:t>
            </a:r>
            <a:endParaRPr sz="3000" b="0" i="0" u="none" strike="noStrike" cap="none">
              <a:latin typeface="Arial"/>
              <a:ea typeface="Arial"/>
              <a:cs typeface="Arial"/>
              <a:sym typeface="Arial"/>
            </a:endParaRPr>
          </a:p>
        </p:txBody>
      </p:sp>
      <p:sp>
        <p:nvSpPr>
          <p:cNvPr id="558" name="Google Shape;558;p25"/>
          <p:cNvSpPr/>
          <p:nvPr/>
        </p:nvSpPr>
        <p:spPr>
          <a:xfrm>
            <a:off x="198360" y="866880"/>
            <a:ext cx="8531640" cy="5891760"/>
          </a:xfrm>
          <a:prstGeom prst="rect">
            <a:avLst/>
          </a:prstGeom>
          <a:noFill/>
          <a:ln>
            <a:noFill/>
          </a:ln>
        </p:spPr>
        <p:txBody>
          <a:bodyPr spcFirstLastPara="1" wrap="square" lIns="90000" tIns="45000" rIns="90000" bIns="45000" anchor="t" anchorCtr="0">
            <a:noAutofit/>
          </a:bodyPr>
          <a:lstStyle/>
          <a:p>
            <a:pPr marL="0" marR="0" lvl="0" indent="0" algn="just" rtl="0">
              <a:lnSpc>
                <a:spcPct val="100000"/>
              </a:lnSpc>
              <a:spcBef>
                <a:spcPts val="0"/>
              </a:spcBef>
              <a:spcAft>
                <a:spcPts val="0"/>
              </a:spcAft>
              <a:buClr>
                <a:srgbClr val="FE8637"/>
              </a:buClr>
              <a:buSzPts val="2200"/>
              <a:buFont typeface="Arial"/>
              <a:buChar char="•"/>
            </a:pPr>
            <a:r>
              <a:rPr lang="es-AR" sz="2200" b="1" i="0" u="none" strike="noStrike" cap="none">
                <a:solidFill>
                  <a:srgbClr val="000000"/>
                </a:solidFill>
                <a:latin typeface="Century Schoolbook"/>
                <a:ea typeface="Century Schoolbook"/>
                <a:cs typeface="Century Schoolbook"/>
                <a:sym typeface="Century Schoolbook"/>
              </a:rPr>
              <a:t>Tiene varias excepciones predefinidas built-in: </a:t>
            </a:r>
            <a:endParaRPr sz="2200" b="0" i="0" u="none" strike="noStrike" cap="none">
              <a:latin typeface="Arial"/>
              <a:ea typeface="Arial"/>
              <a:cs typeface="Arial"/>
              <a:sym typeface="Arial"/>
            </a:endParaRPr>
          </a:p>
          <a:p>
            <a:pPr marL="0" marR="0" lvl="0" indent="0" algn="just" rtl="0">
              <a:lnSpc>
                <a:spcPct val="100000"/>
              </a:lnSpc>
              <a:spcBef>
                <a:spcPts val="0"/>
              </a:spcBef>
              <a:spcAft>
                <a:spcPts val="0"/>
              </a:spcAft>
              <a:buClr>
                <a:srgbClr val="FE8637"/>
              </a:buClr>
              <a:buSzPts val="2200"/>
              <a:buFont typeface="Arial"/>
              <a:buChar char="•"/>
            </a:pPr>
            <a:r>
              <a:rPr lang="es-AR" sz="2200" b="1" i="0" u="none" strike="noStrike" cap="none">
                <a:solidFill>
                  <a:srgbClr val="000000"/>
                </a:solidFill>
                <a:latin typeface="Century Schoolbook"/>
                <a:ea typeface="Century Schoolbook"/>
                <a:cs typeface="Century Schoolbook"/>
                <a:sym typeface="Century Schoolbook"/>
              </a:rPr>
              <a:t>Constraint_Error: </a:t>
            </a:r>
            <a:r>
              <a:rPr lang="es-AR" sz="2200" b="0" i="0" u="none" strike="noStrike" cap="none">
                <a:solidFill>
                  <a:srgbClr val="000000"/>
                </a:solidFill>
                <a:latin typeface="Century Schoolbook"/>
                <a:ea typeface="Century Schoolbook"/>
                <a:cs typeface="Century Schoolbook"/>
                <a:sym typeface="Century Schoolbook"/>
              </a:rPr>
              <a:t>cuando se intenta </a:t>
            </a:r>
            <a:r>
              <a:rPr lang="es-AR" sz="2200" b="1" i="1" u="none" strike="noStrike" cap="none">
                <a:solidFill>
                  <a:srgbClr val="000000"/>
                </a:solidFill>
                <a:latin typeface="Century Schoolbook"/>
                <a:ea typeface="Century Schoolbook"/>
                <a:cs typeface="Century Schoolbook"/>
                <a:sym typeface="Century Schoolbook"/>
              </a:rPr>
              <a:t>violar una restricción</a:t>
            </a:r>
            <a:r>
              <a:rPr lang="es-AR" sz="2200" b="0" i="0" u="none" strike="noStrike" cap="none">
                <a:solidFill>
                  <a:srgbClr val="000000"/>
                </a:solidFill>
                <a:latin typeface="Century Schoolbook"/>
                <a:ea typeface="Century Schoolbook"/>
                <a:cs typeface="Century Schoolbook"/>
                <a:sym typeface="Century Schoolbook"/>
              </a:rPr>
              <a:t> </a:t>
            </a:r>
            <a:r>
              <a:rPr lang="es-AR" sz="2200" b="1" i="1" u="none" strike="noStrike" cap="none">
                <a:solidFill>
                  <a:srgbClr val="000000"/>
                </a:solidFill>
                <a:latin typeface="Century Schoolbook"/>
                <a:ea typeface="Century Schoolbook"/>
                <a:cs typeface="Century Schoolbook"/>
                <a:sym typeface="Century Schoolbook"/>
              </a:rPr>
              <a:t>impuesta en una declaración</a:t>
            </a:r>
            <a:r>
              <a:rPr lang="es-AR" sz="2200" b="0" i="0" u="none" strike="noStrike" cap="none">
                <a:solidFill>
                  <a:srgbClr val="000000"/>
                </a:solidFill>
                <a:latin typeface="Century Schoolbook"/>
                <a:ea typeface="Century Schoolbook"/>
                <a:cs typeface="Century Schoolbook"/>
                <a:sym typeface="Century Schoolbook"/>
              </a:rPr>
              <a:t>. (Por ejemplo, </a:t>
            </a:r>
            <a:r>
              <a:rPr lang="es-AR" sz="2200" b="0" i="1" u="none" strike="noStrike" cap="none">
                <a:solidFill>
                  <a:srgbClr val="000000"/>
                </a:solidFill>
                <a:latin typeface="Century Schoolbook"/>
                <a:ea typeface="Century Schoolbook"/>
                <a:cs typeface="Century Schoolbook"/>
                <a:sym typeface="Century Schoolbook"/>
              </a:rPr>
              <a:t>indexar más allá de los límites de un array</a:t>
            </a:r>
            <a:r>
              <a:rPr lang="es-AR" sz="2200" b="0" i="0" u="none" strike="noStrike" cap="none">
                <a:solidFill>
                  <a:srgbClr val="000000"/>
                </a:solidFill>
                <a:latin typeface="Century Schoolbook"/>
                <a:ea typeface="Century Schoolbook"/>
                <a:cs typeface="Century Schoolbook"/>
                <a:sym typeface="Century Schoolbook"/>
              </a:rPr>
              <a:t> o asignar a una variable un </a:t>
            </a:r>
            <a:r>
              <a:rPr lang="es-AR" sz="2200" b="0" i="1" u="none" strike="noStrike" cap="none">
                <a:solidFill>
                  <a:srgbClr val="000000"/>
                </a:solidFill>
                <a:latin typeface="Century Schoolbook"/>
                <a:ea typeface="Century Schoolbook"/>
                <a:cs typeface="Century Schoolbook"/>
                <a:sym typeface="Century Schoolbook"/>
              </a:rPr>
              <a:t>valor fuera del rango</a:t>
            </a:r>
            <a:r>
              <a:rPr lang="es-AR" sz="2200" b="0" i="0" u="none" strike="noStrike" cap="none">
                <a:solidFill>
                  <a:srgbClr val="000000"/>
                </a:solidFill>
                <a:latin typeface="Century Schoolbook"/>
                <a:ea typeface="Century Schoolbook"/>
                <a:cs typeface="Century Schoolbook"/>
                <a:sym typeface="Century Schoolbook"/>
              </a:rPr>
              <a:t> de su subtipo,</a:t>
            </a:r>
            <a:r>
              <a:rPr lang="es-AR" sz="2200" b="0" i="1" u="none" strike="noStrike" cap="none">
                <a:solidFill>
                  <a:srgbClr val="000000"/>
                </a:solidFill>
                <a:latin typeface="Century Schoolbook"/>
                <a:ea typeface="Century Schoolbook"/>
                <a:cs typeface="Century Schoolbook"/>
                <a:sym typeface="Century Schoolbook"/>
              </a:rPr>
              <a:t> zerodivide)</a:t>
            </a:r>
            <a:endParaRPr sz="2200" b="0" i="0" u="none" strike="noStrike" cap="none">
              <a:latin typeface="Arial"/>
              <a:ea typeface="Arial"/>
              <a:cs typeface="Arial"/>
              <a:sym typeface="Arial"/>
            </a:endParaRPr>
          </a:p>
          <a:p>
            <a:pPr marL="0" marR="0" lvl="0" indent="0" algn="just" rtl="0">
              <a:lnSpc>
                <a:spcPct val="100000"/>
              </a:lnSpc>
              <a:spcBef>
                <a:spcPts val="0"/>
              </a:spcBef>
              <a:spcAft>
                <a:spcPts val="0"/>
              </a:spcAft>
              <a:buClr>
                <a:srgbClr val="FE8637"/>
              </a:buClr>
              <a:buSzPts val="2200"/>
              <a:buFont typeface="Arial"/>
              <a:buChar char="•"/>
            </a:pPr>
            <a:r>
              <a:rPr lang="es-AR" sz="2200" b="1" i="0" u="none" strike="noStrike" cap="none">
                <a:solidFill>
                  <a:srgbClr val="000000"/>
                </a:solidFill>
                <a:latin typeface="Century Schoolbook"/>
                <a:ea typeface="Century Schoolbook"/>
                <a:cs typeface="Century Schoolbook"/>
                <a:sym typeface="Century Schoolbook"/>
              </a:rPr>
              <a:t>Program_Error: </a:t>
            </a:r>
            <a:r>
              <a:rPr lang="es-AR" sz="2200" b="0" i="0" u="none" strike="noStrike" cap="none">
                <a:solidFill>
                  <a:srgbClr val="000000"/>
                </a:solidFill>
                <a:latin typeface="Century Schoolbook"/>
                <a:ea typeface="Century Schoolbook"/>
                <a:cs typeface="Century Schoolbook"/>
                <a:sym typeface="Century Schoolbook"/>
              </a:rPr>
              <a:t>cuando se intenta </a:t>
            </a:r>
            <a:r>
              <a:rPr lang="es-AR" sz="2200" b="1" i="1" u="none" strike="noStrike" cap="none">
                <a:solidFill>
                  <a:srgbClr val="000000"/>
                </a:solidFill>
                <a:latin typeface="Century Schoolbook"/>
                <a:ea typeface="Century Schoolbook"/>
                <a:cs typeface="Century Schoolbook"/>
                <a:sym typeface="Century Schoolbook"/>
              </a:rPr>
              <a:t>violar la estructura de control o regla del lenguaje.</a:t>
            </a:r>
            <a:r>
              <a:rPr lang="es-AR" sz="2200" b="0" i="0" u="none" strike="noStrike" cap="none">
                <a:solidFill>
                  <a:srgbClr val="000000"/>
                </a:solidFill>
                <a:latin typeface="Century Schoolbook"/>
                <a:ea typeface="Century Schoolbook"/>
                <a:cs typeface="Century Schoolbook"/>
                <a:sym typeface="Century Schoolbook"/>
              </a:rPr>
              <a:t> (Por ejemplo, una </a:t>
            </a:r>
            <a:r>
              <a:rPr lang="es-AR" sz="2200" b="0" i="1" u="none" strike="noStrike" cap="none">
                <a:solidFill>
                  <a:srgbClr val="000000"/>
                </a:solidFill>
                <a:latin typeface="Century Schoolbook"/>
                <a:ea typeface="Century Schoolbook"/>
                <a:cs typeface="Century Schoolbook"/>
                <a:sym typeface="Century Schoolbook"/>
              </a:rPr>
              <a:t>función termina sin devolver un valor)</a:t>
            </a:r>
            <a:endParaRPr sz="2200" b="0" i="0" u="none" strike="noStrike" cap="none">
              <a:latin typeface="Arial"/>
              <a:ea typeface="Arial"/>
              <a:cs typeface="Arial"/>
              <a:sym typeface="Arial"/>
            </a:endParaRPr>
          </a:p>
          <a:p>
            <a:pPr marL="0" marR="0" lvl="0" indent="0" algn="just" rtl="0">
              <a:lnSpc>
                <a:spcPct val="100000"/>
              </a:lnSpc>
              <a:spcBef>
                <a:spcPts val="0"/>
              </a:spcBef>
              <a:spcAft>
                <a:spcPts val="0"/>
              </a:spcAft>
              <a:buClr>
                <a:srgbClr val="FE8637"/>
              </a:buClr>
              <a:buSzPts val="2200"/>
              <a:buFont typeface="Arial"/>
              <a:buChar char="•"/>
            </a:pPr>
            <a:r>
              <a:rPr lang="es-AR" sz="2200" b="1" i="0" u="none" strike="noStrike" cap="none">
                <a:solidFill>
                  <a:srgbClr val="000000"/>
                </a:solidFill>
                <a:latin typeface="Century Schoolbook"/>
                <a:ea typeface="Century Schoolbook"/>
                <a:cs typeface="Century Schoolbook"/>
                <a:sym typeface="Century Schoolbook"/>
              </a:rPr>
              <a:t>Storage_Error: </a:t>
            </a:r>
            <a:r>
              <a:rPr lang="es-AR" sz="2200" b="0" i="0" u="none" strike="noStrike" cap="none">
                <a:solidFill>
                  <a:srgbClr val="000000"/>
                </a:solidFill>
                <a:latin typeface="Century Schoolbook"/>
                <a:ea typeface="Century Schoolbook"/>
                <a:cs typeface="Century Schoolbook"/>
                <a:sym typeface="Century Schoolbook"/>
              </a:rPr>
              <a:t>cuando se produce una </a:t>
            </a:r>
            <a:r>
              <a:rPr lang="es-AR" sz="2200" b="1" i="0" u="none" strike="noStrike" cap="none">
                <a:solidFill>
                  <a:srgbClr val="000000"/>
                </a:solidFill>
                <a:latin typeface="Century Schoolbook"/>
                <a:ea typeface="Century Schoolbook"/>
                <a:cs typeface="Century Schoolbook"/>
                <a:sym typeface="Century Schoolbook"/>
              </a:rPr>
              <a:t>violación de memoria</a:t>
            </a:r>
            <a:r>
              <a:rPr lang="es-AR" sz="2200" b="0" i="1" u="none" strike="noStrike" cap="none">
                <a:solidFill>
                  <a:srgbClr val="000000"/>
                </a:solidFill>
                <a:latin typeface="Century Schoolbook"/>
                <a:ea typeface="Century Schoolbook"/>
                <a:cs typeface="Century Schoolbook"/>
                <a:sym typeface="Century Schoolbook"/>
              </a:rPr>
              <a:t>,</a:t>
            </a:r>
            <a:r>
              <a:rPr lang="es-AR" sz="2200" b="0" i="0" u="none" strike="noStrike" cap="none">
                <a:solidFill>
                  <a:srgbClr val="000000"/>
                </a:solidFill>
                <a:latin typeface="Century Schoolbook"/>
                <a:ea typeface="Century Schoolbook"/>
                <a:cs typeface="Century Schoolbook"/>
                <a:sym typeface="Century Schoolbook"/>
              </a:rPr>
              <a:t> (Por ejemplo, cuando </a:t>
            </a:r>
            <a:r>
              <a:rPr lang="es-AR" sz="2200" b="0" i="1" u="none" strike="noStrike" cap="none">
                <a:solidFill>
                  <a:srgbClr val="000000"/>
                </a:solidFill>
                <a:latin typeface="Century Schoolbook"/>
                <a:ea typeface="Century Schoolbook"/>
                <a:cs typeface="Century Schoolbook"/>
                <a:sym typeface="Century Schoolbook"/>
              </a:rPr>
              <a:t>se requiere más memoria de la disponible)</a:t>
            </a:r>
            <a:endParaRPr sz="2200" b="0" i="0" u="none" strike="noStrike" cap="none">
              <a:latin typeface="Arial"/>
              <a:ea typeface="Arial"/>
              <a:cs typeface="Arial"/>
              <a:sym typeface="Arial"/>
            </a:endParaRPr>
          </a:p>
          <a:p>
            <a:pPr marL="0" marR="0" lvl="0" indent="0" algn="just" rtl="0">
              <a:lnSpc>
                <a:spcPct val="100000"/>
              </a:lnSpc>
              <a:spcBef>
                <a:spcPts val="0"/>
              </a:spcBef>
              <a:spcAft>
                <a:spcPts val="0"/>
              </a:spcAft>
              <a:buClr>
                <a:srgbClr val="FE8637"/>
              </a:buClr>
              <a:buSzPts val="2200"/>
              <a:buFont typeface="Arial"/>
              <a:buChar char="•"/>
            </a:pPr>
            <a:r>
              <a:rPr lang="es-AR" sz="2200" b="1" i="0" u="none" strike="noStrike" cap="none">
                <a:solidFill>
                  <a:srgbClr val="000000"/>
                </a:solidFill>
                <a:latin typeface="Century Schoolbook"/>
                <a:ea typeface="Century Schoolbook"/>
                <a:cs typeface="Century Schoolbook"/>
                <a:sym typeface="Century Schoolbook"/>
              </a:rPr>
              <a:t>Tasking_Error: </a:t>
            </a:r>
            <a:r>
              <a:rPr lang="es-AR" sz="2200" b="0" i="0" u="none" strike="noStrike" cap="none">
                <a:solidFill>
                  <a:srgbClr val="000000"/>
                </a:solidFill>
                <a:latin typeface="Century Schoolbook"/>
                <a:ea typeface="Century Schoolbook"/>
                <a:cs typeface="Century Schoolbook"/>
                <a:sym typeface="Century Schoolbook"/>
              </a:rPr>
              <a:t>cuando hay </a:t>
            </a:r>
            <a:r>
              <a:rPr lang="es-AR" sz="2200" b="1" i="1" u="none" strike="noStrike" cap="none">
                <a:solidFill>
                  <a:srgbClr val="000000"/>
                </a:solidFill>
                <a:latin typeface="Century Schoolbook"/>
                <a:ea typeface="Century Schoolbook"/>
                <a:cs typeface="Century Schoolbook"/>
                <a:sym typeface="Century Schoolbook"/>
              </a:rPr>
              <a:t>errores en la comunicación y manejo de tareas del sistema</a:t>
            </a:r>
            <a:r>
              <a:rPr lang="es-AR" sz="2200" b="0" i="0" u="none" strike="noStrike" cap="none">
                <a:solidFill>
                  <a:srgbClr val="000000"/>
                </a:solidFill>
                <a:latin typeface="Century Schoolbook"/>
                <a:ea typeface="Century Schoolbook"/>
                <a:cs typeface="Century Schoolbook"/>
                <a:sym typeface="Century Schoolbook"/>
              </a:rPr>
              <a:t>. (Por ejemplo, en  </a:t>
            </a:r>
            <a:r>
              <a:rPr lang="es-AR" sz="2200" b="0" i="1" u="none" strike="noStrike" cap="none">
                <a:solidFill>
                  <a:srgbClr val="000000"/>
                </a:solidFill>
                <a:latin typeface="Century Schoolbook"/>
                <a:ea typeface="Century Schoolbook"/>
                <a:cs typeface="Century Schoolbook"/>
                <a:sym typeface="Century Schoolbook"/>
              </a:rPr>
              <a:t>concurrencia </a:t>
            </a:r>
            <a:r>
              <a:rPr lang="es-AR" sz="2200" b="0" i="0" u="none" strike="noStrike" cap="none">
                <a:solidFill>
                  <a:srgbClr val="000000"/>
                </a:solidFill>
                <a:latin typeface="Century Schoolbook"/>
                <a:ea typeface="Century Schoolbook"/>
                <a:cs typeface="Century Schoolbook"/>
                <a:sym typeface="Century Schoolbook"/>
              </a:rPr>
              <a:t>y la </a:t>
            </a:r>
            <a:r>
              <a:rPr lang="es-AR" sz="2200" b="0" i="1" u="none" strike="noStrike" cap="none">
                <a:solidFill>
                  <a:srgbClr val="000000"/>
                </a:solidFill>
                <a:latin typeface="Century Schoolbook"/>
                <a:ea typeface="Century Schoolbook"/>
                <a:cs typeface="Century Schoolbook"/>
                <a:sym typeface="Century Schoolbook"/>
              </a:rPr>
              <a:t>programación de tareas </a:t>
            </a:r>
            <a:r>
              <a:rPr lang="es-AR" sz="2200" b="0" i="0" u="none" strike="noStrike" cap="none">
                <a:solidFill>
                  <a:srgbClr val="000000"/>
                </a:solidFill>
                <a:latin typeface="Century Schoolbook"/>
                <a:ea typeface="Century Schoolbook"/>
                <a:cs typeface="Century Schoolbook"/>
                <a:sym typeface="Century Schoolbook"/>
              </a:rPr>
              <a:t>/</a:t>
            </a:r>
            <a:r>
              <a:rPr lang="es-AR" sz="2200" b="0" i="1" u="none" strike="noStrike" cap="none">
                <a:solidFill>
                  <a:srgbClr val="000000"/>
                </a:solidFill>
                <a:latin typeface="Century Schoolbook"/>
                <a:ea typeface="Century Schoolbook"/>
                <a:cs typeface="Century Schoolbook"/>
                <a:sym typeface="Century Schoolbook"/>
              </a:rPr>
              <a:t>threads)</a:t>
            </a:r>
            <a:endParaRPr sz="2200" b="0" i="0" u="none" strike="noStrike" cap="none">
              <a:latin typeface="Arial"/>
              <a:ea typeface="Arial"/>
              <a:cs typeface="Arial"/>
              <a:sym typeface="Arial"/>
            </a:endParaRPr>
          </a:p>
          <a:p>
            <a:pPr marL="0" marR="0" lvl="0" indent="0" algn="just" rtl="0">
              <a:lnSpc>
                <a:spcPct val="100000"/>
              </a:lnSpc>
              <a:spcBef>
                <a:spcPts val="0"/>
              </a:spcBef>
              <a:spcAft>
                <a:spcPts val="0"/>
              </a:spcAft>
              <a:buClr>
                <a:srgbClr val="FE8637"/>
              </a:buClr>
              <a:buSzPts val="2200"/>
              <a:buFont typeface="Arial"/>
              <a:buChar char="•"/>
            </a:pPr>
            <a:r>
              <a:rPr lang="es-AR" sz="2200" b="1" i="0" u="none" strike="noStrike" cap="none">
                <a:solidFill>
                  <a:srgbClr val="000000"/>
                </a:solidFill>
                <a:latin typeface="Century Schoolbook"/>
                <a:ea typeface="Century Schoolbook"/>
                <a:cs typeface="Century Schoolbook"/>
                <a:sym typeface="Century Schoolbook"/>
              </a:rPr>
              <a:t>Name_Error:</a:t>
            </a:r>
            <a:r>
              <a:rPr lang="es-AR" sz="2200" b="0" i="0" u="none" strike="noStrike" cap="none">
                <a:solidFill>
                  <a:srgbClr val="000000"/>
                </a:solidFill>
                <a:latin typeface="Century Schoolbook"/>
                <a:ea typeface="Century Schoolbook"/>
                <a:cs typeface="Century Schoolbook"/>
                <a:sym typeface="Century Schoolbook"/>
              </a:rPr>
              <a:t> cuando hay </a:t>
            </a:r>
            <a:r>
              <a:rPr lang="es-AR" sz="2200" b="1" i="0" u="none" strike="noStrike" cap="none">
                <a:solidFill>
                  <a:srgbClr val="000000"/>
                </a:solidFill>
                <a:latin typeface="Century Schoolbook"/>
                <a:ea typeface="Century Schoolbook"/>
                <a:cs typeface="Century Schoolbook"/>
                <a:sym typeface="Century Schoolbook"/>
              </a:rPr>
              <a:t>error de nombre.</a:t>
            </a:r>
            <a:r>
              <a:rPr lang="es-AR" sz="2200" b="0" i="0" u="none" strike="noStrike" cap="none">
                <a:solidFill>
                  <a:srgbClr val="000000"/>
                </a:solidFill>
                <a:latin typeface="Century Schoolbook"/>
                <a:ea typeface="Century Schoolbook"/>
                <a:cs typeface="Century Schoolbook"/>
                <a:sym typeface="Century Schoolbook"/>
              </a:rPr>
              <a:t> (Por ejemplo, se produce cuando se intenta </a:t>
            </a:r>
            <a:r>
              <a:rPr lang="es-AR" sz="2200" b="0" i="1" u="none" strike="noStrike" cap="none">
                <a:solidFill>
                  <a:srgbClr val="000000"/>
                </a:solidFill>
                <a:latin typeface="Century Schoolbook"/>
                <a:ea typeface="Century Schoolbook"/>
                <a:cs typeface="Century Schoolbook"/>
                <a:sym typeface="Century Schoolbook"/>
              </a:rPr>
              <a:t>abrir un fichero que no existe)</a:t>
            </a:r>
            <a:endParaRPr sz="2200" b="0" i="0" u="none" strike="noStrike" cap="none">
              <a:latin typeface="Arial"/>
              <a:ea typeface="Arial"/>
              <a:cs typeface="Arial"/>
              <a:sym typeface="Arial"/>
            </a:endParaRPr>
          </a:p>
          <a:p>
            <a:pPr marL="0" marR="0" lvl="0" indent="0" algn="l" rtl="0">
              <a:lnSpc>
                <a:spcPct val="100000"/>
              </a:lnSpc>
              <a:spcBef>
                <a:spcPts val="0"/>
              </a:spcBef>
              <a:spcAft>
                <a:spcPts val="0"/>
              </a:spcAft>
              <a:buSzPts val="2200"/>
              <a:buFont typeface="Arial"/>
              <a:buNone/>
            </a:pPr>
            <a:endParaRPr sz="2200" b="0" i="0" u="none" strike="noStrike" cap="none">
              <a:latin typeface="Arial"/>
              <a:ea typeface="Arial"/>
              <a:cs typeface="Arial"/>
              <a:sym typeface="Arial"/>
            </a:endParaRPr>
          </a:p>
          <a:p>
            <a:pPr marL="0" marR="0" lvl="0" indent="0" algn="just" rtl="0">
              <a:lnSpc>
                <a:spcPct val="100000"/>
              </a:lnSpc>
              <a:spcBef>
                <a:spcPts val="0"/>
              </a:spcBef>
              <a:spcAft>
                <a:spcPts val="0"/>
              </a:spcAft>
              <a:buSzPts val="2200"/>
              <a:buFont typeface="Arial"/>
              <a:buNone/>
            </a:pPr>
            <a:endParaRPr sz="2200" b="0" i="0" u="none" strike="noStrike" cap="none">
              <a:latin typeface="Arial"/>
              <a:ea typeface="Arial"/>
              <a:cs typeface="Arial"/>
              <a:sym typeface="Arial"/>
            </a:endParaRPr>
          </a:p>
          <a:p>
            <a:pPr marL="0" marR="0" lvl="0" indent="0" algn="just" rtl="0">
              <a:lnSpc>
                <a:spcPct val="100000"/>
              </a:lnSpc>
              <a:spcBef>
                <a:spcPts val="0"/>
              </a:spcBef>
              <a:spcAft>
                <a:spcPts val="0"/>
              </a:spcAft>
              <a:buSzPts val="2200"/>
              <a:buFont typeface="Arial"/>
              <a:buNone/>
            </a:pPr>
            <a:endParaRPr sz="2200" b="0" i="0" u="none" strike="noStrike" cap="none">
              <a:latin typeface="Arial"/>
              <a:ea typeface="Arial"/>
              <a:cs typeface="Arial"/>
              <a:sym typeface="Arial"/>
            </a:endParaRPr>
          </a:p>
        </p:txBody>
      </p:sp>
      <p:sp>
        <p:nvSpPr>
          <p:cNvPr id="559" name="Google Shape;559;p25"/>
          <p:cNvSpPr/>
          <p:nvPr/>
        </p:nvSpPr>
        <p:spPr>
          <a:xfrm>
            <a:off x="8260560" y="58320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25</a:t>
            </a:fld>
            <a:endParaRPr sz="1800" b="0" i="0" u="none" strike="noStrike" cap="none">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26"/>
          <p:cNvSpPr/>
          <p:nvPr/>
        </p:nvSpPr>
        <p:spPr>
          <a:xfrm>
            <a:off x="457200" y="5400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ADA</a:t>
            </a:r>
            <a:endParaRPr sz="3000" b="0" i="0" u="none" strike="noStrike" cap="none">
              <a:latin typeface="Arial"/>
              <a:ea typeface="Arial"/>
              <a:cs typeface="Arial"/>
              <a:sym typeface="Arial"/>
            </a:endParaRPr>
          </a:p>
        </p:txBody>
      </p:sp>
      <p:sp>
        <p:nvSpPr>
          <p:cNvPr id="566" name="Google Shape;566;p26"/>
          <p:cNvSpPr/>
          <p:nvPr/>
        </p:nvSpPr>
        <p:spPr>
          <a:xfrm>
            <a:off x="457200" y="1341360"/>
            <a:ext cx="8157600" cy="5129640"/>
          </a:xfrm>
          <a:prstGeom prst="rect">
            <a:avLst/>
          </a:prstGeom>
          <a:noFill/>
          <a:ln>
            <a:noFill/>
          </a:ln>
        </p:spPr>
        <p:txBody>
          <a:bodyPr spcFirstLastPara="1" wrap="square" lIns="90000" tIns="45000" rIns="90000" bIns="45000" anchor="t" anchorCtr="0">
            <a:noAutofit/>
          </a:bodyPr>
          <a:lstStyle/>
          <a:p>
            <a:pPr marL="2520" marR="0" lvl="0" indent="0" algn="just" rtl="0">
              <a:lnSpc>
                <a:spcPct val="100000"/>
              </a:lnSpc>
              <a:spcBef>
                <a:spcPts val="0"/>
              </a:spcBef>
              <a:spcAft>
                <a:spcPts val="0"/>
              </a:spcAft>
              <a:buClr>
                <a:srgbClr val="000000"/>
              </a:buClr>
              <a:buSzPts val="2400"/>
              <a:buFont typeface="Century Schoolbook"/>
              <a:buNone/>
            </a:pPr>
            <a:r>
              <a:rPr lang="es-AR" sz="2400" b="1" i="0" u="none" strike="noStrike" cap="none">
                <a:solidFill>
                  <a:srgbClr val="000000"/>
                </a:solidFill>
                <a:latin typeface="Century Schoolbook"/>
                <a:ea typeface="Century Schoolbook"/>
                <a:cs typeface="Century Schoolbook"/>
                <a:sym typeface="Century Schoolbook"/>
              </a:rPr>
              <a:t>Propagación</a:t>
            </a:r>
            <a:endParaRPr sz="2400" b="0" i="0" u="none" strike="noStrike" cap="none">
              <a:latin typeface="Arial"/>
              <a:ea typeface="Arial"/>
              <a:cs typeface="Arial"/>
              <a:sym typeface="Arial"/>
            </a:endParaRPr>
          </a:p>
          <a:p>
            <a:pPr marL="272520" marR="0" lvl="0" indent="-270000" algn="just" rtl="0">
              <a:lnSpc>
                <a:spcPct val="100000"/>
              </a:lnSpc>
              <a:spcBef>
                <a:spcPts val="601"/>
              </a:spcBef>
              <a:spcAft>
                <a:spcPts val="0"/>
              </a:spcAft>
              <a:buClr>
                <a:srgbClr val="FE8637"/>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Si la unidad</a:t>
            </a:r>
            <a:r>
              <a:rPr lang="es-AR" sz="2400" b="0" i="0" u="none" strike="noStrike" cap="none">
                <a:solidFill>
                  <a:srgbClr val="000000"/>
                </a:solidFill>
                <a:latin typeface="Century Schoolbook"/>
                <a:ea typeface="Century Schoolbook"/>
                <a:cs typeface="Century Schoolbook"/>
                <a:sym typeface="Century Schoolbook"/>
              </a:rPr>
              <a:t> que genera la excepción </a:t>
            </a:r>
            <a:r>
              <a:rPr lang="es-AR" sz="2400" b="1" i="0" u="none" strike="noStrike" cap="none">
                <a:solidFill>
                  <a:srgbClr val="000000"/>
                </a:solidFill>
                <a:latin typeface="Century Schoolbook"/>
                <a:ea typeface="Century Schoolbook"/>
                <a:cs typeface="Century Schoolbook"/>
                <a:sym typeface="Century Schoolbook"/>
              </a:rPr>
              <a:t>proporciona un manejador</a:t>
            </a:r>
            <a:r>
              <a:rPr lang="es-AR" sz="2400" b="0" i="0" u="none" strike="noStrike" cap="none">
                <a:solidFill>
                  <a:srgbClr val="000000"/>
                </a:solidFill>
                <a:latin typeface="Century Schoolbook"/>
                <a:ea typeface="Century Schoolbook"/>
                <a:cs typeface="Century Schoolbook"/>
                <a:sym typeface="Century Schoolbook"/>
              </a:rPr>
              <a:t> para la misma, </a:t>
            </a:r>
            <a:r>
              <a:rPr lang="es-AR" sz="2400" b="1" i="0" u="none" strike="noStrike" cap="none">
                <a:solidFill>
                  <a:srgbClr val="000000"/>
                </a:solidFill>
                <a:latin typeface="Century Schoolbook"/>
                <a:ea typeface="Century Schoolbook"/>
                <a:cs typeface="Century Schoolbook"/>
                <a:sym typeface="Century Schoolbook"/>
              </a:rPr>
              <a:t>el control se transfiere</a:t>
            </a:r>
            <a:r>
              <a:rPr lang="es-AR" sz="2400" b="0" i="0" u="none" strike="noStrike" cap="none">
                <a:solidFill>
                  <a:srgbClr val="000000"/>
                </a:solidFill>
                <a:latin typeface="Century Schoolbook"/>
                <a:ea typeface="Century Schoolbook"/>
                <a:cs typeface="Century Schoolbook"/>
                <a:sym typeface="Century Schoolbook"/>
              </a:rPr>
              <a:t> inmediatamente </a:t>
            </a:r>
            <a:r>
              <a:rPr lang="es-AR" sz="2400" b="1" i="0" u="none" strike="noStrike" cap="none">
                <a:solidFill>
                  <a:srgbClr val="000000"/>
                </a:solidFill>
                <a:latin typeface="Century Schoolbook"/>
                <a:ea typeface="Century Schoolbook"/>
                <a:cs typeface="Century Schoolbook"/>
                <a:sym typeface="Century Schoolbook"/>
              </a:rPr>
              <a:t>a ese manejador</a:t>
            </a:r>
            <a:r>
              <a:rPr lang="es-AR" sz="2400" b="0" i="0" u="none" strike="noStrike" cap="none">
                <a:solidFill>
                  <a:srgbClr val="000000"/>
                </a:solidFill>
                <a:latin typeface="Century Schoolbook"/>
                <a:ea typeface="Century Schoolbook"/>
                <a:cs typeface="Century Schoolbook"/>
                <a:sym typeface="Century Schoolbook"/>
              </a:rPr>
              <a:t>: </a:t>
            </a:r>
            <a:endParaRPr sz="2400" b="0" i="0" u="none" strike="noStrike" cap="none">
              <a:latin typeface="Arial"/>
              <a:ea typeface="Arial"/>
              <a:cs typeface="Arial"/>
              <a:sym typeface="Arial"/>
            </a:endParaRPr>
          </a:p>
          <a:p>
            <a:pPr marL="729720" marR="0" lvl="1" indent="-270000" algn="just" rtl="0">
              <a:lnSpc>
                <a:spcPct val="100000"/>
              </a:lnSpc>
              <a:spcBef>
                <a:spcPts val="601"/>
              </a:spcBef>
              <a:spcAft>
                <a:spcPts val="0"/>
              </a:spcAft>
              <a:buClr>
                <a:srgbClr val="FE8637"/>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se omiten </a:t>
            </a:r>
            <a:r>
              <a:rPr lang="es-AR" sz="2400" b="0" i="0" u="none" strike="noStrike" cap="none">
                <a:solidFill>
                  <a:srgbClr val="000000"/>
                </a:solidFill>
                <a:latin typeface="Century Schoolbook"/>
                <a:ea typeface="Century Schoolbook"/>
                <a:cs typeface="Century Schoolbook"/>
                <a:sym typeface="Century Schoolbook"/>
              </a:rPr>
              <a:t>las </a:t>
            </a:r>
            <a:r>
              <a:rPr lang="es-AR" sz="2400" b="1" i="0" u="none" strike="noStrike" cap="none">
                <a:solidFill>
                  <a:srgbClr val="000000"/>
                </a:solidFill>
                <a:latin typeface="Century Schoolbook"/>
                <a:ea typeface="Century Schoolbook"/>
                <a:cs typeface="Century Schoolbook"/>
                <a:sym typeface="Century Schoolbook"/>
              </a:rPr>
              <a:t>acciones </a:t>
            </a:r>
            <a:r>
              <a:rPr lang="es-AR" sz="2400" b="0" i="0" u="none" strike="noStrike" cap="none">
                <a:solidFill>
                  <a:srgbClr val="000000"/>
                </a:solidFill>
                <a:latin typeface="Century Schoolbook"/>
                <a:ea typeface="Century Schoolbook"/>
                <a:cs typeface="Century Schoolbook"/>
                <a:sym typeface="Century Schoolbook"/>
              </a:rPr>
              <a:t>que </a:t>
            </a:r>
            <a:r>
              <a:rPr lang="es-AR" sz="2400" b="1" i="0" u="none" strike="noStrike" cap="none">
                <a:solidFill>
                  <a:srgbClr val="000000"/>
                </a:solidFill>
                <a:latin typeface="Century Schoolbook"/>
                <a:ea typeface="Century Schoolbook"/>
                <a:cs typeface="Century Schoolbook"/>
                <a:sym typeface="Century Schoolbook"/>
              </a:rPr>
              <a:t>siguen al punto en el que se generó la excepción, </a:t>
            </a:r>
            <a:endParaRPr sz="2400" b="0" i="0" u="none" strike="noStrike" cap="none">
              <a:latin typeface="Arial"/>
              <a:ea typeface="Arial"/>
              <a:cs typeface="Arial"/>
              <a:sym typeface="Arial"/>
            </a:endParaRPr>
          </a:p>
          <a:p>
            <a:pPr marL="729720" marR="0" lvl="1" indent="-270000" algn="just"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se </a:t>
            </a:r>
            <a:r>
              <a:rPr lang="es-AR" sz="2400" b="1" i="0" u="none" strike="noStrike" cap="none">
                <a:solidFill>
                  <a:srgbClr val="000000"/>
                </a:solidFill>
                <a:latin typeface="Century Schoolbook"/>
                <a:ea typeface="Century Schoolbook"/>
                <a:cs typeface="Century Schoolbook"/>
                <a:sym typeface="Century Schoolbook"/>
              </a:rPr>
              <a:t>ejecuta </a:t>
            </a:r>
            <a:r>
              <a:rPr lang="es-AR" sz="2400" b="0" i="0" u="none" strike="noStrike" cap="none">
                <a:solidFill>
                  <a:srgbClr val="000000"/>
                </a:solidFill>
                <a:latin typeface="Century Schoolbook"/>
                <a:ea typeface="Century Schoolbook"/>
                <a:cs typeface="Century Schoolbook"/>
                <a:sym typeface="Century Schoolbook"/>
              </a:rPr>
              <a:t>el </a:t>
            </a:r>
            <a:r>
              <a:rPr lang="es-AR" sz="2400" b="1" i="0" u="none" strike="noStrike" cap="none">
                <a:solidFill>
                  <a:srgbClr val="000000"/>
                </a:solidFill>
                <a:latin typeface="Century Schoolbook"/>
                <a:ea typeface="Century Schoolbook"/>
                <a:cs typeface="Century Schoolbook"/>
                <a:sym typeface="Century Schoolbook"/>
              </a:rPr>
              <a:t>manejador </a:t>
            </a:r>
            <a:endParaRPr sz="2400" b="0" i="0" u="none" strike="noStrike" cap="none">
              <a:latin typeface="Arial"/>
              <a:ea typeface="Arial"/>
              <a:cs typeface="Arial"/>
              <a:sym typeface="Arial"/>
            </a:endParaRPr>
          </a:p>
          <a:p>
            <a:pPr marL="729720" marR="0" lvl="1" indent="-270000" algn="just" rtl="0">
              <a:lnSpc>
                <a:spcPct val="100000"/>
              </a:lnSpc>
              <a:spcBef>
                <a:spcPts val="601"/>
              </a:spcBef>
              <a:spcAft>
                <a:spcPts val="0"/>
              </a:spcAft>
              <a:buClr>
                <a:srgbClr val="FE8637"/>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luego </a:t>
            </a:r>
            <a:r>
              <a:rPr lang="es-AR" sz="2400" b="0" i="0" u="none" strike="noStrike" cap="none">
                <a:solidFill>
                  <a:srgbClr val="000000"/>
                </a:solidFill>
                <a:latin typeface="Century Schoolbook"/>
                <a:ea typeface="Century Schoolbook"/>
                <a:cs typeface="Century Schoolbook"/>
                <a:sym typeface="Century Schoolbook"/>
              </a:rPr>
              <a:t>el </a:t>
            </a:r>
            <a:r>
              <a:rPr lang="es-AR" sz="2400" b="1" i="0" u="none" strike="noStrike" cap="none">
                <a:solidFill>
                  <a:srgbClr val="000000"/>
                </a:solidFill>
                <a:latin typeface="Century Schoolbook"/>
                <a:ea typeface="Century Schoolbook"/>
                <a:cs typeface="Century Schoolbook"/>
                <a:sym typeface="Century Schoolbook"/>
              </a:rPr>
              <a:t>programa continúa </a:t>
            </a:r>
            <a:r>
              <a:rPr lang="es-AR" sz="2400" b="0" i="0" u="none" strike="noStrike" cap="none">
                <a:solidFill>
                  <a:srgbClr val="000000"/>
                </a:solidFill>
                <a:latin typeface="Century Schoolbook"/>
                <a:ea typeface="Century Schoolbook"/>
                <a:cs typeface="Century Schoolbook"/>
                <a:sym typeface="Century Schoolbook"/>
              </a:rPr>
              <a:t>su ejecución normalmente, </a:t>
            </a:r>
            <a:r>
              <a:rPr lang="es-AR" sz="2400" b="1" i="0" u="none" strike="noStrike" cap="none">
                <a:solidFill>
                  <a:srgbClr val="000000"/>
                </a:solidFill>
                <a:latin typeface="Century Schoolbook"/>
                <a:ea typeface="Century Schoolbook"/>
                <a:cs typeface="Century Schoolbook"/>
                <a:sym typeface="Century Schoolbook"/>
              </a:rPr>
              <a:t>desde la instrucción que sigue al manejador. </a:t>
            </a:r>
            <a:endParaRPr sz="2400" b="0" i="0" u="none" strike="noStrike" cap="none">
              <a:latin typeface="Arial"/>
              <a:ea typeface="Arial"/>
              <a:cs typeface="Arial"/>
              <a:sym typeface="Arial"/>
            </a:endParaRPr>
          </a:p>
          <a:p>
            <a:pPr marL="0" marR="0" lvl="0" indent="0" algn="just" rtl="0">
              <a:lnSpc>
                <a:spcPct val="10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272520" marR="0" lvl="0" indent="-270000" algn="just" rtl="0">
              <a:lnSpc>
                <a:spcPct val="100000"/>
              </a:lnSpc>
              <a:spcBef>
                <a:spcPts val="601"/>
              </a:spcBef>
              <a:spcAft>
                <a:spcPts val="0"/>
              </a:spcAft>
              <a:buClr>
                <a:srgbClr val="FE8637"/>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Si la unidad no proporciona un manejador</a:t>
            </a:r>
            <a:r>
              <a:rPr lang="es-AR" sz="2400" b="0" i="0" u="none" strike="noStrike" cap="none">
                <a:solidFill>
                  <a:srgbClr val="000000"/>
                </a:solidFill>
                <a:latin typeface="Century Schoolbook"/>
                <a:ea typeface="Century Schoolbook"/>
                <a:cs typeface="Century Schoolbook"/>
                <a:sym typeface="Century Schoolbook"/>
              </a:rPr>
              <a:t> se </a:t>
            </a:r>
            <a:r>
              <a:rPr lang="es-AR" sz="2400" b="1" i="0" u="none" strike="noStrike" cap="none">
                <a:solidFill>
                  <a:srgbClr val="000000"/>
                </a:solidFill>
                <a:latin typeface="Century Schoolbook"/>
                <a:ea typeface="Century Schoolbook"/>
                <a:cs typeface="Century Schoolbook"/>
                <a:sym typeface="Century Schoolbook"/>
              </a:rPr>
              <a:t>busca por propagación</a:t>
            </a:r>
            <a:endParaRPr sz="2400" b="0" i="0" u="none" strike="noStrike" cap="none">
              <a:latin typeface="Arial"/>
              <a:ea typeface="Arial"/>
              <a:cs typeface="Arial"/>
              <a:sym typeface="Arial"/>
            </a:endParaRPr>
          </a:p>
        </p:txBody>
      </p:sp>
      <p:sp>
        <p:nvSpPr>
          <p:cNvPr id="567" name="Google Shape;567;p26"/>
          <p:cNvSpPr/>
          <p:nvPr/>
        </p:nvSpPr>
        <p:spPr>
          <a:xfrm>
            <a:off x="7886880" y="58320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26</a:t>
            </a:fld>
            <a:endParaRPr sz="1800" b="0" i="0" u="none" strike="noStrike" cap="none">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27"/>
          <p:cNvSpPr/>
          <p:nvPr/>
        </p:nvSpPr>
        <p:spPr>
          <a:xfrm>
            <a:off x="457200" y="54000"/>
            <a:ext cx="7464600" cy="76644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ADA</a:t>
            </a:r>
            <a:endParaRPr sz="3000" b="0" i="0" u="none" strike="noStrike" cap="none">
              <a:latin typeface="Arial"/>
              <a:ea typeface="Arial"/>
              <a:cs typeface="Arial"/>
              <a:sym typeface="Arial"/>
            </a:endParaRPr>
          </a:p>
        </p:txBody>
      </p:sp>
      <p:sp>
        <p:nvSpPr>
          <p:cNvPr id="574" name="Google Shape;574;p27"/>
          <p:cNvSpPr/>
          <p:nvPr/>
        </p:nvSpPr>
        <p:spPr>
          <a:xfrm>
            <a:off x="457200" y="924480"/>
            <a:ext cx="8229600" cy="5374080"/>
          </a:xfrm>
          <a:prstGeom prst="rect">
            <a:avLst/>
          </a:prstGeom>
          <a:noFill/>
          <a:ln>
            <a:noFill/>
          </a:ln>
        </p:spPr>
        <p:txBody>
          <a:bodyPr spcFirstLastPara="1" wrap="square" lIns="90000" tIns="45000" rIns="90000" bIns="45000" anchor="t" anchorCtr="0">
            <a:noAutofit/>
          </a:bodyPr>
          <a:lstStyle/>
          <a:p>
            <a:pPr marL="2520" marR="0" lvl="0" indent="0" algn="just" rtl="0">
              <a:lnSpc>
                <a:spcPct val="100000"/>
              </a:lnSpc>
              <a:spcBef>
                <a:spcPts val="0"/>
              </a:spcBef>
              <a:spcAft>
                <a:spcPts val="0"/>
              </a:spcAft>
              <a:buClr>
                <a:srgbClr val="000000"/>
              </a:buClr>
              <a:buSzPts val="2400"/>
              <a:buFont typeface="Century Schoolbook"/>
              <a:buNone/>
            </a:pPr>
            <a:r>
              <a:rPr lang="es-AR" sz="2400" b="1" i="0" u="none" strike="noStrike" cap="none">
                <a:solidFill>
                  <a:srgbClr val="000000"/>
                </a:solidFill>
                <a:latin typeface="Century Schoolbook"/>
                <a:ea typeface="Century Schoolbook"/>
                <a:cs typeface="Century Schoolbook"/>
                <a:sym typeface="Century Schoolbook"/>
              </a:rPr>
              <a:t>Propagación</a:t>
            </a:r>
            <a:endParaRPr sz="2400" b="0" i="0" u="none" strike="noStrike" cap="none">
              <a:latin typeface="Arial"/>
              <a:ea typeface="Arial"/>
              <a:cs typeface="Arial"/>
              <a:sym typeface="Arial"/>
            </a:endParaRPr>
          </a:p>
          <a:p>
            <a:pPr marL="2520" marR="0" lvl="0" indent="0" algn="l" rtl="0">
              <a:lnSpc>
                <a:spcPct val="100000"/>
              </a:lnSpc>
              <a:spcBef>
                <a:spcPts val="601"/>
              </a:spcBef>
              <a:spcAft>
                <a:spcPts val="0"/>
              </a:spcAft>
              <a:buClr>
                <a:srgbClr val="000000"/>
              </a:buClr>
              <a:buSzPts val="2200"/>
              <a:buFont typeface="Century Schoolbook"/>
              <a:buNone/>
            </a:pPr>
            <a:r>
              <a:rPr lang="es-AR" sz="2200" b="0" i="0" u="none" strike="noStrike" cap="none">
                <a:solidFill>
                  <a:srgbClr val="000000"/>
                </a:solidFill>
                <a:latin typeface="Century Schoolbook"/>
                <a:ea typeface="Century Schoolbook"/>
                <a:cs typeface="Century Schoolbook"/>
                <a:sym typeface="Century Schoolbook"/>
              </a:rPr>
              <a:t>Si la unidad que genera la excepción</a:t>
            </a:r>
            <a:r>
              <a:rPr lang="es-AR" sz="2200" b="1" i="0" u="none" strike="noStrike" cap="none">
                <a:solidFill>
                  <a:srgbClr val="000000"/>
                </a:solidFill>
                <a:latin typeface="Century Schoolbook"/>
                <a:ea typeface="Century Schoolbook"/>
                <a:cs typeface="Century Schoolbook"/>
                <a:sym typeface="Century Schoolbook"/>
              </a:rPr>
              <a:t> </a:t>
            </a:r>
            <a:r>
              <a:rPr lang="es-AR" sz="2200" b="1" i="0" u="sng" strike="noStrike" cap="none">
                <a:solidFill>
                  <a:srgbClr val="000000"/>
                </a:solidFill>
                <a:latin typeface="Century Schoolbook"/>
                <a:ea typeface="Century Schoolbook"/>
                <a:cs typeface="Century Schoolbook"/>
                <a:sym typeface="Century Schoolbook"/>
              </a:rPr>
              <a:t>no </a:t>
            </a:r>
            <a:r>
              <a:rPr lang="es-AR" sz="2200" b="1" i="0" u="none" strike="noStrike" cap="none">
                <a:solidFill>
                  <a:srgbClr val="000000"/>
                </a:solidFill>
                <a:latin typeface="Century Schoolbook"/>
                <a:ea typeface="Century Schoolbook"/>
                <a:cs typeface="Century Schoolbook"/>
                <a:sym typeface="Century Schoolbook"/>
              </a:rPr>
              <a:t>proporciona un manejador, se debe buscar ese manejador dinámica-mente.</a:t>
            </a:r>
            <a:endParaRPr sz="2200" b="0" i="0" u="none" strike="noStrike" cap="none">
              <a:latin typeface="Arial"/>
              <a:ea typeface="Arial"/>
              <a:cs typeface="Arial"/>
              <a:sym typeface="Arial"/>
            </a:endParaRPr>
          </a:p>
          <a:p>
            <a:pPr marL="639360" marR="0" lvl="1" indent="-270000" algn="l" rtl="0">
              <a:lnSpc>
                <a:spcPct val="100000"/>
              </a:lnSpc>
              <a:spcBef>
                <a:spcPts val="400"/>
              </a:spcBef>
              <a:spcAft>
                <a:spcPts val="0"/>
              </a:spcAft>
              <a:buClr>
                <a:srgbClr val="FE8637"/>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Se termina la unidad</a:t>
            </a:r>
            <a:r>
              <a:rPr lang="es-AR" sz="2400" b="0" i="0" u="none" strike="noStrike" cap="none">
                <a:solidFill>
                  <a:srgbClr val="000000"/>
                </a:solidFill>
                <a:latin typeface="Century Schoolbook"/>
                <a:ea typeface="Century Schoolbook"/>
                <a:cs typeface="Century Schoolbook"/>
                <a:sym typeface="Century Schoolbook"/>
              </a:rPr>
              <a:t> (bloque, paquete, subprograma o tarea) dónde se produce la excepción.</a:t>
            </a:r>
            <a:endParaRPr sz="2400" b="0" i="0" u="none" strike="noStrike" cap="none">
              <a:latin typeface="Arial"/>
              <a:ea typeface="Arial"/>
              <a:cs typeface="Arial"/>
              <a:sym typeface="Arial"/>
            </a:endParaRPr>
          </a:p>
          <a:p>
            <a:pPr marL="639360" marR="0" lvl="1" indent="-270000" algn="l" rtl="0">
              <a:lnSpc>
                <a:spcPct val="100000"/>
              </a:lnSpc>
              <a:spcBef>
                <a:spcPts val="400"/>
              </a:spcBef>
              <a:spcAft>
                <a:spcPts val="0"/>
              </a:spcAft>
              <a:buClr>
                <a:srgbClr val="FE8637"/>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Si </a:t>
            </a:r>
            <a:r>
              <a:rPr lang="es-AR" sz="2400" b="0" i="0" u="none" strike="noStrike" cap="none">
                <a:solidFill>
                  <a:srgbClr val="000000"/>
                </a:solidFill>
                <a:latin typeface="Century Schoolbook"/>
                <a:ea typeface="Century Schoolbook"/>
                <a:cs typeface="Century Schoolbook"/>
                <a:sym typeface="Century Schoolbook"/>
              </a:rPr>
              <a:t>el manejador </a:t>
            </a:r>
            <a:r>
              <a:rPr lang="es-AR" sz="2400" b="1" i="0" u="none" strike="noStrike" cap="none">
                <a:solidFill>
                  <a:srgbClr val="000000"/>
                </a:solidFill>
                <a:latin typeface="Century Schoolbook"/>
                <a:ea typeface="Century Schoolbook"/>
                <a:cs typeface="Century Schoolbook"/>
                <a:sym typeface="Century Schoolbook"/>
              </a:rPr>
              <a:t>no se encuentra en ese lugar la excepción se propaga dinámicamente (quién lo llamó). Esto significa que se vuelve a levantar en otro ámbito.</a:t>
            </a:r>
            <a:endParaRPr sz="2400" b="0" i="0" u="none" strike="noStrike" cap="none">
              <a:latin typeface="Arial"/>
              <a:ea typeface="Arial"/>
              <a:cs typeface="Arial"/>
              <a:sym typeface="Arial"/>
            </a:endParaRPr>
          </a:p>
          <a:p>
            <a:pPr marL="639360" marR="0" lvl="1" indent="-270000" algn="l" rtl="0">
              <a:lnSpc>
                <a:spcPct val="100000"/>
              </a:lnSpc>
              <a:spcBef>
                <a:spcPts val="400"/>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Siempre </a:t>
            </a:r>
            <a:r>
              <a:rPr lang="es-AR" sz="2400" b="1" i="0" u="none" strike="noStrike" cap="none">
                <a:solidFill>
                  <a:srgbClr val="000000"/>
                </a:solidFill>
                <a:latin typeface="Century Schoolbook"/>
                <a:ea typeface="Century Schoolbook"/>
                <a:cs typeface="Century Schoolbook"/>
                <a:sym typeface="Century Schoolbook"/>
              </a:rPr>
              <a:t>tener en cuenta el alcance</a:t>
            </a:r>
            <a:r>
              <a:rPr lang="es-AR" sz="2400" b="0" i="0" u="none" strike="noStrike" cap="none">
                <a:solidFill>
                  <a:srgbClr val="000000"/>
                </a:solidFill>
                <a:latin typeface="Century Schoolbook"/>
                <a:ea typeface="Century Schoolbook"/>
                <a:cs typeface="Century Schoolbook"/>
                <a:sym typeface="Century Schoolbook"/>
              </a:rPr>
              <a:t>, puede </a:t>
            </a:r>
            <a:r>
              <a:rPr lang="es-AR" sz="2400" b="1" i="0" u="none" strike="noStrike" cap="none">
                <a:solidFill>
                  <a:srgbClr val="000000"/>
                </a:solidFill>
                <a:latin typeface="Century Schoolbook"/>
                <a:ea typeface="Century Schoolbook"/>
                <a:cs typeface="Century Schoolbook"/>
                <a:sym typeface="Century Schoolbook"/>
              </a:rPr>
              <a:t>convertirse en anónima</a:t>
            </a:r>
            <a:r>
              <a:rPr lang="es-AR" sz="2400" b="0" i="0" u="none" strike="noStrike" cap="none">
                <a:solidFill>
                  <a:srgbClr val="000000"/>
                </a:solidFill>
                <a:latin typeface="Century Schoolbook"/>
                <a:ea typeface="Century Schoolbook"/>
                <a:cs typeface="Century Schoolbook"/>
                <a:sym typeface="Century Schoolbook"/>
              </a:rPr>
              <a:t>. </a:t>
            </a:r>
            <a:r>
              <a:rPr lang="es-AR" sz="2400" b="1" i="0" u="none" strike="noStrike" cap="none">
                <a:solidFill>
                  <a:srgbClr val="000000"/>
                </a:solidFill>
                <a:latin typeface="Century Schoolbook"/>
                <a:ea typeface="Century Schoolbook"/>
                <a:cs typeface="Century Schoolbook"/>
                <a:sym typeface="Century Schoolbook"/>
              </a:rPr>
              <a:t>Al propagarse </a:t>
            </a:r>
            <a:r>
              <a:rPr lang="es-AR" sz="2400" b="0" i="0" u="none" strike="noStrike" cap="none">
                <a:solidFill>
                  <a:srgbClr val="000000"/>
                </a:solidFill>
                <a:latin typeface="Century Schoolbook"/>
                <a:ea typeface="Century Schoolbook"/>
                <a:cs typeface="Century Schoolbook"/>
                <a:sym typeface="Century Schoolbook"/>
              </a:rPr>
              <a:t>a o</a:t>
            </a:r>
            <a:r>
              <a:rPr lang="es-AR" sz="2400" b="1" i="0" u="none" strike="noStrike" cap="none">
                <a:solidFill>
                  <a:srgbClr val="000000"/>
                </a:solidFill>
                <a:latin typeface="Century Schoolbook"/>
                <a:ea typeface="Century Schoolbook"/>
                <a:cs typeface="Century Schoolbook"/>
                <a:sym typeface="Century Schoolbook"/>
              </a:rPr>
              <a:t>tras unidades</a:t>
            </a:r>
            <a:r>
              <a:rPr lang="es-AR" sz="2400" b="0" i="0" u="none" strike="noStrike" cap="none">
                <a:solidFill>
                  <a:srgbClr val="000000"/>
                </a:solidFill>
                <a:latin typeface="Century Schoolbook"/>
                <a:ea typeface="Century Schoolbook"/>
                <a:cs typeface="Century Schoolbook"/>
                <a:sym typeface="Century Schoolbook"/>
              </a:rPr>
              <a:t> la variable excepción declarada ya no está en el alcance y </a:t>
            </a:r>
            <a:r>
              <a:rPr lang="es-AR" sz="2400" b="1" i="0" u="none" strike="noStrike" cap="none">
                <a:solidFill>
                  <a:srgbClr val="000000"/>
                </a:solidFill>
                <a:latin typeface="Century Schoolbook"/>
                <a:ea typeface="Century Schoolbook"/>
                <a:cs typeface="Century Schoolbook"/>
                <a:sym typeface="Century Schoolbook"/>
              </a:rPr>
              <a:t>quedará sin nombre</a:t>
            </a:r>
            <a:r>
              <a:rPr lang="es-AR" sz="2400" b="0" i="0" u="none" strike="noStrike" cap="none">
                <a:solidFill>
                  <a:srgbClr val="000000"/>
                </a:solidFill>
                <a:latin typeface="Century Schoolbook"/>
                <a:ea typeface="Century Schoolbook"/>
                <a:cs typeface="Century Schoolbook"/>
                <a:sym typeface="Century Schoolbook"/>
              </a:rPr>
              <a:t> y </a:t>
            </a:r>
            <a:r>
              <a:rPr lang="es-AR" sz="2400" b="1" i="0" u="none" strike="noStrike" cap="none">
                <a:solidFill>
                  <a:srgbClr val="000000"/>
                </a:solidFill>
                <a:latin typeface="Century Schoolbook"/>
                <a:ea typeface="Century Schoolbook"/>
                <a:cs typeface="Century Schoolbook"/>
                <a:sym typeface="Century Schoolbook"/>
              </a:rPr>
              <a:t>entrará por when others</a:t>
            </a:r>
            <a:br>
              <a:rPr lang="es-AR" sz="2400" b="0" i="0" u="none" strike="noStrike" cap="none">
                <a:latin typeface="Arial"/>
                <a:ea typeface="Arial"/>
                <a:cs typeface="Arial"/>
                <a:sym typeface="Arial"/>
              </a:rPr>
            </a:br>
            <a:r>
              <a:rPr lang="es-AR" sz="2400" b="1" i="0" u="none" strike="noStrike" cap="none">
                <a:solidFill>
                  <a:srgbClr val="000000"/>
                </a:solidFill>
                <a:latin typeface="Arial"/>
                <a:ea typeface="Arial"/>
                <a:cs typeface="Arial"/>
                <a:sym typeface="Arial"/>
              </a:rPr>
              <a:t> </a:t>
            </a:r>
            <a:endParaRPr sz="2400" b="0" i="0" u="none" strike="noStrike" cap="none">
              <a:latin typeface="Arial"/>
              <a:ea typeface="Arial"/>
              <a:cs typeface="Arial"/>
              <a:sym typeface="Arial"/>
            </a:endParaRPr>
          </a:p>
        </p:txBody>
      </p:sp>
      <p:sp>
        <p:nvSpPr>
          <p:cNvPr id="575" name="Google Shape;575;p27"/>
          <p:cNvSpPr/>
          <p:nvPr/>
        </p:nvSpPr>
        <p:spPr>
          <a:xfrm>
            <a:off x="8246160" y="5832000"/>
            <a:ext cx="86184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27</a:t>
            </a:fld>
            <a:endParaRPr sz="1800" b="0" i="0" u="none" strike="noStrike" cap="none">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28"/>
          <p:cNvSpPr/>
          <p:nvPr/>
        </p:nvSpPr>
        <p:spPr>
          <a:xfrm>
            <a:off x="457200" y="5400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ADA</a:t>
            </a:r>
            <a:endParaRPr sz="3000" b="0" i="0" u="none" strike="noStrike" cap="none">
              <a:latin typeface="Arial"/>
              <a:ea typeface="Arial"/>
              <a:cs typeface="Arial"/>
              <a:sym typeface="Arial"/>
            </a:endParaRPr>
          </a:p>
        </p:txBody>
      </p:sp>
      <p:sp>
        <p:nvSpPr>
          <p:cNvPr id="582" name="Google Shape;582;p28"/>
          <p:cNvSpPr/>
          <p:nvPr/>
        </p:nvSpPr>
        <p:spPr>
          <a:xfrm>
            <a:off x="457200" y="1341360"/>
            <a:ext cx="8258400" cy="5129640"/>
          </a:xfrm>
          <a:prstGeom prst="rect">
            <a:avLst/>
          </a:prstGeom>
          <a:noFill/>
          <a:ln>
            <a:noFill/>
          </a:ln>
        </p:spPr>
        <p:txBody>
          <a:bodyPr spcFirstLastPara="1" wrap="square" lIns="90000" tIns="45000" rIns="90000" bIns="45000" anchor="t" anchorCtr="0">
            <a:noAutofit/>
          </a:bodyPr>
          <a:lstStyle/>
          <a:p>
            <a:pPr marL="2520" marR="0" lvl="0" indent="0" algn="l" rtl="0">
              <a:lnSpc>
                <a:spcPct val="100000"/>
              </a:lnSpc>
              <a:spcBef>
                <a:spcPts val="0"/>
              </a:spcBef>
              <a:spcAft>
                <a:spcPts val="0"/>
              </a:spcAft>
              <a:buClr>
                <a:srgbClr val="000000"/>
              </a:buClr>
              <a:buSzPts val="2400"/>
              <a:buFont typeface="Century Schoolbook"/>
              <a:buNone/>
            </a:pPr>
            <a:r>
              <a:rPr lang="es-AR" sz="2400" b="1" i="0" u="none" strike="noStrike" cap="none">
                <a:solidFill>
                  <a:srgbClr val="000000"/>
                </a:solidFill>
                <a:latin typeface="Century Schoolbook"/>
                <a:ea typeface="Century Schoolbook"/>
                <a:cs typeface="Century Schoolbook"/>
                <a:sym typeface="Century Schoolbook"/>
              </a:rPr>
              <a:t>Uso del Raise:</a:t>
            </a:r>
            <a:endParaRPr sz="2400" b="0" i="0" u="none" strike="noStrike" cap="none">
              <a:latin typeface="Arial"/>
              <a:ea typeface="Arial"/>
              <a:cs typeface="Arial"/>
              <a:sym typeface="Arial"/>
            </a:endParaRPr>
          </a:p>
          <a:p>
            <a:pPr marL="272520" marR="0" lvl="0" indent="-270000" algn="l"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La utilidad de </a:t>
            </a:r>
            <a:r>
              <a:rPr lang="es-AR" sz="2400" b="1" i="0" u="none" strike="noStrike" cap="none">
                <a:solidFill>
                  <a:srgbClr val="E46C0A"/>
                </a:solidFill>
                <a:latin typeface="Century Schoolbook"/>
                <a:ea typeface="Century Schoolbook"/>
                <a:cs typeface="Century Schoolbook"/>
                <a:sym typeface="Century Schoolbook"/>
              </a:rPr>
              <a:t>raise</a:t>
            </a:r>
            <a:r>
              <a:rPr lang="es-AR" sz="2400" b="0" i="0" u="none" strike="noStrike" cap="none">
                <a:solidFill>
                  <a:srgbClr val="E46C0A"/>
                </a:solidFill>
                <a:latin typeface="Century Schoolbook"/>
                <a:ea typeface="Century Schoolbook"/>
                <a:cs typeface="Century Schoolbook"/>
                <a:sym typeface="Century Schoolbook"/>
              </a:rPr>
              <a:t> </a:t>
            </a:r>
            <a:r>
              <a:rPr lang="es-AR" sz="2400" b="0" i="0" u="none" strike="noStrike" cap="none">
                <a:solidFill>
                  <a:srgbClr val="000000"/>
                </a:solidFill>
                <a:latin typeface="Century Schoolbook"/>
                <a:ea typeface="Century Schoolbook"/>
                <a:cs typeface="Century Schoolbook"/>
                <a:sym typeface="Century Schoolbook"/>
              </a:rPr>
              <a:t>es poder </a:t>
            </a:r>
            <a:r>
              <a:rPr lang="es-AR" sz="2400" b="1" i="0" u="none" strike="noStrike" cap="none">
                <a:solidFill>
                  <a:srgbClr val="000000"/>
                </a:solidFill>
                <a:latin typeface="Century Schoolbook"/>
                <a:ea typeface="Century Schoolbook"/>
                <a:cs typeface="Century Schoolbook"/>
                <a:sym typeface="Century Schoolbook"/>
              </a:rPr>
              <a:t>lanzar excepciones que pueden ser definidas por el programador.</a:t>
            </a:r>
            <a:endParaRPr sz="2400" b="0" i="0" u="none" strike="noStrike" cap="none">
              <a:latin typeface="Arial"/>
              <a:ea typeface="Arial"/>
              <a:cs typeface="Arial"/>
              <a:sym typeface="Arial"/>
            </a:endParaRPr>
          </a:p>
          <a:p>
            <a:pPr marL="272520" marR="0" lvl="0" indent="-270000" algn="l"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una excepción se puede </a:t>
            </a:r>
            <a:r>
              <a:rPr lang="es-AR" sz="2400" b="1" i="0" u="none" strike="noStrike" cap="none">
                <a:solidFill>
                  <a:srgbClr val="000000"/>
                </a:solidFill>
                <a:latin typeface="Century Schoolbook"/>
                <a:ea typeface="Century Schoolbook"/>
                <a:cs typeface="Century Schoolbook"/>
                <a:sym typeface="Century Schoolbook"/>
              </a:rPr>
              <a:t>levantar nuevamente</a:t>
            </a:r>
            <a:r>
              <a:rPr lang="es-AR" sz="2400" b="0" i="0" u="none" strike="noStrike" cap="none">
                <a:solidFill>
                  <a:srgbClr val="000000"/>
                </a:solidFill>
                <a:latin typeface="Century Schoolbook"/>
                <a:ea typeface="Century Schoolbook"/>
                <a:cs typeface="Century Schoolbook"/>
                <a:sym typeface="Century Schoolbook"/>
              </a:rPr>
              <a:t> colocando </a:t>
            </a:r>
            <a:r>
              <a:rPr lang="es-AR" sz="2400" b="1" i="0" u="none" strike="noStrike" cap="none">
                <a:solidFill>
                  <a:srgbClr val="000000"/>
                </a:solidFill>
                <a:latin typeface="Century Schoolbook"/>
                <a:ea typeface="Century Schoolbook"/>
                <a:cs typeface="Century Schoolbook"/>
                <a:sym typeface="Century Schoolbook"/>
              </a:rPr>
              <a:t>solo la palabra raise. </a:t>
            </a:r>
            <a:endParaRPr sz="2400" b="0" i="0" u="none" strike="noStrike" cap="none">
              <a:latin typeface="Arial"/>
              <a:ea typeface="Arial"/>
              <a:cs typeface="Arial"/>
              <a:sym typeface="Arial"/>
            </a:endParaRPr>
          </a:p>
          <a:p>
            <a:pPr marL="272520" marR="0" lvl="0" indent="-270000" algn="l" rtl="0">
              <a:lnSpc>
                <a:spcPct val="100000"/>
              </a:lnSpc>
              <a:spcBef>
                <a:spcPts val="601"/>
              </a:spcBef>
              <a:spcAft>
                <a:spcPts val="0"/>
              </a:spcAft>
              <a:buClr>
                <a:srgbClr val="FE8637"/>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Para qué?</a:t>
            </a:r>
            <a:r>
              <a:rPr lang="es-AR" sz="2400" b="0" i="0" u="none" strike="noStrike" cap="none">
                <a:solidFill>
                  <a:srgbClr val="000000"/>
                </a:solidFill>
                <a:latin typeface="Century Schoolbook"/>
                <a:ea typeface="Century Schoolbook"/>
                <a:cs typeface="Century Schoolbook"/>
                <a:sym typeface="Century Schoolbook"/>
              </a:rPr>
              <a:t> el </a:t>
            </a:r>
            <a:r>
              <a:rPr lang="es-AR" sz="2400" b="1" i="0" u="none" strike="noStrike" cap="none">
                <a:solidFill>
                  <a:srgbClr val="000000"/>
                </a:solidFill>
                <a:latin typeface="Century Schoolbook"/>
                <a:ea typeface="Century Schoolbook"/>
                <a:cs typeface="Century Schoolbook"/>
                <a:sym typeface="Century Schoolbook"/>
              </a:rPr>
              <a:t>manejador </a:t>
            </a:r>
            <a:r>
              <a:rPr lang="es-AR" sz="2400" b="0" i="0" u="none" strike="noStrike" cap="none">
                <a:solidFill>
                  <a:srgbClr val="000000"/>
                </a:solidFill>
                <a:latin typeface="Century Schoolbook"/>
                <a:ea typeface="Century Schoolbook"/>
                <a:cs typeface="Century Schoolbook"/>
                <a:sym typeface="Century Schoolbook"/>
              </a:rPr>
              <a:t>podría </a:t>
            </a:r>
            <a:r>
              <a:rPr lang="es-AR" sz="2400" b="1" i="0" u="none" strike="noStrike" cap="none">
                <a:solidFill>
                  <a:srgbClr val="000000"/>
                </a:solidFill>
                <a:latin typeface="Century Schoolbook"/>
                <a:ea typeface="Century Schoolbook"/>
                <a:cs typeface="Century Schoolbook"/>
                <a:sym typeface="Century Schoolbook"/>
              </a:rPr>
              <a:t>realizar </a:t>
            </a:r>
            <a:r>
              <a:rPr lang="es-AR" sz="2400" b="0" i="0" u="none" strike="noStrike" cap="none">
                <a:solidFill>
                  <a:srgbClr val="000000"/>
                </a:solidFill>
                <a:latin typeface="Century Schoolbook"/>
                <a:ea typeface="Century Schoolbook"/>
                <a:cs typeface="Century Schoolbook"/>
                <a:sym typeface="Century Schoolbook"/>
              </a:rPr>
              <a:t>algunas </a:t>
            </a:r>
            <a:r>
              <a:rPr lang="es-AR" sz="2400" b="1" i="0" u="none" strike="noStrike" cap="none">
                <a:solidFill>
                  <a:srgbClr val="000000"/>
                </a:solidFill>
                <a:latin typeface="Century Schoolbook"/>
                <a:ea typeface="Century Schoolbook"/>
                <a:cs typeface="Century Schoolbook"/>
                <a:sym typeface="Century Schoolbook"/>
              </a:rPr>
              <a:t>acciones de recuperación </a:t>
            </a:r>
            <a:r>
              <a:rPr lang="es-AR" sz="2400" b="0" i="0" u="none" strike="noStrike" cap="none">
                <a:solidFill>
                  <a:srgbClr val="000000"/>
                </a:solidFill>
                <a:latin typeface="Century Schoolbook"/>
                <a:ea typeface="Century Schoolbook"/>
                <a:cs typeface="Century Schoolbook"/>
                <a:sym typeface="Century Schoolbook"/>
              </a:rPr>
              <a:t>y luego utilizar </a:t>
            </a:r>
            <a:r>
              <a:rPr lang="es-AR" sz="2400" b="1" i="0" u="none" strike="noStrike" cap="none">
                <a:solidFill>
                  <a:srgbClr val="000000"/>
                </a:solidFill>
                <a:latin typeface="Century Schoolbook"/>
                <a:ea typeface="Century Schoolbook"/>
                <a:cs typeface="Century Schoolbook"/>
                <a:sym typeface="Century Schoolbook"/>
              </a:rPr>
              <a:t>raise</a:t>
            </a:r>
            <a:r>
              <a:rPr lang="es-AR" sz="2400" b="0" i="0" u="none" strike="noStrike" cap="none">
                <a:solidFill>
                  <a:srgbClr val="000000"/>
                </a:solidFill>
                <a:latin typeface="Century Schoolbook"/>
                <a:ea typeface="Century Schoolbook"/>
                <a:cs typeface="Century Schoolbook"/>
                <a:sym typeface="Century Schoolbook"/>
              </a:rPr>
              <a:t> para </a:t>
            </a:r>
            <a:r>
              <a:rPr lang="es-AR" sz="2400" b="1" i="0" u="none" strike="noStrike" cap="none">
                <a:solidFill>
                  <a:srgbClr val="000000"/>
                </a:solidFill>
                <a:latin typeface="Century Schoolbook"/>
                <a:ea typeface="Century Schoolbook"/>
                <a:cs typeface="Century Schoolbook"/>
                <a:sym typeface="Century Schoolbook"/>
              </a:rPr>
              <a:t>volver a lanzar la excepción</a:t>
            </a:r>
            <a:r>
              <a:rPr lang="es-AR" sz="2400" b="0" i="0" u="none" strike="noStrike" cap="none">
                <a:solidFill>
                  <a:srgbClr val="000000"/>
                </a:solidFill>
                <a:latin typeface="Century Schoolbook"/>
                <a:ea typeface="Century Schoolbook"/>
                <a:cs typeface="Century Schoolbook"/>
                <a:sym typeface="Century Schoolbook"/>
              </a:rPr>
              <a:t> y permitir que </a:t>
            </a:r>
            <a:r>
              <a:rPr lang="es-AR" sz="2400" b="1" i="0" u="none" strike="noStrike" cap="none">
                <a:solidFill>
                  <a:srgbClr val="000000"/>
                </a:solidFill>
                <a:latin typeface="Century Schoolbook"/>
                <a:ea typeface="Century Schoolbook"/>
                <a:cs typeface="Century Schoolbook"/>
                <a:sym typeface="Century Schoolbook"/>
              </a:rPr>
              <a:t>se propague</a:t>
            </a:r>
            <a:r>
              <a:rPr lang="es-AR" sz="2400" b="0" i="0" u="none" strike="noStrike" cap="none">
                <a:solidFill>
                  <a:srgbClr val="000000"/>
                </a:solidFill>
                <a:latin typeface="Century Schoolbook"/>
                <a:ea typeface="Century Schoolbook"/>
                <a:cs typeface="Century Schoolbook"/>
                <a:sym typeface="Century Schoolbook"/>
              </a:rPr>
              <a:t> </a:t>
            </a:r>
            <a:r>
              <a:rPr lang="es-AR" sz="2400" b="1" i="0" u="none" strike="noStrike" cap="none">
                <a:solidFill>
                  <a:srgbClr val="000000"/>
                </a:solidFill>
                <a:latin typeface="Century Schoolbook"/>
                <a:ea typeface="Century Schoolbook"/>
                <a:cs typeface="Century Schoolbook"/>
                <a:sym typeface="Century Schoolbook"/>
              </a:rPr>
              <a:t>más arriba en la jerarquía de manejo de excepciones.</a:t>
            </a:r>
            <a:br>
              <a:rPr lang="es-AR" sz="2400" b="0" i="0" u="none" strike="noStrike" cap="none">
                <a:latin typeface="Arial"/>
                <a:ea typeface="Arial"/>
                <a:cs typeface="Arial"/>
                <a:sym typeface="Arial"/>
              </a:rPr>
            </a:br>
            <a:r>
              <a:rPr lang="es-AR" sz="2400" b="1" i="0" u="none" strike="noStrike" cap="none">
                <a:solidFill>
                  <a:srgbClr val="000000"/>
                </a:solidFill>
                <a:latin typeface="Century Schoolbook"/>
                <a:ea typeface="Century Schoolbook"/>
                <a:cs typeface="Century Schoolbook"/>
                <a:sym typeface="Century Schoolbook"/>
              </a:rPr>
              <a:t> </a:t>
            </a:r>
            <a:endParaRPr sz="2400" b="0" i="0" u="none" strike="noStrike" cap="none">
              <a:latin typeface="Arial"/>
              <a:ea typeface="Arial"/>
              <a:cs typeface="Arial"/>
              <a:sym typeface="Arial"/>
            </a:endParaRPr>
          </a:p>
        </p:txBody>
      </p:sp>
      <p:sp>
        <p:nvSpPr>
          <p:cNvPr id="583" name="Google Shape;583;p28"/>
          <p:cNvSpPr/>
          <p:nvPr/>
        </p:nvSpPr>
        <p:spPr>
          <a:xfrm>
            <a:off x="8246160" y="58176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28</a:t>
            </a:fld>
            <a:endParaRPr sz="1800" b="0" i="0" u="none" strike="noStrike" cap="none">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29"/>
          <p:cNvSpPr/>
          <p:nvPr/>
        </p:nvSpPr>
        <p:spPr>
          <a:xfrm>
            <a:off x="468360" y="0"/>
            <a:ext cx="7464600" cy="83376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ADA</a:t>
            </a:r>
            <a:endParaRPr sz="3000" b="0" i="0" u="none" strike="noStrike" cap="none">
              <a:latin typeface="Arial"/>
              <a:ea typeface="Arial"/>
              <a:cs typeface="Arial"/>
              <a:sym typeface="Arial"/>
            </a:endParaRPr>
          </a:p>
        </p:txBody>
      </p:sp>
      <p:sp>
        <p:nvSpPr>
          <p:cNvPr id="590" name="Google Shape;590;p29"/>
          <p:cNvSpPr/>
          <p:nvPr/>
        </p:nvSpPr>
        <p:spPr>
          <a:xfrm>
            <a:off x="8246160" y="58032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29</a:t>
            </a:fld>
            <a:endParaRPr sz="1800" b="0" i="0" u="none" strike="noStrike" cap="none">
              <a:latin typeface="Arial"/>
              <a:ea typeface="Arial"/>
              <a:cs typeface="Arial"/>
              <a:sym typeface="Arial"/>
            </a:endParaRPr>
          </a:p>
        </p:txBody>
      </p:sp>
      <p:pic>
        <p:nvPicPr>
          <p:cNvPr id="591" name="Google Shape;591;p29" descr="Texto, Correo electrónico&#10;&#10;Descripción generada automáticamente"/>
          <p:cNvPicPr preferRelativeResize="0"/>
          <p:nvPr/>
        </p:nvPicPr>
        <p:blipFill rotWithShape="1">
          <a:blip r:embed="rId3">
            <a:alphaModFix/>
          </a:blip>
          <a:srcRect/>
          <a:stretch/>
        </p:blipFill>
        <p:spPr>
          <a:xfrm>
            <a:off x="-5760" y="678240"/>
            <a:ext cx="8881920" cy="2596680"/>
          </a:xfrm>
          <a:prstGeom prst="rect">
            <a:avLst/>
          </a:prstGeom>
          <a:noFill/>
          <a:ln>
            <a:noFill/>
          </a:ln>
        </p:spPr>
      </p:pic>
      <p:sp>
        <p:nvSpPr>
          <p:cNvPr id="592" name="Google Shape;592;p29"/>
          <p:cNvSpPr/>
          <p:nvPr/>
        </p:nvSpPr>
        <p:spPr>
          <a:xfrm>
            <a:off x="66240" y="3157200"/>
            <a:ext cx="8666280" cy="33444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onsolas"/>
              <a:buNone/>
            </a:pPr>
            <a:r>
              <a:rPr lang="es-AR" sz="1600" b="1" i="0" u="none" strike="noStrike" cap="none">
                <a:solidFill>
                  <a:srgbClr val="000000"/>
                </a:solidFill>
                <a:latin typeface="Consolas"/>
                <a:ea typeface="Consolas"/>
                <a:cs typeface="Consolas"/>
                <a:sym typeface="Consolas"/>
              </a:rPr>
              <a:t>Resultado: raised CONSTRAINT_ERROR : excepciones.adb:7 divide by zero</a:t>
            </a:r>
            <a:endParaRPr sz="1600" b="0" i="0" u="none" strike="noStrike" cap="none">
              <a:latin typeface="Arial"/>
              <a:ea typeface="Arial"/>
              <a:cs typeface="Arial"/>
              <a:sym typeface="Arial"/>
            </a:endParaRPr>
          </a:p>
        </p:txBody>
      </p:sp>
      <p:pic>
        <p:nvPicPr>
          <p:cNvPr id="593" name="Google Shape;593;p29" descr="Texto&#10;&#10;Descripción generada automáticamente"/>
          <p:cNvPicPr preferRelativeResize="0"/>
          <p:nvPr/>
        </p:nvPicPr>
        <p:blipFill rotWithShape="1">
          <a:blip r:embed="rId4">
            <a:alphaModFix/>
          </a:blip>
          <a:srcRect/>
          <a:stretch/>
        </p:blipFill>
        <p:spPr>
          <a:xfrm>
            <a:off x="-48960" y="3743280"/>
            <a:ext cx="8925120" cy="2692080"/>
          </a:xfrm>
          <a:prstGeom prst="rect">
            <a:avLst/>
          </a:prstGeom>
          <a:noFill/>
          <a:ln>
            <a:noFill/>
          </a:ln>
        </p:spPr>
      </p:pic>
      <p:sp>
        <p:nvSpPr>
          <p:cNvPr id="594" name="Google Shape;594;p29"/>
          <p:cNvSpPr/>
          <p:nvPr/>
        </p:nvSpPr>
        <p:spPr>
          <a:xfrm>
            <a:off x="66240" y="6435360"/>
            <a:ext cx="8666280" cy="33444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onsolas"/>
              <a:buNone/>
            </a:pPr>
            <a:r>
              <a:rPr lang="es-AR" sz="1600" b="1" i="0" u="none" strike="noStrike" cap="none">
                <a:solidFill>
                  <a:srgbClr val="000000"/>
                </a:solidFill>
                <a:latin typeface="Consolas"/>
                <a:ea typeface="Consolas"/>
                <a:cs typeface="Consolas"/>
                <a:sym typeface="Consolas"/>
              </a:rPr>
              <a:t>Resultado: Intento de dividir por 0</a:t>
            </a:r>
            <a:endParaRPr sz="1600" b="0" i="0" u="none" strike="noStrike" cap="none">
              <a:latin typeface="Arial"/>
              <a:ea typeface="Arial"/>
              <a:cs typeface="Arial"/>
              <a:sym typeface="Arial"/>
            </a:endParaRPr>
          </a:p>
        </p:txBody>
      </p:sp>
      <p:sp>
        <p:nvSpPr>
          <p:cNvPr id="595" name="Google Shape;595;p29"/>
          <p:cNvSpPr/>
          <p:nvPr/>
        </p:nvSpPr>
        <p:spPr>
          <a:xfrm>
            <a:off x="4623840" y="3919320"/>
            <a:ext cx="4108680" cy="36540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onsolas"/>
              <a:buNone/>
            </a:pPr>
            <a:r>
              <a:rPr lang="es-AR" sz="1800" b="1" i="0" u="none" strike="noStrike" cap="none">
                <a:solidFill>
                  <a:srgbClr val="000000"/>
                </a:solidFill>
                <a:latin typeface="Consolas"/>
                <a:ea typeface="Consolas"/>
                <a:cs typeface="Consolas"/>
                <a:sym typeface="Consolas"/>
              </a:rPr>
              <a:t> excepción del programador</a:t>
            </a:r>
            <a:endParaRPr sz="1800" b="0" i="0" u="none" strike="noStrike" cap="none">
              <a:latin typeface="Arial"/>
              <a:ea typeface="Arial"/>
              <a:cs typeface="Arial"/>
              <a:sym typeface="Arial"/>
            </a:endParaRPr>
          </a:p>
        </p:txBody>
      </p:sp>
      <p:sp>
        <p:nvSpPr>
          <p:cNvPr id="596" name="Google Shape;596;p29"/>
          <p:cNvSpPr/>
          <p:nvPr/>
        </p:nvSpPr>
        <p:spPr>
          <a:xfrm>
            <a:off x="4192560" y="972000"/>
            <a:ext cx="4467960" cy="63972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onsolas"/>
              <a:buNone/>
            </a:pPr>
            <a:r>
              <a:rPr lang="es-AR" sz="1800" b="1" i="0" u="none" strike="noStrike" cap="none">
                <a:solidFill>
                  <a:srgbClr val="000000"/>
                </a:solidFill>
                <a:latin typeface="Consolas"/>
                <a:ea typeface="Consolas"/>
                <a:cs typeface="Consolas"/>
                <a:sym typeface="Consolas"/>
              </a:rPr>
              <a:t> excepción built-in (predefinidas)</a:t>
            </a:r>
            <a:endParaRPr sz="1800" b="0" i="0" u="none" strike="noStrike" cap="none">
              <a:latin typeface="Arial"/>
              <a:ea typeface="Arial"/>
              <a:cs typeface="Arial"/>
              <a:sym typeface="Arial"/>
            </a:endParaRPr>
          </a:p>
        </p:txBody>
      </p:sp>
      <p:sp>
        <p:nvSpPr>
          <p:cNvPr id="597" name="Google Shape;597;p29"/>
          <p:cNvSpPr/>
          <p:nvPr/>
        </p:nvSpPr>
        <p:spPr>
          <a:xfrm flipH="1">
            <a:off x="2800800" y="4395240"/>
            <a:ext cx="4232160" cy="1216080"/>
          </a:xfrm>
          <a:custGeom>
            <a:avLst/>
            <a:gdLst/>
            <a:ahLst/>
            <a:cxnLst/>
            <a:rect l="l" t="t" r="r" b="b"/>
            <a:pathLst>
              <a:path w="21600" h="21600" extrusionOk="0">
                <a:moveTo>
                  <a:pt x="0" y="0"/>
                </a:moveTo>
                <a:lnTo>
                  <a:pt x="21600" y="21600"/>
                </a:lnTo>
              </a:path>
            </a:pathLst>
          </a:custGeom>
          <a:noFill/>
          <a:ln w="25400" cap="flat" cmpd="sng">
            <a:solidFill>
              <a:srgbClr val="C0504D"/>
            </a:solidFill>
            <a:prstDash val="solid"/>
            <a:miter lim="8000"/>
            <a:headEnd type="none" w="sm" len="sm"/>
            <a:tailEnd type="triangle" w="med" len="med"/>
          </a:ln>
          <a:effectLst>
            <a:outerShdw blurRad="39960" dist="20160" dir="5400000" rotWithShape="0">
              <a:srgbClr val="000000">
                <a:alpha val="37647"/>
              </a:srgbClr>
            </a:outerShdw>
          </a:effectLst>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30"/>
          <p:cNvSpPr/>
          <p:nvPr/>
        </p:nvSpPr>
        <p:spPr>
          <a:xfrm>
            <a:off x="468360" y="0"/>
            <a:ext cx="7464600" cy="83376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ADA</a:t>
            </a:r>
            <a:endParaRPr sz="3000" b="0" i="0" u="none" strike="noStrike" cap="none">
              <a:latin typeface="Arial"/>
              <a:ea typeface="Arial"/>
              <a:cs typeface="Arial"/>
              <a:sym typeface="Arial"/>
            </a:endParaRPr>
          </a:p>
        </p:txBody>
      </p:sp>
      <p:sp>
        <p:nvSpPr>
          <p:cNvPr id="603" name="Google Shape;603;p30"/>
          <p:cNvSpPr/>
          <p:nvPr/>
        </p:nvSpPr>
        <p:spPr>
          <a:xfrm>
            <a:off x="457200" y="1600200"/>
            <a:ext cx="7464600" cy="487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04" name="Google Shape;604;p30"/>
          <p:cNvPicPr preferRelativeResize="0"/>
          <p:nvPr/>
        </p:nvPicPr>
        <p:blipFill rotWithShape="1">
          <a:blip r:embed="rId3">
            <a:alphaModFix/>
          </a:blip>
          <a:srcRect/>
          <a:stretch/>
        </p:blipFill>
        <p:spPr>
          <a:xfrm>
            <a:off x="234720" y="850320"/>
            <a:ext cx="7885440" cy="5613840"/>
          </a:xfrm>
          <a:prstGeom prst="rect">
            <a:avLst/>
          </a:prstGeom>
          <a:noFill/>
          <a:ln>
            <a:noFill/>
          </a:ln>
        </p:spPr>
      </p:pic>
      <p:sp>
        <p:nvSpPr>
          <p:cNvPr id="605" name="Google Shape;605;p30"/>
          <p:cNvSpPr/>
          <p:nvPr/>
        </p:nvSpPr>
        <p:spPr>
          <a:xfrm>
            <a:off x="8246160" y="58032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30</a:t>
            </a:fld>
            <a:endParaRPr sz="1800" b="0" i="0" u="none" strike="noStrike" cap="none">
              <a:latin typeface="Arial"/>
              <a:ea typeface="Arial"/>
              <a:cs typeface="Arial"/>
              <a:sym typeface="Arial"/>
            </a:endParaRPr>
          </a:p>
        </p:txBody>
      </p:sp>
      <p:sp>
        <p:nvSpPr>
          <p:cNvPr id="606" name="Google Shape;606;p30"/>
          <p:cNvSpPr/>
          <p:nvPr/>
        </p:nvSpPr>
        <p:spPr>
          <a:xfrm>
            <a:off x="388440" y="1991520"/>
            <a:ext cx="8280" cy="2380680"/>
          </a:xfrm>
          <a:custGeom>
            <a:avLst/>
            <a:gdLst/>
            <a:ahLst/>
            <a:cxnLst/>
            <a:rect l="l" t="t" r="r" b="b"/>
            <a:pathLst>
              <a:path w="21600" h="21600" extrusionOk="0">
                <a:moveTo>
                  <a:pt x="0" y="0"/>
                </a:moveTo>
                <a:lnTo>
                  <a:pt x="21600" y="21600"/>
                </a:lnTo>
              </a:path>
            </a:pathLst>
          </a:custGeom>
          <a:noFill/>
          <a:ln w="38100" cap="flat" cmpd="sng">
            <a:solidFill>
              <a:srgbClr val="4F81BD"/>
            </a:solidFill>
            <a:prstDash val="solid"/>
            <a:miter lim="8000"/>
            <a:headEnd type="none" w="sm" len="sm"/>
            <a:tailEnd type="none" w="sm" len="sm"/>
          </a:ln>
          <a:effectLst>
            <a:outerShdw blurRad="39960" dist="23040" dir="5400000" rotWithShape="0">
              <a:srgbClr val="000000">
                <a:alpha val="34901"/>
              </a:srgbClr>
            </a:outerShdw>
          </a:effectLst>
        </p:spPr>
      </p:sp>
      <p:sp>
        <p:nvSpPr>
          <p:cNvPr id="607" name="Google Shape;607;p30"/>
          <p:cNvSpPr/>
          <p:nvPr/>
        </p:nvSpPr>
        <p:spPr>
          <a:xfrm>
            <a:off x="230040" y="941760"/>
            <a:ext cx="8280" cy="5399640"/>
          </a:xfrm>
          <a:custGeom>
            <a:avLst/>
            <a:gdLst/>
            <a:ahLst/>
            <a:cxnLst/>
            <a:rect l="l" t="t" r="r" b="b"/>
            <a:pathLst>
              <a:path w="21600" h="21600" extrusionOk="0">
                <a:moveTo>
                  <a:pt x="0" y="0"/>
                </a:moveTo>
                <a:lnTo>
                  <a:pt x="21600" y="21600"/>
                </a:lnTo>
              </a:path>
            </a:pathLst>
          </a:custGeom>
          <a:noFill/>
          <a:ln w="38100" cap="flat" cmpd="sng">
            <a:solidFill>
              <a:srgbClr val="4F81BD"/>
            </a:solidFill>
            <a:prstDash val="solid"/>
            <a:miter lim="8000"/>
            <a:headEnd type="none" w="sm" len="sm"/>
            <a:tailEnd type="none" w="sm" len="sm"/>
          </a:ln>
          <a:effectLst>
            <a:outerShdw blurRad="39960" dist="23040" dir="5400000" rotWithShape="0">
              <a:srgbClr val="000000">
                <a:alpha val="34901"/>
              </a:srgbClr>
            </a:outerShdw>
          </a:effectLst>
        </p:spPr>
      </p:sp>
      <p:sp>
        <p:nvSpPr>
          <p:cNvPr id="608" name="Google Shape;608;p30"/>
          <p:cNvSpPr/>
          <p:nvPr/>
        </p:nvSpPr>
        <p:spPr>
          <a:xfrm>
            <a:off x="2594880" y="3579840"/>
            <a:ext cx="258480" cy="330480"/>
          </a:xfrm>
          <a:prstGeom prst="ellipse">
            <a:avLst/>
          </a:prstGeom>
          <a:noFill/>
          <a:ln w="25400" cap="flat" cmpd="sng">
            <a:solidFill>
              <a:srgbClr val="22385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0"/>
          <p:cNvSpPr/>
          <p:nvPr/>
        </p:nvSpPr>
        <p:spPr>
          <a:xfrm>
            <a:off x="2594880" y="5492160"/>
            <a:ext cx="258480" cy="316080"/>
          </a:xfrm>
          <a:prstGeom prst="ellipse">
            <a:avLst/>
          </a:prstGeom>
          <a:noFill/>
          <a:ln w="25400" cap="flat" cmpd="sng">
            <a:solidFill>
              <a:srgbClr val="22385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0"/>
          <p:cNvSpPr/>
          <p:nvPr/>
        </p:nvSpPr>
        <p:spPr>
          <a:xfrm>
            <a:off x="3112560" y="5808240"/>
            <a:ext cx="258480" cy="330480"/>
          </a:xfrm>
          <a:prstGeom prst="ellipse">
            <a:avLst/>
          </a:prstGeom>
          <a:noFill/>
          <a:ln w="25400" cap="flat" cmpd="sng">
            <a:solidFill>
              <a:srgbClr val="22385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0"/>
          <p:cNvSpPr/>
          <p:nvPr/>
        </p:nvSpPr>
        <p:spPr>
          <a:xfrm>
            <a:off x="7628040" y="3340800"/>
            <a:ext cx="995760" cy="2281320"/>
          </a:xfrm>
          <a:prstGeom prst="rect">
            <a:avLst/>
          </a:prstGeom>
          <a:solidFill>
            <a:srgbClr val="FFFFFF"/>
          </a:solidFill>
          <a:ln w="25400" cap="flat" cmpd="sng">
            <a:solidFill>
              <a:srgbClr val="000000"/>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onsolas"/>
              <a:buNone/>
            </a:pPr>
            <a:r>
              <a:rPr lang="es-AR" sz="1600" b="0" i="0" u="none" strike="noStrike" cap="none">
                <a:solidFill>
                  <a:srgbClr val="000000"/>
                </a:solidFill>
                <a:latin typeface="Consolas"/>
                <a:ea typeface="Consolas"/>
                <a:cs typeface="Consolas"/>
                <a:sym typeface="Consolas"/>
              </a:rPr>
              <a:t>Por el raise busca la excepcion sin nombre afuera</a:t>
            </a:r>
            <a:endParaRPr sz="1600" b="0" i="0" u="none" strike="noStrike" cap="none">
              <a:latin typeface="Arial"/>
              <a:ea typeface="Arial"/>
              <a:cs typeface="Arial"/>
              <a:sym typeface="Arial"/>
            </a:endParaRPr>
          </a:p>
        </p:txBody>
      </p:sp>
      <p:sp>
        <p:nvSpPr>
          <p:cNvPr id="612" name="Google Shape;612;p30"/>
          <p:cNvSpPr/>
          <p:nvPr/>
        </p:nvSpPr>
        <p:spPr>
          <a:xfrm flipH="1">
            <a:off x="2554560" y="3013920"/>
            <a:ext cx="1443240" cy="511560"/>
          </a:xfrm>
          <a:custGeom>
            <a:avLst/>
            <a:gdLst/>
            <a:ahLst/>
            <a:cxnLst/>
            <a:rect l="l" t="t" r="r" b="b"/>
            <a:pathLst>
              <a:path w="21600" h="21600" extrusionOk="0">
                <a:moveTo>
                  <a:pt x="0" y="0"/>
                </a:moveTo>
                <a:lnTo>
                  <a:pt x="21600" y="21600"/>
                </a:lnTo>
              </a:path>
            </a:pathLst>
          </a:custGeom>
          <a:noFill/>
          <a:ln w="25400" cap="flat" cmpd="sng">
            <a:solidFill>
              <a:srgbClr val="C0504D"/>
            </a:solidFill>
            <a:prstDash val="solid"/>
            <a:miter lim="8000"/>
            <a:headEnd type="none" w="sm" len="sm"/>
            <a:tailEnd type="triangle" w="med" len="med"/>
          </a:ln>
          <a:effectLst>
            <a:outerShdw blurRad="39960" dist="20160" dir="5400000" rotWithShape="0">
              <a:srgbClr val="000000">
                <a:alpha val="37647"/>
              </a:srgbClr>
            </a:outerShdw>
          </a:effectLst>
        </p:spPr>
      </p:sp>
      <p:sp>
        <p:nvSpPr>
          <p:cNvPr id="613" name="Google Shape;613;p30"/>
          <p:cNvSpPr/>
          <p:nvPr/>
        </p:nvSpPr>
        <p:spPr>
          <a:xfrm>
            <a:off x="6362640" y="2348640"/>
            <a:ext cx="1671480" cy="821160"/>
          </a:xfrm>
          <a:prstGeom prst="rect">
            <a:avLst/>
          </a:prstGeom>
          <a:solidFill>
            <a:srgbClr val="FFFFFF"/>
          </a:solidFill>
          <a:ln w="25400" cap="flat" cmpd="sng">
            <a:solidFill>
              <a:srgbClr val="000000"/>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onsolas"/>
              <a:buNone/>
            </a:pPr>
            <a:r>
              <a:rPr lang="es-AR" sz="1600" b="0" i="0" u="none" strike="noStrike" cap="none">
                <a:solidFill>
                  <a:srgbClr val="000000"/>
                </a:solidFill>
                <a:latin typeface="Consolas"/>
                <a:ea typeface="Consolas"/>
                <a:cs typeface="Consolas"/>
                <a:sym typeface="Consolas"/>
              </a:rPr>
              <a:t>Si levanta la excepcion </a:t>
            </a:r>
            <a:r>
              <a:rPr lang="es-AR" sz="1600" b="1" i="0" u="none" strike="noStrike" cap="none">
                <a:solidFill>
                  <a:srgbClr val="000000"/>
                </a:solidFill>
                <a:latin typeface="Consolas"/>
                <a:ea typeface="Consolas"/>
                <a:cs typeface="Consolas"/>
                <a:sym typeface="Consolas"/>
              </a:rPr>
              <a:t>e1</a:t>
            </a:r>
            <a:endParaRPr sz="1600" b="0" i="0" u="none" strike="noStrike" cap="none">
              <a:latin typeface="Arial"/>
              <a:ea typeface="Arial"/>
              <a:cs typeface="Arial"/>
              <a:sym typeface="Arial"/>
            </a:endParaRPr>
          </a:p>
        </p:txBody>
      </p:sp>
      <p:sp>
        <p:nvSpPr>
          <p:cNvPr id="614" name="Google Shape;614;p30"/>
          <p:cNvSpPr/>
          <p:nvPr/>
        </p:nvSpPr>
        <p:spPr>
          <a:xfrm flipH="1">
            <a:off x="3734280" y="2884680"/>
            <a:ext cx="3082320" cy="1187280"/>
          </a:xfrm>
          <a:custGeom>
            <a:avLst/>
            <a:gdLst/>
            <a:ahLst/>
            <a:cxnLst/>
            <a:rect l="l" t="t" r="r" b="b"/>
            <a:pathLst>
              <a:path w="21600" h="21600" extrusionOk="0">
                <a:moveTo>
                  <a:pt x="0" y="0"/>
                </a:moveTo>
                <a:lnTo>
                  <a:pt x="21600" y="21600"/>
                </a:lnTo>
              </a:path>
            </a:pathLst>
          </a:custGeom>
          <a:noFill/>
          <a:ln w="25400" cap="flat" cmpd="sng">
            <a:solidFill>
              <a:srgbClr val="C0504D"/>
            </a:solidFill>
            <a:prstDash val="solid"/>
            <a:miter lim="8000"/>
            <a:headEnd type="none" w="sm" len="sm"/>
            <a:tailEnd type="triangle" w="med" len="med"/>
          </a:ln>
          <a:effectLst>
            <a:outerShdw blurRad="39960" dist="20160" dir="5400000" rotWithShape="0">
              <a:srgbClr val="000000">
                <a:alpha val="37647"/>
              </a:srgbClr>
            </a:outerShdw>
          </a:effectLst>
        </p:spPr>
      </p:sp>
      <p:sp>
        <p:nvSpPr>
          <p:cNvPr id="615" name="Google Shape;615;p30"/>
          <p:cNvSpPr/>
          <p:nvPr/>
        </p:nvSpPr>
        <p:spPr>
          <a:xfrm flipH="1">
            <a:off x="3993120" y="4581000"/>
            <a:ext cx="1687680" cy="1172880"/>
          </a:xfrm>
          <a:custGeom>
            <a:avLst/>
            <a:gdLst/>
            <a:ahLst/>
            <a:cxnLst/>
            <a:rect l="l" t="t" r="r" b="b"/>
            <a:pathLst>
              <a:path w="21600" h="21600" extrusionOk="0">
                <a:moveTo>
                  <a:pt x="0" y="0"/>
                </a:moveTo>
                <a:lnTo>
                  <a:pt x="21600" y="21600"/>
                </a:lnTo>
              </a:path>
            </a:pathLst>
          </a:custGeom>
          <a:noFill/>
          <a:ln w="25400" cap="flat" cmpd="sng">
            <a:solidFill>
              <a:srgbClr val="C0504D"/>
            </a:solidFill>
            <a:prstDash val="solid"/>
            <a:miter lim="8000"/>
            <a:headEnd type="none" w="sm" len="sm"/>
            <a:tailEnd type="triangle" w="med" len="med"/>
          </a:ln>
          <a:effectLst>
            <a:outerShdw blurRad="39960" dist="20160" dir="5400000" rotWithShape="0">
              <a:srgbClr val="000000">
                <a:alpha val="37647"/>
              </a:srgbClr>
            </a:outerShdw>
          </a:effectLst>
        </p:spPr>
      </p:sp>
      <p:sp>
        <p:nvSpPr>
          <p:cNvPr id="616" name="Google Shape;616;p30"/>
          <p:cNvSpPr/>
          <p:nvPr/>
        </p:nvSpPr>
        <p:spPr>
          <a:xfrm>
            <a:off x="2724480" y="3967920"/>
            <a:ext cx="258480" cy="330480"/>
          </a:xfrm>
          <a:prstGeom prst="ellipse">
            <a:avLst/>
          </a:prstGeom>
          <a:noFill/>
          <a:ln w="25400" cap="flat" cmpd="sng">
            <a:solidFill>
              <a:srgbClr val="22385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21"/>
        <p:cNvGrpSpPr/>
        <p:nvPr/>
      </p:nvGrpSpPr>
      <p:grpSpPr>
        <a:xfrm>
          <a:off x="0" y="0"/>
          <a:ext cx="0" cy="0"/>
          <a:chOff x="0" y="0"/>
          <a:chExt cx="0" cy="0"/>
        </a:xfrm>
      </p:grpSpPr>
      <p:sp>
        <p:nvSpPr>
          <p:cNvPr id="622" name="Google Shape;622;p31"/>
          <p:cNvSpPr/>
          <p:nvPr/>
        </p:nvSpPr>
        <p:spPr>
          <a:xfrm>
            <a:off x="483480" y="207720"/>
            <a:ext cx="8226000" cy="725760"/>
          </a:xfrm>
          <a:prstGeom prst="rect">
            <a:avLst/>
          </a:prstGeom>
          <a:noFill/>
          <a:ln>
            <a:noFill/>
          </a:ln>
        </p:spPr>
        <p:txBody>
          <a:bodyPr spcFirstLastPara="1" wrap="square" lIns="0" tIns="38875" rIns="0" bIns="0" anchor="ctr" anchorCtr="0">
            <a:noAutofit/>
          </a:bodyPr>
          <a:lstStyle/>
          <a:p>
            <a:pPr marL="0" marR="0" lvl="0" indent="0" algn="l" rtl="0">
              <a:lnSpc>
                <a:spcPct val="93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ADA – Ejemplo</a:t>
            </a:r>
            <a:endParaRPr sz="3000" b="0" i="0" u="none" strike="noStrike" cap="none">
              <a:latin typeface="Arial"/>
              <a:ea typeface="Arial"/>
              <a:cs typeface="Arial"/>
              <a:sym typeface="Arial"/>
            </a:endParaRPr>
          </a:p>
        </p:txBody>
      </p:sp>
      <p:sp>
        <p:nvSpPr>
          <p:cNvPr id="623" name="Google Shape;623;p31"/>
          <p:cNvSpPr/>
          <p:nvPr/>
        </p:nvSpPr>
        <p:spPr>
          <a:xfrm>
            <a:off x="288000" y="792000"/>
            <a:ext cx="8637480" cy="5476320"/>
          </a:xfrm>
          <a:prstGeom prst="rect">
            <a:avLst/>
          </a:prstGeom>
          <a:noFill/>
          <a:ln>
            <a:noFill/>
          </a:ln>
        </p:spPr>
        <p:txBody>
          <a:bodyPr spcFirstLastPara="1" wrap="square" lIns="0" tIns="19425" rIns="0" bIns="0" anchor="t" anchorCtr="0">
            <a:noAutofit/>
          </a:bodyPr>
          <a:lstStyle/>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Prog MAIN</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e: exception             </a:t>
            </a:r>
            <a:r>
              <a:rPr lang="es-AR" sz="1800" b="0" i="0" u="none" strike="noStrike" cap="none">
                <a:solidFill>
                  <a:srgbClr val="E87605"/>
                </a:solidFill>
                <a:latin typeface="Arial"/>
                <a:ea typeface="Arial"/>
                <a:cs typeface="Arial"/>
                <a:sym typeface="Arial"/>
              </a:rPr>
              <a:t> </a:t>
            </a:r>
            <a:r>
              <a:rPr lang="es-AR" sz="1800" b="1" i="0" u="none" strike="noStrike" cap="none">
                <a:solidFill>
                  <a:srgbClr val="E87605"/>
                </a:solidFill>
                <a:latin typeface="Arial"/>
                <a:ea typeface="Arial"/>
                <a:cs typeface="Arial"/>
                <a:sym typeface="Arial"/>
              </a:rPr>
              <a:t>    ***DECLARACION</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Begin</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 if (condError) then         </a:t>
            </a:r>
            <a:r>
              <a:rPr lang="es-AR" sz="1800" b="0" i="0" u="none" strike="noStrike" cap="none">
                <a:solidFill>
                  <a:srgbClr val="262626"/>
                </a:solidFill>
                <a:latin typeface="Arial"/>
                <a:ea typeface="Arial"/>
                <a:cs typeface="Arial"/>
                <a:sym typeface="Arial"/>
              </a:rPr>
              <a:t> </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                           raise e </a:t>
            </a:r>
            <a:r>
              <a:rPr lang="es-AR" sz="1800" b="1" i="0" u="none" strike="noStrike" cap="none">
                <a:solidFill>
                  <a:srgbClr val="E87605"/>
                </a:solidFill>
                <a:latin typeface="Arial"/>
                <a:ea typeface="Arial"/>
                <a:cs typeface="Arial"/>
                <a:sym typeface="Arial"/>
              </a:rPr>
              <a:t>*** INVOCACION</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0" i="0" u="none" strike="noStrike" cap="none">
                <a:solidFill>
                  <a:srgbClr val="262626"/>
                </a:solidFill>
                <a:latin typeface="Arial"/>
                <a:ea typeface="Arial"/>
                <a:cs typeface="Arial"/>
                <a:sym typeface="Arial"/>
              </a:rPr>
              <a:t>                                       </a:t>
            </a:r>
            <a:r>
              <a:rPr lang="es-AR" sz="1800" b="1" i="0" u="none" strike="noStrike" cap="none">
                <a:solidFill>
                  <a:srgbClr val="262626"/>
                </a:solidFill>
                <a:latin typeface="Arial"/>
                <a:ea typeface="Arial"/>
                <a:cs typeface="Arial"/>
                <a:sym typeface="Arial"/>
              </a:rPr>
              <a:t>     ** si fuera sólo (raise) levanta una excepciòn </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                                             anònima afuera</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   endif</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Exception </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when e : begin ...          </a:t>
            </a:r>
            <a:r>
              <a:rPr lang="es-AR" sz="1800" b="1" i="0" u="none" strike="noStrike" cap="none">
                <a:solidFill>
                  <a:srgbClr val="E87605"/>
                </a:solidFill>
                <a:latin typeface="Arial"/>
                <a:ea typeface="Arial"/>
                <a:cs typeface="Arial"/>
                <a:sym typeface="Arial"/>
              </a:rPr>
              <a:t>  ****MANEJADORES</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                  ...</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                  ... (raise)                 *** este raise levanta la misma excepción que</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                                                     está  manejando, pero como es por terminación</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                                                   Saldría por propagación y terminaria dando error</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                End</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When others Begin</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          ...       ..</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                End</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a:t>
            </a:r>
            <a:r>
              <a:rPr lang="es-AR" sz="1800" b="1" i="0" u="none" strike="noStrike" cap="none">
                <a:solidFill>
                  <a:srgbClr val="FA830C"/>
                </a:solidFill>
                <a:latin typeface="Consolas"/>
                <a:ea typeface="Consolas"/>
                <a:cs typeface="Consolas"/>
                <a:sym typeface="Consolas"/>
              </a:rPr>
              <a:t>.</a:t>
            </a:r>
            <a:endParaRPr sz="1800" b="0" i="0" u="none" strike="noStrike" cap="none">
              <a:latin typeface="Arial"/>
              <a:ea typeface="Arial"/>
              <a:cs typeface="Arial"/>
              <a:sym typeface="Arial"/>
            </a:endParaRPr>
          </a:p>
          <a:p>
            <a:pPr marL="342360" marR="0" lvl="0" indent="-335160" algn="just" rtl="0">
              <a:lnSpc>
                <a:spcPct val="93000"/>
              </a:lnSpc>
              <a:spcBef>
                <a:spcPts val="0"/>
              </a:spcBef>
              <a:spcAft>
                <a:spcPts val="0"/>
              </a:spcAft>
              <a:buClr>
                <a:srgbClr val="262626"/>
              </a:buClr>
              <a:buSzPts val="1800"/>
              <a:buFont typeface="Arial"/>
              <a:buNone/>
            </a:pPr>
            <a:r>
              <a:rPr lang="es-AR" sz="1800" b="1" i="0" u="none" strike="noStrike" cap="none">
                <a:solidFill>
                  <a:srgbClr val="262626"/>
                </a:solidFill>
                <a:latin typeface="Arial"/>
                <a:ea typeface="Arial"/>
                <a:cs typeface="Arial"/>
                <a:sym typeface="Arial"/>
              </a:rPr>
              <a:t>End //(de main)</a:t>
            </a:r>
            <a:endParaRPr sz="1800" b="0" i="0" u="none" strike="noStrike" cap="none">
              <a:latin typeface="Arial"/>
              <a:ea typeface="Arial"/>
              <a:cs typeface="Arial"/>
              <a:sym typeface="Arial"/>
            </a:endParaRPr>
          </a:p>
        </p:txBody>
      </p:sp>
      <p:sp>
        <p:nvSpPr>
          <p:cNvPr id="624" name="Google Shape;624;p31"/>
          <p:cNvSpPr/>
          <p:nvPr/>
        </p:nvSpPr>
        <p:spPr>
          <a:xfrm flipH="1">
            <a:off x="68400" y="944640"/>
            <a:ext cx="5400" cy="5256000"/>
          </a:xfrm>
          <a:custGeom>
            <a:avLst/>
            <a:gdLst/>
            <a:ahLst/>
            <a:cxnLst/>
            <a:rect l="l" t="t" r="r" b="b"/>
            <a:pathLst>
              <a:path w="21600" h="21600" extrusionOk="0">
                <a:moveTo>
                  <a:pt x="0" y="0"/>
                </a:moveTo>
                <a:lnTo>
                  <a:pt x="21600" y="21600"/>
                </a:lnTo>
              </a:path>
            </a:pathLst>
          </a:custGeom>
          <a:noFill/>
          <a:ln w="38100" cap="flat" cmpd="sng">
            <a:solidFill>
              <a:srgbClr val="4F81BD"/>
            </a:solidFill>
            <a:prstDash val="solid"/>
            <a:miter lim="8000"/>
            <a:headEnd type="none" w="sm" len="sm"/>
            <a:tailEnd type="none" w="sm" len="sm"/>
          </a:ln>
          <a:effectLst>
            <a:outerShdw blurRad="39960" dist="23040" dir="5400000" rotWithShape="0">
              <a:srgbClr val="000000">
                <a:alpha val="34901"/>
              </a:srgbClr>
            </a:outerShdw>
          </a:effectLst>
        </p:spPr>
      </p:sp>
      <p:sp>
        <p:nvSpPr>
          <p:cNvPr id="625" name="Google Shape;625;p31"/>
          <p:cNvSpPr/>
          <p:nvPr/>
        </p:nvSpPr>
        <p:spPr>
          <a:xfrm flipH="1">
            <a:off x="212040" y="3575520"/>
            <a:ext cx="5400" cy="2064240"/>
          </a:xfrm>
          <a:custGeom>
            <a:avLst/>
            <a:gdLst/>
            <a:ahLst/>
            <a:cxnLst/>
            <a:rect l="l" t="t" r="r" b="b"/>
            <a:pathLst>
              <a:path w="21600" h="21600" extrusionOk="0">
                <a:moveTo>
                  <a:pt x="0" y="0"/>
                </a:moveTo>
                <a:lnTo>
                  <a:pt x="21600" y="21600"/>
                </a:lnTo>
              </a:path>
            </a:pathLst>
          </a:custGeom>
          <a:noFill/>
          <a:ln w="38100" cap="flat" cmpd="sng">
            <a:solidFill>
              <a:srgbClr val="4F81BD"/>
            </a:solidFill>
            <a:prstDash val="solid"/>
            <a:miter lim="8000"/>
            <a:headEnd type="none" w="sm" len="sm"/>
            <a:tailEnd type="none" w="sm" len="sm"/>
          </a:ln>
          <a:effectLst>
            <a:outerShdw blurRad="39960" dist="23040" dir="5400000" rotWithShape="0">
              <a:srgbClr val="000000">
                <a:alpha val="34901"/>
              </a:srgbClr>
            </a:outerShdw>
          </a:effectLst>
        </p:spPr>
      </p:sp>
      <p:sp>
        <p:nvSpPr>
          <p:cNvPr id="626" name="Google Shape;626;p31"/>
          <p:cNvSpPr/>
          <p:nvPr/>
        </p:nvSpPr>
        <p:spPr>
          <a:xfrm flipH="1">
            <a:off x="1233000" y="2640960"/>
            <a:ext cx="1802520" cy="1230480"/>
          </a:xfrm>
          <a:custGeom>
            <a:avLst/>
            <a:gdLst/>
            <a:ahLst/>
            <a:cxnLst/>
            <a:rect l="l" t="t" r="r" b="b"/>
            <a:pathLst>
              <a:path w="21600" h="21600" extrusionOk="0">
                <a:moveTo>
                  <a:pt x="0" y="0"/>
                </a:moveTo>
                <a:lnTo>
                  <a:pt x="21600" y="21600"/>
                </a:lnTo>
              </a:path>
            </a:pathLst>
          </a:custGeom>
          <a:noFill/>
          <a:ln w="25400" cap="flat" cmpd="sng">
            <a:solidFill>
              <a:srgbClr val="C0504D"/>
            </a:solidFill>
            <a:prstDash val="solid"/>
            <a:miter lim="8000"/>
            <a:headEnd type="none" w="sm" len="sm"/>
            <a:tailEnd type="triangle" w="med" len="med"/>
          </a:ln>
          <a:effectLst>
            <a:outerShdw blurRad="39960" dist="20160" dir="5400000" rotWithShape="0">
              <a:srgbClr val="000000">
                <a:alpha val="37647"/>
              </a:srgbClr>
            </a:outerShdw>
          </a:effectLst>
        </p:spPr>
      </p:sp>
      <p:sp>
        <p:nvSpPr>
          <p:cNvPr id="627" name="Google Shape;627;p31"/>
          <p:cNvSpPr/>
          <p:nvPr/>
        </p:nvSpPr>
        <p:spPr>
          <a:xfrm flipH="1">
            <a:off x="1908720" y="2943000"/>
            <a:ext cx="2794680" cy="2366280"/>
          </a:xfrm>
          <a:custGeom>
            <a:avLst/>
            <a:gdLst/>
            <a:ahLst/>
            <a:cxnLst/>
            <a:rect l="l" t="t" r="r" b="b"/>
            <a:pathLst>
              <a:path w="21600" h="21600" extrusionOk="0">
                <a:moveTo>
                  <a:pt x="0" y="0"/>
                </a:moveTo>
                <a:lnTo>
                  <a:pt x="21600" y="21600"/>
                </a:lnTo>
              </a:path>
            </a:pathLst>
          </a:custGeom>
          <a:noFill/>
          <a:ln w="25400" cap="flat" cmpd="sng">
            <a:solidFill>
              <a:srgbClr val="C0504D"/>
            </a:solidFill>
            <a:prstDash val="solid"/>
            <a:miter lim="8000"/>
            <a:headEnd type="none" w="sm" len="sm"/>
            <a:tailEnd type="triangle" w="med" len="med"/>
          </a:ln>
          <a:effectLst>
            <a:outerShdw blurRad="39960" dist="20160" dir="5400000" rotWithShape="0">
              <a:srgbClr val="000000">
                <a:alpha val="37647"/>
              </a:srgbClr>
            </a:outerShdw>
          </a:effectLst>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32"/>
          <p:cNvSpPr/>
          <p:nvPr/>
        </p:nvSpPr>
        <p:spPr>
          <a:xfrm>
            <a:off x="457200" y="-34668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ADA</a:t>
            </a:r>
            <a:endParaRPr sz="3000" b="0" i="0" u="none" strike="noStrike" cap="none">
              <a:latin typeface="Arial"/>
              <a:ea typeface="Arial"/>
              <a:cs typeface="Arial"/>
              <a:sym typeface="Arial"/>
            </a:endParaRPr>
          </a:p>
        </p:txBody>
      </p:sp>
      <p:sp>
        <p:nvSpPr>
          <p:cNvPr id="634" name="Google Shape;634;p32"/>
          <p:cNvSpPr/>
          <p:nvPr/>
        </p:nvSpPr>
        <p:spPr>
          <a:xfrm>
            <a:off x="-7200" y="793800"/>
            <a:ext cx="3915000" cy="5785920"/>
          </a:xfrm>
          <a:prstGeom prst="rect">
            <a:avLst/>
          </a:prstGeom>
          <a:noFill/>
          <a:ln>
            <a:noFill/>
          </a:ln>
        </p:spPr>
        <p:txBody>
          <a:bodyPr spcFirstLastPara="1" wrap="square" lIns="90000" tIns="45000" rIns="90000" bIns="45000" anchor="t" anchorCtr="0">
            <a:noAutofit/>
          </a:bodyPr>
          <a:lstStyle/>
          <a:p>
            <a:pPr marL="274320" marR="0" lvl="0" indent="-271800" algn="l" rtl="0">
              <a:lnSpc>
                <a:spcPct val="100000"/>
              </a:lnSpc>
              <a:spcBef>
                <a:spcPts val="0"/>
              </a:spcBef>
              <a:spcAft>
                <a:spcPts val="0"/>
              </a:spcAft>
              <a:buClr>
                <a:srgbClr val="000000"/>
              </a:buClr>
              <a:buSzPts val="2000"/>
              <a:buFont typeface="Century Schoolbook"/>
              <a:buNone/>
            </a:pPr>
            <a:r>
              <a:rPr lang="es-AR" sz="2000" b="1" i="0" u="none" strike="noStrike" cap="none">
                <a:solidFill>
                  <a:srgbClr val="000000"/>
                </a:solidFill>
                <a:latin typeface="Century Schoolbook"/>
                <a:ea typeface="Century Schoolbook"/>
                <a:cs typeface="Century Schoolbook"/>
                <a:sym typeface="Century Schoolbook"/>
              </a:rPr>
              <a:t>Tener en cuenta :</a:t>
            </a:r>
            <a:endParaRPr sz="2000" b="0" i="0" u="none" strike="noStrike" cap="none">
              <a:latin typeface="Arial"/>
              <a:ea typeface="Arial"/>
              <a:cs typeface="Arial"/>
              <a:sym typeface="Arial"/>
            </a:endParaRPr>
          </a:p>
          <a:p>
            <a:pPr marL="343080" marR="0" lvl="1" indent="-271800" algn="l" rtl="0">
              <a:lnSpc>
                <a:spcPct val="100000"/>
              </a:lnSpc>
              <a:spcBef>
                <a:spcPts val="479"/>
              </a:spcBef>
              <a:spcAft>
                <a:spcPts val="0"/>
              </a:spcAft>
              <a:buClr>
                <a:srgbClr val="FE8637"/>
              </a:buClr>
              <a:buSzPts val="1800"/>
              <a:buFont typeface="Noto Sans Symbols"/>
              <a:buChar char="●"/>
            </a:pPr>
            <a:r>
              <a:rPr lang="es-AR" sz="1800" b="0" i="0" u="none" strike="noStrike" cap="none">
                <a:solidFill>
                  <a:srgbClr val="000000"/>
                </a:solidFill>
                <a:latin typeface="Century Schoolbook"/>
                <a:ea typeface="Century Schoolbook"/>
                <a:cs typeface="Century Schoolbook"/>
                <a:sym typeface="Century Schoolbook"/>
              </a:rPr>
              <a:t>La </a:t>
            </a:r>
            <a:r>
              <a:rPr lang="es-AR" sz="1800" b="1" i="0" u="none" strike="noStrike" cap="none">
                <a:solidFill>
                  <a:srgbClr val="000000"/>
                </a:solidFill>
                <a:latin typeface="Century Schoolbook"/>
                <a:ea typeface="Century Schoolbook"/>
                <a:cs typeface="Century Schoolbook"/>
                <a:sym typeface="Century Schoolbook"/>
              </a:rPr>
              <a:t>asociación </a:t>
            </a:r>
            <a:r>
              <a:rPr lang="es-AR" sz="1800" b="0" i="0" u="none" strike="noStrike" cap="none">
                <a:solidFill>
                  <a:srgbClr val="000000"/>
                </a:solidFill>
                <a:latin typeface="Century Schoolbook"/>
                <a:ea typeface="Century Schoolbook"/>
                <a:cs typeface="Century Schoolbook"/>
                <a:sym typeface="Century Schoolbook"/>
              </a:rPr>
              <a:t>de la </a:t>
            </a:r>
            <a:r>
              <a:rPr lang="es-AR" sz="1800" b="1" i="0" u="none" strike="noStrike" cap="none">
                <a:solidFill>
                  <a:srgbClr val="000000"/>
                </a:solidFill>
                <a:latin typeface="Century Schoolbook"/>
                <a:ea typeface="Century Schoolbook"/>
                <a:cs typeface="Century Schoolbook"/>
                <a:sym typeface="Century Schoolbook"/>
              </a:rPr>
              <a:t>excepción </a:t>
            </a:r>
            <a:r>
              <a:rPr lang="es-AR" sz="1800" b="0" i="0" u="none" strike="noStrike" cap="none">
                <a:solidFill>
                  <a:srgbClr val="000000"/>
                </a:solidFill>
                <a:latin typeface="Century Schoolbook"/>
                <a:ea typeface="Century Schoolbook"/>
                <a:cs typeface="Century Schoolbook"/>
                <a:sym typeface="Century Schoolbook"/>
              </a:rPr>
              <a:t>con el </a:t>
            </a:r>
            <a:r>
              <a:rPr lang="es-AR" sz="1800" b="1" i="0" u="none" strike="noStrike" cap="none">
                <a:solidFill>
                  <a:srgbClr val="000000"/>
                </a:solidFill>
                <a:latin typeface="Century Schoolbook"/>
                <a:ea typeface="Century Schoolbook"/>
                <a:cs typeface="Century Schoolbook"/>
                <a:sym typeface="Century Schoolbook"/>
              </a:rPr>
              <a:t>manejador </a:t>
            </a:r>
            <a:r>
              <a:rPr lang="es-AR" sz="1800" b="0" i="0" u="none" strike="noStrike" cap="none">
                <a:solidFill>
                  <a:srgbClr val="000000"/>
                </a:solidFill>
                <a:latin typeface="Century Schoolbook"/>
                <a:ea typeface="Century Schoolbook"/>
                <a:cs typeface="Century Schoolbook"/>
                <a:sym typeface="Century Schoolbook"/>
              </a:rPr>
              <a:t>es </a:t>
            </a:r>
            <a:r>
              <a:rPr lang="es-AR" sz="1800" b="1" i="0" u="none" strike="noStrike" cap="none">
                <a:solidFill>
                  <a:srgbClr val="000000"/>
                </a:solidFill>
                <a:latin typeface="Century Schoolbook"/>
                <a:ea typeface="Century Schoolbook"/>
                <a:cs typeface="Century Schoolbook"/>
                <a:sym typeface="Century Schoolbook"/>
              </a:rPr>
              <a:t>determinístico </a:t>
            </a:r>
            <a:r>
              <a:rPr lang="es-AR" sz="1800" b="0" i="1" u="none" strike="noStrike" cap="none">
                <a:solidFill>
                  <a:srgbClr val="000000"/>
                </a:solidFill>
                <a:latin typeface="Century Schoolbook"/>
                <a:ea typeface="Century Schoolbook"/>
                <a:cs typeface="Century Schoolbook"/>
                <a:sym typeface="Century Schoolbook"/>
              </a:rPr>
              <a:t>(variable ↔ manejador de esa variable).</a:t>
            </a:r>
            <a:r>
              <a:rPr lang="es-AR" sz="1800" b="0" i="0" u="none" strike="noStrike" cap="none">
                <a:solidFill>
                  <a:srgbClr val="000000"/>
                </a:solidFill>
                <a:latin typeface="Century Schoolbook"/>
                <a:ea typeface="Century Schoolbook"/>
                <a:cs typeface="Century Schoolbook"/>
                <a:sym typeface="Century Schoolbook"/>
              </a:rPr>
              <a:t> </a:t>
            </a:r>
            <a:r>
              <a:rPr lang="es-AR" sz="1800" b="1" i="0" u="none" strike="noStrike" cap="none">
                <a:solidFill>
                  <a:srgbClr val="000000"/>
                </a:solidFill>
                <a:latin typeface="Century Schoolbook"/>
                <a:ea typeface="Century Schoolbook"/>
                <a:cs typeface="Century Schoolbook"/>
                <a:sym typeface="Century Schoolbook"/>
              </a:rPr>
              <a:t>Asigno mismo nombre a ambos</a:t>
            </a:r>
            <a:endParaRPr sz="1800" b="0" i="0" u="none" strike="noStrike" cap="none">
              <a:latin typeface="Arial"/>
              <a:ea typeface="Arial"/>
              <a:cs typeface="Arial"/>
              <a:sym typeface="Arial"/>
            </a:endParaRPr>
          </a:p>
          <a:p>
            <a:pPr marL="343080" marR="0" lvl="1" indent="-271800" algn="l" rtl="0">
              <a:lnSpc>
                <a:spcPct val="100000"/>
              </a:lnSpc>
              <a:spcBef>
                <a:spcPts val="479"/>
              </a:spcBef>
              <a:spcAft>
                <a:spcPts val="0"/>
              </a:spcAft>
              <a:buClr>
                <a:srgbClr val="FE8637"/>
              </a:buClr>
              <a:buSzPts val="1800"/>
              <a:buFont typeface="Noto Sans Symbols"/>
              <a:buChar char="●"/>
            </a:pPr>
            <a:r>
              <a:rPr lang="es-AR" sz="1800" b="0" i="0" u="none" strike="noStrike" cap="none">
                <a:solidFill>
                  <a:srgbClr val="000000"/>
                </a:solidFill>
                <a:latin typeface="Century Schoolbook"/>
                <a:ea typeface="Century Schoolbook"/>
                <a:cs typeface="Century Schoolbook"/>
                <a:sym typeface="Century Schoolbook"/>
              </a:rPr>
              <a:t>Si se deseara</a:t>
            </a:r>
            <a:r>
              <a:rPr lang="es-AR" sz="1800" b="1" i="0" u="none" strike="noStrike" cap="none">
                <a:solidFill>
                  <a:srgbClr val="000000"/>
                </a:solidFill>
                <a:latin typeface="Century Schoolbook"/>
                <a:ea typeface="Century Schoolbook"/>
                <a:cs typeface="Century Schoolbook"/>
                <a:sym typeface="Century Schoolbook"/>
              </a:rPr>
              <a:t> continuar ejecutando las instrucciones de un bloque</a:t>
            </a:r>
            <a:r>
              <a:rPr lang="es-AR" sz="1800" b="0" i="0" u="none" strike="noStrike" cap="none">
                <a:solidFill>
                  <a:srgbClr val="000000"/>
                </a:solidFill>
                <a:latin typeface="Century Schoolbook"/>
                <a:ea typeface="Century Schoolbook"/>
                <a:cs typeface="Century Schoolbook"/>
                <a:sym typeface="Century Schoolbook"/>
              </a:rPr>
              <a:t> donde se lanza una excepción, es preciso </a:t>
            </a:r>
            <a:r>
              <a:rPr lang="es-AR" sz="1800" b="1" i="0" u="none" strike="noStrike" cap="none">
                <a:solidFill>
                  <a:srgbClr val="000000"/>
                </a:solidFill>
                <a:latin typeface="Century Schoolbook"/>
                <a:ea typeface="Century Schoolbook"/>
                <a:cs typeface="Century Schoolbook"/>
                <a:sym typeface="Century Schoolbook"/>
              </a:rPr>
              <a:t>“crear un bloque más interno</a:t>
            </a:r>
            <a:r>
              <a:rPr lang="es-AR" sz="1800" b="0" i="0" u="none" strike="noStrike" cap="none">
                <a:solidFill>
                  <a:srgbClr val="000000"/>
                </a:solidFill>
                <a:latin typeface="Century Schoolbook"/>
                <a:ea typeface="Century Schoolbook"/>
                <a:cs typeface="Century Schoolbook"/>
                <a:sym typeface="Century Schoolbook"/>
              </a:rPr>
              <a:t>”. Se usa D</a:t>
            </a:r>
            <a:r>
              <a:rPr lang="es-AR" sz="1800" b="1" i="0" u="none" strike="noStrike" cap="none">
                <a:solidFill>
                  <a:srgbClr val="000000"/>
                </a:solidFill>
                <a:latin typeface="Century Schoolbook"/>
                <a:ea typeface="Century Schoolbook"/>
                <a:cs typeface="Century Schoolbook"/>
                <a:sym typeface="Century Schoolbook"/>
              </a:rPr>
              <a:t>eclare para amar una unidad</a:t>
            </a:r>
            <a:r>
              <a:rPr lang="es-AR" sz="1800" b="0" i="0" u="none" strike="noStrike" cap="none">
                <a:solidFill>
                  <a:srgbClr val="000000"/>
                </a:solidFill>
                <a:latin typeface="Century Schoolbook"/>
                <a:ea typeface="Century Schoolbook"/>
                <a:cs typeface="Century Schoolbook"/>
                <a:sym typeface="Century Schoolbook"/>
              </a:rPr>
              <a:t>, como se muestra en el ejemplo y luego </a:t>
            </a:r>
            <a:r>
              <a:rPr lang="es-AR" sz="1800" b="1" i="0" u="none" strike="noStrike" cap="none">
                <a:solidFill>
                  <a:srgbClr val="000000"/>
                </a:solidFill>
                <a:latin typeface="Century Schoolbook"/>
                <a:ea typeface="Century Schoolbook"/>
                <a:cs typeface="Century Schoolbook"/>
                <a:sym typeface="Century Schoolbook"/>
              </a:rPr>
              <a:t>agregar instrucciones restantes abajo. (simular reasunción) </a:t>
            </a:r>
            <a:endParaRPr sz="1800" b="0" i="0" u="none" strike="noStrike" cap="none">
              <a:latin typeface="Arial"/>
              <a:ea typeface="Arial"/>
              <a:cs typeface="Arial"/>
              <a:sym typeface="Arial"/>
            </a:endParaRPr>
          </a:p>
        </p:txBody>
      </p:sp>
      <p:sp>
        <p:nvSpPr>
          <p:cNvPr id="635" name="Google Shape;635;p32"/>
          <p:cNvSpPr/>
          <p:nvPr/>
        </p:nvSpPr>
        <p:spPr>
          <a:xfrm>
            <a:off x="3818160" y="995400"/>
            <a:ext cx="5042880" cy="579996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0000" tIns="45000" rIns="90000" bIns="45000" anchor="t" anchorCtr="0">
            <a:noAutofit/>
          </a:bodyPr>
          <a:lstStyle/>
          <a:p>
            <a:pPr marL="457200" marR="0" lvl="0" indent="-180360" algn="l" rtl="0">
              <a:lnSpc>
                <a:spcPct val="100000"/>
              </a:lnSpc>
              <a:spcBef>
                <a:spcPts val="0"/>
              </a:spcBef>
              <a:spcAft>
                <a:spcPts val="0"/>
              </a:spcAft>
              <a:buClr>
                <a:srgbClr val="000000"/>
              </a:buClr>
              <a:buSzPts val="1800"/>
              <a:buFont typeface="Arial"/>
              <a:buNone/>
            </a:pPr>
            <a:r>
              <a:rPr lang="es-AR" sz="1800" b="1" i="0" u="none" strike="noStrike" cap="none">
                <a:solidFill>
                  <a:srgbClr val="000000"/>
                </a:solidFill>
                <a:latin typeface="Arial"/>
                <a:ea typeface="Arial"/>
                <a:cs typeface="Arial"/>
                <a:sym typeface="Arial"/>
              </a:rPr>
              <a:t>Procedure Bloque () is</a:t>
            </a:r>
            <a:endParaRPr sz="1800" b="0" i="0" u="none" strike="noStrike" cap="none">
              <a:latin typeface="Arial"/>
              <a:ea typeface="Arial"/>
              <a:cs typeface="Arial"/>
              <a:sym typeface="Arial"/>
            </a:endParaRPr>
          </a:p>
          <a:p>
            <a:pPr marL="457200" marR="0" lvl="0" indent="-180360" algn="l" rtl="0">
              <a:lnSpc>
                <a:spcPct val="100000"/>
              </a:lnSpc>
              <a:spcBef>
                <a:spcPts val="0"/>
              </a:spcBef>
              <a:spcAft>
                <a:spcPts val="0"/>
              </a:spcAft>
              <a:buClr>
                <a:srgbClr val="000000"/>
              </a:buClr>
              <a:buSzPts val="1800"/>
              <a:buFont typeface="Arial"/>
              <a:buNone/>
            </a:pPr>
            <a:r>
              <a:rPr lang="es-AR" sz="1800" b="1" i="0" u="none" strike="noStrike" cap="none">
                <a:solidFill>
                  <a:srgbClr val="000000"/>
                </a:solidFill>
                <a:latin typeface="Arial"/>
                <a:ea typeface="Arial"/>
                <a:cs typeface="Arial"/>
                <a:sym typeface="Arial"/>
              </a:rPr>
              <a:t>…. </a:t>
            </a:r>
            <a:endParaRPr sz="1800" b="0" i="0" u="none" strike="noStrike" cap="none">
              <a:latin typeface="Arial"/>
              <a:ea typeface="Arial"/>
              <a:cs typeface="Arial"/>
              <a:sym typeface="Arial"/>
            </a:endParaRPr>
          </a:p>
          <a:p>
            <a:pPr marL="457200" marR="0" lvl="0" indent="-180360" algn="l" rtl="0">
              <a:lnSpc>
                <a:spcPct val="100000"/>
              </a:lnSpc>
              <a:spcBef>
                <a:spcPts val="0"/>
              </a:spcBef>
              <a:spcAft>
                <a:spcPts val="0"/>
              </a:spcAft>
              <a:buClr>
                <a:srgbClr val="000000"/>
              </a:buClr>
              <a:buSzPts val="1800"/>
              <a:buFont typeface="Arial"/>
              <a:buNone/>
            </a:pPr>
            <a:r>
              <a:rPr lang="es-AR" sz="1800" b="1" i="0" u="none" strike="noStrike" cap="none">
                <a:solidFill>
                  <a:srgbClr val="000000"/>
                </a:solidFill>
                <a:latin typeface="Arial"/>
                <a:ea typeface="Arial"/>
                <a:cs typeface="Arial"/>
                <a:sym typeface="Arial"/>
              </a:rPr>
              <a:t>begin</a:t>
            </a:r>
            <a:endParaRPr sz="1800" b="0" i="0" u="none" strike="noStrike" cap="none">
              <a:latin typeface="Arial"/>
              <a:ea typeface="Arial"/>
              <a:cs typeface="Arial"/>
              <a:sym typeface="Arial"/>
            </a:endParaRPr>
          </a:p>
          <a:p>
            <a:pPr marL="457200" marR="0" lvl="0" indent="-180360" algn="l" rtl="0">
              <a:lnSpc>
                <a:spcPct val="100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 </a:t>
            </a:r>
            <a:endParaRPr sz="1800" b="0" i="0" u="none" strike="noStrike" cap="none">
              <a:latin typeface="Arial"/>
              <a:ea typeface="Arial"/>
              <a:cs typeface="Arial"/>
              <a:sym typeface="Arial"/>
            </a:endParaRPr>
          </a:p>
          <a:p>
            <a:pPr marL="457200" marR="0" lvl="0" indent="-180360" algn="l" rtl="0">
              <a:lnSpc>
                <a:spcPct val="100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 </a:t>
            </a:r>
            <a:r>
              <a:rPr lang="es-AR" sz="1800" b="1" i="0" u="none" strike="noStrike" cap="none">
                <a:solidFill>
                  <a:srgbClr val="E46C0A"/>
                </a:solidFill>
                <a:latin typeface="Arial"/>
                <a:ea typeface="Arial"/>
                <a:cs typeface="Arial"/>
                <a:sym typeface="Arial"/>
              </a:rPr>
              <a:t>Declare</a:t>
            </a:r>
            <a:endParaRPr sz="1800" b="0" i="0" u="none" strike="noStrike" cap="none">
              <a:latin typeface="Arial"/>
              <a:ea typeface="Arial"/>
              <a:cs typeface="Arial"/>
              <a:sym typeface="Arial"/>
            </a:endParaRPr>
          </a:p>
          <a:p>
            <a:pPr marL="457200" marR="0" lvl="0" indent="-180360" algn="l" rtl="0">
              <a:lnSpc>
                <a:spcPct val="100000"/>
              </a:lnSpc>
              <a:spcBef>
                <a:spcPts val="0"/>
              </a:spcBef>
              <a:spcAft>
                <a:spcPts val="0"/>
              </a:spcAft>
              <a:buClr>
                <a:srgbClr val="E46C0A"/>
              </a:buClr>
              <a:buSzPts val="1800"/>
              <a:buFont typeface="Arial"/>
              <a:buNone/>
            </a:pPr>
            <a:r>
              <a:rPr lang="es-AR" sz="1800" b="1" i="0" u="none" strike="noStrike" cap="none">
                <a:solidFill>
                  <a:srgbClr val="E46C0A"/>
                </a:solidFill>
                <a:latin typeface="Arial"/>
                <a:ea typeface="Arial"/>
                <a:cs typeface="Arial"/>
                <a:sym typeface="Arial"/>
              </a:rPr>
              <a:t>…....   </a:t>
            </a:r>
            <a:endParaRPr sz="1800" b="0" i="0" u="none" strike="noStrike" cap="none">
              <a:latin typeface="Arial"/>
              <a:ea typeface="Arial"/>
              <a:cs typeface="Arial"/>
              <a:sym typeface="Arial"/>
            </a:endParaRPr>
          </a:p>
          <a:p>
            <a:pPr marL="457200" marR="0" lvl="0" indent="-180360" algn="l" rtl="0">
              <a:lnSpc>
                <a:spcPct val="100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  …..</a:t>
            </a:r>
            <a:endParaRPr sz="1800" b="0" i="0" u="none" strike="noStrike" cap="none">
              <a:latin typeface="Arial"/>
              <a:ea typeface="Arial"/>
              <a:cs typeface="Arial"/>
              <a:sym typeface="Arial"/>
            </a:endParaRPr>
          </a:p>
          <a:p>
            <a:pPr marL="457200" marR="0" lvl="0" indent="-180360" algn="l" rtl="0">
              <a:lnSpc>
                <a:spcPct val="100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  </a:t>
            </a:r>
            <a:r>
              <a:rPr lang="es-AR" sz="1800" b="1" i="0" u="none" strike="noStrike" cap="none">
                <a:solidFill>
                  <a:srgbClr val="E87605"/>
                </a:solidFill>
                <a:latin typeface="Arial"/>
                <a:ea typeface="Arial"/>
                <a:cs typeface="Arial"/>
                <a:sym typeface="Arial"/>
              </a:rPr>
              <a:t>begin </a:t>
            </a:r>
            <a:endParaRPr sz="1800" b="0" i="0" u="none" strike="noStrike" cap="none">
              <a:latin typeface="Arial"/>
              <a:ea typeface="Arial"/>
              <a:cs typeface="Arial"/>
              <a:sym typeface="Arial"/>
            </a:endParaRPr>
          </a:p>
          <a:p>
            <a:pPr marL="457200" marR="0" lvl="0" indent="-180360" algn="l" rtl="0">
              <a:lnSpc>
                <a:spcPct val="100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        </a:t>
            </a:r>
            <a:r>
              <a:rPr lang="es-AR" sz="2000" b="0" i="0" u="none" strike="noStrike" cap="none">
                <a:solidFill>
                  <a:srgbClr val="000000"/>
                </a:solidFill>
                <a:latin typeface="Arial"/>
                <a:ea typeface="Arial"/>
                <a:cs typeface="Arial"/>
                <a:sym typeface="Arial"/>
              </a:rPr>
              <a:t>exception</a:t>
            </a:r>
            <a:endParaRPr sz="2000" b="0" i="0" u="none" strike="noStrike" cap="none">
              <a:latin typeface="Arial"/>
              <a:ea typeface="Arial"/>
              <a:cs typeface="Arial"/>
              <a:sym typeface="Arial"/>
            </a:endParaRPr>
          </a:p>
          <a:p>
            <a:pPr marL="457200" marR="0" lvl="0" indent="-180360" algn="l" rtl="0">
              <a:lnSpc>
                <a:spcPct val="100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              </a:t>
            </a:r>
            <a:r>
              <a:rPr lang="es-AR" sz="1800" b="1" i="0" u="none" strike="noStrike" cap="none">
                <a:solidFill>
                  <a:srgbClr val="E46C0A"/>
                </a:solidFill>
                <a:latin typeface="Arial"/>
                <a:ea typeface="Arial"/>
                <a:cs typeface="Arial"/>
                <a:sym typeface="Arial"/>
              </a:rPr>
              <a:t>Manejadores</a:t>
            </a:r>
            <a:endParaRPr sz="1800" b="0" i="0" u="none" strike="noStrike" cap="none">
              <a:latin typeface="Arial"/>
              <a:ea typeface="Arial"/>
              <a:cs typeface="Arial"/>
              <a:sym typeface="Arial"/>
            </a:endParaRPr>
          </a:p>
          <a:p>
            <a:pPr marL="457200" marR="0" lvl="0" indent="-180360" algn="l" rtl="0">
              <a:lnSpc>
                <a:spcPct val="100000"/>
              </a:lnSpc>
              <a:spcBef>
                <a:spcPts val="0"/>
              </a:spcBef>
              <a:spcAft>
                <a:spcPts val="0"/>
              </a:spcAft>
              <a:buClr>
                <a:srgbClr val="E46C0A"/>
              </a:buClr>
              <a:buSzPts val="1800"/>
              <a:buFont typeface="Arial"/>
              <a:buNone/>
            </a:pPr>
            <a:r>
              <a:rPr lang="es-AR" sz="1800" b="1" i="0" u="none" strike="noStrike" cap="none">
                <a:solidFill>
                  <a:srgbClr val="E46C0A"/>
                </a:solidFill>
                <a:latin typeface="Arial"/>
                <a:ea typeface="Arial"/>
                <a:cs typeface="Arial"/>
                <a:sym typeface="Arial"/>
              </a:rPr>
              <a:t>              …..........</a:t>
            </a:r>
            <a:endParaRPr sz="1800" b="0" i="0" u="none" strike="noStrike" cap="none">
              <a:latin typeface="Arial"/>
              <a:ea typeface="Arial"/>
              <a:cs typeface="Arial"/>
              <a:sym typeface="Arial"/>
            </a:endParaRPr>
          </a:p>
          <a:p>
            <a:pPr marL="457200" marR="0" lvl="0" indent="-180360" algn="l" rtl="0">
              <a:lnSpc>
                <a:spcPct val="100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   </a:t>
            </a:r>
            <a:r>
              <a:rPr lang="es-AR" sz="1800" b="1" i="0" u="none" strike="noStrike" cap="none">
                <a:solidFill>
                  <a:srgbClr val="E87605"/>
                </a:solidFill>
                <a:latin typeface="Arial"/>
                <a:ea typeface="Arial"/>
                <a:cs typeface="Arial"/>
                <a:sym typeface="Arial"/>
              </a:rPr>
              <a:t>end</a:t>
            </a:r>
            <a:r>
              <a:rPr lang="es-AR" sz="1800" b="0" i="0" u="none" strike="noStrike" cap="none">
                <a:solidFill>
                  <a:srgbClr val="000000"/>
                </a:solidFill>
                <a:latin typeface="Arial"/>
                <a:ea typeface="Arial"/>
                <a:cs typeface="Arial"/>
                <a:sym typeface="Arial"/>
              </a:rPr>
              <a:t>; --</a:t>
            </a:r>
            <a:r>
              <a:rPr lang="es-AR" sz="1800" b="1" i="0" u="none" strike="noStrike" cap="none">
                <a:solidFill>
                  <a:srgbClr val="000000"/>
                </a:solidFill>
                <a:latin typeface="Arial"/>
                <a:ea typeface="Arial"/>
                <a:cs typeface="Arial"/>
                <a:sym typeface="Arial"/>
              </a:rPr>
              <a:t> del bloque interno</a:t>
            </a:r>
            <a:endParaRPr sz="1800" b="0" i="0" u="none" strike="noStrike" cap="none">
              <a:latin typeface="Arial"/>
              <a:ea typeface="Arial"/>
              <a:cs typeface="Arial"/>
              <a:sym typeface="Arial"/>
            </a:endParaRPr>
          </a:p>
          <a:p>
            <a:pPr marL="457200" marR="0" lvl="0" indent="-180360" algn="l" rtl="0">
              <a:lnSpc>
                <a:spcPct val="100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a:t>
            </a:r>
            <a:endParaRPr sz="1800" b="0" i="0" u="none" strike="noStrike" cap="none">
              <a:latin typeface="Arial"/>
              <a:ea typeface="Arial"/>
              <a:cs typeface="Arial"/>
              <a:sym typeface="Arial"/>
            </a:endParaRPr>
          </a:p>
          <a:p>
            <a:pPr marL="457200" marR="0" lvl="0" indent="-180360" algn="l" rtl="0">
              <a:lnSpc>
                <a:spcPct val="100000"/>
              </a:lnSpc>
              <a:spcBef>
                <a:spcPts val="0"/>
              </a:spcBef>
              <a:spcAft>
                <a:spcPts val="0"/>
              </a:spcAft>
              <a:buSzPts val="1800"/>
              <a:buFont typeface="Arial"/>
              <a:buNone/>
            </a:pPr>
            <a:endParaRPr sz="1800" b="0" i="0" u="none" strike="noStrike" cap="none">
              <a:latin typeface="Arial"/>
              <a:ea typeface="Arial"/>
              <a:cs typeface="Arial"/>
              <a:sym typeface="Arial"/>
            </a:endParaRPr>
          </a:p>
          <a:p>
            <a:pPr marL="457200" marR="0" lvl="0" indent="-180360" algn="l" rtl="0">
              <a:lnSpc>
                <a:spcPct val="100000"/>
              </a:lnSpc>
              <a:spcBef>
                <a:spcPts val="0"/>
              </a:spcBef>
              <a:spcAft>
                <a:spcPts val="0"/>
              </a:spcAft>
              <a:buSzPts val="1800"/>
              <a:buFont typeface="Arial"/>
              <a:buNone/>
            </a:pPr>
            <a:endParaRPr sz="1800" b="0" i="0" u="none" strike="noStrike" cap="none">
              <a:latin typeface="Arial"/>
              <a:ea typeface="Arial"/>
              <a:cs typeface="Arial"/>
              <a:sym typeface="Arial"/>
            </a:endParaRPr>
          </a:p>
          <a:p>
            <a:pPr marL="457200" marR="0" lvl="0" indent="-180360" algn="l" rtl="0">
              <a:lnSpc>
                <a:spcPct val="100000"/>
              </a:lnSpc>
              <a:spcBef>
                <a:spcPts val="0"/>
              </a:spcBef>
              <a:spcAft>
                <a:spcPts val="0"/>
              </a:spcAft>
              <a:buSzPts val="1800"/>
              <a:buFont typeface="Arial"/>
              <a:buNone/>
            </a:pPr>
            <a:endParaRPr sz="1800" b="0" i="0" u="none" strike="noStrike" cap="none">
              <a:latin typeface="Arial"/>
              <a:ea typeface="Arial"/>
              <a:cs typeface="Arial"/>
              <a:sym typeface="Arial"/>
            </a:endParaRPr>
          </a:p>
          <a:p>
            <a:pPr marL="457200" marR="0" lvl="0" indent="-180360" algn="l" rtl="0">
              <a:lnSpc>
                <a:spcPct val="100000"/>
              </a:lnSpc>
              <a:spcBef>
                <a:spcPts val="0"/>
              </a:spcBef>
              <a:spcAft>
                <a:spcPts val="0"/>
              </a:spcAft>
              <a:buSzPts val="1800"/>
              <a:buFont typeface="Arial"/>
              <a:buNone/>
            </a:pPr>
            <a:endParaRPr sz="1800" b="0" i="0" u="none" strike="noStrike" cap="none">
              <a:latin typeface="Arial"/>
              <a:ea typeface="Arial"/>
              <a:cs typeface="Arial"/>
              <a:sym typeface="Arial"/>
            </a:endParaRPr>
          </a:p>
          <a:p>
            <a:pPr marL="457200" marR="0" lvl="0" indent="-180360" algn="l" rtl="0">
              <a:lnSpc>
                <a:spcPct val="100000"/>
              </a:lnSpc>
              <a:spcBef>
                <a:spcPts val="0"/>
              </a:spcBef>
              <a:spcAft>
                <a:spcPts val="0"/>
              </a:spcAft>
              <a:buSzPts val="1800"/>
              <a:buFont typeface="Arial"/>
              <a:buNone/>
            </a:pPr>
            <a:endParaRPr sz="1800" b="0" i="0" u="none" strike="noStrike" cap="none">
              <a:latin typeface="Arial"/>
              <a:ea typeface="Arial"/>
              <a:cs typeface="Arial"/>
              <a:sym typeface="Arial"/>
            </a:endParaRPr>
          </a:p>
          <a:p>
            <a:pPr marL="457200" marR="0" lvl="0" indent="-180360" algn="l" rtl="0">
              <a:lnSpc>
                <a:spcPct val="100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a:t>
            </a:r>
            <a:endParaRPr sz="1800" b="0" i="0" u="none" strike="noStrike" cap="none">
              <a:latin typeface="Arial"/>
              <a:ea typeface="Arial"/>
              <a:cs typeface="Arial"/>
              <a:sym typeface="Arial"/>
            </a:endParaRPr>
          </a:p>
          <a:p>
            <a:pPr marL="457200" marR="0" lvl="0" indent="-180360" algn="l" rtl="0">
              <a:lnSpc>
                <a:spcPct val="100000"/>
              </a:lnSpc>
              <a:spcBef>
                <a:spcPts val="0"/>
              </a:spcBef>
              <a:spcAft>
                <a:spcPts val="0"/>
              </a:spcAft>
              <a:buClr>
                <a:srgbClr val="000000"/>
              </a:buClr>
              <a:buSzPts val="1800"/>
              <a:buFont typeface="Arial"/>
              <a:buNone/>
            </a:pPr>
            <a:r>
              <a:rPr lang="es-AR" sz="1800" b="1" i="0" u="none" strike="noStrike" cap="none">
                <a:solidFill>
                  <a:srgbClr val="000000"/>
                </a:solidFill>
                <a:latin typeface="Arial"/>
                <a:ea typeface="Arial"/>
                <a:cs typeface="Arial"/>
                <a:sym typeface="Arial"/>
              </a:rPr>
              <a:t>end</a:t>
            </a:r>
            <a:r>
              <a:rPr lang="es-AR" sz="1800" b="0" i="0" u="none" strike="noStrike" cap="none">
                <a:solidFill>
                  <a:srgbClr val="000000"/>
                </a:solidFill>
                <a:latin typeface="Arial"/>
                <a:ea typeface="Arial"/>
                <a:cs typeface="Arial"/>
                <a:sym typeface="Arial"/>
              </a:rPr>
              <a:t>;</a:t>
            </a:r>
            <a:endParaRPr sz="1800" b="0" i="0" u="none" strike="noStrike" cap="none">
              <a:latin typeface="Arial"/>
              <a:ea typeface="Arial"/>
              <a:cs typeface="Arial"/>
              <a:sym typeface="Arial"/>
            </a:endParaRPr>
          </a:p>
        </p:txBody>
      </p:sp>
      <p:sp>
        <p:nvSpPr>
          <p:cNvPr id="636" name="Google Shape;636;p32"/>
          <p:cNvSpPr/>
          <p:nvPr/>
        </p:nvSpPr>
        <p:spPr>
          <a:xfrm>
            <a:off x="7814880" y="57654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32</a:t>
            </a:fld>
            <a:endParaRPr sz="1800" b="0" i="0" u="none" strike="noStrike" cap="none">
              <a:latin typeface="Arial"/>
              <a:ea typeface="Arial"/>
              <a:cs typeface="Arial"/>
              <a:sym typeface="Arial"/>
            </a:endParaRPr>
          </a:p>
        </p:txBody>
      </p:sp>
      <p:sp>
        <p:nvSpPr>
          <p:cNvPr id="637" name="Google Shape;637;p32"/>
          <p:cNvSpPr/>
          <p:nvPr/>
        </p:nvSpPr>
        <p:spPr>
          <a:xfrm>
            <a:off x="4192560" y="4623840"/>
            <a:ext cx="3231720" cy="155124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Consolas"/>
              <a:buNone/>
            </a:pPr>
            <a:r>
              <a:rPr lang="es-AR" sz="1600" b="1" i="0" u="none" strike="noStrike" cap="none">
                <a:solidFill>
                  <a:srgbClr val="000000"/>
                </a:solidFill>
                <a:latin typeface="Consolas"/>
                <a:ea typeface="Consolas"/>
                <a:cs typeface="Consolas"/>
                <a:sym typeface="Consolas"/>
              </a:rPr>
              <a:t>En esta sección se deben colocar Instrucciones que es preciso ejecutar, </a:t>
            </a:r>
            <a:endParaRPr sz="1600" b="0" i="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Consolas"/>
              <a:buNone/>
            </a:pPr>
            <a:r>
              <a:rPr lang="es-AR" sz="1600" b="1" i="0" u="none" strike="noStrike" cap="none">
                <a:solidFill>
                  <a:srgbClr val="000000"/>
                </a:solidFill>
                <a:latin typeface="Consolas"/>
                <a:ea typeface="Consolas"/>
                <a:cs typeface="Consolas"/>
                <a:sym typeface="Consolas"/>
              </a:rPr>
              <a:t>aunque se haya</a:t>
            </a:r>
            <a:r>
              <a:rPr lang="es-AR" sz="1600" b="0" i="0" u="none" strike="noStrike" cap="none">
                <a:solidFill>
                  <a:srgbClr val="000000"/>
                </a:solidFill>
                <a:latin typeface="Consolas"/>
                <a:ea typeface="Consolas"/>
                <a:cs typeface="Consolas"/>
                <a:sym typeface="Consolas"/>
              </a:rPr>
              <a:t>​</a:t>
            </a:r>
            <a:endParaRPr sz="1600" b="0" i="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Consolas"/>
              <a:buNone/>
            </a:pPr>
            <a:r>
              <a:rPr lang="es-AR" sz="1600" b="1" i="0" u="none" strike="noStrike" cap="none">
                <a:solidFill>
                  <a:srgbClr val="000000"/>
                </a:solidFill>
                <a:latin typeface="Consolas"/>
                <a:ea typeface="Consolas"/>
                <a:cs typeface="Consolas"/>
                <a:sym typeface="Consolas"/>
              </a:rPr>
              <a:t>levantado la excepción en el bloque interno</a:t>
            </a:r>
            <a:endParaRPr sz="1600" b="0" i="0" u="none" strike="noStrike" cap="none">
              <a:latin typeface="Arial"/>
              <a:ea typeface="Arial"/>
              <a:cs typeface="Arial"/>
              <a:sym typeface="Arial"/>
            </a:endParaRPr>
          </a:p>
        </p:txBody>
      </p:sp>
      <p:sp>
        <p:nvSpPr>
          <p:cNvPr id="638" name="Google Shape;638;p32"/>
          <p:cNvSpPr/>
          <p:nvPr/>
        </p:nvSpPr>
        <p:spPr>
          <a:xfrm>
            <a:off x="5213160" y="1403280"/>
            <a:ext cx="3691800" cy="155124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onsolas"/>
              <a:buNone/>
            </a:pPr>
            <a:r>
              <a:rPr lang="es-AR" sz="1600" b="1" i="0" u="none" strike="noStrike" cap="none">
                <a:solidFill>
                  <a:srgbClr val="000000"/>
                </a:solidFill>
                <a:latin typeface="Consolas"/>
                <a:ea typeface="Consolas"/>
                <a:cs typeface="Consolas"/>
                <a:sym typeface="Consolas"/>
              </a:rPr>
              <a:t>instrucción declare se utiliza para declarar variables locales, instrucciones, excepciones dentro de un bloque, y armar una unidad interna</a:t>
            </a:r>
            <a:endParaRPr sz="1600" b="0" i="0" u="none" strike="noStrike" cap="none">
              <a:latin typeface="Arial"/>
              <a:ea typeface="Arial"/>
              <a:cs typeface="Arial"/>
              <a:sym typeface="Arial"/>
            </a:endParaRPr>
          </a:p>
        </p:txBody>
      </p:sp>
      <p:sp>
        <p:nvSpPr>
          <p:cNvPr id="639" name="Google Shape;639;p32"/>
          <p:cNvSpPr/>
          <p:nvPr/>
        </p:nvSpPr>
        <p:spPr>
          <a:xfrm>
            <a:off x="6449760" y="2883960"/>
            <a:ext cx="2599200" cy="106452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onsolas"/>
              <a:buNone/>
            </a:pPr>
            <a:r>
              <a:rPr lang="es-AR" sz="1600" b="1" i="0" u="none" strike="noStrike" cap="none">
                <a:solidFill>
                  <a:srgbClr val="000000"/>
                </a:solidFill>
                <a:latin typeface="Consolas"/>
                <a:ea typeface="Consolas"/>
                <a:cs typeface="Consolas"/>
                <a:sym typeface="Consolas"/>
              </a:rPr>
              <a:t>bloque interno​ para manejar las instruc-ciones que pueden fallar</a:t>
            </a:r>
            <a:r>
              <a:rPr lang="es-AR" sz="1600" b="0" i="0" u="none" strike="noStrike" cap="none">
                <a:solidFill>
                  <a:srgbClr val="000000"/>
                </a:solidFill>
                <a:latin typeface="Consolas"/>
                <a:ea typeface="Consolas"/>
                <a:cs typeface="Consolas"/>
                <a:sym typeface="Consolas"/>
              </a:rPr>
              <a:t>​</a:t>
            </a:r>
            <a:endParaRPr sz="1600" b="0" i="0" u="none" strike="noStrike" cap="none">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33"/>
          <p:cNvSpPr/>
          <p:nvPr/>
        </p:nvSpPr>
        <p:spPr>
          <a:xfrm>
            <a:off x="457200" y="-31608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C++</a:t>
            </a:r>
            <a:endParaRPr sz="3000" b="0" i="0" u="none" strike="noStrike" cap="none">
              <a:latin typeface="Arial"/>
              <a:ea typeface="Arial"/>
              <a:cs typeface="Arial"/>
              <a:sym typeface="Arial"/>
            </a:endParaRPr>
          </a:p>
        </p:txBody>
      </p:sp>
      <p:sp>
        <p:nvSpPr>
          <p:cNvPr id="645" name="Google Shape;645;p33"/>
          <p:cNvSpPr/>
          <p:nvPr/>
        </p:nvSpPr>
        <p:spPr>
          <a:xfrm>
            <a:off x="395640" y="888480"/>
            <a:ext cx="8609040" cy="5966640"/>
          </a:xfrm>
          <a:prstGeom prst="rect">
            <a:avLst/>
          </a:prstGeom>
          <a:noFill/>
          <a:ln>
            <a:noFill/>
          </a:ln>
        </p:spPr>
        <p:txBody>
          <a:bodyPr spcFirstLastPara="1" wrap="square" lIns="90000" tIns="45000" rIns="90000" bIns="45000" anchor="t" anchorCtr="0">
            <a:noAutofit/>
          </a:bodyPr>
          <a:lstStyle/>
          <a:p>
            <a:pPr marL="274320" marR="0" lvl="0" indent="-271800" algn="l" rtl="0">
              <a:lnSpc>
                <a:spcPct val="100000"/>
              </a:lnSpc>
              <a:spcBef>
                <a:spcPts val="0"/>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Utiliza el criterio de </a:t>
            </a:r>
            <a:r>
              <a:rPr lang="es-AR" sz="2400" b="1" i="0" u="none" strike="noStrike" cap="none">
                <a:solidFill>
                  <a:srgbClr val="000000"/>
                </a:solidFill>
                <a:latin typeface="Century Schoolbook"/>
                <a:ea typeface="Century Schoolbook"/>
                <a:cs typeface="Century Schoolbook"/>
                <a:sym typeface="Century Schoolbook"/>
              </a:rPr>
              <a:t>Terminación.</a:t>
            </a:r>
            <a:endParaRPr sz="2400" b="0" i="0" u="none" strike="noStrike" cap="none">
              <a:latin typeface="Arial"/>
              <a:ea typeface="Arial"/>
              <a:cs typeface="Arial"/>
              <a:sym typeface="Arial"/>
            </a:endParaRPr>
          </a:p>
          <a:p>
            <a:pPr marL="274320" marR="0" lvl="0" indent="-271800" algn="l" rtl="0">
              <a:lnSpc>
                <a:spcPct val="100000"/>
              </a:lnSpc>
              <a:spcBef>
                <a:spcPts val="0"/>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Cuenta con </a:t>
            </a:r>
            <a:r>
              <a:rPr lang="es-AR" sz="2400" b="1" i="0" u="none" strike="noStrike" cap="none">
                <a:solidFill>
                  <a:srgbClr val="000000"/>
                </a:solidFill>
                <a:latin typeface="Century Schoolbook"/>
                <a:ea typeface="Century Schoolbook"/>
                <a:cs typeface="Century Schoolbook"/>
                <a:sym typeface="Century Schoolbook"/>
              </a:rPr>
              <a:t>excepciones estandar predefinidas.</a:t>
            </a:r>
            <a:endParaRPr sz="2400" b="0" i="0" u="none" strike="noStrike" cap="none">
              <a:latin typeface="Arial"/>
              <a:ea typeface="Arial"/>
              <a:cs typeface="Arial"/>
              <a:sym typeface="Arial"/>
            </a:endParaRPr>
          </a:p>
          <a:p>
            <a:pPr marL="0" marR="0" lvl="0" indent="0" algn="l" rtl="0">
              <a:lnSpc>
                <a:spcPct val="100000"/>
              </a:lnSpc>
              <a:spcBef>
                <a:spcPts val="0"/>
              </a:spcBef>
              <a:spcAft>
                <a:spcPts val="0"/>
              </a:spcAft>
              <a:buSzPts val="2400"/>
              <a:buFont typeface="Arial"/>
              <a:buNone/>
            </a:pPr>
            <a:endParaRPr sz="2400" b="0" i="0" u="none" strike="noStrike" cap="none">
              <a:latin typeface="Arial"/>
              <a:ea typeface="Arial"/>
              <a:cs typeface="Arial"/>
              <a:sym typeface="Arial"/>
            </a:endParaRPr>
          </a:p>
          <a:p>
            <a:pPr marL="274320" marR="0" lvl="0" indent="-271800" algn="l" rtl="0">
              <a:lnSpc>
                <a:spcPct val="100000"/>
              </a:lnSpc>
              <a:spcBef>
                <a:spcPts val="601"/>
              </a:spcBef>
              <a:spcAft>
                <a:spcPts val="0"/>
              </a:spcAft>
              <a:buClr>
                <a:srgbClr val="FE8637"/>
              </a:buClr>
              <a:buSzPts val="2400"/>
              <a:buFont typeface="Noto Sans Symbols"/>
              <a:buChar char="•"/>
            </a:pPr>
            <a:r>
              <a:rPr lang="es-AR" sz="2400" b="1" i="0" u="none" strike="noStrike" cap="none">
                <a:solidFill>
                  <a:srgbClr val="E87605"/>
                </a:solidFill>
                <a:latin typeface="Century Schoolbook"/>
                <a:ea typeface="Century Schoolbook"/>
                <a:cs typeface="Century Schoolbook"/>
                <a:sym typeface="Century Schoolbook"/>
              </a:rPr>
              <a:t>Try </a:t>
            </a:r>
            <a:r>
              <a:rPr lang="es-AR" sz="2400" b="0" i="0" u="none" strike="noStrike" cap="none">
                <a:solidFill>
                  <a:srgbClr val="000000"/>
                </a:solidFill>
                <a:latin typeface="Century Schoolbook"/>
                <a:ea typeface="Century Schoolbook"/>
                <a:cs typeface="Century Schoolbook"/>
                <a:sym typeface="Century Schoolbook"/>
              </a:rPr>
              <a:t>para </a:t>
            </a:r>
            <a:r>
              <a:rPr lang="es-AR" sz="2400" b="1" i="0" u="none" strike="noStrike" cap="none">
                <a:solidFill>
                  <a:srgbClr val="000000"/>
                </a:solidFill>
                <a:latin typeface="Century Schoolbook"/>
                <a:ea typeface="Century Schoolbook"/>
                <a:cs typeface="Century Schoolbook"/>
                <a:sym typeface="Century Schoolbook"/>
              </a:rPr>
              <a:t>indicar los bloques donde pueden llegar a levantarse excepciones</a:t>
            </a:r>
            <a:r>
              <a:rPr lang="es-AR" sz="2400" b="0" i="0" u="none" strike="noStrike" cap="none">
                <a:solidFill>
                  <a:srgbClr val="000000"/>
                </a:solidFill>
                <a:latin typeface="Century Schoolbook"/>
                <a:ea typeface="Century Schoolbook"/>
                <a:cs typeface="Century Schoolbook"/>
                <a:sym typeface="Century Schoolbook"/>
              </a:rPr>
              <a:t>. Los mismos van precedidos  por esta palabra clave </a:t>
            </a:r>
            <a:r>
              <a:rPr lang="es-AR" sz="2400" b="1" i="0" u="none" strike="noStrike" cap="none">
                <a:solidFill>
                  <a:srgbClr val="000000"/>
                </a:solidFill>
                <a:latin typeface="Century Schoolbook"/>
                <a:ea typeface="Century Schoolbook"/>
                <a:cs typeface="Century Schoolbook"/>
                <a:sym typeface="Century Schoolbook"/>
              </a:rPr>
              <a:t>Try </a:t>
            </a:r>
            <a:endParaRPr sz="2400" b="0" i="0" u="none" strike="noStrike" cap="none">
              <a:latin typeface="Arial"/>
              <a:ea typeface="Arial"/>
              <a:cs typeface="Arial"/>
              <a:sym typeface="Arial"/>
            </a:endParaRPr>
          </a:p>
          <a:p>
            <a:pPr marL="274320" marR="0" lvl="0" indent="-271800" algn="ctr" rtl="0">
              <a:lnSpc>
                <a:spcPct val="100000"/>
              </a:lnSpc>
              <a:spcBef>
                <a:spcPts val="601"/>
              </a:spcBef>
              <a:spcAft>
                <a:spcPts val="0"/>
              </a:spcAft>
              <a:buClr>
                <a:srgbClr val="FE8637"/>
              </a:buClr>
              <a:buSzPts val="2400"/>
              <a:buFont typeface="Noto Sans Symbols"/>
              <a:buChar char="•"/>
            </a:pPr>
            <a:r>
              <a:rPr lang="es-AR" sz="2400" b="1" i="0" u="none" strike="noStrike" cap="none">
                <a:solidFill>
                  <a:srgbClr val="E87605"/>
                </a:solidFill>
                <a:latin typeface="Century Schoolbook"/>
                <a:ea typeface="Century Schoolbook"/>
                <a:cs typeface="Century Schoolbook"/>
                <a:sym typeface="Century Schoolbook"/>
              </a:rPr>
              <a:t>Catch</a:t>
            </a:r>
            <a:r>
              <a:rPr lang="es-AR" sz="2400" b="0" i="0" u="none" strike="noStrike" cap="none">
                <a:solidFill>
                  <a:srgbClr val="E87605"/>
                </a:solidFill>
                <a:latin typeface="Century Schoolbook"/>
                <a:ea typeface="Century Schoolbook"/>
                <a:cs typeface="Century Schoolbook"/>
                <a:sym typeface="Century Schoolbook"/>
              </a:rPr>
              <a:t> </a:t>
            </a:r>
            <a:r>
              <a:rPr lang="es-AR" sz="2400" b="0" i="0" u="none" strike="noStrike" cap="none">
                <a:solidFill>
                  <a:srgbClr val="000000"/>
                </a:solidFill>
                <a:latin typeface="Century Schoolbook"/>
                <a:ea typeface="Century Schoolbook"/>
                <a:cs typeface="Century Schoolbook"/>
                <a:sym typeface="Century Schoolbook"/>
              </a:rPr>
              <a:t>se utilizada </a:t>
            </a:r>
            <a:r>
              <a:rPr lang="es-AR" sz="2400" b="1" i="0" u="none" strike="noStrike" cap="none">
                <a:solidFill>
                  <a:srgbClr val="000000"/>
                </a:solidFill>
                <a:latin typeface="Century Schoolbook"/>
                <a:ea typeface="Century Schoolbook"/>
                <a:cs typeface="Century Schoolbook"/>
                <a:sym typeface="Century Schoolbook"/>
              </a:rPr>
              <a:t>para especificar los manejadores.</a:t>
            </a:r>
            <a:r>
              <a:rPr lang="es-AR" sz="2400" b="0" i="0" u="none" strike="noStrike" cap="none">
                <a:solidFill>
                  <a:srgbClr val="000000"/>
                </a:solidFill>
                <a:latin typeface="Century Schoolbook"/>
                <a:ea typeface="Century Schoolbook"/>
                <a:cs typeface="Century Schoolbook"/>
                <a:sym typeface="Century Schoolbook"/>
              </a:rPr>
              <a:t> </a:t>
            </a:r>
            <a:r>
              <a:rPr lang="es-AR" sz="2400" b="1" i="1" u="none" strike="noStrike" cap="none">
                <a:solidFill>
                  <a:srgbClr val="E87605"/>
                </a:solidFill>
                <a:latin typeface="Century Schoolbook"/>
                <a:ea typeface="Century Schoolbook"/>
                <a:cs typeface="Century Schoolbook"/>
                <a:sym typeface="Century Schoolbook"/>
              </a:rPr>
              <a:t>Catch(NombreDeLaExcepción) </a:t>
            </a:r>
            <a:endParaRPr sz="2400" b="0" i="0" u="none" strike="noStrike" cap="none">
              <a:latin typeface="Arial"/>
              <a:ea typeface="Arial"/>
              <a:cs typeface="Arial"/>
              <a:sym typeface="Arial"/>
            </a:endParaRPr>
          </a:p>
          <a:p>
            <a:pPr marL="731520" marR="0" lvl="1" indent="-271799" algn="l"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las cláusulas </a:t>
            </a:r>
            <a:r>
              <a:rPr lang="es-AR" sz="2400" b="1" i="0" u="none" strike="noStrike" cap="none">
                <a:solidFill>
                  <a:srgbClr val="000000"/>
                </a:solidFill>
                <a:latin typeface="Century Schoolbook"/>
                <a:ea typeface="Century Schoolbook"/>
                <a:cs typeface="Century Schoolbook"/>
                <a:sym typeface="Century Schoolbook"/>
              </a:rPr>
              <a:t>catch deben estar </a:t>
            </a:r>
            <a:r>
              <a:rPr lang="es-AR" sz="2400" b="1" i="0" u="sng" strike="noStrike" cap="none">
                <a:solidFill>
                  <a:srgbClr val="000000"/>
                </a:solidFill>
                <a:latin typeface="Century Schoolbook"/>
                <a:ea typeface="Century Schoolbook"/>
                <a:cs typeface="Century Schoolbook"/>
                <a:sym typeface="Century Schoolbook"/>
              </a:rPr>
              <a:t>después </a:t>
            </a:r>
            <a:r>
              <a:rPr lang="es-AR" sz="2400" b="1" i="0" u="none" strike="noStrike" cap="none">
                <a:solidFill>
                  <a:srgbClr val="000000"/>
                </a:solidFill>
                <a:latin typeface="Century Schoolbook"/>
                <a:ea typeface="Century Schoolbook"/>
                <a:cs typeface="Century Schoolbook"/>
                <a:sym typeface="Century Schoolbook"/>
              </a:rPr>
              <a:t>del bloque try </a:t>
            </a:r>
            <a:r>
              <a:rPr lang="es-AR" sz="2400" b="0" i="0" u="none" strike="noStrike" cap="none">
                <a:solidFill>
                  <a:srgbClr val="000000"/>
                </a:solidFill>
                <a:latin typeface="Century Schoolbook"/>
                <a:ea typeface="Century Schoolbook"/>
                <a:cs typeface="Century Schoolbook"/>
                <a:sym typeface="Century Schoolbook"/>
              </a:rPr>
              <a:t>y </a:t>
            </a:r>
            <a:r>
              <a:rPr lang="es-AR" sz="2400" b="1" i="0" u="sng" strike="noStrike" cap="none">
                <a:solidFill>
                  <a:srgbClr val="000000"/>
                </a:solidFill>
                <a:latin typeface="Century Schoolbook"/>
                <a:ea typeface="Century Schoolbook"/>
                <a:cs typeface="Century Schoolbook"/>
                <a:sym typeface="Century Schoolbook"/>
              </a:rPr>
              <a:t>antes </a:t>
            </a:r>
            <a:r>
              <a:rPr lang="es-AR" sz="2400" b="1" i="0" u="none" strike="noStrike" cap="none">
                <a:solidFill>
                  <a:srgbClr val="000000"/>
                </a:solidFill>
                <a:latin typeface="Century Schoolbook"/>
                <a:ea typeface="Century Schoolbook"/>
                <a:cs typeface="Century Schoolbook"/>
                <a:sym typeface="Century Schoolbook"/>
              </a:rPr>
              <a:t>de cualquier código que esté fuera del bloque try.</a:t>
            </a:r>
            <a:endParaRPr sz="2400" b="0" i="0" u="none" strike="noStrike" cap="none">
              <a:latin typeface="Arial"/>
              <a:ea typeface="Arial"/>
              <a:cs typeface="Arial"/>
              <a:sym typeface="Arial"/>
            </a:endParaRPr>
          </a:p>
          <a:p>
            <a:pPr marL="731520" marR="0" lvl="1" indent="-271799" algn="l"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Los </a:t>
            </a:r>
            <a:r>
              <a:rPr lang="es-AR" sz="2400" b="1" i="0" u="none" strike="noStrike" cap="none">
                <a:solidFill>
                  <a:srgbClr val="000000"/>
                </a:solidFill>
                <a:latin typeface="Century Schoolbook"/>
                <a:ea typeface="Century Schoolbook"/>
                <a:cs typeface="Century Schoolbook"/>
                <a:sym typeface="Century Schoolbook"/>
              </a:rPr>
              <a:t>manejadores </a:t>
            </a:r>
            <a:r>
              <a:rPr lang="es-AR" sz="2400" b="0" i="0" u="none" strike="noStrike" cap="none">
                <a:solidFill>
                  <a:srgbClr val="000000"/>
                </a:solidFill>
                <a:latin typeface="Century Schoolbook"/>
                <a:ea typeface="Century Schoolbook"/>
                <a:cs typeface="Century Schoolbook"/>
                <a:sym typeface="Century Schoolbook"/>
              </a:rPr>
              <a:t>van </a:t>
            </a:r>
            <a:r>
              <a:rPr lang="es-AR" sz="2400" b="1" i="0" u="none" strike="noStrike" cap="none">
                <a:solidFill>
                  <a:srgbClr val="000000"/>
                </a:solidFill>
                <a:latin typeface="Century Schoolbook"/>
                <a:ea typeface="Century Schoolbook"/>
                <a:cs typeface="Century Schoolbook"/>
                <a:sym typeface="Century Schoolbook"/>
              </a:rPr>
              <a:t>asociados a bloques { } </a:t>
            </a:r>
            <a:endParaRPr sz="2400" b="0" i="0" u="none" strike="noStrike" cap="none">
              <a:latin typeface="Arial"/>
              <a:ea typeface="Arial"/>
              <a:cs typeface="Arial"/>
              <a:sym typeface="Arial"/>
            </a:endParaRPr>
          </a:p>
          <a:p>
            <a:pPr marL="274320" marR="0" lvl="0" indent="-271800" algn="l" rtl="0">
              <a:lnSpc>
                <a:spcPct val="100000"/>
              </a:lnSpc>
              <a:spcBef>
                <a:spcPts val="601"/>
              </a:spcBef>
              <a:spcAft>
                <a:spcPts val="0"/>
              </a:spcAft>
              <a:buClr>
                <a:srgbClr val="FE8637"/>
              </a:buClr>
              <a:buSzPts val="2400"/>
              <a:buFont typeface="Noto Sans Symbols"/>
              <a:buChar char="•"/>
            </a:pPr>
            <a:r>
              <a:rPr lang="es-AR" sz="2400" b="1" i="0" u="none" strike="noStrike" cap="none">
                <a:solidFill>
                  <a:srgbClr val="E87605"/>
                </a:solidFill>
                <a:latin typeface="Century Schoolbook"/>
                <a:ea typeface="Century Schoolbook"/>
                <a:cs typeface="Century Schoolbook"/>
                <a:sym typeface="Century Schoolbook"/>
              </a:rPr>
              <a:t>Throw </a:t>
            </a:r>
            <a:r>
              <a:rPr lang="es-AR" sz="2400" b="0" i="0" u="none" strike="noStrike" cap="none">
                <a:solidFill>
                  <a:srgbClr val="000000"/>
                </a:solidFill>
                <a:latin typeface="Century Schoolbook"/>
                <a:ea typeface="Century Schoolbook"/>
                <a:cs typeface="Century Schoolbook"/>
                <a:sym typeface="Century Schoolbook"/>
              </a:rPr>
              <a:t>Se utiliza para </a:t>
            </a:r>
            <a:r>
              <a:rPr lang="es-AR" sz="2400" b="1" i="0" u="none" strike="noStrike" cap="none">
                <a:solidFill>
                  <a:srgbClr val="000000"/>
                </a:solidFill>
                <a:latin typeface="Century Schoolbook"/>
                <a:ea typeface="Century Schoolbook"/>
                <a:cs typeface="Century Schoolbook"/>
                <a:sym typeface="Century Schoolbook"/>
              </a:rPr>
              <a:t>lanzar explícitamente</a:t>
            </a:r>
            <a:r>
              <a:rPr lang="es-AR" sz="2400" b="0" i="0" u="none" strike="noStrike" cap="none">
                <a:solidFill>
                  <a:srgbClr val="000000"/>
                </a:solidFill>
                <a:latin typeface="Century Schoolbook"/>
                <a:ea typeface="Century Schoolbook"/>
                <a:cs typeface="Century Schoolbook"/>
                <a:sym typeface="Century Schoolbook"/>
              </a:rPr>
              <a:t> una excepción</a:t>
            </a:r>
            <a:endParaRPr sz="2400" b="0" i="0" u="none" strike="noStrike" cap="none">
              <a:latin typeface="Arial"/>
              <a:ea typeface="Arial"/>
              <a:cs typeface="Arial"/>
              <a:sym typeface="Arial"/>
            </a:endParaRPr>
          </a:p>
          <a:p>
            <a:pPr marL="0" marR="0" lvl="0" indent="0" algn="l" rtl="0">
              <a:lnSpc>
                <a:spcPct val="10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0" marR="0" lvl="0" indent="0" algn="l" rtl="0">
              <a:lnSpc>
                <a:spcPct val="10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0" marR="0" lvl="0" indent="0" algn="l" rtl="0">
              <a:lnSpc>
                <a:spcPct val="100000"/>
              </a:lnSpc>
              <a:spcBef>
                <a:spcPts val="601"/>
              </a:spcBef>
              <a:spcAft>
                <a:spcPts val="0"/>
              </a:spcAft>
              <a:buSzPts val="2400"/>
              <a:buFont typeface="Arial"/>
              <a:buNone/>
            </a:pPr>
            <a:endParaRPr sz="2400" b="0" i="0" u="none" strike="noStrike" cap="none">
              <a:latin typeface="Arial"/>
              <a:ea typeface="Arial"/>
              <a:cs typeface="Arial"/>
              <a:sym typeface="Arial"/>
            </a:endParaRPr>
          </a:p>
        </p:txBody>
      </p:sp>
      <p:sp>
        <p:nvSpPr>
          <p:cNvPr id="646" name="Google Shape;646;p33"/>
          <p:cNvSpPr/>
          <p:nvPr/>
        </p:nvSpPr>
        <p:spPr>
          <a:xfrm>
            <a:off x="8206920" y="58896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33</a:t>
            </a:fld>
            <a:endParaRPr sz="1800" b="0" i="0" u="none" strike="noStrike" cap="none">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34"/>
          <p:cNvSpPr/>
          <p:nvPr/>
        </p:nvSpPr>
        <p:spPr>
          <a:xfrm>
            <a:off x="457200" y="-6336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c++</a:t>
            </a:r>
            <a:endParaRPr sz="3000" b="0" i="0" u="none" strike="noStrike" cap="none">
              <a:latin typeface="Arial"/>
              <a:ea typeface="Arial"/>
              <a:cs typeface="Arial"/>
              <a:sym typeface="Arial"/>
            </a:endParaRPr>
          </a:p>
        </p:txBody>
      </p:sp>
      <p:sp>
        <p:nvSpPr>
          <p:cNvPr id="652" name="Google Shape;652;p34"/>
          <p:cNvSpPr/>
          <p:nvPr/>
        </p:nvSpPr>
        <p:spPr>
          <a:xfrm>
            <a:off x="8171640" y="57942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34</a:t>
            </a:fld>
            <a:endParaRPr sz="1800" b="0" i="0" u="none" strike="noStrike" cap="none">
              <a:latin typeface="Arial"/>
              <a:ea typeface="Arial"/>
              <a:cs typeface="Arial"/>
              <a:sym typeface="Arial"/>
            </a:endParaRPr>
          </a:p>
        </p:txBody>
      </p:sp>
      <p:pic>
        <p:nvPicPr>
          <p:cNvPr id="653" name="Google Shape;653;p34" descr="Texto, Carta&#10;&#10;Descripción generada automáticamente"/>
          <p:cNvPicPr preferRelativeResize="0"/>
          <p:nvPr/>
        </p:nvPicPr>
        <p:blipFill rotWithShape="1">
          <a:blip r:embed="rId3">
            <a:alphaModFix/>
          </a:blip>
          <a:srcRect/>
          <a:stretch/>
        </p:blipFill>
        <p:spPr>
          <a:xfrm>
            <a:off x="727560" y="1335600"/>
            <a:ext cx="7271640" cy="5034960"/>
          </a:xfrm>
          <a:prstGeom prst="rect">
            <a:avLst/>
          </a:prstGeom>
          <a:noFill/>
          <a:ln>
            <a:noFill/>
          </a:ln>
        </p:spPr>
      </p:pic>
      <p:sp>
        <p:nvSpPr>
          <p:cNvPr id="654" name="Google Shape;654;p34"/>
          <p:cNvSpPr/>
          <p:nvPr/>
        </p:nvSpPr>
        <p:spPr>
          <a:xfrm>
            <a:off x="4566240" y="2697120"/>
            <a:ext cx="3432960" cy="82116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1" i="0" u="none" strike="noStrike" cap="none">
                <a:solidFill>
                  <a:srgbClr val="000000"/>
                </a:solidFill>
                <a:latin typeface="Arial"/>
                <a:ea typeface="Arial"/>
                <a:cs typeface="Arial"/>
                <a:sym typeface="Arial"/>
              </a:rPr>
              <a:t>Sentencias que pueden provocar una excepción.</a:t>
            </a:r>
            <a:endParaRPr sz="1600" b="0" i="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s-AR" sz="1600" b="1" i="0" u="none" strike="noStrike" cap="none">
                <a:solidFill>
                  <a:srgbClr val="000000"/>
                </a:solidFill>
                <a:latin typeface="Arial"/>
                <a:ea typeface="Arial"/>
                <a:cs typeface="Arial"/>
                <a:sym typeface="Arial"/>
              </a:rPr>
              <a:t>Throw</a:t>
            </a:r>
            <a:endParaRPr sz="1600" b="0" i="0" u="none" strike="noStrike" cap="none">
              <a:latin typeface="Arial"/>
              <a:ea typeface="Arial"/>
              <a:cs typeface="Arial"/>
              <a:sym typeface="Arial"/>
            </a:endParaRPr>
          </a:p>
        </p:txBody>
      </p:sp>
      <p:sp>
        <p:nvSpPr>
          <p:cNvPr id="655" name="Google Shape;655;p34"/>
          <p:cNvSpPr/>
          <p:nvPr/>
        </p:nvSpPr>
        <p:spPr>
          <a:xfrm>
            <a:off x="4566240" y="4551840"/>
            <a:ext cx="3375360" cy="33444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1" i="0" u="none" strike="noStrike" cap="none">
                <a:solidFill>
                  <a:srgbClr val="000000"/>
                </a:solidFill>
                <a:latin typeface="Arial"/>
                <a:ea typeface="Arial"/>
                <a:cs typeface="Arial"/>
                <a:sym typeface="Arial"/>
              </a:rPr>
              <a:t> Sentencias del Manejador </a:t>
            </a:r>
            <a:endParaRPr sz="1600" b="0" i="0" u="none" strike="noStrike" cap="none">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35"/>
          <p:cNvSpPr/>
          <p:nvPr/>
        </p:nvSpPr>
        <p:spPr>
          <a:xfrm>
            <a:off x="457200" y="-6336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C++</a:t>
            </a:r>
            <a:endParaRPr sz="3000" b="0" i="0" u="none" strike="noStrike" cap="none">
              <a:latin typeface="Arial"/>
              <a:ea typeface="Arial"/>
              <a:cs typeface="Arial"/>
              <a:sym typeface="Arial"/>
            </a:endParaRPr>
          </a:p>
        </p:txBody>
      </p:sp>
      <p:sp>
        <p:nvSpPr>
          <p:cNvPr id="662" name="Google Shape;662;p35"/>
          <p:cNvSpPr/>
          <p:nvPr/>
        </p:nvSpPr>
        <p:spPr>
          <a:xfrm>
            <a:off x="8171640" y="57942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35</a:t>
            </a:fld>
            <a:endParaRPr sz="1800" b="0" i="0" u="none" strike="noStrike" cap="none">
              <a:latin typeface="Arial"/>
              <a:ea typeface="Arial"/>
              <a:cs typeface="Arial"/>
              <a:sym typeface="Arial"/>
            </a:endParaRPr>
          </a:p>
        </p:txBody>
      </p:sp>
      <p:sp>
        <p:nvSpPr>
          <p:cNvPr id="663" name="Google Shape;663;p35"/>
          <p:cNvSpPr/>
          <p:nvPr/>
        </p:nvSpPr>
        <p:spPr>
          <a:xfrm>
            <a:off x="454320" y="1072440"/>
            <a:ext cx="8119800" cy="5176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entury Schoolbook"/>
              <a:buNone/>
            </a:pPr>
            <a:r>
              <a:rPr lang="es-AR" sz="2800" b="1" i="0" u="none" strike="noStrike" cap="none">
                <a:solidFill>
                  <a:srgbClr val="000000"/>
                </a:solidFill>
                <a:latin typeface="Century Schoolbook"/>
                <a:ea typeface="Century Schoolbook"/>
                <a:cs typeface="Century Schoolbook"/>
                <a:sym typeface="Century Schoolbook"/>
              </a:rPr>
              <a:t>Excepciones estándar. Predefinidas</a:t>
            </a:r>
            <a:endParaRPr sz="2800" b="0" i="0" u="none" strike="noStrike" cap="none">
              <a:latin typeface="Arial"/>
              <a:ea typeface="Arial"/>
              <a:cs typeface="Arial"/>
              <a:sym typeface="Arial"/>
            </a:endParaRPr>
          </a:p>
        </p:txBody>
      </p:sp>
      <p:pic>
        <p:nvPicPr>
          <p:cNvPr id="664" name="Google Shape;664;p35" descr="Diagrama&#10;&#10;Descripción generada automáticamente"/>
          <p:cNvPicPr preferRelativeResize="0"/>
          <p:nvPr/>
        </p:nvPicPr>
        <p:blipFill rotWithShape="1">
          <a:blip r:embed="rId3">
            <a:alphaModFix/>
          </a:blip>
          <a:srcRect/>
          <a:stretch/>
        </p:blipFill>
        <p:spPr>
          <a:xfrm>
            <a:off x="454320" y="1873800"/>
            <a:ext cx="7731720" cy="483552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36"/>
          <p:cNvSpPr/>
          <p:nvPr/>
        </p:nvSpPr>
        <p:spPr>
          <a:xfrm>
            <a:off x="457200" y="-6336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c++</a:t>
            </a:r>
            <a:endParaRPr sz="3000" b="0" i="0" u="none" strike="noStrike" cap="none">
              <a:latin typeface="Arial"/>
              <a:ea typeface="Arial"/>
              <a:cs typeface="Arial"/>
              <a:sym typeface="Arial"/>
            </a:endParaRPr>
          </a:p>
        </p:txBody>
      </p:sp>
      <p:sp>
        <p:nvSpPr>
          <p:cNvPr id="671" name="Google Shape;671;p36"/>
          <p:cNvSpPr/>
          <p:nvPr/>
        </p:nvSpPr>
        <p:spPr>
          <a:xfrm>
            <a:off x="8171640" y="57942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36</a:t>
            </a:fld>
            <a:endParaRPr sz="1800" b="0" i="0" u="none" strike="noStrike" cap="none">
              <a:latin typeface="Arial"/>
              <a:ea typeface="Arial"/>
              <a:cs typeface="Arial"/>
              <a:sym typeface="Arial"/>
            </a:endParaRPr>
          </a:p>
        </p:txBody>
      </p:sp>
      <p:pic>
        <p:nvPicPr>
          <p:cNvPr id="672" name="Google Shape;672;p36" descr="Interfaz de usuario gráfica, Texto, Aplicación, Correo electrónico&#10;&#10;Descripción generada automáticamente"/>
          <p:cNvPicPr preferRelativeResize="0"/>
          <p:nvPr/>
        </p:nvPicPr>
        <p:blipFill rotWithShape="1">
          <a:blip r:embed="rId3">
            <a:alphaModFix/>
          </a:blip>
          <a:srcRect/>
          <a:stretch/>
        </p:blipFill>
        <p:spPr>
          <a:xfrm>
            <a:off x="109440" y="1127880"/>
            <a:ext cx="8680680" cy="5651280"/>
          </a:xfrm>
          <a:prstGeom prst="rect">
            <a:avLst/>
          </a:prstGeom>
          <a:noFill/>
          <a:ln>
            <a:noFill/>
          </a:ln>
        </p:spPr>
      </p:pic>
      <p:sp>
        <p:nvSpPr>
          <p:cNvPr id="673" name="Google Shape;673;p36"/>
          <p:cNvSpPr/>
          <p:nvPr/>
        </p:nvSpPr>
        <p:spPr>
          <a:xfrm>
            <a:off x="6392160" y="3818520"/>
            <a:ext cx="2397960" cy="57780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1" i="0" u="none" strike="noStrike" cap="none">
                <a:solidFill>
                  <a:srgbClr val="000000"/>
                </a:solidFill>
                <a:latin typeface="Arial"/>
                <a:ea typeface="Arial"/>
                <a:cs typeface="Arial"/>
                <a:sym typeface="Arial"/>
              </a:rPr>
              <a:t>Excepción a levantar de tipo entero</a:t>
            </a:r>
            <a:endParaRPr sz="1600" b="0" i="0" u="none" strike="noStrike" cap="none">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37"/>
          <p:cNvSpPr/>
          <p:nvPr/>
        </p:nvSpPr>
        <p:spPr>
          <a:xfrm>
            <a:off x="457200" y="-31608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c++</a:t>
            </a:r>
            <a:endParaRPr sz="3000" b="0" i="0" u="none" strike="noStrike" cap="none">
              <a:latin typeface="Arial"/>
              <a:ea typeface="Arial"/>
              <a:cs typeface="Arial"/>
              <a:sym typeface="Arial"/>
            </a:endParaRPr>
          </a:p>
        </p:txBody>
      </p:sp>
      <p:sp>
        <p:nvSpPr>
          <p:cNvPr id="680" name="Google Shape;680;p37"/>
          <p:cNvSpPr/>
          <p:nvPr/>
        </p:nvSpPr>
        <p:spPr>
          <a:xfrm>
            <a:off x="395640" y="888480"/>
            <a:ext cx="8278200" cy="596664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7"/>
          <p:cNvSpPr/>
          <p:nvPr/>
        </p:nvSpPr>
        <p:spPr>
          <a:xfrm>
            <a:off x="8206920" y="57600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37</a:t>
            </a:fld>
            <a:endParaRPr sz="1800" b="0" i="0" u="none" strike="noStrike" cap="none">
              <a:latin typeface="Arial"/>
              <a:ea typeface="Arial"/>
              <a:cs typeface="Arial"/>
              <a:sym typeface="Arial"/>
            </a:endParaRPr>
          </a:p>
        </p:txBody>
      </p:sp>
      <p:sp>
        <p:nvSpPr>
          <p:cNvPr id="682" name="Google Shape;682;p37"/>
          <p:cNvSpPr/>
          <p:nvPr/>
        </p:nvSpPr>
        <p:spPr>
          <a:xfrm>
            <a:off x="310680" y="1115640"/>
            <a:ext cx="8163000" cy="557748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400"/>
              <a:buFont typeface="Century Schoolbook"/>
              <a:buNone/>
            </a:pPr>
            <a:r>
              <a:rPr lang="es-AR" sz="2400" b="1" i="0" u="none" strike="noStrike" cap="none">
                <a:solidFill>
                  <a:srgbClr val="000000"/>
                </a:solidFill>
                <a:latin typeface="Century Schoolbook"/>
                <a:ea typeface="Century Schoolbook"/>
                <a:cs typeface="Century Schoolbook"/>
                <a:sym typeface="Century Schoolbook"/>
              </a:rPr>
              <a:t>Funcionamiento:</a:t>
            </a:r>
            <a:endParaRPr sz="2400" b="0" i="0" u="none" strike="noStrike" cap="none">
              <a:latin typeface="Arial"/>
              <a:ea typeface="Arial"/>
              <a:cs typeface="Arial"/>
              <a:sym typeface="Arial"/>
            </a:endParaRPr>
          </a:p>
          <a:p>
            <a:pPr marL="343080" marR="0" lvl="0" indent="-343080" algn="just" rtl="0">
              <a:lnSpc>
                <a:spcPct val="100000"/>
              </a:lnSpc>
              <a:spcBef>
                <a:spcPts val="0"/>
              </a:spcBef>
              <a:spcAft>
                <a:spcPts val="0"/>
              </a:spcAft>
              <a:buClr>
                <a:srgbClr val="000000"/>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El </a:t>
            </a:r>
            <a:r>
              <a:rPr lang="es-AR" sz="2400" b="1" i="0" u="none" strike="noStrike" cap="none">
                <a:solidFill>
                  <a:srgbClr val="000000"/>
                </a:solidFill>
                <a:latin typeface="Century Schoolbook"/>
                <a:ea typeface="Century Schoolbook"/>
                <a:cs typeface="Century Schoolbook"/>
                <a:sym typeface="Century Schoolbook"/>
              </a:rPr>
              <a:t>bloque try</a:t>
            </a:r>
            <a:r>
              <a:rPr lang="es-AR" sz="2400" b="0" i="0" u="none" strike="noStrike" cap="none">
                <a:solidFill>
                  <a:srgbClr val="000000"/>
                </a:solidFill>
                <a:latin typeface="Century Schoolbook"/>
                <a:ea typeface="Century Schoolbook"/>
                <a:cs typeface="Century Schoolbook"/>
                <a:sym typeface="Century Schoolbook"/>
              </a:rPr>
              <a:t> que contiene código que </a:t>
            </a:r>
            <a:r>
              <a:rPr lang="es-AR" sz="2400" b="1" i="0" u="none" strike="noStrike" cap="none">
                <a:solidFill>
                  <a:srgbClr val="000000"/>
                </a:solidFill>
                <a:latin typeface="Century Schoolbook"/>
                <a:ea typeface="Century Schoolbook"/>
                <a:cs typeface="Century Schoolbook"/>
                <a:sym typeface="Century Schoolbook"/>
              </a:rPr>
              <a:t>puede lanzar una excepción. </a:t>
            </a:r>
            <a:endParaRPr sz="2400" b="0" i="0" u="none" strike="noStrike" cap="none">
              <a:latin typeface="Arial"/>
              <a:ea typeface="Arial"/>
              <a:cs typeface="Arial"/>
              <a:sym typeface="Arial"/>
            </a:endParaRPr>
          </a:p>
          <a:p>
            <a:pPr marL="343080" marR="0" lvl="0" indent="-343080" algn="just" rtl="0">
              <a:lnSpc>
                <a:spcPct val="100000"/>
              </a:lnSpc>
              <a:spcBef>
                <a:spcPts val="0"/>
              </a:spcBef>
              <a:spcAft>
                <a:spcPts val="0"/>
              </a:spcAft>
              <a:buClr>
                <a:srgbClr val="000000"/>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Si se lanza</a:t>
            </a:r>
            <a:r>
              <a:rPr lang="es-AR" sz="2400" b="0" i="0" u="none" strike="noStrike" cap="none">
                <a:solidFill>
                  <a:srgbClr val="000000"/>
                </a:solidFill>
                <a:latin typeface="Century Schoolbook"/>
                <a:ea typeface="Century Schoolbook"/>
                <a:cs typeface="Century Schoolbook"/>
                <a:sym typeface="Century Schoolbook"/>
              </a:rPr>
              <a:t> una excepción el </a:t>
            </a:r>
            <a:r>
              <a:rPr lang="es-AR" sz="2400" b="1" i="0" u="none" strike="noStrike" cap="none">
                <a:solidFill>
                  <a:srgbClr val="000000"/>
                </a:solidFill>
                <a:latin typeface="Century Schoolbook"/>
                <a:ea typeface="Century Schoolbook"/>
                <a:cs typeface="Century Schoolbook"/>
                <a:sym typeface="Century Schoolbook"/>
              </a:rPr>
              <a:t>control se transfiere</a:t>
            </a:r>
            <a:r>
              <a:rPr lang="es-AR" sz="2400" b="0" i="0" u="none" strike="noStrike" cap="none">
                <a:solidFill>
                  <a:srgbClr val="000000"/>
                </a:solidFill>
                <a:latin typeface="Century Schoolbook"/>
                <a:ea typeface="Century Schoolbook"/>
                <a:cs typeface="Century Schoolbook"/>
                <a:sym typeface="Century Schoolbook"/>
              </a:rPr>
              <a:t> inmediatamente a la cláusula</a:t>
            </a:r>
            <a:r>
              <a:rPr lang="es-AR" sz="2400" b="1" i="0" u="none" strike="noStrike" cap="none">
                <a:solidFill>
                  <a:srgbClr val="000000"/>
                </a:solidFill>
                <a:latin typeface="Century Schoolbook"/>
                <a:ea typeface="Century Schoolbook"/>
                <a:cs typeface="Century Schoolbook"/>
                <a:sym typeface="Century Schoolbook"/>
              </a:rPr>
              <a:t> catch.</a:t>
            </a:r>
            <a:endParaRPr sz="2400" b="0" i="0" u="none" strike="noStrike" cap="none">
              <a:latin typeface="Arial"/>
              <a:ea typeface="Arial"/>
              <a:cs typeface="Arial"/>
              <a:sym typeface="Arial"/>
            </a:endParaRPr>
          </a:p>
          <a:p>
            <a:pPr marL="343080" marR="0" lvl="0" indent="-343080" algn="just" rtl="0">
              <a:lnSpc>
                <a:spcPct val="100000"/>
              </a:lnSpc>
              <a:spcBef>
                <a:spcPts val="0"/>
              </a:spcBef>
              <a:spcAft>
                <a:spcPts val="0"/>
              </a:spcAft>
              <a:buClr>
                <a:srgbClr val="000000"/>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Si la </a:t>
            </a:r>
            <a:r>
              <a:rPr lang="es-AR" sz="2400" b="1" i="0" u="none" strike="noStrike" cap="none">
                <a:solidFill>
                  <a:srgbClr val="000000"/>
                </a:solidFill>
                <a:latin typeface="Century Schoolbook"/>
                <a:ea typeface="Century Schoolbook"/>
                <a:cs typeface="Century Schoolbook"/>
                <a:sym typeface="Century Schoolbook"/>
              </a:rPr>
              <a:t>excepción coincide </a:t>
            </a:r>
            <a:r>
              <a:rPr lang="es-AR" sz="2400" b="0" i="0" u="none" strike="noStrike" cap="none">
                <a:solidFill>
                  <a:srgbClr val="000000"/>
                </a:solidFill>
                <a:latin typeface="Century Schoolbook"/>
                <a:ea typeface="Century Schoolbook"/>
                <a:cs typeface="Century Schoolbook"/>
                <a:sym typeface="Century Schoolbook"/>
              </a:rPr>
              <a:t>con el </a:t>
            </a:r>
            <a:r>
              <a:rPr lang="es-AR" sz="2400" b="1" i="0" u="none" strike="noStrike" cap="none">
                <a:solidFill>
                  <a:srgbClr val="000000"/>
                </a:solidFill>
                <a:latin typeface="Century Schoolbook"/>
                <a:ea typeface="Century Schoolbook"/>
                <a:cs typeface="Century Schoolbook"/>
                <a:sym typeface="Century Schoolbook"/>
              </a:rPr>
              <a:t>tipo especificado</a:t>
            </a:r>
            <a:r>
              <a:rPr lang="es-AR" sz="2400" b="0" i="0" u="none" strike="noStrike" cap="none">
                <a:solidFill>
                  <a:srgbClr val="000000"/>
                </a:solidFill>
                <a:latin typeface="Century Schoolbook"/>
                <a:ea typeface="Century Schoolbook"/>
                <a:cs typeface="Century Schoolbook"/>
                <a:sym typeface="Century Schoolbook"/>
              </a:rPr>
              <a:t> en la cláusula </a:t>
            </a:r>
            <a:r>
              <a:rPr lang="es-AR" sz="2400" b="1" i="0" u="none" strike="noStrike" cap="none">
                <a:solidFill>
                  <a:srgbClr val="000000"/>
                </a:solidFill>
                <a:latin typeface="Century Schoolbook"/>
                <a:ea typeface="Century Schoolbook"/>
                <a:cs typeface="Century Schoolbook"/>
                <a:sym typeface="Century Schoolbook"/>
              </a:rPr>
              <a:t>catch</a:t>
            </a:r>
            <a:r>
              <a:rPr lang="es-AR" sz="2400" b="0" i="0" u="none" strike="noStrike" cap="none">
                <a:solidFill>
                  <a:srgbClr val="000000"/>
                </a:solidFill>
                <a:latin typeface="Century Schoolbook"/>
                <a:ea typeface="Century Schoolbook"/>
                <a:cs typeface="Century Schoolbook"/>
                <a:sym typeface="Century Schoolbook"/>
              </a:rPr>
              <a:t>, se </a:t>
            </a:r>
            <a:r>
              <a:rPr lang="es-AR" sz="2400" b="1" i="0" u="none" strike="noStrike" cap="none">
                <a:solidFill>
                  <a:srgbClr val="000000"/>
                </a:solidFill>
                <a:latin typeface="Century Schoolbook"/>
                <a:ea typeface="Century Schoolbook"/>
                <a:cs typeface="Century Schoolbook"/>
                <a:sym typeface="Century Schoolbook"/>
              </a:rPr>
              <a:t>ejecuta el bloque de código</a:t>
            </a:r>
            <a:r>
              <a:rPr lang="es-AR" sz="2400" b="0" i="0" u="none" strike="noStrike" cap="none">
                <a:solidFill>
                  <a:srgbClr val="000000"/>
                </a:solidFill>
                <a:latin typeface="Century Schoolbook"/>
                <a:ea typeface="Century Schoolbook"/>
                <a:cs typeface="Century Schoolbook"/>
                <a:sym typeface="Century Schoolbook"/>
              </a:rPr>
              <a:t> de esa cláusula catch.</a:t>
            </a:r>
            <a:endParaRPr sz="2400" b="0" i="0" u="none" strike="noStrike" cap="none">
              <a:latin typeface="Arial"/>
              <a:ea typeface="Arial"/>
              <a:cs typeface="Arial"/>
              <a:sym typeface="Arial"/>
            </a:endParaRPr>
          </a:p>
          <a:p>
            <a:pPr marL="343080" marR="0" lvl="0" indent="-343080" algn="just" rtl="0">
              <a:lnSpc>
                <a:spcPct val="100000"/>
              </a:lnSpc>
              <a:spcBef>
                <a:spcPts val="0"/>
              </a:spcBef>
              <a:spcAft>
                <a:spcPts val="0"/>
              </a:spcAft>
              <a:buClr>
                <a:srgbClr val="000000"/>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Si </a:t>
            </a:r>
            <a:r>
              <a:rPr lang="es-AR" sz="2400" b="0" i="0" u="none" strike="noStrike" cap="none">
                <a:solidFill>
                  <a:srgbClr val="000000"/>
                </a:solidFill>
                <a:latin typeface="Century Schoolbook"/>
                <a:ea typeface="Century Schoolbook"/>
                <a:cs typeface="Century Schoolbook"/>
                <a:sym typeface="Century Schoolbook"/>
              </a:rPr>
              <a:t>la </a:t>
            </a:r>
            <a:r>
              <a:rPr lang="es-AR" sz="2400" b="1" i="0" u="none" strike="noStrike" cap="none">
                <a:solidFill>
                  <a:srgbClr val="000000"/>
                </a:solidFill>
                <a:latin typeface="Century Schoolbook"/>
                <a:ea typeface="Century Schoolbook"/>
                <a:cs typeface="Century Schoolbook"/>
                <a:sym typeface="Century Schoolbook"/>
              </a:rPr>
              <a:t>excepción se maneja exitosamente</a:t>
            </a:r>
            <a:r>
              <a:rPr lang="es-AR" sz="2400" b="0" i="0" u="none" strike="noStrike" cap="none">
                <a:solidFill>
                  <a:srgbClr val="000000"/>
                </a:solidFill>
                <a:latin typeface="Century Schoolbook"/>
                <a:ea typeface="Century Schoolbook"/>
                <a:cs typeface="Century Schoolbook"/>
                <a:sym typeface="Century Schoolbook"/>
              </a:rPr>
              <a:t>, la ejecución </a:t>
            </a:r>
            <a:r>
              <a:rPr lang="es-AR" sz="2400" b="1" i="0" u="none" strike="noStrike" cap="none">
                <a:solidFill>
                  <a:srgbClr val="000000"/>
                </a:solidFill>
                <a:latin typeface="Century Schoolbook"/>
                <a:ea typeface="Century Schoolbook"/>
                <a:cs typeface="Century Schoolbook"/>
                <a:sym typeface="Century Schoolbook"/>
              </a:rPr>
              <a:t>continúa </a:t>
            </a:r>
            <a:r>
              <a:rPr lang="es-AR" sz="2400" b="1" i="0" u="sng" strike="noStrike" cap="none">
                <a:solidFill>
                  <a:srgbClr val="000000"/>
                </a:solidFill>
                <a:latin typeface="Century Schoolbook"/>
                <a:ea typeface="Century Schoolbook"/>
                <a:cs typeface="Century Schoolbook"/>
                <a:sym typeface="Century Schoolbook"/>
              </a:rPr>
              <a:t>después </a:t>
            </a:r>
            <a:r>
              <a:rPr lang="es-AR" sz="2400" b="1" i="0" u="none" strike="noStrike" cap="none">
                <a:solidFill>
                  <a:srgbClr val="000000"/>
                </a:solidFill>
                <a:latin typeface="Century Schoolbook"/>
                <a:ea typeface="Century Schoolbook"/>
                <a:cs typeface="Century Schoolbook"/>
                <a:sym typeface="Century Schoolbook"/>
              </a:rPr>
              <a:t>del bloque try-catch</a:t>
            </a:r>
            <a:r>
              <a:rPr lang="es-AR" sz="2400" b="0" i="0" u="none" strike="noStrike" cap="none">
                <a:solidFill>
                  <a:srgbClr val="000000"/>
                </a:solidFill>
                <a:latin typeface="Century Schoolbook"/>
                <a:ea typeface="Century Schoolbook"/>
                <a:cs typeface="Century Schoolbook"/>
                <a:sym typeface="Century Schoolbook"/>
              </a:rPr>
              <a:t>. </a:t>
            </a:r>
            <a:endParaRPr sz="2400" b="0" i="0" u="none" strike="noStrike" cap="none">
              <a:latin typeface="Arial"/>
              <a:ea typeface="Arial"/>
              <a:cs typeface="Arial"/>
              <a:sym typeface="Arial"/>
            </a:endParaRPr>
          </a:p>
          <a:p>
            <a:pPr marL="343080" marR="0" lvl="0" indent="-343080" algn="just" rtl="0">
              <a:lnSpc>
                <a:spcPct val="100000"/>
              </a:lnSpc>
              <a:spcBef>
                <a:spcPts val="0"/>
              </a:spcBef>
              <a:spcAft>
                <a:spcPts val="0"/>
              </a:spcAft>
              <a:buClr>
                <a:srgbClr val="000000"/>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Si </a:t>
            </a:r>
            <a:r>
              <a:rPr lang="es-AR" sz="2400" b="1" i="0" u="none" strike="noStrike" cap="none">
                <a:solidFill>
                  <a:srgbClr val="000000"/>
                </a:solidFill>
                <a:latin typeface="Century Schoolbook"/>
                <a:ea typeface="Century Schoolbook"/>
                <a:cs typeface="Century Schoolbook"/>
                <a:sym typeface="Century Schoolbook"/>
              </a:rPr>
              <a:t>no se encuentra</a:t>
            </a:r>
            <a:r>
              <a:rPr lang="es-AR" sz="2400" b="0" i="0" u="none" strike="noStrike" cap="none">
                <a:solidFill>
                  <a:srgbClr val="000000"/>
                </a:solidFill>
                <a:latin typeface="Century Schoolbook"/>
                <a:ea typeface="Century Schoolbook"/>
                <a:cs typeface="Century Schoolbook"/>
                <a:sym typeface="Century Schoolbook"/>
              </a:rPr>
              <a:t> una </a:t>
            </a:r>
            <a:r>
              <a:rPr lang="es-AR" sz="2400" b="1" i="0" u="none" strike="noStrike" cap="none">
                <a:solidFill>
                  <a:srgbClr val="000000"/>
                </a:solidFill>
                <a:latin typeface="Century Schoolbook"/>
                <a:ea typeface="Century Schoolbook"/>
                <a:cs typeface="Century Schoolbook"/>
                <a:sym typeface="Century Schoolbook"/>
              </a:rPr>
              <a:t>catch correspondiente</a:t>
            </a:r>
            <a:r>
              <a:rPr lang="es-AR" sz="2400" b="0" i="0" u="none" strike="noStrike" cap="none">
                <a:solidFill>
                  <a:srgbClr val="000000"/>
                </a:solidFill>
                <a:latin typeface="Century Schoolbook"/>
                <a:ea typeface="Century Schoolbook"/>
                <a:cs typeface="Century Schoolbook"/>
                <a:sym typeface="Century Schoolbook"/>
              </a:rPr>
              <a:t> </a:t>
            </a:r>
            <a:r>
              <a:rPr lang="es-AR" sz="2400" b="1" i="0" u="none" strike="noStrike" cap="none">
                <a:solidFill>
                  <a:srgbClr val="000000"/>
                </a:solidFill>
                <a:latin typeface="Century Schoolbook"/>
                <a:ea typeface="Century Schoolbook"/>
                <a:cs typeface="Century Schoolbook"/>
                <a:sym typeface="Century Schoolbook"/>
              </a:rPr>
              <a:t>o no se maneja la excepción,</a:t>
            </a:r>
            <a:r>
              <a:rPr lang="es-AR" sz="2400" b="0" i="0" u="none" strike="noStrike" cap="none">
                <a:solidFill>
                  <a:srgbClr val="000000"/>
                </a:solidFill>
                <a:latin typeface="Century Schoolbook"/>
                <a:ea typeface="Century Schoolbook"/>
                <a:cs typeface="Century Schoolbook"/>
                <a:sym typeface="Century Schoolbook"/>
              </a:rPr>
              <a:t> la excepción puede </a:t>
            </a:r>
            <a:r>
              <a:rPr lang="es-AR" sz="2400" b="1" i="0" u="none" strike="noStrike" cap="none">
                <a:solidFill>
                  <a:srgbClr val="000000"/>
                </a:solidFill>
                <a:latin typeface="Century Schoolbook"/>
                <a:ea typeface="Century Schoolbook"/>
                <a:cs typeface="Century Schoolbook"/>
                <a:sym typeface="Century Schoolbook"/>
              </a:rPr>
              <a:t>propagarse hacia bloques try-catch externos</a:t>
            </a:r>
            <a:r>
              <a:rPr lang="es-AR" sz="2400" b="0" i="0" u="none" strike="noStrike" cap="none">
                <a:solidFill>
                  <a:srgbClr val="000000"/>
                </a:solidFill>
                <a:latin typeface="Century Schoolbook"/>
                <a:ea typeface="Century Schoolbook"/>
                <a:cs typeface="Century Schoolbook"/>
                <a:sym typeface="Century Schoolbook"/>
              </a:rPr>
              <a:t>.</a:t>
            </a:r>
            <a:endParaRPr sz="2400" b="0" i="0" u="none" strike="noStrike" cap="none">
              <a:latin typeface="Arial"/>
              <a:ea typeface="Arial"/>
              <a:cs typeface="Arial"/>
              <a:sym typeface="Arial"/>
            </a:endParaRPr>
          </a:p>
          <a:p>
            <a:pPr marL="343080" marR="0" lvl="0" indent="-343080" algn="just" rtl="0">
              <a:lnSpc>
                <a:spcPct val="100000"/>
              </a:lnSpc>
              <a:spcBef>
                <a:spcPts val="0"/>
              </a:spcBef>
              <a:spcAft>
                <a:spcPts val="0"/>
              </a:spcAft>
              <a:buClr>
                <a:srgbClr val="000000"/>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Sinó puede resultar</a:t>
            </a:r>
            <a:r>
              <a:rPr lang="es-AR" sz="2400" b="0" i="0" u="none" strike="noStrike" cap="none">
                <a:solidFill>
                  <a:srgbClr val="000000"/>
                </a:solidFill>
                <a:latin typeface="Century Schoolbook"/>
                <a:ea typeface="Century Schoolbook"/>
                <a:cs typeface="Century Schoolbook"/>
                <a:sym typeface="Century Schoolbook"/>
              </a:rPr>
              <a:t> en una </a:t>
            </a:r>
            <a:r>
              <a:rPr lang="es-AR" sz="2400" b="1" i="0" u="none" strike="noStrike" cap="none">
                <a:solidFill>
                  <a:srgbClr val="000000"/>
                </a:solidFill>
                <a:latin typeface="Century Schoolbook"/>
                <a:ea typeface="Century Schoolbook"/>
                <a:cs typeface="Century Schoolbook"/>
                <a:sym typeface="Century Schoolbook"/>
              </a:rPr>
              <a:t>finalización abrupta</a:t>
            </a:r>
            <a:r>
              <a:rPr lang="es-AR" sz="2400" b="0" i="0" u="none" strike="noStrike" cap="none">
                <a:solidFill>
                  <a:srgbClr val="000000"/>
                </a:solidFill>
                <a:latin typeface="Century Schoolbook"/>
                <a:ea typeface="Century Schoolbook"/>
                <a:cs typeface="Century Schoolbook"/>
                <a:sym typeface="Century Schoolbook"/>
              </a:rPr>
              <a:t> </a:t>
            </a:r>
            <a:r>
              <a:rPr lang="es-AR" sz="2400" b="1" i="0" u="none" strike="noStrike" cap="none">
                <a:solidFill>
                  <a:srgbClr val="000000"/>
                </a:solidFill>
                <a:latin typeface="Century Schoolbook"/>
                <a:ea typeface="Century Schoolbook"/>
                <a:cs typeface="Century Schoolbook"/>
                <a:sym typeface="Century Schoolbook"/>
              </a:rPr>
              <a:t>del programa.</a:t>
            </a:r>
            <a:r>
              <a:rPr lang="es-AR" sz="2400" b="0" i="0" u="none" strike="noStrike" cap="none">
                <a:solidFill>
                  <a:srgbClr val="000000"/>
                </a:solidFill>
                <a:latin typeface="Century Schoolbook"/>
                <a:ea typeface="Century Schoolbook"/>
                <a:cs typeface="Century Schoolbook"/>
                <a:sym typeface="Century Schoolbook"/>
              </a:rPr>
              <a:t> </a:t>
            </a:r>
            <a:endParaRPr sz="2400" b="0" i="0" u="none" strike="noStrike" cap="none">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38"/>
          <p:cNvSpPr/>
          <p:nvPr/>
        </p:nvSpPr>
        <p:spPr>
          <a:xfrm>
            <a:off x="457200" y="-6336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c++</a:t>
            </a:r>
            <a:endParaRPr sz="3000" b="0" i="0" u="none" strike="noStrike" cap="none">
              <a:latin typeface="Arial"/>
              <a:ea typeface="Arial"/>
              <a:cs typeface="Arial"/>
              <a:sym typeface="Arial"/>
            </a:endParaRPr>
          </a:p>
        </p:txBody>
      </p:sp>
      <p:sp>
        <p:nvSpPr>
          <p:cNvPr id="689" name="Google Shape;689;p38"/>
          <p:cNvSpPr/>
          <p:nvPr/>
        </p:nvSpPr>
        <p:spPr>
          <a:xfrm>
            <a:off x="8171640" y="57942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38</a:t>
            </a:fld>
            <a:endParaRPr sz="1800" b="0" i="0" u="none" strike="noStrike" cap="none">
              <a:latin typeface="Arial"/>
              <a:ea typeface="Arial"/>
              <a:cs typeface="Arial"/>
              <a:sym typeface="Arial"/>
            </a:endParaRPr>
          </a:p>
        </p:txBody>
      </p:sp>
      <p:pic>
        <p:nvPicPr>
          <p:cNvPr id="690" name="Google Shape;690;p38" descr="Diagrama&#10;&#10;Descripción generada automáticamente"/>
          <p:cNvPicPr preferRelativeResize="0"/>
          <p:nvPr/>
        </p:nvPicPr>
        <p:blipFill rotWithShape="1">
          <a:blip r:embed="rId3">
            <a:alphaModFix/>
          </a:blip>
          <a:srcRect/>
          <a:stretch/>
        </p:blipFill>
        <p:spPr>
          <a:xfrm>
            <a:off x="2280240" y="1071720"/>
            <a:ext cx="6423480" cy="5217840"/>
          </a:xfrm>
          <a:prstGeom prst="rect">
            <a:avLst/>
          </a:prstGeom>
          <a:noFill/>
          <a:ln>
            <a:noFill/>
          </a:ln>
        </p:spPr>
      </p:pic>
      <p:sp>
        <p:nvSpPr>
          <p:cNvPr id="691" name="Google Shape;691;p38"/>
          <p:cNvSpPr/>
          <p:nvPr/>
        </p:nvSpPr>
        <p:spPr>
          <a:xfrm>
            <a:off x="540720" y="2637360"/>
            <a:ext cx="3246120" cy="276768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SzPts val="1600"/>
              <a:buFont typeface="Arial"/>
              <a:buNone/>
            </a:pPr>
            <a:endParaRPr sz="1600" b="0" i="0" u="none" strike="noStrike" cap="none">
              <a:latin typeface="Arial"/>
              <a:ea typeface="Arial"/>
              <a:cs typeface="Arial"/>
              <a:sym typeface="Arial"/>
            </a:endParaRPr>
          </a:p>
          <a:p>
            <a:pPr marL="0" marR="0" lvl="0" indent="0" algn="l" rtl="0">
              <a:lnSpc>
                <a:spcPct val="100000"/>
              </a:lnSpc>
              <a:spcBef>
                <a:spcPts val="0"/>
              </a:spcBef>
              <a:spcAft>
                <a:spcPts val="0"/>
              </a:spcAft>
              <a:buSzPts val="1600"/>
              <a:buFont typeface="Arial"/>
              <a:buNone/>
            </a:pPr>
            <a:endParaRPr sz="1600" b="0" i="0" u="none" strike="noStrike" cap="none">
              <a:latin typeface="Arial"/>
              <a:ea typeface="Arial"/>
              <a:cs typeface="Arial"/>
              <a:sym typeface="Arial"/>
            </a:endParaRPr>
          </a:p>
          <a:p>
            <a:pPr marL="0" marR="0" lvl="0" indent="0" algn="ctr" rtl="0">
              <a:lnSpc>
                <a:spcPct val="100000"/>
              </a:lnSpc>
              <a:spcBef>
                <a:spcPts val="0"/>
              </a:spcBef>
              <a:spcAft>
                <a:spcPts val="0"/>
              </a:spcAft>
              <a:buSzPts val="1600"/>
              <a:buFont typeface="Arial"/>
              <a:buNone/>
            </a:pPr>
            <a:endParaRPr sz="1600" b="0" i="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rgbClr val="000000"/>
                </a:solidFill>
                <a:latin typeface="Arial"/>
                <a:ea typeface="Arial"/>
                <a:cs typeface="Arial"/>
                <a:sym typeface="Arial"/>
              </a:rPr>
              <a:t>Si  </a:t>
            </a:r>
            <a:r>
              <a:rPr lang="es-AR" sz="1600" b="1" i="0" u="none" strike="noStrike" cap="none">
                <a:solidFill>
                  <a:srgbClr val="000000"/>
                </a:solidFill>
                <a:latin typeface="Arial"/>
                <a:ea typeface="Arial"/>
                <a:cs typeface="Arial"/>
                <a:sym typeface="Arial"/>
              </a:rPr>
              <a:t>no </a:t>
            </a:r>
            <a:r>
              <a:rPr lang="es-AR" sz="1600" b="0" i="0" u="none" strike="noStrike" cap="none">
                <a:solidFill>
                  <a:srgbClr val="000000"/>
                </a:solidFill>
                <a:latin typeface="Arial"/>
                <a:ea typeface="Arial"/>
                <a:cs typeface="Arial"/>
                <a:sym typeface="Arial"/>
              </a:rPr>
              <a:t>se </a:t>
            </a:r>
            <a:r>
              <a:rPr lang="es-AR" sz="1600" b="1" i="0" u="none" strike="noStrike" cap="none">
                <a:solidFill>
                  <a:srgbClr val="000000"/>
                </a:solidFill>
                <a:latin typeface="Arial"/>
                <a:ea typeface="Arial"/>
                <a:cs typeface="Arial"/>
                <a:sym typeface="Arial"/>
              </a:rPr>
              <a:t>encuentra </a:t>
            </a:r>
            <a:r>
              <a:rPr lang="es-AR" sz="1600" b="0" i="0" u="none" strike="noStrike" cap="none">
                <a:solidFill>
                  <a:srgbClr val="000000"/>
                </a:solidFill>
                <a:latin typeface="Arial"/>
                <a:ea typeface="Arial"/>
                <a:cs typeface="Arial"/>
                <a:sym typeface="Arial"/>
              </a:rPr>
              <a:t>una </a:t>
            </a:r>
            <a:endParaRPr sz="1600" b="0" i="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rgbClr val="000000"/>
                </a:solidFill>
                <a:latin typeface="Arial"/>
                <a:ea typeface="Arial"/>
                <a:cs typeface="Arial"/>
                <a:sym typeface="Arial"/>
              </a:rPr>
              <a:t>cláusula </a:t>
            </a:r>
            <a:r>
              <a:rPr lang="es-AR" sz="1600" b="1" i="0" u="none" strike="noStrike" cap="none">
                <a:solidFill>
                  <a:srgbClr val="000000"/>
                </a:solidFill>
                <a:latin typeface="Arial"/>
                <a:ea typeface="Arial"/>
                <a:cs typeface="Arial"/>
                <a:sym typeface="Arial"/>
              </a:rPr>
              <a:t>catch correspondiente </a:t>
            </a:r>
            <a:r>
              <a:rPr lang="es-AR" sz="1600" b="0" i="0" u="none" strike="noStrike" cap="none">
                <a:solidFill>
                  <a:srgbClr val="000000"/>
                </a:solidFill>
                <a:latin typeface="Arial"/>
                <a:ea typeface="Arial"/>
                <a:cs typeface="Arial"/>
                <a:sym typeface="Arial"/>
              </a:rPr>
              <a:t>la excepción se </a:t>
            </a:r>
            <a:r>
              <a:rPr lang="es-AR" sz="1600" b="1" i="0" u="none" strike="noStrike" cap="none">
                <a:solidFill>
                  <a:srgbClr val="000000"/>
                </a:solidFill>
                <a:latin typeface="Arial"/>
                <a:ea typeface="Arial"/>
                <a:cs typeface="Arial"/>
                <a:sym typeface="Arial"/>
              </a:rPr>
              <a:t>propaga hacia bloques </a:t>
            </a:r>
            <a:endParaRPr sz="1600" b="0" i="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s-AR" sz="1600" b="1" i="0" u="none" strike="noStrike" cap="none">
                <a:solidFill>
                  <a:srgbClr val="000000"/>
                </a:solidFill>
                <a:latin typeface="Arial"/>
                <a:ea typeface="Arial"/>
                <a:cs typeface="Arial"/>
                <a:sym typeface="Arial"/>
              </a:rPr>
              <a:t>try-catch externos.</a:t>
            </a:r>
            <a:endParaRPr sz="1600" b="0" i="0" u="none" strike="noStrike" cap="none">
              <a:latin typeface="Arial"/>
              <a:ea typeface="Arial"/>
              <a:cs typeface="Arial"/>
              <a:sym typeface="Arial"/>
            </a:endParaRPr>
          </a:p>
          <a:p>
            <a:pPr marL="0" marR="0" lvl="0" indent="0" algn="l" rtl="0">
              <a:lnSpc>
                <a:spcPct val="100000"/>
              </a:lnSpc>
              <a:spcBef>
                <a:spcPts val="0"/>
              </a:spcBef>
              <a:spcAft>
                <a:spcPts val="0"/>
              </a:spcAft>
              <a:buSzPts val="1600"/>
              <a:buFont typeface="Arial"/>
              <a:buNone/>
            </a:pPr>
            <a:endParaRPr sz="1600" b="0" i="0" u="none" strike="noStrike" cap="none">
              <a:latin typeface="Arial"/>
              <a:ea typeface="Arial"/>
              <a:cs typeface="Arial"/>
              <a:sym typeface="Arial"/>
            </a:endParaRPr>
          </a:p>
          <a:p>
            <a:pPr marL="0" marR="0" lvl="0" indent="0" algn="l" rtl="0">
              <a:lnSpc>
                <a:spcPct val="100000"/>
              </a:lnSpc>
              <a:spcBef>
                <a:spcPts val="0"/>
              </a:spcBef>
              <a:spcAft>
                <a:spcPts val="0"/>
              </a:spcAft>
              <a:buSzPts val="1600"/>
              <a:buFont typeface="Arial"/>
              <a:buNone/>
            </a:pPr>
            <a:endParaRPr sz="1600" b="0" i="0" u="none" strike="noStrike" cap="none">
              <a:latin typeface="Arial"/>
              <a:ea typeface="Arial"/>
              <a:cs typeface="Arial"/>
              <a:sym typeface="Arial"/>
            </a:endParaRPr>
          </a:p>
          <a:p>
            <a:pPr marL="0" marR="0" lvl="0" indent="0" algn="l" rtl="0">
              <a:lnSpc>
                <a:spcPct val="100000"/>
              </a:lnSpc>
              <a:spcBef>
                <a:spcPts val="0"/>
              </a:spcBef>
              <a:spcAft>
                <a:spcPts val="0"/>
              </a:spcAft>
              <a:buSzPts val="1600"/>
              <a:buFont typeface="Arial"/>
              <a:buNone/>
            </a:pPr>
            <a:endParaRPr sz="1600" b="0" i="0" u="none" strike="noStrike" cap="none">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39"/>
          <p:cNvSpPr/>
          <p:nvPr/>
        </p:nvSpPr>
        <p:spPr>
          <a:xfrm>
            <a:off x="457200" y="-31608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c++</a:t>
            </a:r>
            <a:endParaRPr sz="3000" b="0" i="0" u="none" strike="noStrike" cap="none">
              <a:latin typeface="Arial"/>
              <a:ea typeface="Arial"/>
              <a:cs typeface="Arial"/>
              <a:sym typeface="Arial"/>
            </a:endParaRPr>
          </a:p>
        </p:txBody>
      </p:sp>
      <p:sp>
        <p:nvSpPr>
          <p:cNvPr id="698" name="Google Shape;698;p39"/>
          <p:cNvSpPr/>
          <p:nvPr/>
        </p:nvSpPr>
        <p:spPr>
          <a:xfrm>
            <a:off x="395640" y="888480"/>
            <a:ext cx="8278200" cy="1926720"/>
          </a:xfrm>
          <a:prstGeom prst="rect">
            <a:avLst/>
          </a:prstGeom>
          <a:noFill/>
          <a:ln>
            <a:noFill/>
          </a:ln>
        </p:spPr>
        <p:txBody>
          <a:bodyPr spcFirstLastPara="1" wrap="square" lIns="90000" tIns="45000" rIns="90000" bIns="45000" anchor="t" anchorCtr="0">
            <a:noAutofit/>
          </a:bodyPr>
          <a:lstStyle/>
          <a:p>
            <a:pPr marL="2520" marR="0" lvl="0" indent="0" algn="just" rtl="0">
              <a:lnSpc>
                <a:spcPct val="100000"/>
              </a:lnSpc>
              <a:spcBef>
                <a:spcPts val="0"/>
              </a:spcBef>
              <a:spcAft>
                <a:spcPts val="0"/>
              </a:spcAft>
              <a:buClr>
                <a:srgbClr val="0D0D0D"/>
              </a:buClr>
              <a:buSzPts val="2400"/>
              <a:buFont typeface="Century Schoolbook"/>
              <a:buNone/>
            </a:pPr>
            <a:r>
              <a:rPr lang="es-AR" sz="2400" b="0" i="0" u="none" strike="noStrike" cap="none">
                <a:solidFill>
                  <a:srgbClr val="0D0D0D"/>
                </a:solidFill>
                <a:latin typeface="Century Schoolbook"/>
                <a:ea typeface="Century Schoolbook"/>
                <a:cs typeface="Century Schoolbook"/>
                <a:sym typeface="Century Schoolbook"/>
              </a:rPr>
              <a:t>Permite pasar </a:t>
            </a:r>
            <a:r>
              <a:rPr lang="es-AR" sz="2400" b="1" i="0" u="none" strike="noStrike" cap="none">
                <a:solidFill>
                  <a:srgbClr val="0D0D0D"/>
                </a:solidFill>
                <a:latin typeface="Century Schoolbook"/>
                <a:ea typeface="Century Schoolbook"/>
                <a:cs typeface="Century Schoolbook"/>
                <a:sym typeface="Century Schoolbook"/>
              </a:rPr>
              <a:t>parámetros al levantar la excepción.</a:t>
            </a:r>
            <a:endParaRPr sz="2400" b="0" i="0" u="none" strike="noStrike" cap="none">
              <a:latin typeface="Arial"/>
              <a:ea typeface="Arial"/>
              <a:cs typeface="Arial"/>
              <a:sym typeface="Arial"/>
            </a:endParaRPr>
          </a:p>
          <a:p>
            <a:pPr marL="2520" marR="0" lvl="0" indent="0" algn="ctr" rtl="0">
              <a:lnSpc>
                <a:spcPct val="100000"/>
              </a:lnSpc>
              <a:spcBef>
                <a:spcPts val="601"/>
              </a:spcBef>
              <a:spcAft>
                <a:spcPts val="0"/>
              </a:spcAft>
              <a:buClr>
                <a:srgbClr val="E46C0A"/>
              </a:buClr>
              <a:buSzPts val="2400"/>
              <a:buFont typeface="Century Schoolbook"/>
              <a:buNone/>
            </a:pPr>
            <a:r>
              <a:rPr lang="es-AR" sz="2400" b="1" i="0" u="none" strike="noStrike" cap="none">
                <a:solidFill>
                  <a:srgbClr val="E46C0A"/>
                </a:solidFill>
                <a:latin typeface="Century Schoolbook"/>
                <a:ea typeface="Century Schoolbook"/>
                <a:cs typeface="Century Schoolbook"/>
                <a:sym typeface="Century Schoolbook"/>
              </a:rPr>
              <a:t>throw MiExcepcion(parametro1, , parametroN);</a:t>
            </a:r>
            <a:endParaRPr sz="24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SzPts val="2200"/>
              <a:buFont typeface="Arial"/>
              <a:buNone/>
            </a:pPr>
            <a:endParaRPr sz="2200" b="0" i="0" u="none" strike="noStrike" cap="none">
              <a:latin typeface="Arial"/>
              <a:ea typeface="Arial"/>
              <a:cs typeface="Arial"/>
              <a:sym typeface="Arial"/>
            </a:endParaRPr>
          </a:p>
          <a:p>
            <a:pPr marL="0" marR="0" lvl="0" indent="0" algn="ctr" rtl="0">
              <a:lnSpc>
                <a:spcPct val="100000"/>
              </a:lnSpc>
              <a:spcBef>
                <a:spcPts val="601"/>
              </a:spcBef>
              <a:spcAft>
                <a:spcPts val="0"/>
              </a:spcAft>
              <a:buClr>
                <a:srgbClr val="0D0D0D"/>
              </a:buClr>
              <a:buSzPts val="2200"/>
              <a:buFont typeface="Century Schoolbook"/>
              <a:buNone/>
            </a:pPr>
            <a:r>
              <a:rPr lang="es-AR" sz="2200" b="0" i="0" u="none" strike="noStrike" cap="none">
                <a:solidFill>
                  <a:srgbClr val="0D0D0D"/>
                </a:solidFill>
                <a:latin typeface="Century Schoolbook"/>
                <a:ea typeface="Century Schoolbook"/>
                <a:cs typeface="Century Schoolbook"/>
                <a:sym typeface="Century Schoolbook"/>
              </a:rPr>
              <a:t>Ejemplo: </a:t>
            </a:r>
            <a:r>
              <a:rPr lang="es-AR" sz="2200" b="0" i="1" u="none" strike="noStrike" cap="none">
                <a:solidFill>
                  <a:srgbClr val="0D0D0D"/>
                </a:solidFill>
                <a:latin typeface="Century Schoolbook"/>
                <a:ea typeface="Century Schoolbook"/>
                <a:cs typeface="Century Schoolbook"/>
                <a:sym typeface="Century Schoolbook"/>
              </a:rPr>
              <a:t>levantar excepción y pasar un parámetro mensaje usando una excepción estándar.</a:t>
            </a:r>
            <a:endParaRPr sz="2200" b="0" i="0" u="none" strike="noStrike" cap="none">
              <a:latin typeface="Arial"/>
              <a:ea typeface="Arial"/>
              <a:cs typeface="Arial"/>
              <a:sym typeface="Arial"/>
            </a:endParaRPr>
          </a:p>
        </p:txBody>
      </p:sp>
      <p:sp>
        <p:nvSpPr>
          <p:cNvPr id="699" name="Google Shape;699;p39"/>
          <p:cNvSpPr/>
          <p:nvPr/>
        </p:nvSpPr>
        <p:spPr>
          <a:xfrm>
            <a:off x="7847640" y="58320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39</a:t>
            </a:fld>
            <a:endParaRPr sz="1800" b="0" i="0" u="none" strike="noStrike" cap="none">
              <a:latin typeface="Arial"/>
              <a:ea typeface="Arial"/>
              <a:cs typeface="Arial"/>
              <a:sym typeface="Arial"/>
            </a:endParaRPr>
          </a:p>
        </p:txBody>
      </p:sp>
      <p:pic>
        <p:nvPicPr>
          <p:cNvPr id="700" name="Google Shape;700;p39" descr="Texto&#10;&#10;Descripción generada automáticamente"/>
          <p:cNvPicPr preferRelativeResize="0"/>
          <p:nvPr/>
        </p:nvPicPr>
        <p:blipFill rotWithShape="1">
          <a:blip r:embed="rId3">
            <a:alphaModFix/>
          </a:blip>
          <a:srcRect/>
          <a:stretch/>
        </p:blipFill>
        <p:spPr>
          <a:xfrm>
            <a:off x="267480" y="2968920"/>
            <a:ext cx="8407440" cy="3392640"/>
          </a:xfrm>
          <a:prstGeom prst="rect">
            <a:avLst/>
          </a:prstGeom>
          <a:noFill/>
          <a:ln>
            <a:noFill/>
          </a:ln>
        </p:spPr>
      </p:pic>
      <p:sp>
        <p:nvSpPr>
          <p:cNvPr id="701" name="Google Shape;701;p39"/>
          <p:cNvSpPr/>
          <p:nvPr/>
        </p:nvSpPr>
        <p:spPr>
          <a:xfrm>
            <a:off x="741960" y="6392160"/>
            <a:ext cx="7458480" cy="70092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D0D0D"/>
              </a:buClr>
              <a:buSzPts val="2000"/>
              <a:buFont typeface="Consolas"/>
              <a:buNone/>
            </a:pPr>
            <a:r>
              <a:rPr lang="es-AR" sz="2000" b="1" i="0" u="none" strike="noStrike" cap="none">
                <a:solidFill>
                  <a:srgbClr val="0D0D0D"/>
                </a:solidFill>
                <a:latin typeface="Consolas"/>
                <a:ea typeface="Consolas"/>
                <a:cs typeface="Consolas"/>
                <a:sym typeface="Consolas"/>
              </a:rPr>
              <a:t>Salida: Excepción capturada: Se produjo un error</a:t>
            </a:r>
            <a:r>
              <a:rPr lang="es-AR" sz="2000" b="1" i="0" u="none" strike="noStrike" cap="none">
                <a:solidFill>
                  <a:srgbClr val="FFFFFF"/>
                </a:solidFill>
                <a:latin typeface="Consolas"/>
                <a:ea typeface="Consolas"/>
                <a:cs typeface="Consolas"/>
                <a:sym typeface="Consolas"/>
              </a:rPr>
              <a:t>.</a:t>
            </a:r>
            <a:endParaRPr sz="2000" b="0" i="0" u="none" strike="noStrike" cap="none">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40"/>
          <p:cNvSpPr/>
          <p:nvPr/>
        </p:nvSpPr>
        <p:spPr>
          <a:xfrm>
            <a:off x="457200" y="3816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c++</a:t>
            </a:r>
            <a:endParaRPr sz="3000" b="0" i="0" u="none" strike="noStrike" cap="none">
              <a:latin typeface="Arial"/>
              <a:ea typeface="Arial"/>
              <a:cs typeface="Arial"/>
              <a:sym typeface="Arial"/>
            </a:endParaRPr>
          </a:p>
        </p:txBody>
      </p:sp>
      <p:sp>
        <p:nvSpPr>
          <p:cNvPr id="708" name="Google Shape;708;p40"/>
          <p:cNvSpPr/>
          <p:nvPr/>
        </p:nvSpPr>
        <p:spPr>
          <a:xfrm>
            <a:off x="457200" y="1341360"/>
            <a:ext cx="7783920" cy="5129640"/>
          </a:xfrm>
          <a:prstGeom prst="rect">
            <a:avLst/>
          </a:prstGeom>
          <a:noFill/>
          <a:ln>
            <a:noFill/>
          </a:ln>
        </p:spPr>
        <p:txBody>
          <a:bodyPr spcFirstLastPara="1" wrap="square" lIns="90000" tIns="45000" rIns="90000" bIns="45000" anchor="t" anchorCtr="0">
            <a:noAutofit/>
          </a:bodyPr>
          <a:lstStyle/>
          <a:p>
            <a:pPr marL="345600" marR="0" lvl="0" indent="-343080" algn="just" rtl="0">
              <a:lnSpc>
                <a:spcPct val="80000"/>
              </a:lnSpc>
              <a:spcBef>
                <a:spcPts val="0"/>
              </a:spcBef>
              <a:spcAft>
                <a:spcPts val="0"/>
              </a:spcAft>
              <a:buClr>
                <a:srgbClr val="FE8637"/>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permite que el programador</a:t>
            </a:r>
            <a:r>
              <a:rPr lang="es-AR" sz="2400" b="0" i="0" u="none" strike="noStrike" cap="none">
                <a:solidFill>
                  <a:srgbClr val="000000"/>
                </a:solidFill>
                <a:latin typeface="Century Schoolbook"/>
                <a:ea typeface="Century Schoolbook"/>
                <a:cs typeface="Century Schoolbook"/>
                <a:sym typeface="Century Schoolbook"/>
              </a:rPr>
              <a:t> especifique de manera precisa </a:t>
            </a:r>
            <a:r>
              <a:rPr lang="es-AR" sz="2400" b="1" i="0" u="none" strike="noStrike" cap="none">
                <a:solidFill>
                  <a:srgbClr val="000000"/>
                </a:solidFill>
                <a:latin typeface="Century Schoolbook"/>
                <a:ea typeface="Century Schoolbook"/>
                <a:cs typeface="Century Schoolbook"/>
                <a:sym typeface="Century Schoolbook"/>
              </a:rPr>
              <a:t>la intención de una rutina</a:t>
            </a:r>
            <a:r>
              <a:rPr lang="es-AR" sz="2400" b="0" i="0" u="none" strike="noStrike" cap="none">
                <a:solidFill>
                  <a:srgbClr val="000000"/>
                </a:solidFill>
                <a:latin typeface="Century Schoolbook"/>
                <a:ea typeface="Century Schoolbook"/>
                <a:cs typeface="Century Schoolbook"/>
                <a:sym typeface="Century Schoolbook"/>
              </a:rPr>
              <a:t>, al </a:t>
            </a:r>
            <a:r>
              <a:rPr lang="es-AR" sz="2400" b="1" i="0" u="none" strike="noStrike" cap="none">
                <a:solidFill>
                  <a:srgbClr val="000000"/>
                </a:solidFill>
                <a:latin typeface="Century Schoolbook"/>
                <a:ea typeface="Century Schoolbook"/>
                <a:cs typeface="Century Schoolbook"/>
                <a:sym typeface="Century Schoolbook"/>
              </a:rPr>
              <a:t>especificar </a:t>
            </a:r>
            <a:r>
              <a:rPr lang="es-AR" sz="2400" b="0" i="0" u="none" strike="noStrike" cap="none">
                <a:solidFill>
                  <a:srgbClr val="000000"/>
                </a:solidFill>
                <a:latin typeface="Century Schoolbook"/>
                <a:ea typeface="Century Schoolbook"/>
                <a:cs typeface="Century Schoolbook"/>
                <a:sym typeface="Century Schoolbook"/>
              </a:rPr>
              <a:t>tanto el </a:t>
            </a:r>
            <a:r>
              <a:rPr lang="es-AR" sz="2400" b="1" i="0" u="none" strike="noStrike" cap="none">
                <a:solidFill>
                  <a:srgbClr val="000000"/>
                </a:solidFill>
                <a:latin typeface="Century Schoolbook"/>
                <a:ea typeface="Century Schoolbook"/>
                <a:cs typeface="Century Schoolbook"/>
                <a:sym typeface="Century Schoolbook"/>
              </a:rPr>
              <a:t>comportamiento normal esperado </a:t>
            </a:r>
            <a:r>
              <a:rPr lang="es-AR" sz="2400" b="0" i="1" u="none" strike="noStrike" cap="none">
                <a:solidFill>
                  <a:srgbClr val="000000"/>
                </a:solidFill>
                <a:latin typeface="Century Schoolbook"/>
                <a:ea typeface="Century Schoolbook"/>
                <a:cs typeface="Century Schoolbook"/>
                <a:sym typeface="Century Schoolbook"/>
              </a:rPr>
              <a:t>(los datos que puede aceptar y devolver)</a:t>
            </a:r>
            <a:r>
              <a:rPr lang="es-AR" sz="2400" b="0" i="0" u="none" strike="noStrike" cap="none">
                <a:solidFill>
                  <a:srgbClr val="000000"/>
                </a:solidFill>
                <a:latin typeface="Century Schoolbook"/>
                <a:ea typeface="Century Schoolbook"/>
                <a:cs typeface="Century Schoolbook"/>
                <a:sym typeface="Century Schoolbook"/>
              </a:rPr>
              <a:t> como sus </a:t>
            </a:r>
            <a:r>
              <a:rPr lang="es-AR" sz="2400" b="1" i="0" u="none" strike="noStrike" cap="none">
                <a:solidFill>
                  <a:srgbClr val="000000"/>
                </a:solidFill>
                <a:latin typeface="Century Schoolbook"/>
                <a:ea typeface="Century Schoolbook"/>
                <a:cs typeface="Century Schoolbook"/>
                <a:sym typeface="Century Schoolbook"/>
              </a:rPr>
              <a:t>comportamientos anormales</a:t>
            </a:r>
            <a:r>
              <a:rPr lang="es-AR" sz="2400" b="0" i="0" u="none" strike="noStrike" cap="none">
                <a:solidFill>
                  <a:srgbClr val="000000"/>
                </a:solidFill>
                <a:latin typeface="Century Schoolbook"/>
                <a:ea typeface="Century Schoolbook"/>
                <a:cs typeface="Century Schoolbook"/>
                <a:sym typeface="Century Schoolbook"/>
              </a:rPr>
              <a:t> </a:t>
            </a:r>
            <a:r>
              <a:rPr lang="es-AR" sz="2400" b="1" i="0" u="none" strike="noStrike" cap="none">
                <a:solidFill>
                  <a:srgbClr val="000000"/>
                </a:solidFill>
                <a:latin typeface="Century Schoolbook"/>
                <a:ea typeface="Century Schoolbook"/>
                <a:cs typeface="Century Schoolbook"/>
                <a:sym typeface="Century Schoolbook"/>
              </a:rPr>
              <a:t>pasándole </a:t>
            </a:r>
            <a:r>
              <a:rPr lang="es-AR" sz="2400" b="0" i="0" u="none" strike="noStrike" cap="none">
                <a:solidFill>
                  <a:srgbClr val="000000"/>
                </a:solidFill>
                <a:latin typeface="Century Schoolbook"/>
                <a:ea typeface="Century Schoolbook"/>
                <a:cs typeface="Century Schoolbook"/>
                <a:sym typeface="Century Schoolbook"/>
              </a:rPr>
              <a:t>los </a:t>
            </a:r>
            <a:r>
              <a:rPr lang="es-AR" sz="2400" b="1" i="0" u="none" strike="noStrike" cap="none">
                <a:solidFill>
                  <a:srgbClr val="000000"/>
                </a:solidFill>
                <a:latin typeface="Century Schoolbook"/>
                <a:ea typeface="Century Schoolbook"/>
                <a:cs typeface="Century Schoolbook"/>
                <a:sym typeface="Century Schoolbook"/>
              </a:rPr>
              <a:t>parámetros </a:t>
            </a:r>
            <a:r>
              <a:rPr lang="es-AR" sz="2400" b="0" i="0" u="none" strike="noStrike" cap="none">
                <a:solidFill>
                  <a:srgbClr val="000000"/>
                </a:solidFill>
                <a:latin typeface="Century Schoolbook"/>
                <a:ea typeface="Century Schoolbook"/>
                <a:cs typeface="Century Schoolbook"/>
                <a:sym typeface="Century Schoolbook"/>
              </a:rPr>
              <a:t>al </a:t>
            </a:r>
            <a:r>
              <a:rPr lang="es-AR" sz="2400" b="1" i="0" u="none" strike="noStrike" cap="none">
                <a:solidFill>
                  <a:srgbClr val="000000"/>
                </a:solidFill>
                <a:latin typeface="Century Schoolbook"/>
                <a:ea typeface="Century Schoolbook"/>
                <a:cs typeface="Century Schoolbook"/>
                <a:sym typeface="Century Schoolbook"/>
              </a:rPr>
              <a:t>throw</a:t>
            </a:r>
            <a:r>
              <a:rPr lang="es-AR" sz="2400" b="0" i="0" u="none" strike="noStrike" cap="none">
                <a:solidFill>
                  <a:srgbClr val="000000"/>
                </a:solidFill>
                <a:latin typeface="Century Schoolbook"/>
                <a:ea typeface="Century Schoolbook"/>
                <a:cs typeface="Century Schoolbook"/>
                <a:sym typeface="Century Schoolbook"/>
              </a:rPr>
              <a:t>.</a:t>
            </a:r>
            <a:endParaRPr sz="2400" b="0" i="0" u="none" strike="noStrike" cap="none">
              <a:latin typeface="Arial"/>
              <a:ea typeface="Arial"/>
              <a:cs typeface="Arial"/>
              <a:sym typeface="Arial"/>
            </a:endParaRPr>
          </a:p>
          <a:p>
            <a:pPr marL="0" marR="0" lvl="0" indent="0" algn="l" rtl="0">
              <a:lnSpc>
                <a:spcPct val="80000"/>
              </a:lnSpc>
              <a:spcBef>
                <a:spcPts val="0"/>
              </a:spcBef>
              <a:spcAft>
                <a:spcPts val="0"/>
              </a:spcAft>
              <a:buSzPts val="2400"/>
              <a:buFont typeface="Arial"/>
              <a:buNone/>
            </a:pPr>
            <a:endParaRPr sz="2400" b="0" i="0" u="none" strike="noStrike" cap="none">
              <a:latin typeface="Arial"/>
              <a:ea typeface="Arial"/>
              <a:cs typeface="Arial"/>
              <a:sym typeface="Arial"/>
            </a:endParaRPr>
          </a:p>
          <a:p>
            <a:pPr marL="274320" marR="0" lvl="0" indent="-271800" algn="ctr" rtl="0">
              <a:lnSpc>
                <a:spcPct val="80000"/>
              </a:lnSpc>
              <a:spcBef>
                <a:spcPts val="601"/>
              </a:spcBef>
              <a:spcAft>
                <a:spcPts val="0"/>
              </a:spcAft>
              <a:buClr>
                <a:srgbClr val="000000"/>
              </a:buClr>
              <a:buSzPts val="2400"/>
              <a:buFont typeface="Century Schoolbook"/>
              <a:buNone/>
            </a:pPr>
            <a:r>
              <a:rPr lang="es-AR" sz="2400" b="0" i="0" u="none" strike="noStrike" cap="none">
                <a:solidFill>
                  <a:srgbClr val="000000"/>
                </a:solidFill>
                <a:latin typeface="Century Schoolbook"/>
                <a:ea typeface="Century Schoolbook"/>
                <a:cs typeface="Century Schoolbook"/>
                <a:sym typeface="Century Schoolbook"/>
              </a:rPr>
              <a:t>Ejemplo</a:t>
            </a:r>
            <a:endParaRPr sz="2400" b="0" i="0" u="none" strike="noStrike" cap="none">
              <a:latin typeface="Arial"/>
              <a:ea typeface="Arial"/>
              <a:cs typeface="Arial"/>
              <a:sym typeface="Arial"/>
            </a:endParaRPr>
          </a:p>
          <a:p>
            <a:pPr marL="274320" marR="0" lvl="0" indent="-271800" algn="ctr" rtl="0">
              <a:lnSpc>
                <a:spcPct val="80000"/>
              </a:lnSpc>
              <a:spcBef>
                <a:spcPts val="601"/>
              </a:spcBef>
              <a:spcAft>
                <a:spcPts val="0"/>
              </a:spcAft>
              <a:buClr>
                <a:srgbClr val="E87605"/>
              </a:buClr>
              <a:buSzPts val="2400"/>
              <a:buFont typeface="Century Schoolbook"/>
              <a:buNone/>
            </a:pPr>
            <a:r>
              <a:rPr lang="es-AR" sz="2400" b="1" i="0" u="none" strike="noStrike" cap="none">
                <a:solidFill>
                  <a:srgbClr val="E87605"/>
                </a:solidFill>
                <a:latin typeface="Century Schoolbook"/>
                <a:ea typeface="Century Schoolbook"/>
                <a:cs typeface="Century Schoolbook"/>
                <a:sym typeface="Century Schoolbook"/>
              </a:rPr>
              <a:t>void rutina ( ) throw (Ayuda, Zerodivide);</a:t>
            </a:r>
            <a:endParaRPr sz="2400" b="0" i="0" u="none" strike="noStrike" cap="none">
              <a:latin typeface="Arial"/>
              <a:ea typeface="Arial"/>
              <a:cs typeface="Arial"/>
              <a:sym typeface="Arial"/>
            </a:endParaRPr>
          </a:p>
          <a:p>
            <a:pPr marL="274320" marR="0" lvl="0" indent="-271800" algn="ctr" rtl="0">
              <a:lnSpc>
                <a:spcPct val="8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274320" marR="0" lvl="0" indent="-271800" algn="ctr" rtl="0">
              <a:lnSpc>
                <a:spcPct val="80000"/>
              </a:lnSpc>
              <a:spcBef>
                <a:spcPts val="601"/>
              </a:spcBef>
              <a:spcAft>
                <a:spcPts val="0"/>
              </a:spcAft>
              <a:buClr>
                <a:srgbClr val="000000"/>
              </a:buClr>
              <a:buSzPts val="2400"/>
              <a:buFont typeface="Century Schoolbook"/>
              <a:buNone/>
            </a:pPr>
            <a:r>
              <a:rPr lang="es-AR" sz="2400" b="1" i="0" u="none" strike="noStrike" cap="none">
                <a:solidFill>
                  <a:srgbClr val="000000"/>
                </a:solidFill>
                <a:latin typeface="Century Schoolbook"/>
                <a:ea typeface="Century Schoolbook"/>
                <a:cs typeface="Century Schoolbook"/>
                <a:sym typeface="Century Schoolbook"/>
              </a:rPr>
              <a:t>rutina </a:t>
            </a:r>
            <a:r>
              <a:rPr lang="es-AR" sz="2400" b="0" i="0" u="none" strike="noStrike" cap="none">
                <a:solidFill>
                  <a:srgbClr val="000000"/>
                </a:solidFill>
                <a:latin typeface="Century Schoolbook"/>
                <a:ea typeface="Century Schoolbook"/>
                <a:cs typeface="Century Schoolbook"/>
                <a:sym typeface="Century Schoolbook"/>
              </a:rPr>
              <a:t>se declara como una </a:t>
            </a:r>
            <a:r>
              <a:rPr lang="es-AR" sz="2400" b="1" i="0" u="none" strike="noStrike" cap="none">
                <a:solidFill>
                  <a:srgbClr val="000000"/>
                </a:solidFill>
                <a:latin typeface="Century Schoolbook"/>
                <a:ea typeface="Century Schoolbook"/>
                <a:cs typeface="Century Schoolbook"/>
                <a:sym typeface="Century Schoolbook"/>
              </a:rPr>
              <a:t>función void</a:t>
            </a:r>
            <a:r>
              <a:rPr lang="es-AR" sz="2400" b="0" i="0" u="none" strike="noStrike" cap="none">
                <a:solidFill>
                  <a:srgbClr val="000000"/>
                </a:solidFill>
                <a:latin typeface="Century Schoolbook"/>
                <a:ea typeface="Century Schoolbook"/>
                <a:cs typeface="Century Schoolbook"/>
                <a:sym typeface="Century Schoolbook"/>
              </a:rPr>
              <a:t> que no devuelve ningún valor y que puede</a:t>
            </a:r>
            <a:r>
              <a:rPr lang="es-AR" sz="2400" b="1" i="0" u="none" strike="noStrike" cap="none">
                <a:solidFill>
                  <a:srgbClr val="000000"/>
                </a:solidFill>
                <a:latin typeface="Century Schoolbook"/>
                <a:ea typeface="Century Schoolbook"/>
                <a:cs typeface="Century Schoolbook"/>
                <a:sym typeface="Century Schoolbook"/>
              </a:rPr>
              <a:t> lanzar 2 tipos de excepciones: </a:t>
            </a:r>
            <a:r>
              <a:rPr lang="es-AR" sz="2400" b="1" i="1" u="none" strike="noStrike" cap="none">
                <a:solidFill>
                  <a:srgbClr val="000000"/>
                </a:solidFill>
                <a:latin typeface="Century Schoolbook"/>
                <a:ea typeface="Century Schoolbook"/>
                <a:cs typeface="Century Schoolbook"/>
                <a:sym typeface="Century Schoolbook"/>
              </a:rPr>
              <a:t>Ayuda y Zerodivide.</a:t>
            </a:r>
            <a:endParaRPr sz="2400" b="0" i="0" u="none" strike="noStrike" cap="none">
              <a:latin typeface="Arial"/>
              <a:ea typeface="Arial"/>
              <a:cs typeface="Arial"/>
              <a:sym typeface="Arial"/>
            </a:endParaRPr>
          </a:p>
        </p:txBody>
      </p:sp>
      <p:sp>
        <p:nvSpPr>
          <p:cNvPr id="709" name="Google Shape;709;p40"/>
          <p:cNvSpPr/>
          <p:nvPr/>
        </p:nvSpPr>
        <p:spPr>
          <a:xfrm>
            <a:off x="7953120" y="57654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40</a:t>
            </a:fld>
            <a:endParaRPr sz="1800" b="0" i="0" u="none" strike="noStrike" cap="none">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41"/>
          <p:cNvSpPr/>
          <p:nvPr/>
        </p:nvSpPr>
        <p:spPr>
          <a:xfrm>
            <a:off x="457200" y="3816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c++</a:t>
            </a:r>
            <a:endParaRPr sz="3000" b="0" i="0" u="none" strike="noStrike" cap="none">
              <a:latin typeface="Arial"/>
              <a:ea typeface="Arial"/>
              <a:cs typeface="Arial"/>
              <a:sym typeface="Arial"/>
            </a:endParaRPr>
          </a:p>
        </p:txBody>
      </p:sp>
      <p:sp>
        <p:nvSpPr>
          <p:cNvPr id="716" name="Google Shape;716;p41"/>
          <p:cNvSpPr/>
          <p:nvPr/>
        </p:nvSpPr>
        <p:spPr>
          <a:xfrm>
            <a:off x="759240" y="1341360"/>
            <a:ext cx="7870320" cy="5129640"/>
          </a:xfrm>
          <a:prstGeom prst="rect">
            <a:avLst/>
          </a:prstGeom>
          <a:noFill/>
          <a:ln>
            <a:noFill/>
          </a:ln>
        </p:spPr>
        <p:txBody>
          <a:bodyPr spcFirstLastPara="1" wrap="square" lIns="90000" tIns="45000" rIns="90000" bIns="45000" anchor="t" anchorCtr="0">
            <a:noAutofit/>
          </a:bodyPr>
          <a:lstStyle/>
          <a:p>
            <a:pPr marL="274320" marR="0" lvl="0" indent="-271800" algn="ctr" rtl="0">
              <a:lnSpc>
                <a:spcPct val="80000"/>
              </a:lnSpc>
              <a:spcBef>
                <a:spcPts val="0"/>
              </a:spcBef>
              <a:spcAft>
                <a:spcPts val="0"/>
              </a:spcAft>
              <a:buClr>
                <a:srgbClr val="E87605"/>
              </a:buClr>
              <a:buSzPts val="2400"/>
              <a:buFont typeface="Arial"/>
              <a:buNone/>
            </a:pPr>
            <a:r>
              <a:rPr lang="es-AR" sz="2400" b="1" i="0" u="none" strike="noStrike" cap="none">
                <a:solidFill>
                  <a:srgbClr val="E87605"/>
                </a:solidFill>
                <a:latin typeface="Arial"/>
                <a:ea typeface="Arial"/>
                <a:cs typeface="Arial"/>
                <a:sym typeface="Arial"/>
              </a:rPr>
              <a:t>void rutina ( ) throw (Ayuda, Zerodivide);</a:t>
            </a:r>
            <a:endParaRPr sz="2400" b="0" i="0" u="none" strike="noStrike" cap="none">
              <a:latin typeface="Arial"/>
              <a:ea typeface="Arial"/>
              <a:cs typeface="Arial"/>
              <a:sym typeface="Arial"/>
            </a:endParaRPr>
          </a:p>
          <a:p>
            <a:pPr marL="274320" marR="0" lvl="0" indent="-271800" algn="ctr" rtl="0">
              <a:lnSpc>
                <a:spcPct val="8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274320" marR="0" lvl="0" indent="-271800" algn="l" rtl="0">
              <a:lnSpc>
                <a:spcPct val="80000"/>
              </a:lnSpc>
              <a:spcBef>
                <a:spcPts val="601"/>
              </a:spcBef>
              <a:spcAft>
                <a:spcPts val="0"/>
              </a:spcAft>
              <a:buClr>
                <a:srgbClr val="000000"/>
              </a:buClr>
              <a:buSzPts val="2800"/>
              <a:buFont typeface="Century Schoolbook"/>
              <a:buNone/>
            </a:pPr>
            <a:r>
              <a:rPr lang="es-AR" sz="2800" b="1" i="0" u="none" strike="noStrike" cap="none">
                <a:solidFill>
                  <a:srgbClr val="000000"/>
                </a:solidFill>
                <a:latin typeface="Century Schoolbook"/>
                <a:ea typeface="Century Schoolbook"/>
                <a:cs typeface="Century Schoolbook"/>
                <a:sym typeface="Century Schoolbook"/>
              </a:rPr>
              <a:t>Qué sucede en este caso si la rutina....?</a:t>
            </a:r>
            <a:endParaRPr sz="2800" b="0" i="0" u="none" strike="noStrike" cap="none">
              <a:latin typeface="Arial"/>
              <a:ea typeface="Arial"/>
              <a:cs typeface="Arial"/>
              <a:sym typeface="Arial"/>
            </a:endParaRPr>
          </a:p>
          <a:p>
            <a:pPr marL="274320" marR="0" lvl="0" indent="-271800" algn="l" rtl="0">
              <a:lnSpc>
                <a:spcPct val="80000"/>
              </a:lnSpc>
              <a:spcBef>
                <a:spcPts val="601"/>
              </a:spcBef>
              <a:spcAft>
                <a:spcPts val="0"/>
              </a:spcAft>
              <a:buSzPts val="2800"/>
              <a:buFont typeface="Arial"/>
              <a:buNone/>
            </a:pPr>
            <a:endParaRPr sz="2800" b="0" i="0" u="none" strike="noStrike" cap="none">
              <a:latin typeface="Arial"/>
              <a:ea typeface="Arial"/>
              <a:cs typeface="Arial"/>
              <a:sym typeface="Arial"/>
            </a:endParaRPr>
          </a:p>
          <a:p>
            <a:pPr marL="274320" marR="0" lvl="0" indent="-271800" algn="l" rtl="0">
              <a:lnSpc>
                <a:spcPct val="80000"/>
              </a:lnSpc>
              <a:spcBef>
                <a:spcPts val="601"/>
              </a:spcBef>
              <a:spcAft>
                <a:spcPts val="0"/>
              </a:spcAft>
              <a:buClr>
                <a:srgbClr val="FE8637"/>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Si lanzó otra excepción que no está contemplada en el listado de la Interface</a:t>
            </a:r>
            <a:endParaRPr sz="2400" b="0" i="0" u="none" strike="noStrike" cap="none">
              <a:latin typeface="Arial"/>
              <a:ea typeface="Arial"/>
              <a:cs typeface="Arial"/>
              <a:sym typeface="Arial"/>
            </a:endParaRPr>
          </a:p>
          <a:p>
            <a:pPr marL="0" marR="0" lvl="0" indent="0" algn="l" rtl="0">
              <a:lnSpc>
                <a:spcPct val="8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0" marR="0" lvl="0" indent="0" algn="just" rtl="0">
              <a:lnSpc>
                <a:spcPct val="80000"/>
              </a:lnSpc>
              <a:spcBef>
                <a:spcPts val="601"/>
              </a:spcBef>
              <a:spcAft>
                <a:spcPts val="0"/>
              </a:spcAft>
              <a:buClr>
                <a:srgbClr val="000000"/>
              </a:buClr>
              <a:buSzPts val="2400"/>
              <a:buFont typeface="Century Schoolbook"/>
              <a:buNone/>
            </a:pPr>
            <a:r>
              <a:rPr lang="es-AR" sz="2400" b="0" i="0" u="none" strike="noStrike" cap="none">
                <a:solidFill>
                  <a:srgbClr val="000000"/>
                </a:solidFill>
                <a:latin typeface="Century Schoolbook"/>
                <a:ea typeface="Century Schoolbook"/>
                <a:cs typeface="Century Schoolbook"/>
                <a:sym typeface="Century Schoolbook"/>
              </a:rPr>
              <a:t>En este caso </a:t>
            </a:r>
            <a:r>
              <a:rPr lang="es-AR" sz="2400" b="1" i="0" u="sng" strike="noStrike" cap="none">
                <a:solidFill>
                  <a:srgbClr val="000000"/>
                </a:solidFill>
                <a:latin typeface="Century Schoolbook"/>
                <a:ea typeface="Century Schoolbook"/>
                <a:cs typeface="Century Schoolbook"/>
                <a:sym typeface="Century Schoolbook"/>
              </a:rPr>
              <a:t>no </a:t>
            </a:r>
            <a:r>
              <a:rPr lang="es-AR" sz="2400" b="1" i="0" u="none" strike="noStrike" cap="none">
                <a:solidFill>
                  <a:srgbClr val="000000"/>
                </a:solidFill>
                <a:latin typeface="Century Schoolbook"/>
                <a:ea typeface="Century Schoolbook"/>
                <a:cs typeface="Century Schoolbook"/>
                <a:sym typeface="Century Schoolbook"/>
              </a:rPr>
              <a:t>se propaga la excepción y una función especial </a:t>
            </a:r>
            <a:r>
              <a:rPr lang="es-AR" sz="2400" b="1" i="0" u="none" strike="noStrike" cap="none">
                <a:solidFill>
                  <a:srgbClr val="E87605"/>
                </a:solidFill>
                <a:latin typeface="Century Schoolbook"/>
                <a:ea typeface="Century Schoolbook"/>
                <a:cs typeface="Century Schoolbook"/>
                <a:sym typeface="Century Schoolbook"/>
              </a:rPr>
              <a:t>unexpected()</a:t>
            </a:r>
            <a:r>
              <a:rPr lang="es-AR" sz="2400" b="1" i="0" u="none" strike="noStrike" cap="none">
                <a:solidFill>
                  <a:srgbClr val="000000"/>
                </a:solidFill>
                <a:latin typeface="Century Schoolbook"/>
                <a:ea typeface="Century Schoolbook"/>
                <a:cs typeface="Century Schoolbook"/>
                <a:sym typeface="Century Schoolbook"/>
              </a:rPr>
              <a:t> </a:t>
            </a:r>
            <a:r>
              <a:rPr lang="es-AR" sz="2400" b="0" i="0" u="none" strike="noStrike" cap="none">
                <a:solidFill>
                  <a:srgbClr val="000000"/>
                </a:solidFill>
                <a:latin typeface="Century Schoolbook"/>
                <a:ea typeface="Century Schoolbook"/>
                <a:cs typeface="Century Schoolbook"/>
                <a:sym typeface="Century Schoolbook"/>
              </a:rPr>
              <a:t>se </a:t>
            </a:r>
            <a:r>
              <a:rPr lang="es-AR" sz="2400" b="1" i="0" u="none" strike="noStrike" cap="none">
                <a:solidFill>
                  <a:srgbClr val="000000"/>
                </a:solidFill>
                <a:latin typeface="Century Schoolbook"/>
                <a:ea typeface="Century Schoolbook"/>
                <a:cs typeface="Century Schoolbook"/>
                <a:sym typeface="Century Schoolbook"/>
              </a:rPr>
              <a:t>ejecuta automáticamente,</a:t>
            </a:r>
            <a:r>
              <a:rPr lang="es-AR" sz="2400" b="0" i="0" u="none" strike="noStrike" cap="none">
                <a:solidFill>
                  <a:srgbClr val="000000"/>
                </a:solidFill>
                <a:latin typeface="Century Schoolbook"/>
                <a:ea typeface="Century Schoolbook"/>
                <a:cs typeface="Century Schoolbook"/>
                <a:sym typeface="Century Schoolbook"/>
              </a:rPr>
              <a:t> que </a:t>
            </a:r>
            <a:r>
              <a:rPr lang="es-AR" sz="2400" b="1" i="0" u="none" strike="noStrike" cap="none">
                <a:solidFill>
                  <a:srgbClr val="000000"/>
                </a:solidFill>
                <a:latin typeface="Century Schoolbook"/>
                <a:ea typeface="Century Schoolbook"/>
                <a:cs typeface="Century Schoolbook"/>
                <a:sym typeface="Century Schoolbook"/>
              </a:rPr>
              <a:t>eventualmente causa </a:t>
            </a:r>
            <a:r>
              <a:rPr lang="es-AR" sz="2400" b="1" i="0" u="none" strike="noStrike" cap="none">
                <a:solidFill>
                  <a:srgbClr val="E87605"/>
                </a:solidFill>
                <a:latin typeface="Century Schoolbook"/>
                <a:ea typeface="Century Schoolbook"/>
                <a:cs typeface="Century Schoolbook"/>
                <a:sym typeface="Century Schoolbook"/>
              </a:rPr>
              <a:t>abort()</a:t>
            </a:r>
            <a:r>
              <a:rPr lang="es-AR" sz="2400" b="1" i="0" u="none" strike="noStrike" cap="none">
                <a:solidFill>
                  <a:srgbClr val="000000"/>
                </a:solidFill>
                <a:latin typeface="Century Schoolbook"/>
                <a:ea typeface="Century Schoolbook"/>
                <a:cs typeface="Century Schoolbook"/>
                <a:sym typeface="Century Schoolbook"/>
              </a:rPr>
              <a:t> </a:t>
            </a:r>
            <a:r>
              <a:rPr lang="es-AR" sz="2400" b="0" i="0" u="none" strike="noStrike" cap="none">
                <a:solidFill>
                  <a:srgbClr val="000000"/>
                </a:solidFill>
                <a:latin typeface="Century Schoolbook"/>
                <a:ea typeface="Century Schoolbook"/>
                <a:cs typeface="Century Schoolbook"/>
                <a:sym typeface="Century Schoolbook"/>
              </a:rPr>
              <a:t>que provoca el </a:t>
            </a:r>
            <a:r>
              <a:rPr lang="es-AR" sz="2400" b="1" i="0" u="none" strike="noStrike" cap="none">
                <a:solidFill>
                  <a:srgbClr val="000000"/>
                </a:solidFill>
                <a:latin typeface="Century Schoolbook"/>
                <a:ea typeface="Century Schoolbook"/>
                <a:cs typeface="Century Schoolbook"/>
                <a:sym typeface="Century Schoolbook"/>
              </a:rPr>
              <a:t>final del programa. </a:t>
            </a:r>
            <a:endParaRPr sz="2400" b="0" i="0" u="none" strike="noStrike" cap="none">
              <a:latin typeface="Arial"/>
              <a:ea typeface="Arial"/>
              <a:cs typeface="Arial"/>
              <a:sym typeface="Arial"/>
            </a:endParaRPr>
          </a:p>
          <a:p>
            <a:pPr marL="0" marR="0" lvl="0" indent="0" algn="just" rtl="0">
              <a:lnSpc>
                <a:spcPct val="8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0" marR="0" lvl="0" indent="0" algn="just" rtl="0">
              <a:lnSpc>
                <a:spcPct val="80000"/>
              </a:lnSpc>
              <a:spcBef>
                <a:spcPts val="601"/>
              </a:spcBef>
              <a:spcAft>
                <a:spcPts val="0"/>
              </a:spcAft>
              <a:buClr>
                <a:srgbClr val="E87605"/>
              </a:buClr>
              <a:buSzPts val="2400"/>
              <a:buFont typeface="Century Schoolbook"/>
              <a:buNone/>
            </a:pPr>
            <a:r>
              <a:rPr lang="es-AR" sz="2400" b="1" i="0" u="none" strike="noStrike" cap="none">
                <a:solidFill>
                  <a:srgbClr val="E87605"/>
                </a:solidFill>
                <a:latin typeface="Century Schoolbook"/>
                <a:ea typeface="Century Schoolbook"/>
                <a:cs typeface="Century Schoolbook"/>
                <a:sym typeface="Century Schoolbook"/>
              </a:rPr>
              <a:t>Unexpected()</a:t>
            </a:r>
            <a:r>
              <a:rPr lang="es-AR" sz="2400" b="1" i="0" u="none" strike="noStrike" cap="none">
                <a:solidFill>
                  <a:srgbClr val="000000"/>
                </a:solidFill>
                <a:latin typeface="Century Schoolbook"/>
                <a:ea typeface="Century Schoolbook"/>
                <a:cs typeface="Century Schoolbook"/>
                <a:sym typeface="Century Schoolbook"/>
              </a:rPr>
              <a:t> puede </a:t>
            </a:r>
            <a:r>
              <a:rPr lang="es-AR" sz="2400" b="0" i="0" u="none" strike="noStrike" cap="none">
                <a:solidFill>
                  <a:srgbClr val="000000"/>
                </a:solidFill>
                <a:latin typeface="Century Schoolbook"/>
                <a:ea typeface="Century Schoolbook"/>
                <a:cs typeface="Century Schoolbook"/>
                <a:sym typeface="Century Schoolbook"/>
              </a:rPr>
              <a:t>ser </a:t>
            </a:r>
            <a:r>
              <a:rPr lang="es-AR" sz="2400" b="1" i="0" u="none" strike="noStrike" cap="none">
                <a:solidFill>
                  <a:srgbClr val="000000"/>
                </a:solidFill>
                <a:latin typeface="Century Schoolbook"/>
                <a:ea typeface="Century Schoolbook"/>
                <a:cs typeface="Century Schoolbook"/>
                <a:sym typeface="Century Schoolbook"/>
              </a:rPr>
              <a:t>redefinida por el programador.</a:t>
            </a:r>
            <a:endParaRPr sz="2400" b="0" i="0" u="none" strike="noStrike" cap="none">
              <a:latin typeface="Arial"/>
              <a:ea typeface="Arial"/>
              <a:cs typeface="Arial"/>
              <a:sym typeface="Arial"/>
            </a:endParaRPr>
          </a:p>
        </p:txBody>
      </p:sp>
      <p:sp>
        <p:nvSpPr>
          <p:cNvPr id="717" name="Google Shape;717;p41"/>
          <p:cNvSpPr/>
          <p:nvPr/>
        </p:nvSpPr>
        <p:spPr>
          <a:xfrm>
            <a:off x="8183160" y="589464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41</a:t>
            </a:fld>
            <a:endParaRPr sz="1800" b="0" i="0" u="none" strike="noStrike" cap="none">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42"/>
          <p:cNvSpPr/>
          <p:nvPr/>
        </p:nvSpPr>
        <p:spPr>
          <a:xfrm>
            <a:off x="457200" y="3816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c++</a:t>
            </a:r>
            <a:endParaRPr sz="3000" b="0" i="0" u="none" strike="noStrike" cap="none">
              <a:latin typeface="Arial"/>
              <a:ea typeface="Arial"/>
              <a:cs typeface="Arial"/>
              <a:sym typeface="Arial"/>
            </a:endParaRPr>
          </a:p>
        </p:txBody>
      </p:sp>
      <p:sp>
        <p:nvSpPr>
          <p:cNvPr id="724" name="Google Shape;724;p42"/>
          <p:cNvSpPr/>
          <p:nvPr/>
        </p:nvSpPr>
        <p:spPr>
          <a:xfrm>
            <a:off x="457200" y="1341360"/>
            <a:ext cx="7783920" cy="5129640"/>
          </a:xfrm>
          <a:prstGeom prst="rect">
            <a:avLst/>
          </a:prstGeom>
          <a:noFill/>
          <a:ln>
            <a:noFill/>
          </a:ln>
        </p:spPr>
        <p:txBody>
          <a:bodyPr spcFirstLastPara="1" wrap="square" lIns="90000" tIns="45000" rIns="90000" bIns="45000" anchor="t" anchorCtr="0">
            <a:noAutofit/>
          </a:bodyPr>
          <a:lstStyle/>
          <a:p>
            <a:pPr marL="274320" marR="0" lvl="0" indent="-271800" algn="just" rtl="0">
              <a:lnSpc>
                <a:spcPct val="80000"/>
              </a:lnSpc>
              <a:spcBef>
                <a:spcPts val="0"/>
              </a:spcBef>
              <a:spcAft>
                <a:spcPts val="0"/>
              </a:spcAft>
              <a:buClr>
                <a:srgbClr val="000000"/>
              </a:buClr>
              <a:buSzPts val="2800"/>
              <a:buFont typeface="Century Schoolbook"/>
              <a:buNone/>
            </a:pPr>
            <a:r>
              <a:rPr lang="es-AR" sz="2800" b="1" i="0" u="none" strike="noStrike" cap="none">
                <a:solidFill>
                  <a:srgbClr val="000000"/>
                </a:solidFill>
                <a:latin typeface="Century Schoolbook"/>
                <a:ea typeface="Century Schoolbook"/>
                <a:cs typeface="Century Schoolbook"/>
                <a:sym typeface="Century Schoolbook"/>
              </a:rPr>
              <a:t>Qué sucede si la rutina</a:t>
            </a:r>
            <a:endParaRPr sz="2800" b="0" i="0" u="none" strike="noStrike" cap="none">
              <a:latin typeface="Arial"/>
              <a:ea typeface="Arial"/>
              <a:cs typeface="Arial"/>
              <a:sym typeface="Arial"/>
            </a:endParaRPr>
          </a:p>
          <a:p>
            <a:pPr marL="274320" marR="0" lvl="0" indent="-271800" algn="just" rtl="0">
              <a:lnSpc>
                <a:spcPct val="80000"/>
              </a:lnSpc>
              <a:spcBef>
                <a:spcPts val="601"/>
              </a:spcBef>
              <a:spcAft>
                <a:spcPts val="0"/>
              </a:spcAft>
              <a:buSzPts val="2800"/>
              <a:buFont typeface="Arial"/>
              <a:buNone/>
            </a:pPr>
            <a:endParaRPr sz="2800" b="0" i="0" u="none" strike="noStrike" cap="none">
              <a:latin typeface="Arial"/>
              <a:ea typeface="Arial"/>
              <a:cs typeface="Arial"/>
              <a:sym typeface="Arial"/>
            </a:endParaRPr>
          </a:p>
          <a:p>
            <a:pPr marL="274320" marR="0" lvl="0" indent="-271800" algn="just" rtl="0">
              <a:lnSpc>
                <a:spcPct val="80000"/>
              </a:lnSpc>
              <a:spcBef>
                <a:spcPts val="601"/>
              </a:spcBef>
              <a:spcAft>
                <a:spcPts val="0"/>
              </a:spcAft>
              <a:buClr>
                <a:srgbClr val="FE8637"/>
              </a:buClr>
              <a:buSzPts val="2800"/>
              <a:buFont typeface="Noto Sans Symbols"/>
              <a:buChar char="•"/>
            </a:pPr>
            <a:r>
              <a:rPr lang="es-AR" sz="2800" b="1" i="0" u="none" strike="noStrike" cap="none">
                <a:solidFill>
                  <a:srgbClr val="000000"/>
                </a:solidFill>
                <a:latin typeface="Century Schoolbook"/>
                <a:ea typeface="Century Schoolbook"/>
                <a:cs typeface="Century Schoolbook"/>
                <a:sym typeface="Century Schoolbook"/>
              </a:rPr>
              <a:t>Si colocó en su interface el listado de posibles excepciones a alcanzar</a:t>
            </a:r>
            <a:endParaRPr sz="2800" b="0" i="0" u="none" strike="noStrike" cap="none">
              <a:latin typeface="Arial"/>
              <a:ea typeface="Arial"/>
              <a:cs typeface="Arial"/>
              <a:sym typeface="Arial"/>
            </a:endParaRPr>
          </a:p>
          <a:p>
            <a:pPr marL="274320" marR="0" lvl="0" indent="-271800" algn="just" rtl="0">
              <a:lnSpc>
                <a:spcPct val="80000"/>
              </a:lnSpc>
              <a:spcBef>
                <a:spcPts val="601"/>
              </a:spcBef>
              <a:spcAft>
                <a:spcPts val="0"/>
              </a:spcAft>
              <a:buClr>
                <a:srgbClr val="000000"/>
              </a:buClr>
              <a:buSzPts val="2400"/>
              <a:buFont typeface="Century Schoolbook"/>
              <a:buNone/>
            </a:pPr>
            <a:r>
              <a:rPr lang="es-AR" sz="2400" b="0" i="0" u="none" strike="noStrike" cap="none">
                <a:solidFill>
                  <a:srgbClr val="000000"/>
                </a:solidFill>
                <a:latin typeface="Century Schoolbook"/>
                <a:ea typeface="Century Schoolbook"/>
                <a:cs typeface="Century Schoolbook"/>
                <a:sym typeface="Century Schoolbook"/>
              </a:rPr>
              <a:t>   En este caso </a:t>
            </a:r>
            <a:r>
              <a:rPr lang="es-AR" sz="2400" b="1" i="0" u="none" strike="noStrike" cap="none">
                <a:solidFill>
                  <a:srgbClr val="000000"/>
                </a:solidFill>
                <a:latin typeface="Century Schoolbook"/>
                <a:ea typeface="Century Schoolbook"/>
                <a:cs typeface="Century Schoolbook"/>
                <a:sym typeface="Century Schoolbook"/>
              </a:rPr>
              <a:t>Si se propaga la excepción.</a:t>
            </a:r>
            <a:endParaRPr sz="2400" b="0" i="0" u="none" strike="noStrike" cap="none">
              <a:latin typeface="Arial"/>
              <a:ea typeface="Arial"/>
              <a:cs typeface="Arial"/>
              <a:sym typeface="Arial"/>
            </a:endParaRPr>
          </a:p>
          <a:p>
            <a:pPr marL="274320" marR="0" lvl="0" indent="-271800" algn="just" rtl="0">
              <a:lnSpc>
                <a:spcPct val="8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285840" marR="0" lvl="0" indent="2520" algn="just" rtl="0">
              <a:lnSpc>
                <a:spcPct val="80000"/>
              </a:lnSpc>
              <a:spcBef>
                <a:spcPts val="601"/>
              </a:spcBef>
              <a:spcAft>
                <a:spcPts val="0"/>
              </a:spcAft>
              <a:buClr>
                <a:srgbClr val="000000"/>
              </a:buClr>
              <a:buSzPts val="2400"/>
              <a:buFont typeface="Century Schoolbook"/>
              <a:buNone/>
            </a:pPr>
            <a:r>
              <a:rPr lang="es-AR" sz="2400" b="0" i="0" u="none" strike="noStrike" cap="none">
                <a:solidFill>
                  <a:srgbClr val="000000"/>
                </a:solidFill>
                <a:latin typeface="Century Schoolbook"/>
                <a:ea typeface="Century Schoolbook"/>
                <a:cs typeface="Century Schoolbook"/>
                <a:sym typeface="Century Schoolbook"/>
              </a:rPr>
              <a:t>Si una excepción </a:t>
            </a:r>
            <a:r>
              <a:rPr lang="es-AR" sz="2400" b="1" i="0" u="none" strike="noStrike" cap="none">
                <a:solidFill>
                  <a:srgbClr val="000000"/>
                </a:solidFill>
                <a:latin typeface="Century Schoolbook"/>
                <a:ea typeface="Century Schoolbook"/>
                <a:cs typeface="Century Schoolbook"/>
                <a:sym typeface="Century Schoolbook"/>
              </a:rPr>
              <a:t>se propaga repetidamente y nunca se encuentra un manejado</a:t>
            </a:r>
            <a:r>
              <a:rPr lang="es-AR" sz="2400" b="0" i="0" u="none" strike="noStrike" cap="none">
                <a:solidFill>
                  <a:srgbClr val="000000"/>
                </a:solidFill>
                <a:latin typeface="Century Schoolbook"/>
                <a:ea typeface="Century Schoolbook"/>
                <a:cs typeface="Century Schoolbook"/>
                <a:sym typeface="Century Schoolbook"/>
              </a:rPr>
              <a:t>r coincidente, </a:t>
            </a:r>
            <a:r>
              <a:rPr lang="es-AR" sz="2400" b="1" i="0" u="none" strike="noStrike" cap="none">
                <a:solidFill>
                  <a:srgbClr val="000000"/>
                </a:solidFill>
                <a:latin typeface="Century Schoolbook"/>
                <a:ea typeface="Century Schoolbook"/>
                <a:cs typeface="Century Schoolbook"/>
                <a:sym typeface="Century Schoolbook"/>
              </a:rPr>
              <a:t>llama automáticamente </a:t>
            </a:r>
            <a:r>
              <a:rPr lang="es-AR" sz="2400" b="0" i="0" u="none" strike="noStrike" cap="none">
                <a:solidFill>
                  <a:srgbClr val="000000"/>
                </a:solidFill>
                <a:latin typeface="Century Schoolbook"/>
                <a:ea typeface="Century Schoolbook"/>
                <a:cs typeface="Century Schoolbook"/>
                <a:sym typeface="Century Schoolbook"/>
              </a:rPr>
              <a:t>a una </a:t>
            </a:r>
            <a:r>
              <a:rPr lang="es-AR" sz="2400" b="1" i="0" u="none" strike="noStrike" cap="none">
                <a:solidFill>
                  <a:srgbClr val="000000"/>
                </a:solidFill>
                <a:latin typeface="Century Schoolbook"/>
                <a:ea typeface="Century Schoolbook"/>
                <a:cs typeface="Century Schoolbook"/>
                <a:sym typeface="Century Schoolbook"/>
              </a:rPr>
              <a:t>función especia</a:t>
            </a:r>
            <a:r>
              <a:rPr lang="es-AR" sz="2400" b="0" i="0" u="none" strike="noStrike" cap="none">
                <a:solidFill>
                  <a:srgbClr val="000000"/>
                </a:solidFill>
                <a:latin typeface="Century Schoolbook"/>
                <a:ea typeface="Century Schoolbook"/>
                <a:cs typeface="Century Schoolbook"/>
                <a:sym typeface="Century Schoolbook"/>
              </a:rPr>
              <a:t>l llamada </a:t>
            </a:r>
            <a:r>
              <a:rPr lang="es-AR" sz="2400" b="1" i="0" u="none" strike="noStrike" cap="none">
                <a:solidFill>
                  <a:srgbClr val="E87605"/>
                </a:solidFill>
                <a:latin typeface="Century Schoolbook"/>
                <a:ea typeface="Century Schoolbook"/>
                <a:cs typeface="Century Schoolbook"/>
                <a:sym typeface="Century Schoolbook"/>
              </a:rPr>
              <a:t>terminate().</a:t>
            </a:r>
            <a:r>
              <a:rPr lang="es-AR" sz="2400" b="0" i="0" u="none" strike="noStrike" cap="none">
                <a:solidFill>
                  <a:srgbClr val="000000"/>
                </a:solidFill>
                <a:latin typeface="Century Schoolbook"/>
                <a:ea typeface="Century Schoolbook"/>
                <a:cs typeface="Century Schoolbook"/>
                <a:sym typeface="Century Schoolbook"/>
              </a:rPr>
              <a:t> </a:t>
            </a:r>
            <a:endParaRPr sz="2400" b="0" i="0" u="none" strike="noStrike" cap="none">
              <a:latin typeface="Arial"/>
              <a:ea typeface="Arial"/>
              <a:cs typeface="Arial"/>
              <a:sym typeface="Arial"/>
            </a:endParaRPr>
          </a:p>
          <a:p>
            <a:pPr marL="285840" marR="0" lvl="0" indent="2520" algn="l" rtl="0">
              <a:lnSpc>
                <a:spcPct val="80000"/>
              </a:lnSpc>
              <a:spcBef>
                <a:spcPts val="601"/>
              </a:spcBef>
              <a:spcAft>
                <a:spcPts val="0"/>
              </a:spcAft>
              <a:buClr>
                <a:srgbClr val="E87605"/>
              </a:buClr>
              <a:buSzPts val="2400"/>
              <a:buFont typeface="Arial"/>
              <a:buNone/>
            </a:pPr>
            <a:r>
              <a:rPr lang="es-AR" sz="2400" b="1" i="0" u="none" strike="noStrike" cap="none">
                <a:solidFill>
                  <a:srgbClr val="E87605"/>
                </a:solidFill>
                <a:latin typeface="Arial"/>
                <a:ea typeface="Arial"/>
                <a:cs typeface="Arial"/>
                <a:sym typeface="Arial"/>
              </a:rPr>
              <a:t>terminate()  </a:t>
            </a:r>
            <a:r>
              <a:rPr lang="es-AR" sz="2400" b="1" i="0" u="none" strike="noStrike" cap="none">
                <a:solidFill>
                  <a:srgbClr val="000000"/>
                </a:solidFill>
                <a:latin typeface="Century Schoolbook"/>
                <a:ea typeface="Century Schoolbook"/>
                <a:cs typeface="Century Schoolbook"/>
                <a:sym typeface="Century Schoolbook"/>
              </a:rPr>
              <a:t>puede  ser redefinido  por  el pro-gramador. </a:t>
            </a:r>
            <a:r>
              <a:rPr lang="es-AR" sz="2400" b="0" i="0" u="none" strike="noStrike" cap="none">
                <a:solidFill>
                  <a:srgbClr val="000000"/>
                </a:solidFill>
                <a:latin typeface="Century Schoolbook"/>
                <a:ea typeface="Century Schoolbook"/>
                <a:cs typeface="Century Schoolbook"/>
                <a:sym typeface="Century Schoolbook"/>
              </a:rPr>
              <a:t>Su  comportamiento  predeterminado, eventualmente </a:t>
            </a:r>
            <a:r>
              <a:rPr lang="es-AR" sz="2400" b="1" i="0" u="none" strike="noStrike" cap="none">
                <a:solidFill>
                  <a:srgbClr val="000000"/>
                </a:solidFill>
                <a:latin typeface="Century Schoolbook"/>
                <a:ea typeface="Century Schoolbook"/>
                <a:cs typeface="Century Schoolbook"/>
                <a:sym typeface="Century Schoolbook"/>
              </a:rPr>
              <a:t>aborta la ejecución del programa</a:t>
            </a:r>
            <a:endParaRPr sz="2400" b="0" i="0" u="none" strike="noStrike" cap="none">
              <a:latin typeface="Arial"/>
              <a:ea typeface="Arial"/>
              <a:cs typeface="Arial"/>
              <a:sym typeface="Arial"/>
            </a:endParaRPr>
          </a:p>
        </p:txBody>
      </p:sp>
      <p:sp>
        <p:nvSpPr>
          <p:cNvPr id="725" name="Google Shape;725;p42"/>
          <p:cNvSpPr/>
          <p:nvPr/>
        </p:nvSpPr>
        <p:spPr>
          <a:xfrm>
            <a:off x="7953120" y="57654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42</a:t>
            </a:fld>
            <a:endParaRPr sz="1800" b="0" i="0" u="none" strike="noStrike" cap="none">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43"/>
          <p:cNvSpPr/>
          <p:nvPr/>
        </p:nvSpPr>
        <p:spPr>
          <a:xfrm>
            <a:off x="457200" y="3816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c++</a:t>
            </a:r>
            <a:endParaRPr sz="3000" b="0" i="0" u="none" strike="noStrike" cap="none">
              <a:latin typeface="Arial"/>
              <a:ea typeface="Arial"/>
              <a:cs typeface="Arial"/>
              <a:sym typeface="Arial"/>
            </a:endParaRPr>
          </a:p>
        </p:txBody>
      </p:sp>
      <p:sp>
        <p:nvSpPr>
          <p:cNvPr id="732" name="Google Shape;732;p43"/>
          <p:cNvSpPr/>
          <p:nvPr/>
        </p:nvSpPr>
        <p:spPr>
          <a:xfrm>
            <a:off x="457200" y="1341360"/>
            <a:ext cx="8028360" cy="5129640"/>
          </a:xfrm>
          <a:prstGeom prst="rect">
            <a:avLst/>
          </a:prstGeom>
          <a:noFill/>
          <a:ln>
            <a:noFill/>
          </a:ln>
        </p:spPr>
        <p:txBody>
          <a:bodyPr spcFirstLastPara="1" wrap="square" lIns="90000" tIns="45000" rIns="90000" bIns="45000" anchor="t" anchorCtr="0">
            <a:noAutofit/>
          </a:bodyPr>
          <a:lstStyle/>
          <a:p>
            <a:pPr marL="274320" marR="0" lvl="0" indent="-271800" algn="l" rtl="0">
              <a:lnSpc>
                <a:spcPct val="80000"/>
              </a:lnSpc>
              <a:spcBef>
                <a:spcPts val="0"/>
              </a:spcBef>
              <a:spcAft>
                <a:spcPts val="0"/>
              </a:spcAft>
              <a:buClr>
                <a:srgbClr val="000000"/>
              </a:buClr>
              <a:buSzPts val="2800"/>
              <a:buFont typeface="Arial"/>
              <a:buNone/>
            </a:pPr>
            <a:r>
              <a:rPr lang="es-AR" sz="2800" b="1" i="0" u="none" strike="noStrike" cap="none">
                <a:solidFill>
                  <a:srgbClr val="000000"/>
                </a:solidFill>
                <a:latin typeface="Arial"/>
                <a:ea typeface="Arial"/>
                <a:cs typeface="Arial"/>
                <a:sym typeface="Arial"/>
              </a:rPr>
              <a:t>Qué sucede si la rutina</a:t>
            </a:r>
            <a:endParaRPr sz="2800" b="0" i="0" u="none" strike="noStrike" cap="none">
              <a:latin typeface="Arial"/>
              <a:ea typeface="Arial"/>
              <a:cs typeface="Arial"/>
              <a:sym typeface="Arial"/>
            </a:endParaRPr>
          </a:p>
          <a:p>
            <a:pPr marL="274320" marR="0" lvl="0" indent="-271800" algn="l" rtl="0">
              <a:lnSpc>
                <a:spcPct val="80000"/>
              </a:lnSpc>
              <a:spcBef>
                <a:spcPts val="601"/>
              </a:spcBef>
              <a:spcAft>
                <a:spcPts val="0"/>
              </a:spcAft>
              <a:buSzPts val="2800"/>
              <a:buFont typeface="Arial"/>
              <a:buNone/>
            </a:pPr>
            <a:endParaRPr sz="2800" b="0" i="0" u="none" strike="noStrike" cap="none">
              <a:latin typeface="Arial"/>
              <a:ea typeface="Arial"/>
              <a:cs typeface="Arial"/>
              <a:sym typeface="Arial"/>
            </a:endParaRPr>
          </a:p>
          <a:p>
            <a:pPr marL="343080" marR="0" lvl="0" indent="-343080" algn="l" rtl="0">
              <a:lnSpc>
                <a:spcPct val="100000"/>
              </a:lnSpc>
              <a:spcBef>
                <a:spcPts val="0"/>
              </a:spcBef>
              <a:spcAft>
                <a:spcPts val="0"/>
              </a:spcAft>
              <a:buClr>
                <a:srgbClr val="FE8637"/>
              </a:buClr>
              <a:buSzPts val="2400"/>
              <a:buFont typeface="Arial"/>
              <a:buChar char="•"/>
            </a:pPr>
            <a:r>
              <a:rPr lang="es-AR" sz="2400" b="1" i="0" u="none" strike="noStrike" cap="none">
                <a:solidFill>
                  <a:srgbClr val="000000"/>
                </a:solidFill>
                <a:latin typeface="Century Schoolbook"/>
                <a:ea typeface="Century Schoolbook"/>
                <a:cs typeface="Century Schoolbook"/>
                <a:sym typeface="Century Schoolbook"/>
              </a:rPr>
              <a:t>Si no se proporciona ninguna lista </a:t>
            </a:r>
            <a:r>
              <a:rPr lang="es-AR" sz="2400" b="1" i="0" u="none" strike="noStrike" cap="none">
                <a:solidFill>
                  <a:srgbClr val="000000"/>
                </a:solidFill>
                <a:latin typeface="Arial"/>
                <a:ea typeface="Arial"/>
                <a:cs typeface="Arial"/>
                <a:sym typeface="Arial"/>
              </a:rPr>
              <a:t> </a:t>
            </a:r>
            <a:r>
              <a:rPr lang="es-AR" sz="2400" b="1" i="0" u="none" strike="noStrike" cap="none">
                <a:solidFill>
                  <a:srgbClr val="E87605"/>
                </a:solidFill>
                <a:latin typeface="Arial"/>
                <a:ea typeface="Arial"/>
                <a:cs typeface="Arial"/>
                <a:sym typeface="Arial"/>
              </a:rPr>
              <a:t>throw</a:t>
            </a:r>
            <a:r>
              <a:rPr lang="es-AR" sz="2400" b="1" i="0" u="none" strike="noStrike" cap="none">
                <a:solidFill>
                  <a:srgbClr val="000000"/>
                </a:solidFill>
                <a:latin typeface="Century Schoolbook"/>
                <a:ea typeface="Century Schoolbook"/>
                <a:cs typeface="Century Schoolbook"/>
                <a:sym typeface="Century Schoolbook"/>
              </a:rPr>
              <a:t> </a:t>
            </a:r>
            <a:endParaRPr sz="2400" b="0" i="0" u="none" strike="noStrike" cap="none">
              <a:latin typeface="Arial"/>
              <a:ea typeface="Arial"/>
              <a:cs typeface="Arial"/>
              <a:sym typeface="Arial"/>
            </a:endParaRPr>
          </a:p>
          <a:p>
            <a:pPr marL="343080" marR="0" lvl="0" indent="0" algn="l" rtl="0">
              <a:lnSpc>
                <a:spcPct val="100000"/>
              </a:lnSpc>
              <a:spcBef>
                <a:spcPts val="0"/>
              </a:spcBef>
              <a:spcAft>
                <a:spcPts val="0"/>
              </a:spcAft>
              <a:buClr>
                <a:srgbClr val="000000"/>
              </a:buClr>
              <a:buSzPts val="2400"/>
              <a:buFont typeface="Century Schoolbook"/>
              <a:buNone/>
            </a:pPr>
            <a:r>
              <a:rPr lang="es-AR" sz="2400" b="0" i="0" u="none" strike="noStrike" cap="none">
                <a:solidFill>
                  <a:srgbClr val="000000"/>
                </a:solidFill>
                <a:latin typeface="Century Schoolbook"/>
                <a:ea typeface="Century Schoolbook"/>
                <a:cs typeface="Century Schoolbook"/>
                <a:sym typeface="Century Schoolbook"/>
              </a:rPr>
              <a:t>Significa que </a:t>
            </a:r>
            <a:r>
              <a:rPr lang="es-AR" sz="2400" b="1" i="0" u="sng" strike="noStrike" cap="none">
                <a:solidFill>
                  <a:srgbClr val="000000"/>
                </a:solidFill>
                <a:latin typeface="Century Schoolbook"/>
                <a:ea typeface="Century Schoolbook"/>
                <a:cs typeface="Century Schoolbook"/>
                <a:sym typeface="Century Schoolbook"/>
              </a:rPr>
              <a:t>CUALQUIER excepción</a:t>
            </a:r>
            <a:r>
              <a:rPr lang="es-AR" sz="2400" b="1" i="0" u="none" strike="noStrike" cap="none">
                <a:solidFill>
                  <a:srgbClr val="000000"/>
                </a:solidFill>
                <a:latin typeface="Century Schoolbook"/>
                <a:ea typeface="Century Schoolbook"/>
                <a:cs typeface="Century Schoolbook"/>
                <a:sym typeface="Century Schoolbook"/>
              </a:rPr>
              <a:t> puede ser propagada</a:t>
            </a:r>
            <a:r>
              <a:rPr lang="es-AR" sz="2400" b="0" i="0" u="none" strike="noStrike" cap="none">
                <a:solidFill>
                  <a:srgbClr val="000000"/>
                </a:solidFill>
                <a:latin typeface="Century Schoolbook"/>
                <a:ea typeface="Century Schoolbook"/>
                <a:cs typeface="Century Schoolbook"/>
                <a:sym typeface="Century Schoolbook"/>
              </a:rPr>
              <a:t>. </a:t>
            </a:r>
            <a:endParaRPr sz="2400" b="0" i="0" u="none" strike="noStrike" cap="none">
              <a:latin typeface="Arial"/>
              <a:ea typeface="Arial"/>
              <a:cs typeface="Arial"/>
              <a:sym typeface="Arial"/>
            </a:endParaRPr>
          </a:p>
          <a:p>
            <a:pPr marL="285840" marR="0" lvl="0" indent="0" algn="l" rtl="0">
              <a:lnSpc>
                <a:spcPct val="100000"/>
              </a:lnSpc>
              <a:spcBef>
                <a:spcPts val="0"/>
              </a:spcBef>
              <a:spcAft>
                <a:spcPts val="0"/>
              </a:spcAft>
              <a:buSzPts val="2400"/>
              <a:buFont typeface="Arial"/>
              <a:buNone/>
            </a:pPr>
            <a:endParaRPr sz="2400" b="0" i="0" u="none" strike="noStrike" cap="none">
              <a:latin typeface="Arial"/>
              <a:ea typeface="Arial"/>
              <a:cs typeface="Arial"/>
              <a:sym typeface="Arial"/>
            </a:endParaRPr>
          </a:p>
          <a:p>
            <a:pPr marL="274320" marR="0" lvl="0" indent="-271800" algn="l" rtl="0">
              <a:lnSpc>
                <a:spcPct val="80000"/>
              </a:lnSpc>
              <a:spcBef>
                <a:spcPts val="601"/>
              </a:spcBef>
              <a:spcAft>
                <a:spcPts val="0"/>
              </a:spcAft>
              <a:buClr>
                <a:srgbClr val="FE8637"/>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Si se colocó en su interface una lista vacía </a:t>
            </a:r>
            <a:r>
              <a:rPr lang="es-AR" sz="2400" b="1" i="0" u="none" strike="noStrike" cap="none">
                <a:solidFill>
                  <a:srgbClr val="E87605"/>
                </a:solidFill>
                <a:latin typeface="Century Schoolbook"/>
                <a:ea typeface="Century Schoolbook"/>
                <a:cs typeface="Century Schoolbook"/>
                <a:sym typeface="Century Schoolbook"/>
              </a:rPr>
              <a:t>throw()</a:t>
            </a:r>
            <a:endParaRPr sz="2400" b="0" i="0" u="none" strike="noStrike" cap="none">
              <a:latin typeface="Arial"/>
              <a:ea typeface="Arial"/>
              <a:cs typeface="Arial"/>
              <a:sym typeface="Arial"/>
            </a:endParaRPr>
          </a:p>
          <a:p>
            <a:pPr marL="274320" marR="0" lvl="0" indent="-271800" algn="l" rtl="0">
              <a:lnSpc>
                <a:spcPct val="80000"/>
              </a:lnSpc>
              <a:spcBef>
                <a:spcPts val="601"/>
              </a:spcBef>
              <a:spcAft>
                <a:spcPts val="0"/>
              </a:spcAft>
              <a:buClr>
                <a:srgbClr val="000000"/>
              </a:buClr>
              <a:buSzPts val="2400"/>
              <a:buFont typeface="Century Schoolbook"/>
              <a:buNone/>
            </a:pPr>
            <a:r>
              <a:rPr lang="es-AR" sz="2400" b="0" i="0" u="none" strike="noStrike" cap="none">
                <a:solidFill>
                  <a:srgbClr val="000000"/>
                </a:solidFill>
                <a:latin typeface="Century Schoolbook"/>
                <a:ea typeface="Century Schoolbook"/>
                <a:cs typeface="Century Schoolbook"/>
                <a:sym typeface="Century Schoolbook"/>
              </a:rPr>
              <a:t>   Significa que </a:t>
            </a:r>
            <a:r>
              <a:rPr lang="es-AR" sz="2400" b="1" i="0" u="none" strike="noStrike" cap="none">
                <a:solidFill>
                  <a:srgbClr val="000000"/>
                </a:solidFill>
                <a:latin typeface="Century Schoolbook"/>
                <a:ea typeface="Century Schoolbook"/>
                <a:cs typeface="Century Schoolbook"/>
                <a:sym typeface="Century Schoolbook"/>
              </a:rPr>
              <a:t>NINGUNA excepción será propagada.</a:t>
            </a:r>
            <a:endParaRPr sz="2400" b="0" i="0" u="none" strike="noStrike" cap="none">
              <a:latin typeface="Arial"/>
              <a:ea typeface="Arial"/>
              <a:cs typeface="Arial"/>
              <a:sym typeface="Arial"/>
            </a:endParaRPr>
          </a:p>
          <a:p>
            <a:pPr marL="274320" marR="0" lvl="0" indent="-271800" algn="l" rtl="0">
              <a:lnSpc>
                <a:spcPct val="80000"/>
              </a:lnSpc>
              <a:spcBef>
                <a:spcPts val="601"/>
              </a:spcBef>
              <a:spcAft>
                <a:spcPts val="0"/>
              </a:spcAft>
              <a:buSzPts val="1850"/>
              <a:buFont typeface="Arial"/>
              <a:buNone/>
            </a:pPr>
            <a:endParaRPr sz="1850" b="0" i="0" u="none" strike="noStrike" cap="none">
              <a:latin typeface="Arial"/>
              <a:ea typeface="Arial"/>
              <a:cs typeface="Arial"/>
              <a:sym typeface="Arial"/>
            </a:endParaRPr>
          </a:p>
          <a:p>
            <a:pPr marL="274320" marR="0" lvl="0" indent="-271800" algn="l" rtl="0">
              <a:lnSpc>
                <a:spcPct val="80000"/>
              </a:lnSpc>
              <a:spcBef>
                <a:spcPts val="601"/>
              </a:spcBef>
              <a:spcAft>
                <a:spcPts val="0"/>
              </a:spcAft>
              <a:buSzPts val="1850"/>
              <a:buFont typeface="Arial"/>
              <a:buNone/>
            </a:pPr>
            <a:endParaRPr sz="1850" b="0" i="0" u="none" strike="noStrike" cap="none">
              <a:latin typeface="Arial"/>
              <a:ea typeface="Arial"/>
              <a:cs typeface="Arial"/>
              <a:sym typeface="Arial"/>
            </a:endParaRPr>
          </a:p>
        </p:txBody>
      </p:sp>
      <p:sp>
        <p:nvSpPr>
          <p:cNvPr id="733" name="Google Shape;733;p43"/>
          <p:cNvSpPr/>
          <p:nvPr/>
        </p:nvSpPr>
        <p:spPr>
          <a:xfrm>
            <a:off x="7953120" y="57654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43</a:t>
            </a:fld>
            <a:endParaRPr sz="1800" b="0" i="0" u="none" strike="noStrike" cap="none">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44"/>
          <p:cNvSpPr/>
          <p:nvPr/>
        </p:nvSpPr>
        <p:spPr>
          <a:xfrm>
            <a:off x="457200" y="-33192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clu</a:t>
            </a:r>
            <a:endParaRPr sz="3000" b="0" i="0" u="none" strike="noStrike" cap="none">
              <a:latin typeface="Arial"/>
              <a:ea typeface="Arial"/>
              <a:cs typeface="Arial"/>
              <a:sym typeface="Arial"/>
            </a:endParaRPr>
          </a:p>
        </p:txBody>
      </p:sp>
      <p:sp>
        <p:nvSpPr>
          <p:cNvPr id="739" name="Google Shape;739;p44"/>
          <p:cNvSpPr/>
          <p:nvPr/>
        </p:nvSpPr>
        <p:spPr>
          <a:xfrm>
            <a:off x="198360" y="1052640"/>
            <a:ext cx="8474400" cy="5519880"/>
          </a:xfrm>
          <a:prstGeom prst="rect">
            <a:avLst/>
          </a:prstGeom>
          <a:noFill/>
          <a:ln>
            <a:noFill/>
          </a:ln>
        </p:spPr>
        <p:txBody>
          <a:bodyPr spcFirstLastPara="1" wrap="square" lIns="90000" tIns="45000" rIns="90000" bIns="45000" anchor="t" anchorCtr="0">
            <a:noAutofit/>
          </a:bodyPr>
          <a:lstStyle/>
          <a:p>
            <a:pPr marL="274320" marR="0" lvl="0" indent="-271800" algn="l" rtl="0">
              <a:lnSpc>
                <a:spcPct val="90000"/>
              </a:lnSpc>
              <a:spcBef>
                <a:spcPts val="0"/>
              </a:spcBef>
              <a:spcAft>
                <a:spcPts val="0"/>
              </a:spcAft>
              <a:buClr>
                <a:srgbClr val="FE8637"/>
              </a:buClr>
              <a:buSzPts val="2400"/>
              <a:buFont typeface="Noto Sans Symbols"/>
              <a:buChar char="•"/>
            </a:pPr>
            <a:r>
              <a:rPr lang="es-AR" sz="2400" b="0" i="0" u="none" strike="noStrike" cap="none">
                <a:solidFill>
                  <a:srgbClr val="000000"/>
                </a:solidFill>
                <a:latin typeface="Arial"/>
                <a:ea typeface="Arial"/>
                <a:cs typeface="Arial"/>
                <a:sym typeface="Arial"/>
              </a:rPr>
              <a:t>Utiliza el criterio de </a:t>
            </a:r>
            <a:r>
              <a:rPr lang="es-AR" sz="2400" b="1" i="0" u="none" strike="noStrike" cap="none">
                <a:solidFill>
                  <a:srgbClr val="000000"/>
                </a:solidFill>
                <a:latin typeface="Arial"/>
                <a:ea typeface="Arial"/>
                <a:cs typeface="Arial"/>
                <a:sym typeface="Arial"/>
              </a:rPr>
              <a:t>Terminación.</a:t>
            </a:r>
            <a:endParaRPr sz="2400" b="0" i="0" u="none" strike="noStrike" cap="none">
              <a:latin typeface="Arial"/>
              <a:ea typeface="Arial"/>
              <a:cs typeface="Arial"/>
              <a:sym typeface="Arial"/>
            </a:endParaRPr>
          </a:p>
          <a:p>
            <a:pPr marL="274320" marR="0" lvl="0" indent="-271800" algn="l" rtl="0">
              <a:lnSpc>
                <a:spcPct val="9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Arial"/>
                <a:ea typeface="Arial"/>
                <a:cs typeface="Arial"/>
                <a:sym typeface="Arial"/>
              </a:rPr>
              <a:t>Solamente pueden </a:t>
            </a:r>
            <a:r>
              <a:rPr lang="es-AR" sz="2400" b="1" i="0" u="none" strike="noStrike" cap="none">
                <a:solidFill>
                  <a:srgbClr val="000000"/>
                </a:solidFill>
                <a:latin typeface="Arial"/>
                <a:ea typeface="Arial"/>
                <a:cs typeface="Arial"/>
                <a:sym typeface="Arial"/>
              </a:rPr>
              <a:t>ser lanzadas </a:t>
            </a:r>
            <a:r>
              <a:rPr lang="es-AR" sz="2400" b="0" i="0" u="none" strike="noStrike" cap="none">
                <a:solidFill>
                  <a:srgbClr val="000000"/>
                </a:solidFill>
                <a:latin typeface="Arial"/>
                <a:ea typeface="Arial"/>
                <a:cs typeface="Arial"/>
                <a:sym typeface="Arial"/>
              </a:rPr>
              <a:t>por los </a:t>
            </a:r>
            <a:r>
              <a:rPr lang="es-AR" sz="2400" b="1" i="0" u="none" strike="noStrike" cap="none">
                <a:solidFill>
                  <a:srgbClr val="000000"/>
                </a:solidFill>
                <a:latin typeface="Arial"/>
                <a:ea typeface="Arial"/>
                <a:cs typeface="Arial"/>
                <a:sym typeface="Arial"/>
              </a:rPr>
              <a:t>procedimientos</a:t>
            </a:r>
            <a:r>
              <a:rPr lang="es-AR" sz="2400" b="0" i="0" u="none" strike="noStrike" cap="none">
                <a:solidFill>
                  <a:srgbClr val="000000"/>
                </a:solidFill>
                <a:latin typeface="Arial"/>
                <a:ea typeface="Arial"/>
                <a:cs typeface="Arial"/>
                <a:sym typeface="Arial"/>
              </a:rPr>
              <a:t>.</a:t>
            </a:r>
            <a:endParaRPr sz="2400" b="0" i="0" u="none" strike="noStrike" cap="none">
              <a:latin typeface="Arial"/>
              <a:ea typeface="Arial"/>
              <a:cs typeface="Arial"/>
              <a:sym typeface="Arial"/>
            </a:endParaRPr>
          </a:p>
          <a:p>
            <a:pPr marL="399960" marR="0" lvl="0" indent="0" algn="just" rtl="0">
              <a:lnSpc>
                <a:spcPct val="90000"/>
              </a:lnSpc>
              <a:spcBef>
                <a:spcPts val="601"/>
              </a:spcBef>
              <a:spcAft>
                <a:spcPts val="0"/>
              </a:spcAft>
              <a:buClr>
                <a:srgbClr val="000000"/>
              </a:buClr>
              <a:buSzPts val="2400"/>
              <a:buFont typeface="Arial"/>
              <a:buNone/>
            </a:pPr>
            <a:r>
              <a:rPr lang="es-AR" sz="2400" b="0" i="0" u="none" strike="noStrike" cap="none">
                <a:solidFill>
                  <a:srgbClr val="000000"/>
                </a:solidFill>
                <a:latin typeface="Arial"/>
                <a:ea typeface="Arial"/>
                <a:cs typeface="Arial"/>
                <a:sym typeface="Arial"/>
              </a:rPr>
              <a:t>si una instrucción genera una excepción, el procedimiento que contiene la instrucción retorna anormalmente al generar la excepción. Un procedimiento no puede manejar una excepción generada por su ejecución, quien llama al procedimiento debe encargarse de manejarla. </a:t>
            </a:r>
            <a:endParaRPr sz="2400" b="0" i="0" u="none" strike="noStrike" cap="none">
              <a:latin typeface="Arial"/>
              <a:ea typeface="Arial"/>
              <a:cs typeface="Arial"/>
              <a:sym typeface="Arial"/>
            </a:endParaRPr>
          </a:p>
          <a:p>
            <a:pPr marL="274320" marR="0" lvl="0" indent="-271800" algn="l" rtl="0">
              <a:lnSpc>
                <a:spcPct val="9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Arial"/>
                <a:ea typeface="Arial"/>
                <a:cs typeface="Arial"/>
                <a:sym typeface="Arial"/>
              </a:rPr>
              <a:t>La excepciones que un procedimiento puede lanzar se declaran en su encabezado.</a:t>
            </a:r>
            <a:endParaRPr sz="2400" b="0" i="0" u="none" strike="noStrike" cap="none">
              <a:latin typeface="Arial"/>
              <a:ea typeface="Arial"/>
              <a:cs typeface="Arial"/>
              <a:sym typeface="Arial"/>
            </a:endParaRPr>
          </a:p>
        </p:txBody>
      </p:sp>
      <p:sp>
        <p:nvSpPr>
          <p:cNvPr id="740" name="Google Shape;740;p44"/>
          <p:cNvSpPr/>
          <p:nvPr/>
        </p:nvSpPr>
        <p:spPr>
          <a:xfrm>
            <a:off x="7847640" y="58320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44</a:t>
            </a:fld>
            <a:endParaRPr sz="1800" b="0" i="0" u="none" strike="noStrike" cap="none">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p45"/>
          <p:cNvSpPr/>
          <p:nvPr/>
        </p:nvSpPr>
        <p:spPr>
          <a:xfrm>
            <a:off x="457200" y="-33192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clu</a:t>
            </a:r>
            <a:endParaRPr sz="3000" b="0" i="0" u="none" strike="noStrike" cap="none">
              <a:latin typeface="Arial"/>
              <a:ea typeface="Arial"/>
              <a:cs typeface="Arial"/>
              <a:sym typeface="Arial"/>
            </a:endParaRPr>
          </a:p>
        </p:txBody>
      </p:sp>
      <p:sp>
        <p:nvSpPr>
          <p:cNvPr id="746" name="Google Shape;746;p45"/>
          <p:cNvSpPr/>
          <p:nvPr/>
        </p:nvSpPr>
        <p:spPr>
          <a:xfrm>
            <a:off x="457200" y="1052640"/>
            <a:ext cx="8215560" cy="5519880"/>
          </a:xfrm>
          <a:prstGeom prst="rect">
            <a:avLst/>
          </a:prstGeom>
          <a:noFill/>
          <a:ln>
            <a:noFill/>
          </a:ln>
        </p:spPr>
        <p:txBody>
          <a:bodyPr spcFirstLastPara="1" wrap="square" lIns="90000" tIns="45000" rIns="90000" bIns="45000" anchor="t" anchorCtr="0">
            <a:noAutofit/>
          </a:bodyPr>
          <a:lstStyle/>
          <a:p>
            <a:pPr marL="274320" marR="0" lvl="0" indent="-271800" algn="l" rtl="0">
              <a:lnSpc>
                <a:spcPct val="90000"/>
              </a:lnSpc>
              <a:spcBef>
                <a:spcPts val="0"/>
              </a:spcBef>
              <a:spcAft>
                <a:spcPts val="0"/>
              </a:spcAft>
              <a:buClr>
                <a:srgbClr val="FE8637"/>
              </a:buClr>
              <a:buSzPts val="2200"/>
              <a:buFont typeface="Noto Sans Symbols"/>
              <a:buChar char="•"/>
            </a:pPr>
            <a:r>
              <a:rPr lang="es-AR" sz="2200" b="0" i="0" u="none" strike="noStrike" cap="none">
                <a:solidFill>
                  <a:srgbClr val="000000"/>
                </a:solidFill>
                <a:latin typeface="Arial"/>
                <a:ea typeface="Arial"/>
                <a:cs typeface="Arial"/>
                <a:sym typeface="Arial"/>
              </a:rPr>
              <a:t>Se lanzan explícitamente con la palabra clave </a:t>
            </a:r>
            <a:r>
              <a:rPr lang="es-AR" sz="2200" b="1" i="0" u="none" strike="noStrike" cap="none">
                <a:solidFill>
                  <a:srgbClr val="E87605"/>
                </a:solidFill>
                <a:latin typeface="Arial"/>
                <a:ea typeface="Arial"/>
                <a:cs typeface="Arial"/>
                <a:sym typeface="Arial"/>
              </a:rPr>
              <a:t>signal</a:t>
            </a:r>
            <a:endParaRPr sz="2200" b="0" i="0" u="none" strike="noStrike" cap="none">
              <a:latin typeface="Arial"/>
              <a:ea typeface="Arial"/>
              <a:cs typeface="Arial"/>
              <a:sym typeface="Arial"/>
            </a:endParaRPr>
          </a:p>
          <a:p>
            <a:pPr marL="274320" marR="0" lvl="0" indent="-271800" algn="l" rtl="0">
              <a:lnSpc>
                <a:spcPct val="90000"/>
              </a:lnSpc>
              <a:spcBef>
                <a:spcPts val="601"/>
              </a:spcBef>
              <a:spcAft>
                <a:spcPts val="0"/>
              </a:spcAft>
              <a:buClr>
                <a:srgbClr val="FE8637"/>
              </a:buClr>
              <a:buSzPts val="2200"/>
              <a:buFont typeface="Noto Sans Symbols"/>
              <a:buChar char="•"/>
            </a:pPr>
            <a:r>
              <a:rPr lang="es-AR" sz="2200" b="0" i="0" u="none" strike="noStrike" cap="none">
                <a:solidFill>
                  <a:srgbClr val="000000"/>
                </a:solidFill>
                <a:latin typeface="Arial"/>
                <a:ea typeface="Arial"/>
                <a:cs typeface="Arial"/>
                <a:sym typeface="Arial"/>
              </a:rPr>
              <a:t>Los </a:t>
            </a:r>
            <a:r>
              <a:rPr lang="es-AR" sz="2200" b="1" i="0" u="none" strike="noStrike" cap="none">
                <a:solidFill>
                  <a:srgbClr val="000000"/>
                </a:solidFill>
                <a:latin typeface="Arial"/>
                <a:ea typeface="Arial"/>
                <a:cs typeface="Arial"/>
                <a:sym typeface="Arial"/>
              </a:rPr>
              <a:t>manejadores</a:t>
            </a:r>
            <a:r>
              <a:rPr lang="es-AR" sz="2200" b="0" i="0" u="none" strike="noStrike" cap="none">
                <a:solidFill>
                  <a:srgbClr val="000000"/>
                </a:solidFill>
                <a:latin typeface="Arial"/>
                <a:ea typeface="Arial"/>
                <a:cs typeface="Arial"/>
                <a:sym typeface="Arial"/>
              </a:rPr>
              <a:t> se </a:t>
            </a:r>
            <a:r>
              <a:rPr lang="es-AR" sz="2200" b="1" i="0" u="none" strike="noStrike" cap="none">
                <a:solidFill>
                  <a:srgbClr val="000000"/>
                </a:solidFill>
                <a:latin typeface="Arial"/>
                <a:ea typeface="Arial"/>
                <a:cs typeface="Arial"/>
                <a:sym typeface="Arial"/>
              </a:rPr>
              <a:t>colocan</a:t>
            </a:r>
            <a:r>
              <a:rPr lang="es-AR" sz="2200" b="0" i="0" u="none" strike="noStrike" cap="none">
                <a:solidFill>
                  <a:srgbClr val="000000"/>
                </a:solidFill>
                <a:latin typeface="Arial"/>
                <a:ea typeface="Arial"/>
                <a:cs typeface="Arial"/>
                <a:sym typeface="Arial"/>
              </a:rPr>
              <a:t> al lado de una </a:t>
            </a:r>
            <a:r>
              <a:rPr lang="es-AR" sz="2200" b="1" i="0" u="none" strike="noStrike" cap="none">
                <a:solidFill>
                  <a:srgbClr val="000000"/>
                </a:solidFill>
                <a:latin typeface="Arial"/>
                <a:ea typeface="Arial"/>
                <a:cs typeface="Arial"/>
                <a:sym typeface="Arial"/>
              </a:rPr>
              <a:t>sentencia</a:t>
            </a:r>
            <a:r>
              <a:rPr lang="es-AR" sz="2200" b="0" i="0" u="none" strike="noStrike" cap="none">
                <a:solidFill>
                  <a:srgbClr val="000000"/>
                </a:solidFill>
                <a:latin typeface="Arial"/>
                <a:ea typeface="Arial"/>
                <a:cs typeface="Arial"/>
                <a:sym typeface="Arial"/>
              </a:rPr>
              <a:t> simple o compleja y llevan la palabra clave </a:t>
            </a:r>
            <a:r>
              <a:rPr lang="es-AR" sz="2200" b="1" i="0" u="none" strike="noStrike" cap="none">
                <a:solidFill>
                  <a:srgbClr val="E87605"/>
                </a:solidFill>
                <a:latin typeface="Arial"/>
                <a:ea typeface="Arial"/>
                <a:cs typeface="Arial"/>
                <a:sym typeface="Arial"/>
              </a:rPr>
              <a:t>when </a:t>
            </a:r>
            <a:r>
              <a:rPr lang="es-AR" sz="2200" b="0" i="0" u="none" strike="noStrike" cap="none">
                <a:solidFill>
                  <a:srgbClr val="000000"/>
                </a:solidFill>
                <a:latin typeface="Arial"/>
                <a:ea typeface="Arial"/>
                <a:cs typeface="Arial"/>
                <a:sym typeface="Arial"/>
              </a:rPr>
              <a:t>. Forma de definirlos:</a:t>
            </a:r>
            <a:endParaRPr sz="2200" b="0" i="0" u="none" strike="noStrike" cap="none">
              <a:latin typeface="Arial"/>
              <a:ea typeface="Arial"/>
              <a:cs typeface="Arial"/>
              <a:sym typeface="Arial"/>
            </a:endParaRPr>
          </a:p>
          <a:p>
            <a:pPr marL="2520" marR="0" lvl="0" indent="0" algn="ctr" rtl="0">
              <a:lnSpc>
                <a:spcPct val="90000"/>
              </a:lnSpc>
              <a:spcBef>
                <a:spcPts val="601"/>
              </a:spcBef>
              <a:spcAft>
                <a:spcPts val="0"/>
              </a:spcAft>
              <a:buClr>
                <a:srgbClr val="E87605"/>
              </a:buClr>
              <a:buSzPts val="2200"/>
              <a:buFont typeface="Arial"/>
              <a:buNone/>
            </a:pPr>
            <a:r>
              <a:rPr lang="es-AR" sz="2200" b="1" i="0" u="none" strike="noStrike" cap="none">
                <a:solidFill>
                  <a:srgbClr val="E87605"/>
                </a:solidFill>
                <a:latin typeface="Arial"/>
                <a:ea typeface="Arial"/>
                <a:cs typeface="Arial"/>
                <a:sym typeface="Arial"/>
              </a:rPr>
              <a:t>&lt;instrucción&gt; except &lt;lista_de_controladores&gt; end </a:t>
            </a:r>
            <a:endParaRPr sz="2200" b="0" i="0" u="none" strike="noStrike" cap="none">
              <a:latin typeface="Arial"/>
              <a:ea typeface="Arial"/>
              <a:cs typeface="Arial"/>
              <a:sym typeface="Arial"/>
            </a:endParaRPr>
          </a:p>
          <a:p>
            <a:pPr marL="2520" marR="0" lvl="0" indent="0" algn="l" rtl="0">
              <a:lnSpc>
                <a:spcPct val="90000"/>
              </a:lnSpc>
              <a:spcBef>
                <a:spcPts val="601"/>
              </a:spcBef>
              <a:spcAft>
                <a:spcPts val="0"/>
              </a:spcAft>
              <a:buClr>
                <a:srgbClr val="000000"/>
              </a:buClr>
              <a:buSzPts val="2200"/>
              <a:buFont typeface="Arial"/>
              <a:buNone/>
            </a:pPr>
            <a:r>
              <a:rPr lang="es-AR" sz="2200" b="0" i="0" u="none" strike="noStrike" cap="none">
                <a:solidFill>
                  <a:srgbClr val="000000"/>
                </a:solidFill>
                <a:latin typeface="Arial"/>
                <a:ea typeface="Arial"/>
                <a:cs typeface="Arial"/>
                <a:sym typeface="Arial"/>
              </a:rPr>
              <a:t>donde &lt;instrucción&gt; puede ser cualquier instrucción (compuesta) del lenguaje. Si la ejecución de una invocación de procedimiento dentro de &lt;instrucción&gt; genera una excepción, el control se transfiere a &lt;lista_de_controladores&gt;. </a:t>
            </a:r>
            <a:endParaRPr sz="2200" b="0" i="0" u="none" strike="noStrike" cap="none">
              <a:latin typeface="Arial"/>
              <a:ea typeface="Arial"/>
              <a:cs typeface="Arial"/>
              <a:sym typeface="Arial"/>
            </a:endParaRPr>
          </a:p>
          <a:p>
            <a:pPr marL="2520" marR="0" lvl="0" indent="0" algn="l" rtl="0">
              <a:lnSpc>
                <a:spcPct val="90000"/>
              </a:lnSpc>
              <a:spcBef>
                <a:spcPts val="601"/>
              </a:spcBef>
              <a:spcAft>
                <a:spcPts val="0"/>
              </a:spcAft>
              <a:buSzPts val="1900"/>
              <a:buFont typeface="Arial"/>
              <a:buNone/>
            </a:pPr>
            <a:endParaRPr sz="1900" b="0" i="0" u="none" strike="noStrike" cap="none">
              <a:latin typeface="Arial"/>
              <a:ea typeface="Arial"/>
              <a:cs typeface="Arial"/>
              <a:sym typeface="Arial"/>
            </a:endParaRPr>
          </a:p>
          <a:p>
            <a:pPr marL="1028880" marR="0" lvl="0" indent="0" algn="l" rtl="0">
              <a:lnSpc>
                <a:spcPct val="90000"/>
              </a:lnSpc>
              <a:spcBef>
                <a:spcPts val="601"/>
              </a:spcBef>
              <a:spcAft>
                <a:spcPts val="0"/>
              </a:spcAft>
              <a:buClr>
                <a:srgbClr val="000000"/>
              </a:buClr>
              <a:buSzPts val="2200"/>
              <a:buFont typeface="Arial"/>
              <a:buNone/>
            </a:pPr>
            <a:r>
              <a:rPr lang="es-AR" sz="2200" b="1" i="0" u="none" strike="noStrike" cap="none">
                <a:solidFill>
                  <a:srgbClr val="000000"/>
                </a:solidFill>
                <a:latin typeface="Arial"/>
                <a:ea typeface="Arial"/>
                <a:cs typeface="Arial"/>
                <a:sym typeface="Arial"/>
              </a:rPr>
              <a:t>&lt;sentencia&gt; except</a:t>
            </a:r>
            <a:endParaRPr sz="2200" b="0" i="0" u="none" strike="noStrike" cap="none">
              <a:latin typeface="Arial"/>
              <a:ea typeface="Arial"/>
              <a:cs typeface="Arial"/>
              <a:sym typeface="Arial"/>
            </a:endParaRPr>
          </a:p>
          <a:p>
            <a:pPr marL="1028880" marR="0" lvl="0" indent="0" algn="l" rtl="0">
              <a:lnSpc>
                <a:spcPct val="90000"/>
              </a:lnSpc>
              <a:spcBef>
                <a:spcPts val="0"/>
              </a:spcBef>
              <a:spcAft>
                <a:spcPts val="0"/>
              </a:spcAft>
              <a:buClr>
                <a:srgbClr val="000000"/>
              </a:buClr>
              <a:buSzPts val="2200"/>
              <a:buFont typeface="Arial"/>
              <a:buNone/>
            </a:pPr>
            <a:r>
              <a:rPr lang="es-AR" sz="2200" b="1" i="0" u="none" strike="noStrike" cap="none">
                <a:solidFill>
                  <a:srgbClr val="000000"/>
                </a:solidFill>
                <a:latin typeface="Arial"/>
                <a:ea typeface="Arial"/>
                <a:cs typeface="Arial"/>
                <a:sym typeface="Arial"/>
              </a:rPr>
              <a:t>when Nombre-Excepción: Manejador1;</a:t>
            </a:r>
            <a:endParaRPr sz="2200" b="0" i="0" u="none" strike="noStrike" cap="none">
              <a:latin typeface="Arial"/>
              <a:ea typeface="Arial"/>
              <a:cs typeface="Arial"/>
              <a:sym typeface="Arial"/>
            </a:endParaRPr>
          </a:p>
          <a:p>
            <a:pPr marL="1028880" marR="0" lvl="0" indent="0" algn="l" rtl="0">
              <a:lnSpc>
                <a:spcPct val="90000"/>
              </a:lnSpc>
              <a:spcBef>
                <a:spcPts val="0"/>
              </a:spcBef>
              <a:spcAft>
                <a:spcPts val="0"/>
              </a:spcAft>
              <a:buClr>
                <a:srgbClr val="000000"/>
              </a:buClr>
              <a:buSzPts val="2200"/>
              <a:buFont typeface="Arial"/>
              <a:buNone/>
            </a:pPr>
            <a:r>
              <a:rPr lang="es-AR" sz="2200" b="1" i="0" u="none" strike="noStrike" cap="none">
                <a:solidFill>
                  <a:srgbClr val="000000"/>
                </a:solidFill>
                <a:latin typeface="Arial"/>
                <a:ea typeface="Arial"/>
                <a:cs typeface="Arial"/>
                <a:sym typeface="Arial"/>
              </a:rPr>
              <a:t>when Nombre-Excepción : Manejador2;</a:t>
            </a:r>
            <a:endParaRPr sz="2200" b="0" i="0" u="none" strike="noStrike" cap="none">
              <a:latin typeface="Arial"/>
              <a:ea typeface="Arial"/>
              <a:cs typeface="Arial"/>
              <a:sym typeface="Arial"/>
            </a:endParaRPr>
          </a:p>
          <a:p>
            <a:pPr marL="1028880" marR="0" lvl="0" indent="0" algn="l" rtl="0">
              <a:lnSpc>
                <a:spcPct val="90000"/>
              </a:lnSpc>
              <a:spcBef>
                <a:spcPts val="0"/>
              </a:spcBef>
              <a:spcAft>
                <a:spcPts val="0"/>
              </a:spcAft>
              <a:buClr>
                <a:srgbClr val="000000"/>
              </a:buClr>
              <a:buSzPts val="2200"/>
              <a:buFont typeface="Arial"/>
              <a:buNone/>
            </a:pPr>
            <a:r>
              <a:rPr lang="es-AR" sz="2200" b="0" i="0" u="none" strike="noStrike" cap="none">
                <a:solidFill>
                  <a:srgbClr val="000000"/>
                </a:solidFill>
                <a:latin typeface="Arial"/>
                <a:ea typeface="Arial"/>
                <a:cs typeface="Arial"/>
                <a:sym typeface="Arial"/>
              </a:rPr>
              <a:t>...........</a:t>
            </a:r>
            <a:endParaRPr sz="2200" b="0" i="0" u="none" strike="noStrike" cap="none">
              <a:latin typeface="Arial"/>
              <a:ea typeface="Arial"/>
              <a:cs typeface="Arial"/>
              <a:sym typeface="Arial"/>
            </a:endParaRPr>
          </a:p>
          <a:p>
            <a:pPr marL="1028880" marR="0" lvl="0" indent="0" algn="l" rtl="0">
              <a:lnSpc>
                <a:spcPct val="90000"/>
              </a:lnSpc>
              <a:spcBef>
                <a:spcPts val="0"/>
              </a:spcBef>
              <a:spcAft>
                <a:spcPts val="0"/>
              </a:spcAft>
              <a:buClr>
                <a:srgbClr val="000000"/>
              </a:buClr>
              <a:buSzPts val="2200"/>
              <a:buFont typeface="Arial"/>
              <a:buNone/>
            </a:pPr>
            <a:r>
              <a:rPr lang="es-AR" sz="2200" b="1" i="0" u="none" strike="noStrike" cap="none">
                <a:solidFill>
                  <a:srgbClr val="000000"/>
                </a:solidFill>
                <a:latin typeface="Arial"/>
                <a:ea typeface="Arial"/>
                <a:cs typeface="Arial"/>
                <a:sym typeface="Arial"/>
              </a:rPr>
              <a:t>when others: Manejadorn;</a:t>
            </a:r>
            <a:endParaRPr sz="2200" b="0" i="0" u="none" strike="noStrike" cap="none">
              <a:latin typeface="Arial"/>
              <a:ea typeface="Arial"/>
              <a:cs typeface="Arial"/>
              <a:sym typeface="Arial"/>
            </a:endParaRPr>
          </a:p>
          <a:p>
            <a:pPr marL="1028880" marR="0" lvl="0" indent="0" algn="l" rtl="0">
              <a:lnSpc>
                <a:spcPct val="90000"/>
              </a:lnSpc>
              <a:spcBef>
                <a:spcPts val="0"/>
              </a:spcBef>
              <a:spcAft>
                <a:spcPts val="0"/>
              </a:spcAft>
              <a:buClr>
                <a:srgbClr val="000000"/>
              </a:buClr>
              <a:buSzPts val="2200"/>
              <a:buFont typeface="Arial"/>
              <a:buNone/>
            </a:pPr>
            <a:r>
              <a:rPr lang="es-AR" sz="2200" b="1" i="0" u="none" strike="noStrike" cap="none">
                <a:solidFill>
                  <a:srgbClr val="000000"/>
                </a:solidFill>
                <a:latin typeface="Arial"/>
                <a:ea typeface="Arial"/>
                <a:cs typeface="Arial"/>
                <a:sym typeface="Arial"/>
              </a:rPr>
              <a:t>end;</a:t>
            </a:r>
            <a:endParaRPr sz="2200" b="0" i="0" u="none" strike="noStrike" cap="none">
              <a:latin typeface="Arial"/>
              <a:ea typeface="Arial"/>
              <a:cs typeface="Arial"/>
              <a:sym typeface="Arial"/>
            </a:endParaRPr>
          </a:p>
        </p:txBody>
      </p:sp>
      <p:sp>
        <p:nvSpPr>
          <p:cNvPr id="747" name="Google Shape;747;p45"/>
          <p:cNvSpPr/>
          <p:nvPr/>
        </p:nvSpPr>
        <p:spPr>
          <a:xfrm>
            <a:off x="7847640" y="58320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45</a:t>
            </a:fld>
            <a:endParaRPr sz="1800" b="0" i="0" u="none" strike="noStrike" cap="none">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46"/>
          <p:cNvSpPr/>
          <p:nvPr/>
        </p:nvSpPr>
        <p:spPr>
          <a:xfrm>
            <a:off x="457200" y="-8100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clu</a:t>
            </a:r>
            <a:endParaRPr sz="3000" b="0" i="0" u="none" strike="noStrike" cap="none">
              <a:latin typeface="Arial"/>
              <a:ea typeface="Arial"/>
              <a:cs typeface="Arial"/>
              <a:sym typeface="Arial"/>
            </a:endParaRPr>
          </a:p>
        </p:txBody>
      </p:sp>
      <p:sp>
        <p:nvSpPr>
          <p:cNvPr id="753" name="Google Shape;753;p46"/>
          <p:cNvSpPr/>
          <p:nvPr/>
        </p:nvSpPr>
        <p:spPr>
          <a:xfrm>
            <a:off x="457200" y="1100160"/>
            <a:ext cx="7464600" cy="5200920"/>
          </a:xfrm>
          <a:prstGeom prst="rect">
            <a:avLst/>
          </a:prstGeom>
          <a:noFill/>
          <a:ln>
            <a:noFill/>
          </a:ln>
        </p:spPr>
        <p:txBody>
          <a:bodyPr spcFirstLastPara="1" wrap="square" lIns="90000" tIns="45000" rIns="90000" bIns="45000" anchor="t" anchorCtr="0">
            <a:noAutofit/>
          </a:bodyPr>
          <a:lstStyle/>
          <a:p>
            <a:pPr marL="272520" marR="0" lvl="0" indent="-270000" algn="l" rtl="0">
              <a:lnSpc>
                <a:spcPct val="100000"/>
              </a:lnSpc>
              <a:spcBef>
                <a:spcPts val="0"/>
              </a:spcBef>
              <a:spcAft>
                <a:spcPts val="0"/>
              </a:spcAft>
              <a:buClr>
                <a:srgbClr val="FE8637"/>
              </a:buClr>
              <a:buSzPts val="2400"/>
              <a:buFont typeface="Noto Sans Symbols"/>
              <a:buChar char="•"/>
            </a:pPr>
            <a:r>
              <a:rPr lang="es-AR" sz="2400" b="0" i="0" u="none" strike="noStrike" cap="none">
                <a:solidFill>
                  <a:srgbClr val="000000"/>
                </a:solidFill>
                <a:latin typeface="Arial"/>
                <a:ea typeface="Arial"/>
                <a:cs typeface="Arial"/>
                <a:sym typeface="Arial"/>
              </a:rPr>
              <a:t>Posee excepciones  </a:t>
            </a:r>
            <a:r>
              <a:rPr lang="es-AR" sz="2400" b="1" i="0" u="none" strike="noStrike" cap="none">
                <a:solidFill>
                  <a:srgbClr val="000000"/>
                </a:solidFill>
                <a:latin typeface="Arial"/>
                <a:ea typeface="Arial"/>
                <a:cs typeface="Arial"/>
                <a:sym typeface="Arial"/>
              </a:rPr>
              <a:t>predefinidas </a:t>
            </a:r>
            <a:r>
              <a:rPr lang="es-AR" sz="2400" b="0" i="0" u="none" strike="noStrike" cap="none">
                <a:solidFill>
                  <a:srgbClr val="000000"/>
                </a:solidFill>
                <a:latin typeface="Arial"/>
                <a:ea typeface="Arial"/>
                <a:cs typeface="Arial"/>
                <a:sym typeface="Arial"/>
              </a:rPr>
              <a:t>con su manejador asociado. Por ejemplo, </a:t>
            </a:r>
            <a:r>
              <a:rPr lang="es-AR" sz="2400" b="1" i="0" u="none" strike="noStrike" cap="none">
                <a:solidFill>
                  <a:srgbClr val="000000"/>
                </a:solidFill>
                <a:latin typeface="Arial"/>
                <a:ea typeface="Arial"/>
                <a:cs typeface="Arial"/>
                <a:sym typeface="Arial"/>
              </a:rPr>
              <a:t>failure</a:t>
            </a:r>
            <a:endParaRPr sz="2400" b="0" i="0" u="none" strike="noStrike" cap="none">
              <a:latin typeface="Arial"/>
              <a:ea typeface="Arial"/>
              <a:cs typeface="Arial"/>
              <a:sym typeface="Arial"/>
            </a:endParaRPr>
          </a:p>
          <a:p>
            <a:pPr marL="272520" marR="0" lvl="0" indent="-270000" algn="l"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Arial"/>
                <a:ea typeface="Arial"/>
                <a:cs typeface="Arial"/>
                <a:sym typeface="Arial"/>
              </a:rPr>
              <a:t>Se pueden </a:t>
            </a:r>
            <a:r>
              <a:rPr lang="es-AR" sz="2400" b="1" i="0" u="none" strike="noStrike" cap="none">
                <a:solidFill>
                  <a:srgbClr val="000000"/>
                </a:solidFill>
                <a:latin typeface="Arial"/>
                <a:ea typeface="Arial"/>
                <a:cs typeface="Arial"/>
                <a:sym typeface="Arial"/>
              </a:rPr>
              <a:t>pasar parámetros</a:t>
            </a:r>
            <a:r>
              <a:rPr lang="es-AR" sz="2400" b="0" i="0" u="none" strike="noStrike" cap="none">
                <a:solidFill>
                  <a:srgbClr val="000000"/>
                </a:solidFill>
                <a:latin typeface="Arial"/>
                <a:ea typeface="Arial"/>
                <a:cs typeface="Arial"/>
                <a:sym typeface="Arial"/>
              </a:rPr>
              <a:t> a los manejadores.</a:t>
            </a:r>
            <a:endParaRPr sz="2400" b="0" i="0" u="none" strike="noStrike" cap="none">
              <a:latin typeface="Arial"/>
              <a:ea typeface="Arial"/>
              <a:cs typeface="Arial"/>
              <a:sym typeface="Arial"/>
            </a:endParaRPr>
          </a:p>
          <a:p>
            <a:pPr marL="272520" marR="0" lvl="0" indent="-270000" algn="l"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Arial"/>
                <a:ea typeface="Arial"/>
                <a:cs typeface="Arial"/>
                <a:sym typeface="Arial"/>
              </a:rPr>
              <a:t>Una excepción se puede </a:t>
            </a:r>
            <a:r>
              <a:rPr lang="es-AR" sz="2400" b="1" i="0" u="none" strike="noStrike" cap="none">
                <a:solidFill>
                  <a:srgbClr val="000000"/>
                </a:solidFill>
                <a:latin typeface="Arial"/>
                <a:ea typeface="Arial"/>
                <a:cs typeface="Arial"/>
                <a:sym typeface="Arial"/>
              </a:rPr>
              <a:t>volver a levantar</a:t>
            </a:r>
            <a:r>
              <a:rPr lang="es-AR" sz="2400" b="0" i="0" u="none" strike="noStrike" cap="none">
                <a:solidFill>
                  <a:srgbClr val="000000"/>
                </a:solidFill>
                <a:latin typeface="Arial"/>
                <a:ea typeface="Arial"/>
                <a:cs typeface="Arial"/>
                <a:sym typeface="Arial"/>
              </a:rPr>
              <a:t>  </a:t>
            </a:r>
            <a:r>
              <a:rPr lang="es-AR" sz="2400" b="1" i="0" u="none" strike="noStrike" cap="none">
                <a:solidFill>
                  <a:srgbClr val="000000"/>
                </a:solidFill>
                <a:latin typeface="Arial"/>
                <a:ea typeface="Arial"/>
                <a:cs typeface="Arial"/>
                <a:sym typeface="Arial"/>
              </a:rPr>
              <a:t>una sola vez </a:t>
            </a:r>
            <a:r>
              <a:rPr lang="es-AR" sz="2400" b="0" i="0" u="none" strike="noStrike" cap="none">
                <a:solidFill>
                  <a:srgbClr val="000000"/>
                </a:solidFill>
                <a:latin typeface="Arial"/>
                <a:ea typeface="Arial"/>
                <a:cs typeface="Arial"/>
                <a:sym typeface="Arial"/>
              </a:rPr>
              <a:t>utilizando </a:t>
            </a:r>
            <a:r>
              <a:rPr lang="es-AR" sz="2400" b="1" i="0" u="none" strike="noStrike" cap="none">
                <a:solidFill>
                  <a:srgbClr val="E87605"/>
                </a:solidFill>
                <a:latin typeface="Arial"/>
                <a:ea typeface="Arial"/>
                <a:cs typeface="Arial"/>
                <a:sym typeface="Arial"/>
              </a:rPr>
              <a:t>resignal</a:t>
            </a:r>
            <a:endParaRPr sz="2400" b="0" i="0" u="none" strike="noStrike" cap="none">
              <a:latin typeface="Arial"/>
              <a:ea typeface="Arial"/>
              <a:cs typeface="Arial"/>
              <a:sym typeface="Arial"/>
            </a:endParaRPr>
          </a:p>
          <a:p>
            <a:pPr marL="272520" marR="0" lvl="0" indent="-270000" algn="l"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Arial"/>
                <a:ea typeface="Arial"/>
                <a:cs typeface="Arial"/>
                <a:sym typeface="Arial"/>
              </a:rPr>
              <a:t>Una excepción </a:t>
            </a:r>
            <a:r>
              <a:rPr lang="es-AR" sz="2400" b="1" i="0" u="none" strike="noStrike" cap="none">
                <a:solidFill>
                  <a:srgbClr val="000000"/>
                </a:solidFill>
                <a:latin typeface="Arial"/>
                <a:ea typeface="Arial"/>
                <a:cs typeface="Arial"/>
                <a:sym typeface="Arial"/>
              </a:rPr>
              <a:t>se puede levantar en cualquier lugar del código</a:t>
            </a:r>
            <a:endParaRPr sz="2400" b="0" i="0" u="none" strike="noStrike" cap="none">
              <a:latin typeface="Arial"/>
              <a:ea typeface="Arial"/>
              <a:cs typeface="Arial"/>
              <a:sym typeface="Arial"/>
            </a:endParaRPr>
          </a:p>
          <a:p>
            <a:pPr marL="272520" marR="0" lvl="0" indent="-163080" algn="l" rtl="0">
              <a:lnSpc>
                <a:spcPct val="100000"/>
              </a:lnSpc>
              <a:spcBef>
                <a:spcPts val="601"/>
              </a:spcBef>
              <a:spcAft>
                <a:spcPts val="0"/>
              </a:spcAft>
              <a:buSzPts val="2400"/>
              <a:buFont typeface="Arial"/>
              <a:buNone/>
            </a:pPr>
            <a:endParaRPr sz="2400" b="0" i="0" u="none" strike="noStrike" cap="none">
              <a:latin typeface="Arial"/>
              <a:ea typeface="Arial"/>
              <a:cs typeface="Arial"/>
              <a:sym typeface="Arial"/>
            </a:endParaRPr>
          </a:p>
        </p:txBody>
      </p:sp>
      <p:sp>
        <p:nvSpPr>
          <p:cNvPr id="754" name="Google Shape;754;p46"/>
          <p:cNvSpPr/>
          <p:nvPr/>
        </p:nvSpPr>
        <p:spPr>
          <a:xfrm>
            <a:off x="1820880" y="3873960"/>
            <a:ext cx="5974200" cy="3043440"/>
          </a:xfrm>
          <a:prstGeom prst="rect">
            <a:avLst/>
          </a:prstGeom>
          <a:noFill/>
          <a:ln>
            <a:noFill/>
          </a:ln>
        </p:spPr>
        <p:txBody>
          <a:bodyPr spcFirstLastPara="1" wrap="square" lIns="90000" tIns="45000" rIns="90000" bIns="45000" anchor="t" anchorCtr="0">
            <a:noAutofit/>
          </a:bodyPr>
          <a:lstStyle/>
          <a:p>
            <a:pPr marL="457200" marR="0" lvl="0" indent="0" algn="l" rtl="0">
              <a:lnSpc>
                <a:spcPct val="97000"/>
              </a:lnSpc>
              <a:spcBef>
                <a:spcPts val="0"/>
              </a:spcBef>
              <a:spcAft>
                <a:spcPts val="0"/>
              </a:spcAft>
              <a:buClr>
                <a:srgbClr val="000000"/>
              </a:buClr>
              <a:buSzPts val="2000"/>
              <a:buFont typeface="Arial"/>
              <a:buNone/>
            </a:pPr>
            <a:r>
              <a:rPr lang="es-AR" sz="2000" b="1" i="0" u="none" strike="noStrike" cap="none">
                <a:solidFill>
                  <a:srgbClr val="000000"/>
                </a:solidFill>
                <a:latin typeface="Arial"/>
                <a:ea typeface="Arial"/>
                <a:cs typeface="Arial"/>
                <a:sym typeface="Arial"/>
              </a:rPr>
              <a:t>Procedure ejemplo () signals e1, e2</a:t>
            </a:r>
            <a:endParaRPr sz="2000" b="0" i="0" u="none" strike="noStrike" cap="none">
              <a:latin typeface="Arial"/>
              <a:ea typeface="Arial"/>
              <a:cs typeface="Arial"/>
              <a:sym typeface="Arial"/>
            </a:endParaRPr>
          </a:p>
          <a:p>
            <a:pPr marL="457200" marR="0" lvl="0" indent="0" algn="l" rtl="0">
              <a:lnSpc>
                <a:spcPct val="97000"/>
              </a:lnSpc>
              <a:spcBef>
                <a:spcPts val="0"/>
              </a:spcBef>
              <a:spcAft>
                <a:spcPts val="0"/>
              </a:spcAft>
              <a:buClr>
                <a:srgbClr val="000000"/>
              </a:buClr>
              <a:buSzPts val="2000"/>
              <a:buFont typeface="Arial"/>
              <a:buNone/>
            </a:pPr>
            <a:r>
              <a:rPr lang="es-AR" sz="2000" b="1" i="0" u="none" strike="noStrike" cap="none">
                <a:solidFill>
                  <a:srgbClr val="000000"/>
                </a:solidFill>
                <a:latin typeface="Arial"/>
                <a:ea typeface="Arial"/>
                <a:cs typeface="Arial"/>
                <a:sym typeface="Arial"/>
              </a:rPr>
              <a:t>Begin </a:t>
            </a:r>
            <a:endParaRPr sz="2000" b="0" i="0" u="none" strike="noStrike" cap="none">
              <a:latin typeface="Arial"/>
              <a:ea typeface="Arial"/>
              <a:cs typeface="Arial"/>
              <a:sym typeface="Arial"/>
            </a:endParaRPr>
          </a:p>
          <a:p>
            <a:pPr marL="457200" marR="0" lvl="0" indent="0" algn="l" rtl="0">
              <a:lnSpc>
                <a:spcPct val="97000"/>
              </a:lnSpc>
              <a:spcBef>
                <a:spcPts val="0"/>
              </a:spcBef>
              <a:spcAft>
                <a:spcPts val="0"/>
              </a:spcAft>
              <a:buClr>
                <a:srgbClr val="000000"/>
              </a:buClr>
              <a:buSzPts val="2000"/>
              <a:buFont typeface="Arial"/>
              <a:buNone/>
            </a:pPr>
            <a:r>
              <a:rPr lang="es-AR" sz="2000" b="1" i="0" u="none" strike="noStrike" cap="none">
                <a:solidFill>
                  <a:srgbClr val="000000"/>
                </a:solidFill>
                <a:latin typeface="Arial"/>
                <a:ea typeface="Arial"/>
                <a:cs typeface="Arial"/>
                <a:sym typeface="Arial"/>
              </a:rPr>
              <a:t>……</a:t>
            </a:r>
            <a:endParaRPr sz="2000" b="0" i="0" u="none" strike="noStrike" cap="none">
              <a:latin typeface="Arial"/>
              <a:ea typeface="Arial"/>
              <a:cs typeface="Arial"/>
              <a:sym typeface="Arial"/>
            </a:endParaRPr>
          </a:p>
          <a:p>
            <a:pPr marL="457200" marR="0" lvl="0" indent="0" algn="l" rtl="0">
              <a:lnSpc>
                <a:spcPct val="97000"/>
              </a:lnSpc>
              <a:spcBef>
                <a:spcPts val="0"/>
              </a:spcBef>
              <a:spcAft>
                <a:spcPts val="0"/>
              </a:spcAft>
              <a:buClr>
                <a:srgbClr val="000000"/>
              </a:buClr>
              <a:buSzPts val="2000"/>
              <a:buFont typeface="Arial"/>
              <a:buNone/>
            </a:pPr>
            <a:r>
              <a:rPr lang="es-AR" sz="2000" b="1" i="0" u="none" strike="noStrike" cap="none">
                <a:solidFill>
                  <a:srgbClr val="000000"/>
                </a:solidFill>
                <a:latin typeface="Arial"/>
                <a:ea typeface="Arial"/>
                <a:cs typeface="Arial"/>
                <a:sym typeface="Arial"/>
              </a:rPr>
              <a:t>if ( .. ) then A(); except</a:t>
            </a:r>
            <a:endParaRPr sz="2000" b="0" i="0" u="none" strike="noStrike" cap="none">
              <a:latin typeface="Arial"/>
              <a:ea typeface="Arial"/>
              <a:cs typeface="Arial"/>
              <a:sym typeface="Arial"/>
            </a:endParaRPr>
          </a:p>
          <a:p>
            <a:pPr marL="457200" marR="0" lvl="0" indent="0" algn="l" rtl="0">
              <a:lnSpc>
                <a:spcPct val="97000"/>
              </a:lnSpc>
              <a:spcBef>
                <a:spcPts val="0"/>
              </a:spcBef>
              <a:spcAft>
                <a:spcPts val="0"/>
              </a:spcAft>
              <a:buClr>
                <a:srgbClr val="000000"/>
              </a:buClr>
              <a:buSzPts val="2000"/>
              <a:buFont typeface="Arial"/>
              <a:buNone/>
            </a:pPr>
            <a:r>
              <a:rPr lang="es-AR" sz="2000" b="1" i="0" u="none" strike="noStrike" cap="none">
                <a:solidFill>
                  <a:srgbClr val="000000"/>
                </a:solidFill>
                <a:latin typeface="Arial"/>
                <a:ea typeface="Arial"/>
                <a:cs typeface="Arial"/>
                <a:sym typeface="Arial"/>
              </a:rPr>
              <a:t>                        when e1: Manejador1;</a:t>
            </a:r>
            <a:endParaRPr sz="2000" b="0" i="0" u="none" strike="noStrike" cap="none">
              <a:latin typeface="Arial"/>
              <a:ea typeface="Arial"/>
              <a:cs typeface="Arial"/>
              <a:sym typeface="Arial"/>
            </a:endParaRPr>
          </a:p>
          <a:p>
            <a:pPr marL="457200" marR="0" lvl="0" indent="0" algn="l" rtl="0">
              <a:lnSpc>
                <a:spcPct val="97000"/>
              </a:lnSpc>
              <a:spcBef>
                <a:spcPts val="0"/>
              </a:spcBef>
              <a:spcAft>
                <a:spcPts val="0"/>
              </a:spcAft>
              <a:buClr>
                <a:srgbClr val="000000"/>
              </a:buClr>
              <a:buSzPts val="2000"/>
              <a:buFont typeface="Arial"/>
              <a:buNone/>
            </a:pPr>
            <a:r>
              <a:rPr lang="es-AR" sz="2000" b="1" i="0" u="none" strike="noStrike" cap="none">
                <a:solidFill>
                  <a:srgbClr val="000000"/>
                </a:solidFill>
                <a:latin typeface="Arial"/>
                <a:ea typeface="Arial"/>
                <a:cs typeface="Arial"/>
                <a:sym typeface="Arial"/>
              </a:rPr>
              <a:t>                        when e2 : Manejador2;</a:t>
            </a:r>
            <a:endParaRPr sz="2000" b="0" i="0" u="none" strike="noStrike" cap="none">
              <a:latin typeface="Arial"/>
              <a:ea typeface="Arial"/>
              <a:cs typeface="Arial"/>
              <a:sym typeface="Arial"/>
            </a:endParaRPr>
          </a:p>
          <a:p>
            <a:pPr marL="457200" marR="0" lvl="0" indent="0" algn="l" rtl="0">
              <a:lnSpc>
                <a:spcPct val="97000"/>
              </a:lnSpc>
              <a:spcBef>
                <a:spcPts val="0"/>
              </a:spcBef>
              <a:spcAft>
                <a:spcPts val="0"/>
              </a:spcAft>
              <a:buClr>
                <a:srgbClr val="000000"/>
              </a:buClr>
              <a:buSzPts val="2000"/>
              <a:buFont typeface="Arial"/>
              <a:buNone/>
            </a:pPr>
            <a:r>
              <a:rPr lang="es-AR" sz="2000" b="1" i="0" u="none" strike="noStrike" cap="none">
                <a:solidFill>
                  <a:srgbClr val="000000"/>
                </a:solidFill>
                <a:latin typeface="Arial"/>
                <a:ea typeface="Arial"/>
                <a:cs typeface="Arial"/>
                <a:sym typeface="Arial"/>
              </a:rPr>
              <a:t>                        when others : Manejador3;</a:t>
            </a:r>
            <a:endParaRPr sz="2000" b="0" i="0" u="none" strike="noStrike" cap="none">
              <a:latin typeface="Arial"/>
              <a:ea typeface="Arial"/>
              <a:cs typeface="Arial"/>
              <a:sym typeface="Arial"/>
            </a:endParaRPr>
          </a:p>
          <a:p>
            <a:pPr marL="457200" marR="0" lvl="0" indent="0" algn="l" rtl="0">
              <a:lnSpc>
                <a:spcPct val="97000"/>
              </a:lnSpc>
              <a:spcBef>
                <a:spcPts val="0"/>
              </a:spcBef>
              <a:spcAft>
                <a:spcPts val="0"/>
              </a:spcAft>
              <a:buClr>
                <a:srgbClr val="000000"/>
              </a:buClr>
              <a:buSzPts val="2000"/>
              <a:buFont typeface="Arial"/>
              <a:buNone/>
            </a:pPr>
            <a:r>
              <a:rPr lang="es-AR" sz="2000" b="1" i="0" u="none" strike="noStrike" cap="none">
                <a:solidFill>
                  <a:srgbClr val="000000"/>
                </a:solidFill>
                <a:latin typeface="Arial"/>
                <a:ea typeface="Arial"/>
                <a:cs typeface="Arial"/>
                <a:sym typeface="Arial"/>
              </a:rPr>
              <a:t>             end;</a:t>
            </a:r>
            <a:endParaRPr sz="2000" b="0" i="0" u="none" strike="noStrike" cap="none">
              <a:latin typeface="Arial"/>
              <a:ea typeface="Arial"/>
              <a:cs typeface="Arial"/>
              <a:sym typeface="Arial"/>
            </a:endParaRPr>
          </a:p>
          <a:p>
            <a:pPr marL="457200" marR="0" lvl="0" indent="0" algn="l" rtl="0">
              <a:lnSpc>
                <a:spcPct val="97000"/>
              </a:lnSpc>
              <a:spcBef>
                <a:spcPts val="0"/>
              </a:spcBef>
              <a:spcAft>
                <a:spcPts val="0"/>
              </a:spcAft>
              <a:buClr>
                <a:srgbClr val="000000"/>
              </a:buClr>
              <a:buSzPts val="2000"/>
              <a:buFont typeface="Arial"/>
              <a:buNone/>
            </a:pPr>
            <a:r>
              <a:rPr lang="es-AR" sz="2000" b="1" i="0" u="none" strike="noStrike" cap="none">
                <a:solidFill>
                  <a:srgbClr val="000000"/>
                </a:solidFill>
                <a:latin typeface="Arial"/>
                <a:ea typeface="Arial"/>
                <a:cs typeface="Arial"/>
                <a:sym typeface="Arial"/>
              </a:rPr>
              <a:t>….</a:t>
            </a:r>
            <a:endParaRPr sz="2000" b="0" i="0" u="none" strike="noStrike" cap="none">
              <a:latin typeface="Arial"/>
              <a:ea typeface="Arial"/>
              <a:cs typeface="Arial"/>
              <a:sym typeface="Arial"/>
            </a:endParaRPr>
          </a:p>
          <a:p>
            <a:pPr marL="457200" marR="0" lvl="0" indent="0" algn="l" rtl="0">
              <a:lnSpc>
                <a:spcPct val="97000"/>
              </a:lnSpc>
              <a:spcBef>
                <a:spcPts val="0"/>
              </a:spcBef>
              <a:spcAft>
                <a:spcPts val="0"/>
              </a:spcAft>
              <a:buClr>
                <a:srgbClr val="000000"/>
              </a:buClr>
              <a:buSzPts val="2000"/>
              <a:buFont typeface="Arial"/>
              <a:buNone/>
            </a:pPr>
            <a:r>
              <a:rPr lang="es-AR" sz="2000" b="1" i="0" u="none" strike="noStrike" cap="none">
                <a:solidFill>
                  <a:srgbClr val="000000"/>
                </a:solidFill>
                <a:latin typeface="Arial"/>
                <a:ea typeface="Arial"/>
                <a:cs typeface="Arial"/>
                <a:sym typeface="Arial"/>
              </a:rPr>
              <a:t>End;</a:t>
            </a:r>
            <a:endParaRPr sz="2000" b="0" i="0" u="none" strike="noStrike" cap="none">
              <a:latin typeface="Arial"/>
              <a:ea typeface="Arial"/>
              <a:cs typeface="Arial"/>
              <a:sym typeface="Arial"/>
            </a:endParaRPr>
          </a:p>
          <a:p>
            <a:pPr marL="457200" marR="0" lvl="0" indent="0" algn="l" rtl="0">
              <a:lnSpc>
                <a:spcPct val="97000"/>
              </a:lnSpc>
              <a:spcBef>
                <a:spcPts val="0"/>
              </a:spcBef>
              <a:spcAft>
                <a:spcPts val="0"/>
              </a:spcAft>
              <a:buSzPts val="1800"/>
              <a:buFont typeface="Arial"/>
              <a:buNone/>
            </a:pPr>
            <a:endParaRPr sz="1800" b="0" i="0" u="none" strike="noStrike" cap="none">
              <a:latin typeface="Arial"/>
              <a:ea typeface="Arial"/>
              <a:cs typeface="Arial"/>
              <a:sym typeface="Arial"/>
            </a:endParaRPr>
          </a:p>
        </p:txBody>
      </p:sp>
      <p:sp>
        <p:nvSpPr>
          <p:cNvPr id="755" name="Google Shape;755;p46"/>
          <p:cNvSpPr/>
          <p:nvPr/>
        </p:nvSpPr>
        <p:spPr>
          <a:xfrm>
            <a:off x="7919640" y="58374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46</a:t>
            </a:fld>
            <a:endParaRPr sz="1800" b="0" i="0" u="none" strike="noStrike" cap="none">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47"/>
          <p:cNvSpPr/>
          <p:nvPr/>
        </p:nvSpPr>
        <p:spPr>
          <a:xfrm>
            <a:off x="457200" y="324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clu</a:t>
            </a:r>
            <a:endParaRPr sz="3000" b="0" i="0" u="none" strike="noStrike" cap="none">
              <a:latin typeface="Arial"/>
              <a:ea typeface="Arial"/>
              <a:cs typeface="Arial"/>
              <a:sym typeface="Arial"/>
            </a:endParaRPr>
          </a:p>
        </p:txBody>
      </p:sp>
      <p:sp>
        <p:nvSpPr>
          <p:cNvPr id="762" name="Google Shape;762;p47"/>
          <p:cNvSpPr/>
          <p:nvPr/>
        </p:nvSpPr>
        <p:spPr>
          <a:xfrm>
            <a:off x="457200" y="1239480"/>
            <a:ext cx="7464600" cy="5202360"/>
          </a:xfrm>
          <a:prstGeom prst="rect">
            <a:avLst/>
          </a:prstGeom>
          <a:noFill/>
          <a:ln>
            <a:noFill/>
          </a:ln>
        </p:spPr>
        <p:txBody>
          <a:bodyPr spcFirstLastPara="1" wrap="square" lIns="90000" tIns="45000" rIns="90000" bIns="45000" anchor="t" anchorCtr="0">
            <a:noAutofit/>
          </a:bodyPr>
          <a:lstStyle/>
          <a:p>
            <a:pPr marL="274320" marR="0" lvl="0" indent="-271800" algn="just" rtl="0">
              <a:lnSpc>
                <a:spcPct val="90000"/>
              </a:lnSpc>
              <a:spcBef>
                <a:spcPts val="0"/>
              </a:spcBef>
              <a:spcAft>
                <a:spcPts val="0"/>
              </a:spcAft>
              <a:buClr>
                <a:srgbClr val="000000"/>
              </a:buClr>
              <a:buSzPts val="2200"/>
              <a:buFont typeface="Arial"/>
              <a:buNone/>
            </a:pPr>
            <a:r>
              <a:rPr lang="es-AR" sz="2200" b="1" i="0" u="none" strike="noStrike" cap="none">
                <a:solidFill>
                  <a:srgbClr val="000000"/>
                </a:solidFill>
                <a:latin typeface="Arial"/>
                <a:ea typeface="Arial"/>
                <a:cs typeface="Arial"/>
                <a:sym typeface="Arial"/>
              </a:rPr>
              <a:t>Si no encuentra el manejador es por Propagación</a:t>
            </a:r>
            <a:r>
              <a:rPr lang="es-AR" sz="2200" b="0" i="0" u="none" strike="noStrike" cap="none">
                <a:solidFill>
                  <a:srgbClr val="000000"/>
                </a:solidFill>
                <a:latin typeface="Arial"/>
                <a:ea typeface="Arial"/>
                <a:cs typeface="Arial"/>
                <a:sym typeface="Arial"/>
              </a:rPr>
              <a:t> al producirse una excepción:</a:t>
            </a:r>
            <a:endParaRPr sz="2200" b="0" i="0" u="none" strike="noStrike" cap="none">
              <a:latin typeface="Arial"/>
              <a:ea typeface="Arial"/>
              <a:cs typeface="Arial"/>
              <a:sym typeface="Arial"/>
            </a:endParaRPr>
          </a:p>
          <a:p>
            <a:pPr marL="274320" marR="0" lvl="0" indent="-271800" algn="just" rtl="0">
              <a:lnSpc>
                <a:spcPct val="90000"/>
              </a:lnSpc>
              <a:spcBef>
                <a:spcPts val="601"/>
              </a:spcBef>
              <a:spcAft>
                <a:spcPts val="0"/>
              </a:spcAft>
              <a:buClr>
                <a:srgbClr val="FE8637"/>
              </a:buClr>
              <a:buSzPts val="2200"/>
              <a:buFont typeface="Noto Sans Symbols"/>
              <a:buChar char="•"/>
            </a:pPr>
            <a:r>
              <a:rPr lang="es-AR" sz="2200" b="0" i="0" u="none" strike="noStrike" cap="none">
                <a:solidFill>
                  <a:srgbClr val="000000"/>
                </a:solidFill>
                <a:latin typeface="Arial"/>
                <a:ea typeface="Arial"/>
                <a:cs typeface="Arial"/>
                <a:sym typeface="Arial"/>
              </a:rPr>
              <a:t>Se termina el procedimiento donde se levantó la excepción y devuelve el control al llamante inmediato donde </a:t>
            </a:r>
            <a:r>
              <a:rPr lang="es-AR" sz="2200" b="1" i="0" u="none" strike="noStrike" cap="none">
                <a:solidFill>
                  <a:srgbClr val="000000"/>
                </a:solidFill>
                <a:latin typeface="Arial"/>
                <a:ea typeface="Arial"/>
                <a:cs typeface="Arial"/>
                <a:sym typeface="Arial"/>
              </a:rPr>
              <a:t>se debe encontrar el </a:t>
            </a:r>
            <a:r>
              <a:rPr lang="es-AR" sz="2200" b="0" i="0" u="none" strike="noStrike" cap="none">
                <a:solidFill>
                  <a:srgbClr val="000000"/>
                </a:solidFill>
                <a:latin typeface="Arial"/>
                <a:ea typeface="Arial"/>
                <a:cs typeface="Arial"/>
                <a:sym typeface="Arial"/>
              </a:rPr>
              <a:t>manejador.</a:t>
            </a:r>
            <a:endParaRPr sz="2200" b="0" i="0" u="none" strike="noStrike" cap="none">
              <a:latin typeface="Arial"/>
              <a:ea typeface="Arial"/>
              <a:cs typeface="Arial"/>
              <a:sym typeface="Arial"/>
            </a:endParaRPr>
          </a:p>
          <a:p>
            <a:pPr marL="274320" marR="0" lvl="0" indent="-271800" algn="just" rtl="0">
              <a:lnSpc>
                <a:spcPct val="90000"/>
              </a:lnSpc>
              <a:spcBef>
                <a:spcPts val="601"/>
              </a:spcBef>
              <a:spcAft>
                <a:spcPts val="0"/>
              </a:spcAft>
              <a:buClr>
                <a:srgbClr val="FE8637"/>
              </a:buClr>
              <a:buSzPts val="2200"/>
              <a:buFont typeface="Noto Sans Symbols"/>
              <a:buChar char="•"/>
            </a:pPr>
            <a:r>
              <a:rPr lang="es-AR" sz="2200" b="0" i="0" u="none" strike="noStrike" cap="none">
                <a:solidFill>
                  <a:srgbClr val="000000"/>
                </a:solidFill>
                <a:latin typeface="Arial"/>
                <a:ea typeface="Arial"/>
                <a:cs typeface="Arial"/>
                <a:sym typeface="Arial"/>
              </a:rPr>
              <a:t>Si el manejador </a:t>
            </a:r>
            <a:r>
              <a:rPr lang="es-AR" sz="2200" b="1" i="0" u="none" strike="noStrike" cap="none">
                <a:solidFill>
                  <a:srgbClr val="000000"/>
                </a:solidFill>
                <a:latin typeface="Arial"/>
                <a:ea typeface="Arial"/>
                <a:cs typeface="Arial"/>
                <a:sym typeface="Arial"/>
              </a:rPr>
              <a:t>se encuentra en ese ámbito, se ejecuta y luego se </a:t>
            </a:r>
            <a:r>
              <a:rPr lang="es-AR" sz="2200" b="0" i="0" u="none" strike="noStrike" cap="none">
                <a:solidFill>
                  <a:srgbClr val="000000"/>
                </a:solidFill>
                <a:latin typeface="Arial"/>
                <a:ea typeface="Arial"/>
                <a:cs typeface="Arial"/>
                <a:sym typeface="Arial"/>
              </a:rPr>
              <a:t>pasa el control a la sentencia siguiente a la que está ligado dicho manejador.</a:t>
            </a:r>
            <a:endParaRPr sz="2200" b="0" i="0" u="none" strike="noStrike" cap="none">
              <a:latin typeface="Arial"/>
              <a:ea typeface="Arial"/>
              <a:cs typeface="Arial"/>
              <a:sym typeface="Arial"/>
            </a:endParaRPr>
          </a:p>
          <a:p>
            <a:pPr marL="274320" marR="0" lvl="0" indent="-271800" algn="just" rtl="0">
              <a:lnSpc>
                <a:spcPct val="90000"/>
              </a:lnSpc>
              <a:spcBef>
                <a:spcPts val="601"/>
              </a:spcBef>
              <a:spcAft>
                <a:spcPts val="0"/>
              </a:spcAft>
              <a:buClr>
                <a:srgbClr val="FE8637"/>
              </a:buClr>
              <a:buSzPts val="2200"/>
              <a:buFont typeface="Noto Sans Symbols"/>
              <a:buChar char="•"/>
            </a:pPr>
            <a:r>
              <a:rPr lang="es-AR" sz="2200" b="0" i="0" u="none" strike="noStrike" cap="none">
                <a:solidFill>
                  <a:srgbClr val="000000"/>
                </a:solidFill>
                <a:latin typeface="Arial"/>
                <a:ea typeface="Arial"/>
                <a:cs typeface="Arial"/>
                <a:sym typeface="Arial"/>
              </a:rPr>
              <a:t>Si el manejador </a:t>
            </a:r>
            <a:r>
              <a:rPr lang="es-AR" sz="2200" b="1" i="0" u="none" strike="noStrike" cap="none">
                <a:solidFill>
                  <a:srgbClr val="000000"/>
                </a:solidFill>
                <a:latin typeface="Arial"/>
                <a:ea typeface="Arial"/>
                <a:cs typeface="Arial"/>
                <a:sym typeface="Arial"/>
              </a:rPr>
              <a:t>no se encuentra en ese lugar la excepción se propaga estáticamente </a:t>
            </a:r>
            <a:r>
              <a:rPr lang="es-AR" sz="2200" b="0" i="0" u="none" strike="noStrike" cap="none">
                <a:solidFill>
                  <a:srgbClr val="000000"/>
                </a:solidFill>
                <a:latin typeface="Arial"/>
                <a:ea typeface="Arial"/>
                <a:cs typeface="Arial"/>
                <a:sym typeface="Arial"/>
              </a:rPr>
              <a:t>en las sentencias asociadas</a:t>
            </a:r>
            <a:r>
              <a:rPr lang="es-AR" sz="2200" b="1" i="0" u="none" strike="noStrike" cap="none">
                <a:solidFill>
                  <a:srgbClr val="000000"/>
                </a:solidFill>
                <a:latin typeface="Arial"/>
                <a:ea typeface="Arial"/>
                <a:cs typeface="Arial"/>
                <a:sym typeface="Arial"/>
              </a:rPr>
              <a:t>. </a:t>
            </a:r>
            <a:r>
              <a:rPr lang="es-AR" sz="2200" b="0" i="0" u="none" strike="noStrike" cap="none">
                <a:solidFill>
                  <a:srgbClr val="000000"/>
                </a:solidFill>
                <a:latin typeface="Arial"/>
                <a:ea typeface="Arial"/>
                <a:cs typeface="Arial"/>
                <a:sym typeface="Arial"/>
              </a:rPr>
              <a:t>Esto significa que el proceso se repite para las sentencias incluidas estáticamente.</a:t>
            </a:r>
            <a:endParaRPr sz="2200" b="0" i="0" u="none" strike="noStrike" cap="none">
              <a:latin typeface="Arial"/>
              <a:ea typeface="Arial"/>
              <a:cs typeface="Arial"/>
              <a:sym typeface="Arial"/>
            </a:endParaRPr>
          </a:p>
          <a:p>
            <a:pPr marL="274320" marR="0" lvl="0" indent="-271800" algn="just" rtl="0">
              <a:lnSpc>
                <a:spcPct val="90000"/>
              </a:lnSpc>
              <a:spcBef>
                <a:spcPts val="601"/>
              </a:spcBef>
              <a:spcAft>
                <a:spcPts val="0"/>
              </a:spcAft>
              <a:buClr>
                <a:srgbClr val="FE8637"/>
              </a:buClr>
              <a:buSzPts val="2200"/>
              <a:buFont typeface="Noto Sans Symbols"/>
              <a:buChar char="•"/>
            </a:pPr>
            <a:r>
              <a:rPr lang="es-AR" sz="2200" b="0" i="0" u="none" strike="noStrike" cap="none">
                <a:solidFill>
                  <a:srgbClr val="000000"/>
                </a:solidFill>
                <a:latin typeface="Arial"/>
                <a:ea typeface="Arial"/>
                <a:cs typeface="Arial"/>
                <a:sym typeface="Arial"/>
              </a:rPr>
              <a:t>En caso de no encontrar ningún manejador en el procedimiento que hizo la llamada se levanta una excepción </a:t>
            </a:r>
            <a:r>
              <a:rPr lang="es-AR" sz="2200" b="1" i="0" u="none" strike="noStrike" cap="none">
                <a:solidFill>
                  <a:srgbClr val="000000"/>
                </a:solidFill>
                <a:latin typeface="Arial"/>
                <a:ea typeface="Arial"/>
                <a:cs typeface="Arial"/>
                <a:sym typeface="Arial"/>
              </a:rPr>
              <a:t>failure </a:t>
            </a:r>
            <a:r>
              <a:rPr lang="es-AR" sz="2200" b="0" i="0" u="none" strike="noStrike" cap="none">
                <a:solidFill>
                  <a:srgbClr val="000000"/>
                </a:solidFill>
                <a:latin typeface="Arial"/>
                <a:ea typeface="Arial"/>
                <a:cs typeface="Arial"/>
                <a:sym typeface="Arial"/>
              </a:rPr>
              <a:t>y devuelve el control, terminando todo el programa</a:t>
            </a:r>
            <a:endParaRPr sz="2200" b="0" i="0" u="none" strike="noStrike" cap="none">
              <a:latin typeface="Arial"/>
              <a:ea typeface="Arial"/>
              <a:cs typeface="Arial"/>
              <a:sym typeface="Arial"/>
            </a:endParaRPr>
          </a:p>
        </p:txBody>
      </p:sp>
      <p:sp>
        <p:nvSpPr>
          <p:cNvPr id="763" name="Google Shape;763;p47"/>
          <p:cNvSpPr/>
          <p:nvPr/>
        </p:nvSpPr>
        <p:spPr>
          <a:xfrm>
            <a:off x="7847640" y="58320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47</a:t>
            </a:fld>
            <a:endParaRPr sz="1800" b="0" i="0" u="none" strike="noStrike" cap="none">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p48"/>
          <p:cNvSpPr/>
          <p:nvPr/>
        </p:nvSpPr>
        <p:spPr>
          <a:xfrm>
            <a:off x="457200" y="-30240"/>
            <a:ext cx="7464600" cy="64800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clu</a:t>
            </a:r>
            <a:endParaRPr sz="3000" b="0" i="0" u="none" strike="noStrike" cap="none">
              <a:latin typeface="Arial"/>
              <a:ea typeface="Arial"/>
              <a:cs typeface="Arial"/>
              <a:sym typeface="Arial"/>
            </a:endParaRPr>
          </a:p>
        </p:txBody>
      </p:sp>
      <p:sp>
        <p:nvSpPr>
          <p:cNvPr id="769" name="Google Shape;769;p48"/>
          <p:cNvSpPr/>
          <p:nvPr/>
        </p:nvSpPr>
        <p:spPr>
          <a:xfrm>
            <a:off x="32760" y="907920"/>
            <a:ext cx="4316760" cy="554256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0000" tIns="45000" rIns="90000" bIns="45000" anchor="t" anchorCtr="0">
            <a:noAutofit/>
          </a:bodyPr>
          <a:lstStyle/>
          <a:p>
            <a:pPr marL="274320" marR="0" lvl="0" indent="-271800" algn="just" rtl="0">
              <a:lnSpc>
                <a:spcPct val="100000"/>
              </a:lnSpc>
              <a:spcBef>
                <a:spcPts val="0"/>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Procedure Main</a:t>
            </a:r>
            <a:endParaRPr sz="16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  …..</a:t>
            </a:r>
            <a:endParaRPr sz="16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Procedure UNO() signals error1; </a:t>
            </a:r>
            <a:endParaRPr sz="16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         x:integer</a:t>
            </a:r>
            <a:endParaRPr sz="16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         Begin</a:t>
            </a:r>
            <a:endParaRPr sz="16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         x:=2; ......</a:t>
            </a:r>
            <a:endParaRPr sz="16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         While y &lt; x Do</a:t>
            </a:r>
            <a:endParaRPr sz="16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            If y=0 Then  signal error1; </a:t>
            </a:r>
            <a:endParaRPr sz="16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            end if; </a:t>
            </a:r>
            <a:endParaRPr sz="16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            exception when error1: &lt;sent&gt;-; </a:t>
            </a:r>
            <a:endParaRPr sz="16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                               resignal; </a:t>
            </a:r>
            <a:endParaRPr sz="16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             end;  // manejador4</a:t>
            </a:r>
            <a:endParaRPr sz="16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             Dos();</a:t>
            </a:r>
            <a:endParaRPr sz="16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         Wend; exception </a:t>
            </a:r>
            <a:endParaRPr sz="16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                      when error1: &lt;sent&gt; .End;</a:t>
            </a:r>
            <a:endParaRPr sz="16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      End; //UNO</a:t>
            </a:r>
            <a:endParaRPr sz="16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280099"/>
              </a:buClr>
              <a:buSzPts val="1600"/>
              <a:buFont typeface="Century Schoolbook"/>
              <a:buNone/>
            </a:pPr>
            <a:r>
              <a:rPr lang="es-AR" sz="1600" b="1" i="0" u="none" strike="noStrike" cap="none">
                <a:solidFill>
                  <a:srgbClr val="280099"/>
                </a:solidFill>
                <a:latin typeface="Century Schoolbook"/>
                <a:ea typeface="Century Schoolbook"/>
                <a:cs typeface="Century Schoolbook"/>
                <a:sym typeface="Century Schoolbook"/>
              </a:rPr>
              <a:t>      </a:t>
            </a:r>
            <a:endParaRPr sz="1600" b="0" i="0" u="none" strike="noStrike" cap="none">
              <a:latin typeface="Arial"/>
              <a:ea typeface="Arial"/>
              <a:cs typeface="Arial"/>
              <a:sym typeface="Arial"/>
            </a:endParaRPr>
          </a:p>
        </p:txBody>
      </p:sp>
      <p:sp>
        <p:nvSpPr>
          <p:cNvPr id="770" name="Google Shape;770;p48"/>
          <p:cNvSpPr/>
          <p:nvPr/>
        </p:nvSpPr>
        <p:spPr>
          <a:xfrm>
            <a:off x="3276000" y="2061000"/>
            <a:ext cx="1077120" cy="643320"/>
          </a:xfrm>
          <a:custGeom>
            <a:avLst/>
            <a:gdLst/>
            <a:ahLst/>
            <a:cxnLst/>
            <a:rect l="l" t="t" r="r" b="b"/>
            <a:pathLst>
              <a:path w="120000" h="120000" extrusionOk="0">
                <a:moveTo>
                  <a:pt x="0" y="0"/>
                </a:moveTo>
                <a:lnTo>
                  <a:pt x="120000" y="0"/>
                </a:lnTo>
                <a:lnTo>
                  <a:pt x="120000" y="120000"/>
                </a:lnTo>
                <a:lnTo>
                  <a:pt x="0" y="120000"/>
                </a:lnTo>
                <a:close/>
                <a:moveTo>
                  <a:pt x="-5162" y="84480"/>
                </a:moveTo>
                <a:lnTo>
                  <a:pt x="-57287" y="207760"/>
                </a:lnTo>
              </a:path>
            </a:pathLst>
          </a:custGeom>
          <a:solidFill>
            <a:srgbClr val="FFFFFF"/>
          </a:solidFill>
          <a:ln w="25550" cap="flat" cmpd="sng">
            <a:solidFill>
              <a:srgbClr val="4F81BD"/>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UNO termina</a:t>
            </a:r>
            <a:endParaRPr sz="1800" b="0" i="0" u="none" strike="noStrike" cap="none">
              <a:latin typeface="Arial"/>
              <a:ea typeface="Arial"/>
              <a:cs typeface="Arial"/>
              <a:sym typeface="Arial"/>
            </a:endParaRPr>
          </a:p>
        </p:txBody>
      </p:sp>
      <p:sp>
        <p:nvSpPr>
          <p:cNvPr id="771" name="Google Shape;771;p48"/>
          <p:cNvSpPr/>
          <p:nvPr/>
        </p:nvSpPr>
        <p:spPr>
          <a:xfrm>
            <a:off x="4412160" y="-86400"/>
            <a:ext cx="4273560" cy="6864120"/>
          </a:xfrm>
          <a:prstGeom prst="rect">
            <a:avLst/>
          </a:prstGeom>
          <a:solidFill>
            <a:srgbClr val="FFFFFF"/>
          </a:solidFill>
          <a:ln w="25400" cap="flat" cmpd="sng">
            <a:solidFill>
              <a:srgbClr val="4F81BD"/>
            </a:solidFill>
            <a:prstDash val="solid"/>
            <a:miter lim="8000"/>
            <a:headEnd type="none" w="sm" len="sm"/>
            <a:tailEnd type="none" w="sm" len="sm"/>
          </a:ln>
        </p:spPr>
        <p:txBody>
          <a:bodyPr spcFirstLastPara="1" wrap="square" lIns="90000" tIns="45000" rIns="90000" bIns="45000" anchor="t" anchorCtr="0">
            <a:noAutofit/>
          </a:bodyPr>
          <a:lstStyle/>
          <a:p>
            <a:pPr marL="274320" marR="0" lvl="0" indent="-271800" algn="just" rtl="0">
              <a:lnSpc>
                <a:spcPct val="100000"/>
              </a:lnSpc>
              <a:spcBef>
                <a:spcPts val="0"/>
              </a:spcBef>
              <a:spcAft>
                <a:spcPts val="0"/>
              </a:spcAft>
              <a:buClr>
                <a:srgbClr val="000000"/>
              </a:buClr>
              <a:buSzPts val="2400"/>
              <a:buFont typeface="Century Schoolbook"/>
              <a:buNone/>
            </a:pPr>
            <a:r>
              <a:rPr lang="es-AR" sz="2400" b="0" i="0" u="none" strike="noStrike" cap="none" baseline="-25000">
                <a:solidFill>
                  <a:srgbClr val="000000"/>
                </a:solidFill>
                <a:latin typeface="Century Schoolbook"/>
                <a:ea typeface="Century Schoolbook"/>
                <a:cs typeface="Century Schoolbook"/>
                <a:sym typeface="Century Schoolbook"/>
              </a:rPr>
              <a:t>Procedure Dos() signals error1;</a:t>
            </a:r>
            <a:endParaRPr sz="24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2400"/>
              <a:buFont typeface="Century Schoolbook"/>
              <a:buNone/>
            </a:pPr>
            <a:r>
              <a:rPr lang="es-AR" sz="2400" b="0" i="0" u="none" strike="noStrike" cap="none" baseline="-25000">
                <a:solidFill>
                  <a:srgbClr val="000000"/>
                </a:solidFill>
                <a:latin typeface="Century Schoolbook"/>
                <a:ea typeface="Century Schoolbook"/>
                <a:cs typeface="Century Schoolbook"/>
                <a:sym typeface="Century Schoolbook"/>
              </a:rPr>
              <a:t>     m:integer;</a:t>
            </a:r>
            <a:endParaRPr sz="24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2400"/>
              <a:buFont typeface="Century Schoolbook"/>
              <a:buNone/>
            </a:pPr>
            <a:r>
              <a:rPr lang="es-AR" sz="2400" b="0" i="0" u="none" strike="noStrike" cap="none" baseline="-25000">
                <a:solidFill>
                  <a:srgbClr val="000000"/>
                </a:solidFill>
                <a:latin typeface="Century Schoolbook"/>
                <a:ea typeface="Century Schoolbook"/>
                <a:cs typeface="Century Schoolbook"/>
                <a:sym typeface="Century Schoolbook"/>
              </a:rPr>
              <a:t>     Begin</a:t>
            </a:r>
            <a:endParaRPr sz="24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2400"/>
              <a:buFont typeface="Century Schoolbook"/>
              <a:buNone/>
            </a:pPr>
            <a:r>
              <a:rPr lang="es-AR" sz="2400" b="0" i="0" u="none" strike="noStrike" cap="none" baseline="-25000">
                <a:solidFill>
                  <a:srgbClr val="000000"/>
                </a:solidFill>
                <a:latin typeface="Century Schoolbook"/>
                <a:ea typeface="Century Schoolbook"/>
                <a:cs typeface="Century Schoolbook"/>
                <a:sym typeface="Century Schoolbook"/>
              </a:rPr>
              <a:t>       ...</a:t>
            </a:r>
            <a:endParaRPr sz="24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2400"/>
              <a:buFont typeface="Century Schoolbook"/>
              <a:buNone/>
            </a:pPr>
            <a:r>
              <a:rPr lang="es-AR" sz="2400" b="0" i="0" u="none" strike="noStrike" cap="none" baseline="-25000">
                <a:solidFill>
                  <a:srgbClr val="000000"/>
                </a:solidFill>
                <a:latin typeface="Century Schoolbook"/>
                <a:ea typeface="Century Schoolbook"/>
                <a:cs typeface="Century Schoolbook"/>
                <a:sym typeface="Century Schoolbook"/>
              </a:rPr>
              <a:t>       if m=0 then signal error1; </a:t>
            </a:r>
            <a:endParaRPr sz="24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2400"/>
              <a:buFont typeface="Century Schoolbook"/>
              <a:buNone/>
            </a:pPr>
            <a:r>
              <a:rPr lang="es-AR" sz="2400" b="0" i="0" u="none" strike="noStrike" cap="none" baseline="-25000">
                <a:solidFill>
                  <a:srgbClr val="000000"/>
                </a:solidFill>
                <a:latin typeface="Century Schoolbook"/>
                <a:ea typeface="Century Schoolbook"/>
                <a:cs typeface="Century Schoolbook"/>
                <a:sym typeface="Century Schoolbook"/>
              </a:rPr>
              <a:t>       End;</a:t>
            </a:r>
            <a:endParaRPr sz="24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2400"/>
              <a:buFont typeface="Century Schoolbook"/>
              <a:buNone/>
            </a:pPr>
            <a:r>
              <a:rPr lang="es-AR" sz="2400" b="0" i="0" u="none" strike="noStrike" cap="none" baseline="-25000">
                <a:solidFill>
                  <a:srgbClr val="000000"/>
                </a:solidFill>
                <a:latin typeface="Century Schoolbook"/>
                <a:ea typeface="Century Schoolbook"/>
                <a:cs typeface="Century Schoolbook"/>
                <a:sym typeface="Century Schoolbook"/>
              </a:rPr>
              <a:t>Begin //MAIN</a:t>
            </a:r>
            <a:endParaRPr sz="24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2400"/>
              <a:buFont typeface="Century Schoolbook"/>
              <a:buNone/>
            </a:pPr>
            <a:r>
              <a:rPr lang="es-AR" sz="2400" b="0" i="0" u="none" strike="noStrike" cap="none" baseline="-25000">
                <a:solidFill>
                  <a:srgbClr val="000000"/>
                </a:solidFill>
                <a:latin typeface="Century Schoolbook"/>
                <a:ea typeface="Century Schoolbook"/>
                <a:cs typeface="Century Schoolbook"/>
                <a:sym typeface="Century Schoolbook"/>
              </a:rPr>
              <a:t>    x:=1; y:=0;</a:t>
            </a:r>
            <a:endParaRPr sz="24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2400"/>
              <a:buFont typeface="Century Schoolbook"/>
              <a:buNone/>
            </a:pPr>
            <a:r>
              <a:rPr lang="es-AR" sz="2400" b="0" i="0" u="none" strike="noStrike" cap="none" baseline="-25000">
                <a:solidFill>
                  <a:srgbClr val="000000"/>
                </a:solidFill>
                <a:latin typeface="Century Schoolbook"/>
                <a:ea typeface="Century Schoolbook"/>
                <a:cs typeface="Century Schoolbook"/>
                <a:sym typeface="Century Schoolbook"/>
              </a:rPr>
              <a:t>   Uno(); </a:t>
            </a:r>
            <a:endParaRPr sz="24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2400"/>
              <a:buFont typeface="Century Schoolbook"/>
              <a:buNone/>
            </a:pPr>
            <a:r>
              <a:rPr lang="es-AR" sz="2400" b="0" i="0" u="none" strike="noStrike" cap="none" baseline="-25000">
                <a:solidFill>
                  <a:srgbClr val="000000"/>
                </a:solidFill>
                <a:latin typeface="Century Schoolbook"/>
                <a:ea typeface="Century Schoolbook"/>
                <a:cs typeface="Century Schoolbook"/>
                <a:sym typeface="Century Schoolbook"/>
              </a:rPr>
              <a:t>    exception when error1: x:=x+1;  y:=y+1; end;  </a:t>
            </a:r>
            <a:endParaRPr sz="24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2400"/>
              <a:buFont typeface="Century Schoolbook"/>
              <a:buNone/>
            </a:pPr>
            <a:r>
              <a:rPr lang="es-AR" sz="2400" b="0" i="0" u="none" strike="noStrike" cap="none" baseline="-25000">
                <a:solidFill>
                  <a:srgbClr val="000000"/>
                </a:solidFill>
                <a:latin typeface="Century Schoolbook"/>
                <a:ea typeface="Century Schoolbook"/>
                <a:cs typeface="Century Schoolbook"/>
                <a:sym typeface="Century Schoolbook"/>
              </a:rPr>
              <a:t>   ...</a:t>
            </a:r>
            <a:endParaRPr sz="24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2400"/>
              <a:buFont typeface="Century Schoolbook"/>
              <a:buNone/>
            </a:pPr>
            <a:r>
              <a:rPr lang="es-AR" sz="2400" b="0" i="0" u="none" strike="noStrike" cap="none" baseline="-25000">
                <a:solidFill>
                  <a:srgbClr val="000000"/>
                </a:solidFill>
                <a:latin typeface="Century Schoolbook"/>
                <a:ea typeface="Century Schoolbook"/>
                <a:cs typeface="Century Schoolbook"/>
                <a:sym typeface="Century Schoolbook"/>
              </a:rPr>
              <a:t>   Dos(): </a:t>
            </a:r>
            <a:endParaRPr sz="24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2400"/>
              <a:buFont typeface="Century Schoolbook"/>
              <a:buNone/>
            </a:pPr>
            <a:r>
              <a:rPr lang="es-AR" sz="2400" b="0" i="0" u="none" strike="noStrike" cap="none" baseline="-25000">
                <a:solidFill>
                  <a:srgbClr val="000000"/>
                </a:solidFill>
                <a:latin typeface="Century Schoolbook"/>
                <a:ea typeface="Century Schoolbook"/>
                <a:cs typeface="Century Schoolbook"/>
                <a:sym typeface="Century Schoolbook"/>
              </a:rPr>
              <a:t>   exception when error1: resignal; end; </a:t>
            </a:r>
            <a:endParaRPr sz="2400" b="0" i="0" u="none" strike="noStrike" cap="none">
              <a:latin typeface="Arial"/>
              <a:ea typeface="Arial"/>
              <a:cs typeface="Arial"/>
              <a:sym typeface="Arial"/>
            </a:endParaRPr>
          </a:p>
          <a:p>
            <a:pPr marL="274320" marR="0" lvl="0" indent="-271800" algn="just" rtl="0">
              <a:lnSpc>
                <a:spcPct val="100000"/>
              </a:lnSpc>
              <a:spcBef>
                <a:spcPts val="601"/>
              </a:spcBef>
              <a:spcAft>
                <a:spcPts val="0"/>
              </a:spcAft>
              <a:buClr>
                <a:srgbClr val="000000"/>
              </a:buClr>
              <a:buSzPts val="2400"/>
              <a:buFont typeface="Century Schoolbook"/>
              <a:buNone/>
            </a:pPr>
            <a:r>
              <a:rPr lang="es-AR" sz="2400" b="0" i="0" u="none" strike="noStrike" cap="none" baseline="-25000">
                <a:solidFill>
                  <a:srgbClr val="000000"/>
                </a:solidFill>
                <a:latin typeface="Century Schoolbook"/>
                <a:ea typeface="Century Schoolbook"/>
                <a:cs typeface="Century Schoolbook"/>
                <a:sym typeface="Century Schoolbook"/>
              </a:rPr>
              <a:t>   …</a:t>
            </a:r>
            <a:r>
              <a:rPr lang="es-AR" sz="2400" b="0" i="0" u="none" strike="noStrike" cap="none">
                <a:solidFill>
                  <a:srgbClr val="000000"/>
                </a:solidFill>
                <a:latin typeface="Arial"/>
                <a:ea typeface="Arial"/>
                <a:cs typeface="Arial"/>
                <a:sym typeface="Arial"/>
              </a:rPr>
              <a:t>  </a:t>
            </a:r>
            <a:r>
              <a:rPr lang="es-AR" sz="1800" b="0" i="0" u="none" strike="noStrike" cap="none" baseline="-25000">
                <a:solidFill>
                  <a:srgbClr val="000000"/>
                </a:solidFill>
                <a:latin typeface="Century Schoolbook"/>
                <a:ea typeface="Century Schoolbook"/>
                <a:cs typeface="Century Schoolbook"/>
                <a:sym typeface="Century Schoolbook"/>
              </a:rPr>
              <a:t>End; //MAIN</a:t>
            </a:r>
            <a:endParaRPr sz="1800" b="0" i="0" u="none" strike="noStrike" cap="none">
              <a:latin typeface="Arial"/>
              <a:ea typeface="Arial"/>
              <a:cs typeface="Arial"/>
              <a:sym typeface="Arial"/>
            </a:endParaRPr>
          </a:p>
          <a:p>
            <a:pPr marL="274320" marR="0" lvl="0" indent="-146520" algn="l" rtl="0">
              <a:lnSpc>
                <a:spcPct val="100000"/>
              </a:lnSpc>
              <a:spcBef>
                <a:spcPts val="601"/>
              </a:spcBef>
              <a:spcAft>
                <a:spcPts val="0"/>
              </a:spcAft>
              <a:buSzPts val="1800"/>
              <a:buFont typeface="Arial"/>
              <a:buNone/>
            </a:pPr>
            <a:endParaRPr sz="1800" b="0" i="0" u="none" strike="noStrike" cap="none">
              <a:latin typeface="Arial"/>
              <a:ea typeface="Arial"/>
              <a:cs typeface="Arial"/>
              <a:sym typeface="Arial"/>
            </a:endParaRPr>
          </a:p>
        </p:txBody>
      </p:sp>
      <p:sp>
        <p:nvSpPr>
          <p:cNvPr id="772" name="Google Shape;772;p48"/>
          <p:cNvSpPr/>
          <p:nvPr/>
        </p:nvSpPr>
        <p:spPr>
          <a:xfrm flipH="1">
            <a:off x="6766200" y="2670480"/>
            <a:ext cx="1316160" cy="10782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38838" y="148638"/>
                </a:lnTo>
                <a:lnTo>
                  <a:pt x="104077" y="272354"/>
                </a:lnTo>
              </a:path>
            </a:pathLst>
          </a:custGeom>
          <a:solidFill>
            <a:srgbClr val="729FCF"/>
          </a:solidFill>
          <a:ln w="9525" cap="flat" cmpd="sng">
            <a:solidFill>
              <a:srgbClr val="3465A4"/>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Ejecuta</a:t>
            </a:r>
            <a:endParaRPr sz="1800" b="0" i="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Este </a:t>
            </a:r>
            <a:endParaRPr sz="1800" b="0" i="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Manejador</a:t>
            </a:r>
            <a:endParaRPr sz="1800" b="0" i="0" u="none" strike="noStrike" cap="none">
              <a:latin typeface="Arial"/>
              <a:ea typeface="Arial"/>
              <a:cs typeface="Arial"/>
              <a:sym typeface="Arial"/>
            </a:endParaRPr>
          </a:p>
        </p:txBody>
      </p:sp>
      <p:sp>
        <p:nvSpPr>
          <p:cNvPr id="773" name="Google Shape;773;p48"/>
          <p:cNvSpPr/>
          <p:nvPr/>
        </p:nvSpPr>
        <p:spPr>
          <a:xfrm>
            <a:off x="7849800" y="57654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48</a:t>
            </a:fld>
            <a:endParaRPr sz="1800" b="0" i="0" u="none" strike="noStrike" cap="none">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778"/>
        <p:cNvGrpSpPr/>
        <p:nvPr/>
      </p:nvGrpSpPr>
      <p:grpSpPr>
        <a:xfrm>
          <a:off x="0" y="0"/>
          <a:ext cx="0" cy="0"/>
          <a:chOff x="0" y="0"/>
          <a:chExt cx="0" cy="0"/>
        </a:xfrm>
      </p:grpSpPr>
      <p:sp>
        <p:nvSpPr>
          <p:cNvPr id="779" name="Google Shape;779;p49"/>
          <p:cNvSpPr/>
          <p:nvPr/>
        </p:nvSpPr>
        <p:spPr>
          <a:xfrm>
            <a:off x="424440" y="55080"/>
            <a:ext cx="8226000" cy="374400"/>
          </a:xfrm>
          <a:prstGeom prst="rect">
            <a:avLst/>
          </a:prstGeom>
          <a:noFill/>
          <a:ln>
            <a:noFill/>
          </a:ln>
        </p:spPr>
        <p:txBody>
          <a:bodyPr spcFirstLastPara="1" wrap="square" lIns="0" tIns="31675" rIns="0" bIns="0" anchor="ctr" anchorCtr="0">
            <a:noAutofit/>
          </a:bodyPr>
          <a:lstStyle/>
          <a:p>
            <a:pPr marL="0" marR="0" lvl="0" indent="0" algn="ctr" rtl="0">
              <a:lnSpc>
                <a:spcPct val="93000"/>
              </a:lnSpc>
              <a:spcBef>
                <a:spcPts val="0"/>
              </a:spcBef>
              <a:spcAft>
                <a:spcPts val="0"/>
              </a:spcAft>
              <a:buClr>
                <a:srgbClr val="280099"/>
              </a:buClr>
              <a:buSzPts val="2800"/>
              <a:buFont typeface="Arial"/>
              <a:buNone/>
            </a:pPr>
            <a:r>
              <a:rPr lang="es-AR" sz="2800" b="0" i="0" u="none" strike="noStrike" cap="none">
                <a:solidFill>
                  <a:srgbClr val="280099"/>
                </a:solidFill>
                <a:latin typeface="Arial"/>
                <a:ea typeface="Arial"/>
                <a:cs typeface="Arial"/>
                <a:sym typeface="Arial"/>
              </a:rPr>
              <a:t>Excepciones – CLU – Ejemplo</a:t>
            </a:r>
            <a:endParaRPr sz="2800" b="0" i="0" u="none" strike="noStrike" cap="none">
              <a:latin typeface="Arial"/>
              <a:ea typeface="Arial"/>
              <a:cs typeface="Arial"/>
              <a:sym typeface="Arial"/>
            </a:endParaRPr>
          </a:p>
        </p:txBody>
      </p:sp>
      <p:sp>
        <p:nvSpPr>
          <p:cNvPr id="780" name="Google Shape;780;p49"/>
          <p:cNvSpPr/>
          <p:nvPr/>
        </p:nvSpPr>
        <p:spPr>
          <a:xfrm>
            <a:off x="0" y="360000"/>
            <a:ext cx="9213480" cy="6495480"/>
          </a:xfrm>
          <a:prstGeom prst="rect">
            <a:avLst/>
          </a:prstGeom>
          <a:noFill/>
          <a:ln>
            <a:noFill/>
          </a:ln>
        </p:spPr>
        <p:txBody>
          <a:bodyPr spcFirstLastPara="1" wrap="square" lIns="0" tIns="15100" rIns="0" bIns="0" anchor="t" anchorCtr="0">
            <a:noAutofit/>
          </a:bodyPr>
          <a:lstStyle/>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Procedure Main</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      Error1 : exception;</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      x, y: integer;</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Procedure UNO() signals error1</a:t>
            </a:r>
            <a:r>
              <a:rPr lang="es-AR" sz="1700" b="1" i="0" u="none" strike="noStrike" cap="none">
                <a:solidFill>
                  <a:srgbClr val="280099"/>
                </a:solidFill>
                <a:latin typeface="Arial"/>
                <a:ea typeface="Arial"/>
                <a:cs typeface="Arial"/>
                <a:sym typeface="Arial"/>
              </a:rPr>
              <a:t>;</a:t>
            </a:r>
            <a:r>
              <a:rPr lang="es-AR" sz="1700" b="0" i="0" u="none" strike="noStrike" cap="none">
                <a:solidFill>
                  <a:srgbClr val="280099"/>
                </a:solidFill>
                <a:latin typeface="Arial"/>
                <a:ea typeface="Arial"/>
                <a:cs typeface="Arial"/>
                <a:sym typeface="Arial"/>
              </a:rPr>
              <a:t> </a:t>
            </a:r>
            <a:r>
              <a:rPr lang="es-AR" sz="1200" b="0" i="0" u="none" strike="noStrike" cap="none">
                <a:solidFill>
                  <a:srgbClr val="280099"/>
                </a:solidFill>
                <a:latin typeface="Arial"/>
                <a:ea typeface="Arial"/>
                <a:cs typeface="Arial"/>
                <a:sym typeface="Arial"/>
              </a:rPr>
              <a:t>//en el encabezado se deben definir los manejadores que puede levantar</a:t>
            </a:r>
            <a:endParaRPr sz="12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700"/>
              <a:buFont typeface="Arial"/>
              <a:buNone/>
            </a:pPr>
            <a:r>
              <a:rPr lang="es-AR" sz="1700" b="1" i="0" u="none" strike="noStrike" cap="none">
                <a:solidFill>
                  <a:srgbClr val="280099"/>
                </a:solidFill>
                <a:latin typeface="Arial"/>
                <a:ea typeface="Arial"/>
                <a:cs typeface="Arial"/>
                <a:sym typeface="Arial"/>
              </a:rPr>
              <a:t>         </a:t>
            </a:r>
            <a:r>
              <a:rPr lang="es-AR" sz="1600" b="1" i="0" u="none" strike="noStrike" cap="none">
                <a:solidFill>
                  <a:srgbClr val="280099"/>
                </a:solidFill>
                <a:latin typeface="Arial"/>
                <a:ea typeface="Arial"/>
                <a:cs typeface="Arial"/>
                <a:sym typeface="Arial"/>
              </a:rPr>
              <a:t>x:integer</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              Begin</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                  x:=2; ......</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                While y &lt; x Do</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                      If y=0 Then  signal error1;</a:t>
            </a:r>
            <a:r>
              <a:rPr lang="es-AR" sz="1700" b="1" i="0" u="none" strike="noStrike" cap="none">
                <a:solidFill>
                  <a:srgbClr val="280099"/>
                </a:solidFill>
                <a:latin typeface="Arial"/>
                <a:ea typeface="Arial"/>
                <a:cs typeface="Arial"/>
                <a:sym typeface="Arial"/>
              </a:rPr>
              <a:t> </a:t>
            </a:r>
            <a:r>
              <a:rPr lang="es-AR" sz="1700" b="0" i="0" u="none" strike="noStrike" cap="none">
                <a:solidFill>
                  <a:srgbClr val="280099"/>
                </a:solidFill>
                <a:latin typeface="Arial"/>
                <a:ea typeface="Arial"/>
                <a:cs typeface="Arial"/>
                <a:sym typeface="Arial"/>
              </a:rPr>
              <a:t>//se levanta la excepcion error</a:t>
            </a:r>
            <a:endParaRPr sz="17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700"/>
              <a:buFont typeface="Arial"/>
              <a:buNone/>
            </a:pPr>
            <a:r>
              <a:rPr lang="es-AR" sz="1700" b="1" i="0" u="none" strike="noStrike" cap="none">
                <a:solidFill>
                  <a:srgbClr val="280099"/>
                </a:solidFill>
                <a:latin typeface="Arial"/>
                <a:ea typeface="Arial"/>
                <a:cs typeface="Arial"/>
                <a:sym typeface="Arial"/>
              </a:rPr>
              <a:t>                      </a:t>
            </a:r>
            <a:r>
              <a:rPr lang="es-AR" sz="1600" b="1" i="0" u="none" strike="noStrike" cap="none">
                <a:solidFill>
                  <a:srgbClr val="280099"/>
                </a:solidFill>
                <a:latin typeface="Arial"/>
                <a:ea typeface="Arial"/>
                <a:cs typeface="Arial"/>
                <a:sym typeface="Arial"/>
              </a:rPr>
              <a:t>end if; exception when error1 -&gt;  y:=y+7; x:=x+2;  resignal; end;</a:t>
            </a:r>
            <a:r>
              <a:rPr lang="es-AR" sz="1700" b="1" i="0" u="none" strike="noStrike" cap="none">
                <a:solidFill>
                  <a:srgbClr val="280099"/>
                </a:solidFill>
                <a:latin typeface="Arial"/>
                <a:ea typeface="Arial"/>
                <a:cs typeface="Arial"/>
                <a:sym typeface="Arial"/>
              </a:rPr>
              <a:t>  </a:t>
            </a:r>
            <a:r>
              <a:rPr lang="es-AR" sz="1700" b="0" i="0" u="none" strike="noStrike" cap="none">
                <a:solidFill>
                  <a:srgbClr val="280099"/>
                </a:solidFill>
                <a:latin typeface="Arial"/>
                <a:ea typeface="Arial"/>
                <a:cs typeface="Arial"/>
                <a:sym typeface="Arial"/>
              </a:rPr>
              <a:t>// manejador4</a:t>
            </a:r>
            <a:endParaRPr sz="17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700"/>
              <a:buFont typeface="Arial"/>
              <a:buNone/>
            </a:pPr>
            <a:r>
              <a:rPr lang="es-AR" sz="1700" b="1" i="0" u="none" strike="noStrike" cap="none">
                <a:solidFill>
                  <a:srgbClr val="280099"/>
                </a:solidFill>
                <a:latin typeface="Arial"/>
                <a:ea typeface="Arial"/>
                <a:cs typeface="Arial"/>
                <a:sym typeface="Arial"/>
              </a:rPr>
              <a:t>                      </a:t>
            </a:r>
            <a:r>
              <a:rPr lang="es-AR" sz="1600" b="1" i="0" u="none" strike="noStrike" cap="none">
                <a:solidFill>
                  <a:srgbClr val="280099"/>
                </a:solidFill>
                <a:latin typeface="Arial"/>
                <a:ea typeface="Arial"/>
                <a:cs typeface="Arial"/>
                <a:sym typeface="Arial"/>
              </a:rPr>
              <a:t>Dos();</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                      y:=y+1;</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              Wend; exception when error1 -&gt;   y:=x+3;   x:=x+3;   Resignal; .End;</a:t>
            </a:r>
            <a:r>
              <a:rPr lang="es-AR" sz="1700" b="1" i="0" u="none" strike="noStrike" cap="none">
                <a:solidFill>
                  <a:srgbClr val="280099"/>
                </a:solidFill>
                <a:latin typeface="Arial"/>
                <a:ea typeface="Arial"/>
                <a:cs typeface="Arial"/>
                <a:sym typeface="Arial"/>
              </a:rPr>
              <a:t> </a:t>
            </a:r>
            <a:r>
              <a:rPr lang="es-AR" sz="1700" b="0" i="0" u="none" strike="noStrike" cap="none">
                <a:solidFill>
                  <a:srgbClr val="280099"/>
                </a:solidFill>
                <a:latin typeface="Arial"/>
                <a:ea typeface="Arial"/>
                <a:cs typeface="Arial"/>
                <a:sym typeface="Arial"/>
              </a:rPr>
              <a:t>//manejador3</a:t>
            </a:r>
            <a:endParaRPr sz="17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700"/>
              <a:buFont typeface="Arial"/>
              <a:buNone/>
            </a:pPr>
            <a:r>
              <a:rPr lang="es-AR" sz="1700" b="1" i="0" u="none" strike="noStrike" cap="none">
                <a:solidFill>
                  <a:srgbClr val="280099"/>
                </a:solidFill>
                <a:latin typeface="Arial"/>
                <a:ea typeface="Arial"/>
                <a:cs typeface="Arial"/>
                <a:sym typeface="Arial"/>
              </a:rPr>
              <a:t>     </a:t>
            </a:r>
            <a:r>
              <a:rPr lang="es-AR" sz="1600" b="1" i="0" u="none" strike="noStrike" cap="none">
                <a:solidFill>
                  <a:srgbClr val="280099"/>
                </a:solidFill>
                <a:latin typeface="Arial"/>
                <a:ea typeface="Arial"/>
                <a:cs typeface="Arial"/>
                <a:sym typeface="Arial"/>
              </a:rPr>
              <a:t> End; //UNO</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      Procedure Dos() signals error1;</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              m:integer;</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              Begin</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                ...</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                if m=0 then signal error1; </a:t>
            </a:r>
            <a:r>
              <a:rPr lang="es-AR" sz="1700" b="0" i="0" u="none" strike="noStrike" cap="none">
                <a:solidFill>
                  <a:srgbClr val="280099"/>
                </a:solidFill>
                <a:latin typeface="Arial"/>
                <a:ea typeface="Arial"/>
                <a:cs typeface="Arial"/>
                <a:sym typeface="Arial"/>
              </a:rPr>
              <a:t>//se levanta la excepcion error</a:t>
            </a:r>
            <a:endParaRPr sz="17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700"/>
              <a:buFont typeface="Arial"/>
              <a:buNone/>
            </a:pPr>
            <a:r>
              <a:rPr lang="es-AR" sz="1700" b="1" i="0" u="none" strike="noStrike" cap="none">
                <a:solidFill>
                  <a:srgbClr val="280099"/>
                </a:solidFill>
                <a:latin typeface="Arial"/>
                <a:ea typeface="Arial"/>
                <a:cs typeface="Arial"/>
                <a:sym typeface="Arial"/>
              </a:rPr>
              <a:t>              </a:t>
            </a:r>
            <a:r>
              <a:rPr lang="es-AR" sz="1600" b="1" i="0" u="none" strike="noStrike" cap="none">
                <a:solidFill>
                  <a:srgbClr val="280099"/>
                </a:solidFill>
                <a:latin typeface="Arial"/>
                <a:ea typeface="Arial"/>
                <a:cs typeface="Arial"/>
                <a:sym typeface="Arial"/>
              </a:rPr>
              <a:t>End;</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Begin //MAIN</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    x:=1; y:=0;</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   Uno(); exception when error1 -&gt;  x:=x+1;  y:=y+1; end;</a:t>
            </a:r>
            <a:r>
              <a:rPr lang="es-AR" sz="1700" b="1" i="0" u="none" strike="noStrike" cap="none">
                <a:solidFill>
                  <a:srgbClr val="280099"/>
                </a:solidFill>
                <a:latin typeface="Arial"/>
                <a:ea typeface="Arial"/>
                <a:cs typeface="Arial"/>
                <a:sym typeface="Arial"/>
              </a:rPr>
              <a:t> </a:t>
            </a:r>
            <a:r>
              <a:rPr lang="es-AR" sz="1700" b="0" i="0" u="none" strike="noStrike" cap="none">
                <a:solidFill>
                  <a:srgbClr val="280099"/>
                </a:solidFill>
                <a:latin typeface="Arial"/>
                <a:ea typeface="Arial"/>
                <a:cs typeface="Arial"/>
                <a:sym typeface="Arial"/>
              </a:rPr>
              <a:t> // manejador1</a:t>
            </a:r>
            <a:endParaRPr sz="17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700"/>
              <a:buFont typeface="Arial"/>
              <a:buNone/>
            </a:pPr>
            <a:r>
              <a:rPr lang="es-AR" sz="1700" b="1" i="0" u="none" strike="noStrike" cap="none">
                <a:solidFill>
                  <a:srgbClr val="280099"/>
                </a:solidFill>
                <a:latin typeface="Arial"/>
                <a:ea typeface="Arial"/>
                <a:cs typeface="Arial"/>
                <a:sym typeface="Arial"/>
              </a:rPr>
              <a:t>   </a:t>
            </a:r>
            <a:r>
              <a:rPr lang="es-AR" sz="1600" b="1" i="0" u="none" strike="noStrike" cap="none">
                <a:solidFill>
                  <a:srgbClr val="280099"/>
                </a:solidFill>
                <a:latin typeface="Arial"/>
                <a:ea typeface="Arial"/>
                <a:cs typeface="Arial"/>
                <a:sym typeface="Arial"/>
              </a:rPr>
              <a:t>...</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   Dos(): exception when error1 → resignal; end; </a:t>
            </a:r>
            <a:r>
              <a:rPr lang="es-AR" sz="1600" b="0" i="0" u="none" strike="noStrike" cap="none">
                <a:solidFill>
                  <a:srgbClr val="280099"/>
                </a:solidFill>
                <a:latin typeface="Arial"/>
                <a:ea typeface="Arial"/>
                <a:cs typeface="Arial"/>
                <a:sym typeface="Arial"/>
              </a:rPr>
              <a:t>// manejador2</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   ...</a:t>
            </a:r>
            <a:endParaRPr sz="1600" b="0" i="0" u="none" strike="noStrike" cap="none">
              <a:latin typeface="Arial"/>
              <a:ea typeface="Arial"/>
              <a:cs typeface="Arial"/>
              <a:sym typeface="Arial"/>
            </a:endParaRPr>
          </a:p>
          <a:p>
            <a:pPr marL="342720" marR="0" lvl="0" indent="-335880" algn="just" rtl="0">
              <a:lnSpc>
                <a:spcPct val="93000"/>
              </a:lnSpc>
              <a:spcBef>
                <a:spcPts val="0"/>
              </a:spcBef>
              <a:spcAft>
                <a:spcPts val="0"/>
              </a:spcAft>
              <a:buClr>
                <a:srgbClr val="280099"/>
              </a:buClr>
              <a:buSzPts val="1600"/>
              <a:buFont typeface="Arial"/>
              <a:buNone/>
            </a:pPr>
            <a:r>
              <a:rPr lang="es-AR" sz="1600" b="1" i="0" u="none" strike="noStrike" cap="none">
                <a:solidFill>
                  <a:srgbClr val="280099"/>
                </a:solidFill>
                <a:latin typeface="Arial"/>
                <a:ea typeface="Arial"/>
                <a:cs typeface="Arial"/>
                <a:sym typeface="Arial"/>
              </a:rPr>
              <a:t>End; //MAIN</a:t>
            </a:r>
            <a:endParaRPr sz="1600" b="0" i="0" u="none" strike="noStrike" cap="none">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50"/>
          <p:cNvSpPr/>
          <p:nvPr/>
        </p:nvSpPr>
        <p:spPr>
          <a:xfrm>
            <a:off x="457200" y="3816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Java</a:t>
            </a:r>
            <a:endParaRPr sz="3000" b="0" i="0" u="none" strike="noStrike" cap="none">
              <a:latin typeface="Arial"/>
              <a:ea typeface="Arial"/>
              <a:cs typeface="Arial"/>
              <a:sym typeface="Arial"/>
            </a:endParaRPr>
          </a:p>
        </p:txBody>
      </p:sp>
      <p:sp>
        <p:nvSpPr>
          <p:cNvPr id="786" name="Google Shape;786;p50"/>
          <p:cNvSpPr/>
          <p:nvPr/>
        </p:nvSpPr>
        <p:spPr>
          <a:xfrm>
            <a:off x="395280" y="1413000"/>
            <a:ext cx="8061480" cy="4893480"/>
          </a:xfrm>
          <a:prstGeom prst="rect">
            <a:avLst/>
          </a:prstGeom>
          <a:noFill/>
          <a:ln>
            <a:noFill/>
          </a:ln>
        </p:spPr>
        <p:txBody>
          <a:bodyPr spcFirstLastPara="1" wrap="square" lIns="90000" tIns="45000" rIns="90000" bIns="45000" anchor="t" anchorCtr="0">
            <a:noAutofit/>
          </a:bodyPr>
          <a:lstStyle/>
          <a:p>
            <a:pPr marL="272880" marR="0" lvl="0" indent="-270360" algn="l" rtl="0">
              <a:lnSpc>
                <a:spcPct val="100000"/>
              </a:lnSpc>
              <a:spcBef>
                <a:spcPts val="0"/>
              </a:spcBef>
              <a:spcAft>
                <a:spcPts val="0"/>
              </a:spcAft>
              <a:buClr>
                <a:srgbClr val="FE8637"/>
              </a:buClr>
              <a:buSzPts val="2400"/>
              <a:buFont typeface="Noto Sans Symbols"/>
              <a:buChar char="•"/>
            </a:pPr>
            <a:r>
              <a:rPr lang="es-AR" sz="2400" b="0" i="0" u="none" strike="noStrike" cap="none">
                <a:solidFill>
                  <a:srgbClr val="000000"/>
                </a:solidFill>
                <a:latin typeface="Arial"/>
                <a:ea typeface="Arial"/>
                <a:cs typeface="Arial"/>
                <a:sym typeface="Arial"/>
              </a:rPr>
              <a:t>Al igual que C++ las excepciones son objetos que pueden ser alcanzados y manejados por manejadores adicionados al </a:t>
            </a:r>
            <a:r>
              <a:rPr lang="es-AR" sz="2400" b="1" i="0" u="none" strike="noStrike" cap="none">
                <a:solidFill>
                  <a:srgbClr val="000000"/>
                </a:solidFill>
                <a:latin typeface="Arial"/>
                <a:ea typeface="Arial"/>
                <a:cs typeface="Arial"/>
                <a:sym typeface="Arial"/>
              </a:rPr>
              <a:t>bloque</a:t>
            </a:r>
            <a:r>
              <a:rPr lang="es-AR" sz="2400" b="0" i="0" u="none" strike="noStrike" cap="none">
                <a:solidFill>
                  <a:srgbClr val="000000"/>
                </a:solidFill>
                <a:latin typeface="Arial"/>
                <a:ea typeface="Arial"/>
                <a:cs typeface="Arial"/>
                <a:sym typeface="Arial"/>
              </a:rPr>
              <a:t> donde se produjo la excepción.</a:t>
            </a:r>
            <a:endParaRPr sz="2400" b="0" i="0" u="none" strike="noStrike" cap="none">
              <a:latin typeface="Arial"/>
              <a:ea typeface="Arial"/>
              <a:cs typeface="Arial"/>
              <a:sym typeface="Arial"/>
            </a:endParaRPr>
          </a:p>
          <a:p>
            <a:pPr marL="272880" marR="0" lvl="0" indent="-270360" algn="l"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Arial"/>
                <a:ea typeface="Arial"/>
                <a:cs typeface="Arial"/>
                <a:sym typeface="Arial"/>
              </a:rPr>
              <a:t>Cada excepción está representada por una instancia de la clase </a:t>
            </a:r>
            <a:r>
              <a:rPr lang="es-AR" sz="2400" b="1" i="0" u="none" strike="noStrike" cap="none">
                <a:solidFill>
                  <a:srgbClr val="000000"/>
                </a:solidFill>
                <a:latin typeface="Arial"/>
                <a:ea typeface="Arial"/>
                <a:cs typeface="Arial"/>
                <a:sym typeface="Arial"/>
              </a:rPr>
              <a:t>Throwable</a:t>
            </a:r>
            <a:r>
              <a:rPr lang="es-AR" sz="2400" b="0" i="0" u="none" strike="noStrike" cap="none">
                <a:solidFill>
                  <a:srgbClr val="000000"/>
                </a:solidFill>
                <a:latin typeface="Arial"/>
                <a:ea typeface="Arial"/>
                <a:cs typeface="Arial"/>
                <a:sym typeface="Arial"/>
              </a:rPr>
              <a:t> o de una de sus subclases (Error y Exception)</a:t>
            </a:r>
            <a:endParaRPr sz="2400" b="0" i="0" u="none" strike="noStrike" cap="none">
              <a:latin typeface="Arial"/>
              <a:ea typeface="Arial"/>
              <a:cs typeface="Arial"/>
              <a:sym typeface="Arial"/>
            </a:endParaRPr>
          </a:p>
          <a:p>
            <a:pPr marL="272880" marR="0" lvl="0" indent="-270360" algn="l"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Arial"/>
                <a:ea typeface="Arial"/>
                <a:cs typeface="Arial"/>
                <a:sym typeface="Arial"/>
              </a:rPr>
              <a:t>La gestión de excepciones se lleva a cabo mediante cinco palabras clave: </a:t>
            </a:r>
            <a:r>
              <a:rPr lang="es-AR" sz="2400" b="1" i="0" u="none" strike="noStrike" cap="none">
                <a:solidFill>
                  <a:srgbClr val="000000"/>
                </a:solidFill>
                <a:latin typeface="Arial"/>
                <a:ea typeface="Arial"/>
                <a:cs typeface="Arial"/>
                <a:sym typeface="Arial"/>
              </a:rPr>
              <a:t>try, catch, throw, throws, finally</a:t>
            </a:r>
            <a:r>
              <a:rPr lang="es-AR" sz="2400" b="0" i="0" u="none" strike="noStrike" cap="none">
                <a:solidFill>
                  <a:srgbClr val="000000"/>
                </a:solidFill>
                <a:latin typeface="Arial"/>
                <a:ea typeface="Arial"/>
                <a:cs typeface="Arial"/>
                <a:sym typeface="Arial"/>
              </a:rPr>
              <a:t>.</a:t>
            </a:r>
            <a:endParaRPr sz="2400" b="0" i="0" u="none" strike="noStrike" cap="none">
              <a:latin typeface="Arial"/>
              <a:ea typeface="Arial"/>
              <a:cs typeface="Arial"/>
              <a:sym typeface="Arial"/>
            </a:endParaRPr>
          </a:p>
          <a:p>
            <a:pPr marL="272880" marR="0" lvl="0" indent="-270360" algn="l"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Arial"/>
                <a:ea typeface="Arial"/>
                <a:cs typeface="Arial"/>
                <a:sym typeface="Arial"/>
              </a:rPr>
              <a:t>Se debe especificar mediante la cláusula </a:t>
            </a:r>
            <a:r>
              <a:rPr lang="es-AR" sz="2400" b="1" i="0" u="none" strike="noStrike" cap="none">
                <a:solidFill>
                  <a:srgbClr val="000000"/>
                </a:solidFill>
                <a:latin typeface="Arial"/>
                <a:ea typeface="Arial"/>
                <a:cs typeface="Arial"/>
                <a:sym typeface="Arial"/>
              </a:rPr>
              <a:t>throws</a:t>
            </a:r>
            <a:r>
              <a:rPr lang="es-AR" sz="2400" b="0" i="0" u="none" strike="noStrike" cap="none">
                <a:solidFill>
                  <a:srgbClr val="000000"/>
                </a:solidFill>
                <a:latin typeface="Arial"/>
                <a:ea typeface="Arial"/>
                <a:cs typeface="Arial"/>
                <a:sym typeface="Arial"/>
              </a:rPr>
              <a:t> cualquier excepción que se envía desde un método. </a:t>
            </a:r>
            <a:endParaRPr sz="2400" b="0" i="0" u="none" strike="noStrike" cap="none">
              <a:latin typeface="Arial"/>
              <a:ea typeface="Arial"/>
              <a:cs typeface="Arial"/>
              <a:sym typeface="Arial"/>
            </a:endParaRPr>
          </a:p>
          <a:p>
            <a:pPr marL="272880" marR="0" lvl="0" indent="-270360" algn="l"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Arial"/>
                <a:ea typeface="Arial"/>
                <a:cs typeface="Arial"/>
                <a:sym typeface="Arial"/>
              </a:rPr>
              <a:t>Se debe poner cualquier código que el programador desee que se ejecute siempre, en el método </a:t>
            </a:r>
            <a:r>
              <a:rPr lang="es-AR" sz="2400" b="1" i="0" u="none" strike="noStrike" cap="none">
                <a:solidFill>
                  <a:srgbClr val="000000"/>
                </a:solidFill>
                <a:latin typeface="Arial"/>
                <a:ea typeface="Arial"/>
                <a:cs typeface="Arial"/>
                <a:sym typeface="Arial"/>
              </a:rPr>
              <a:t>finally</a:t>
            </a:r>
            <a:r>
              <a:rPr lang="es-AR" sz="2400" b="0" i="0" u="none" strike="noStrike" cap="none">
                <a:solidFill>
                  <a:srgbClr val="000000"/>
                </a:solidFill>
                <a:latin typeface="Arial"/>
                <a:ea typeface="Arial"/>
                <a:cs typeface="Arial"/>
                <a:sym typeface="Arial"/>
              </a:rPr>
              <a:t>.</a:t>
            </a:r>
            <a:endParaRPr sz="2400" b="0" i="0" u="none" strike="noStrike" cap="none">
              <a:latin typeface="Arial"/>
              <a:ea typeface="Arial"/>
              <a:cs typeface="Arial"/>
              <a:sym typeface="Arial"/>
            </a:endParaRPr>
          </a:p>
        </p:txBody>
      </p:sp>
      <p:sp>
        <p:nvSpPr>
          <p:cNvPr id="787" name="Google Shape;787;p50"/>
          <p:cNvSpPr/>
          <p:nvPr/>
        </p:nvSpPr>
        <p:spPr>
          <a:xfrm>
            <a:off x="7742160" y="57654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50</a:t>
            </a:fld>
            <a:endParaRPr sz="1800" b="0" i="0" u="none" strike="noStrike" cap="none">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51"/>
          <p:cNvSpPr/>
          <p:nvPr/>
        </p:nvSpPr>
        <p:spPr>
          <a:xfrm>
            <a:off x="457200" y="27468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1" i="0" u="none" strike="noStrike" cap="small">
                <a:solidFill>
                  <a:srgbClr val="575F6D"/>
                </a:solidFill>
                <a:latin typeface="Century Schoolbook"/>
                <a:ea typeface="Century Schoolbook"/>
                <a:cs typeface="Century Schoolbook"/>
                <a:sym typeface="Century Schoolbook"/>
              </a:rPr>
              <a:t>Fases del tratamiento de Excepciones</a:t>
            </a:r>
            <a:endParaRPr sz="3000" b="0" i="0" u="none" strike="noStrike" cap="none">
              <a:latin typeface="Arial"/>
              <a:ea typeface="Arial"/>
              <a:cs typeface="Arial"/>
              <a:sym typeface="Arial"/>
            </a:endParaRPr>
          </a:p>
        </p:txBody>
      </p:sp>
      <p:sp>
        <p:nvSpPr>
          <p:cNvPr id="793" name="Google Shape;793;p51"/>
          <p:cNvSpPr/>
          <p:nvPr/>
        </p:nvSpPr>
        <p:spPr>
          <a:xfrm>
            <a:off x="457200" y="1600200"/>
            <a:ext cx="7464600" cy="4870800"/>
          </a:xfrm>
          <a:prstGeom prst="rect">
            <a:avLst/>
          </a:prstGeom>
          <a:noFill/>
          <a:ln>
            <a:noFill/>
          </a:ln>
        </p:spPr>
        <p:txBody>
          <a:bodyPr spcFirstLastPara="1" wrap="square" lIns="90000" tIns="45000" rIns="90000" bIns="45000" anchor="t" anchorCtr="0">
            <a:noAutofit/>
          </a:bodyPr>
          <a:lstStyle/>
          <a:p>
            <a:pPr marL="272880" marR="0" lvl="0" indent="-270360" algn="l" rtl="0">
              <a:lnSpc>
                <a:spcPct val="100000"/>
              </a:lnSpc>
              <a:spcBef>
                <a:spcPts val="0"/>
              </a:spcBef>
              <a:spcAft>
                <a:spcPts val="0"/>
              </a:spcAft>
              <a:buClr>
                <a:srgbClr val="FE8637"/>
              </a:buClr>
              <a:buSzPts val="2400"/>
              <a:buFont typeface="Noto Sans Symbols"/>
              <a:buChar char="•"/>
            </a:pPr>
            <a:r>
              <a:rPr lang="es-AR" sz="2400" b="1" i="0" u="none" strike="noStrike" cap="none">
                <a:solidFill>
                  <a:srgbClr val="000000"/>
                </a:solidFill>
                <a:latin typeface="Arial"/>
                <a:ea typeface="Arial"/>
                <a:cs typeface="Arial"/>
                <a:sym typeface="Arial"/>
              </a:rPr>
              <a:t>Detectar e informar del error:</a:t>
            </a:r>
            <a:endParaRPr sz="2400" b="0" i="0" u="none" strike="noStrike" cap="none">
              <a:latin typeface="Arial"/>
              <a:ea typeface="Arial"/>
              <a:cs typeface="Arial"/>
              <a:sym typeface="Arial"/>
            </a:endParaRPr>
          </a:p>
          <a:p>
            <a:pPr marL="639720" marR="0" lvl="1" indent="-270360" algn="l" rtl="0">
              <a:lnSpc>
                <a:spcPct val="100000"/>
              </a:lnSpc>
              <a:spcBef>
                <a:spcPts val="439"/>
              </a:spcBef>
              <a:spcAft>
                <a:spcPts val="0"/>
              </a:spcAft>
              <a:buClr>
                <a:srgbClr val="FE8637"/>
              </a:buClr>
              <a:buSzPts val="2200"/>
              <a:buFont typeface="Noto Sans Symbols"/>
              <a:buChar char="●"/>
            </a:pPr>
            <a:r>
              <a:rPr lang="es-AR" sz="2200" b="0" i="0" u="none" strike="noStrike" cap="none">
                <a:solidFill>
                  <a:srgbClr val="000000"/>
                </a:solidFill>
                <a:latin typeface="Arial"/>
                <a:ea typeface="Arial"/>
                <a:cs typeface="Arial"/>
                <a:sym typeface="Arial"/>
              </a:rPr>
              <a:t>Lanzamiento de Excepciones → throw</a:t>
            </a:r>
            <a:endParaRPr sz="2200" b="0" i="0" u="none" strike="noStrike" cap="none">
              <a:latin typeface="Arial"/>
              <a:ea typeface="Arial"/>
              <a:cs typeface="Arial"/>
              <a:sym typeface="Arial"/>
            </a:endParaRPr>
          </a:p>
          <a:p>
            <a:pPr marL="639720" marR="0" lvl="1" indent="-270360" algn="l" rtl="0">
              <a:lnSpc>
                <a:spcPct val="100000"/>
              </a:lnSpc>
              <a:spcBef>
                <a:spcPts val="439"/>
              </a:spcBef>
              <a:spcAft>
                <a:spcPts val="0"/>
              </a:spcAft>
              <a:buClr>
                <a:srgbClr val="FE8637"/>
              </a:buClr>
              <a:buSzPts val="2200"/>
              <a:buFont typeface="Noto Sans Symbols"/>
              <a:buChar char="●"/>
            </a:pPr>
            <a:r>
              <a:rPr lang="es-AR" sz="2200" b="0" i="0" u="none" strike="noStrike" cap="none">
                <a:solidFill>
                  <a:srgbClr val="000000"/>
                </a:solidFill>
                <a:latin typeface="Arial"/>
                <a:ea typeface="Arial"/>
                <a:cs typeface="Arial"/>
                <a:sym typeface="Arial"/>
              </a:rPr>
              <a:t>Un método detecta una condición anormal que le impide continuar con su ejecución y finaliza “lanzando” un objeto Excepción.</a:t>
            </a:r>
            <a:endParaRPr sz="2200" b="0" i="0" u="none" strike="noStrike" cap="none">
              <a:latin typeface="Arial"/>
              <a:ea typeface="Arial"/>
              <a:cs typeface="Arial"/>
              <a:sym typeface="Arial"/>
            </a:endParaRPr>
          </a:p>
          <a:p>
            <a:pPr marL="272880" marR="0" lvl="0" indent="-270360" algn="l" rtl="0">
              <a:lnSpc>
                <a:spcPct val="100000"/>
              </a:lnSpc>
              <a:spcBef>
                <a:spcPts val="601"/>
              </a:spcBef>
              <a:spcAft>
                <a:spcPts val="0"/>
              </a:spcAft>
              <a:buClr>
                <a:srgbClr val="FE8637"/>
              </a:buClr>
              <a:buSzPts val="2400"/>
              <a:buFont typeface="Noto Sans Symbols"/>
              <a:buChar char="•"/>
            </a:pPr>
            <a:r>
              <a:rPr lang="es-AR" sz="2400" b="1" i="0" u="none" strike="noStrike" cap="none">
                <a:solidFill>
                  <a:srgbClr val="000000"/>
                </a:solidFill>
                <a:latin typeface="Arial"/>
                <a:ea typeface="Arial"/>
                <a:cs typeface="Arial"/>
                <a:sym typeface="Arial"/>
              </a:rPr>
              <a:t>Recoger el error y tratarlo:</a:t>
            </a:r>
            <a:endParaRPr sz="2400" b="0" i="0" u="none" strike="noStrike" cap="none">
              <a:latin typeface="Arial"/>
              <a:ea typeface="Arial"/>
              <a:cs typeface="Arial"/>
              <a:sym typeface="Arial"/>
            </a:endParaRPr>
          </a:p>
          <a:p>
            <a:pPr marL="639720" marR="0" lvl="1" indent="-270360" algn="l" rtl="0">
              <a:lnSpc>
                <a:spcPct val="100000"/>
              </a:lnSpc>
              <a:spcBef>
                <a:spcPts val="439"/>
              </a:spcBef>
              <a:spcAft>
                <a:spcPts val="0"/>
              </a:spcAft>
              <a:buClr>
                <a:srgbClr val="FE8637"/>
              </a:buClr>
              <a:buSzPts val="2200"/>
              <a:buFont typeface="Noto Sans Symbols"/>
              <a:buChar char="●"/>
            </a:pPr>
            <a:r>
              <a:rPr lang="es-AR" sz="2200" b="0" i="0" u="none" strike="noStrike" cap="none">
                <a:solidFill>
                  <a:srgbClr val="000000"/>
                </a:solidFill>
                <a:latin typeface="Arial"/>
                <a:ea typeface="Arial"/>
                <a:cs typeface="Arial"/>
                <a:sym typeface="Arial"/>
              </a:rPr>
              <a:t>Captura de Excepciones → bloque try-catch</a:t>
            </a:r>
            <a:endParaRPr sz="2200" b="0" i="0" u="none" strike="noStrike" cap="none">
              <a:latin typeface="Arial"/>
              <a:ea typeface="Arial"/>
              <a:cs typeface="Arial"/>
              <a:sym typeface="Arial"/>
            </a:endParaRPr>
          </a:p>
          <a:p>
            <a:pPr marL="639720" marR="0" lvl="1" indent="-270360" algn="l" rtl="0">
              <a:lnSpc>
                <a:spcPct val="100000"/>
              </a:lnSpc>
              <a:spcBef>
                <a:spcPts val="439"/>
              </a:spcBef>
              <a:spcAft>
                <a:spcPts val="0"/>
              </a:spcAft>
              <a:buClr>
                <a:srgbClr val="FE8637"/>
              </a:buClr>
              <a:buSzPts val="2200"/>
              <a:buFont typeface="Noto Sans Symbols"/>
              <a:buChar char="●"/>
            </a:pPr>
            <a:r>
              <a:rPr lang="es-AR" sz="2200" b="0" i="0" u="none" strike="noStrike" cap="none">
                <a:solidFill>
                  <a:srgbClr val="000000"/>
                </a:solidFill>
                <a:latin typeface="Arial"/>
                <a:ea typeface="Arial"/>
                <a:cs typeface="Arial"/>
                <a:sym typeface="Arial"/>
              </a:rPr>
              <a:t>Un método recibe un objeto Excepción que le indica que otro método no ha terminado correctamente su ejecución y decide actuar en función del tipo de error.</a:t>
            </a:r>
            <a:endParaRPr sz="2200" b="0" i="0" u="none" strike="noStrike" cap="none">
              <a:latin typeface="Arial"/>
              <a:ea typeface="Arial"/>
              <a:cs typeface="Arial"/>
              <a:sym typeface="Arial"/>
            </a:endParaRPr>
          </a:p>
        </p:txBody>
      </p:sp>
      <p:sp>
        <p:nvSpPr>
          <p:cNvPr id="794" name="Google Shape;794;p51"/>
          <p:cNvSpPr/>
          <p:nvPr/>
        </p:nvSpPr>
        <p:spPr>
          <a:xfrm>
            <a:off x="7814160" y="58320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51</a:t>
            </a:fld>
            <a:endParaRPr sz="1800" b="0" i="0" u="none" strike="noStrike" cap="none">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52"/>
          <p:cNvSpPr/>
          <p:nvPr/>
        </p:nvSpPr>
        <p:spPr>
          <a:xfrm>
            <a:off x="457200" y="3816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Java</a:t>
            </a:r>
            <a:endParaRPr sz="3000" b="0" i="0" u="none" strike="noStrike" cap="none">
              <a:latin typeface="Arial"/>
              <a:ea typeface="Arial"/>
              <a:cs typeface="Arial"/>
              <a:sym typeface="Arial"/>
            </a:endParaRPr>
          </a:p>
        </p:txBody>
      </p:sp>
      <p:sp>
        <p:nvSpPr>
          <p:cNvPr id="800" name="Google Shape;800;p52"/>
          <p:cNvSpPr/>
          <p:nvPr/>
        </p:nvSpPr>
        <p:spPr>
          <a:xfrm>
            <a:off x="395280" y="1413000"/>
            <a:ext cx="8061480" cy="45342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try{  </a:t>
            </a:r>
            <a:endParaRPr sz="1600" b="0" i="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 ...</a:t>
            </a:r>
            <a:endParaRPr sz="1600" b="0" i="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a:t>
            </a:r>
            <a:endParaRPr sz="1600" b="0" i="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Catch (ArthmeticException e)</a:t>
            </a:r>
            <a:endParaRPr sz="1600" b="0" i="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           {   trataArithmeticException(e);}</a:t>
            </a:r>
            <a:endParaRPr sz="1600" b="0" i="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catch (Exception e2)</a:t>
            </a:r>
            <a:endParaRPr sz="1600" b="0" i="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           {   trataTodasLasExcepciones(e2); }</a:t>
            </a:r>
            <a:endParaRPr sz="1600" b="0" i="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Century Schoolbook"/>
              <a:buNone/>
            </a:pPr>
            <a:r>
              <a:rPr lang="es-AR" sz="1600" b="0" i="0" u="none" strike="noStrike" cap="none">
                <a:solidFill>
                  <a:srgbClr val="000000"/>
                </a:solidFill>
                <a:latin typeface="Century Schoolbook"/>
                <a:ea typeface="Century Schoolbook"/>
                <a:cs typeface="Century Schoolbook"/>
                <a:sym typeface="Century Schoolbook"/>
              </a:rPr>
              <a:t>Finally</a:t>
            </a:r>
            <a:r>
              <a:rPr lang="es-AR" sz="1600" b="1" i="0" u="none" strike="noStrike" cap="none">
                <a:solidFill>
                  <a:srgbClr val="000000"/>
                </a:solidFill>
                <a:latin typeface="Century Schoolbook"/>
                <a:ea typeface="Century Schoolbook"/>
                <a:cs typeface="Century Schoolbook"/>
                <a:sym typeface="Century Schoolbook"/>
              </a:rPr>
              <a:t> </a:t>
            </a:r>
            <a:endParaRPr sz="1600" b="0" i="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Century Schoolbook"/>
              <a:buNone/>
            </a:pPr>
            <a:r>
              <a:rPr lang="es-AR" sz="1600" b="1" i="0" u="none" strike="noStrike" cap="none">
                <a:solidFill>
                  <a:srgbClr val="000000"/>
                </a:solidFill>
                <a:latin typeface="Century Schoolbook"/>
                <a:ea typeface="Century Schoolbook"/>
                <a:cs typeface="Century Schoolbook"/>
                <a:sym typeface="Century Schoolbook"/>
              </a:rPr>
              <a:t>           </a:t>
            </a:r>
            <a:r>
              <a:rPr lang="es-AR" sz="1600" b="0" i="0" u="none" strike="noStrike" cap="none">
                <a:solidFill>
                  <a:srgbClr val="000000"/>
                </a:solidFill>
                <a:latin typeface="Century Schoolbook"/>
                <a:ea typeface="Century Schoolbook"/>
                <a:cs typeface="Century Schoolbook"/>
                <a:sym typeface="Century Schoolbook"/>
              </a:rPr>
              <a:t>{   bloque final; }</a:t>
            </a:r>
            <a:endParaRPr sz="1600" b="0" i="0" u="none" strike="noStrike" cap="none">
              <a:latin typeface="Arial"/>
              <a:ea typeface="Arial"/>
              <a:cs typeface="Arial"/>
              <a:sym typeface="Arial"/>
            </a:endParaRPr>
          </a:p>
        </p:txBody>
      </p:sp>
      <p:sp>
        <p:nvSpPr>
          <p:cNvPr id="801" name="Google Shape;801;p52"/>
          <p:cNvSpPr/>
          <p:nvPr/>
        </p:nvSpPr>
        <p:spPr>
          <a:xfrm>
            <a:off x="4859280" y="1989000"/>
            <a:ext cx="3813480" cy="2507040"/>
          </a:xfrm>
          <a:prstGeom prst="rect">
            <a:avLst/>
          </a:prstGeom>
          <a:noFill/>
          <a:ln w="25550" cap="flat" cmpd="sng">
            <a:solidFill>
              <a:srgbClr val="4F81BD"/>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lnSpc>
                <a:spcPct val="97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Puede estar o no</a:t>
            </a:r>
            <a:endParaRPr sz="1800" b="0" i="0" u="none" strike="noStrike" cap="none">
              <a:latin typeface="Arial"/>
              <a:ea typeface="Arial"/>
              <a:cs typeface="Arial"/>
              <a:sym typeface="Arial"/>
            </a:endParaRPr>
          </a:p>
          <a:p>
            <a:pPr marL="0" marR="0" lvl="0" indent="0" algn="l" rtl="0">
              <a:lnSpc>
                <a:spcPct val="97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Si está, la ejecución de su código se realiza cuando se termina la ejecución del bloque Try, se haya o no levantado una excepción. </a:t>
            </a:r>
            <a:endParaRPr sz="1800" b="0" i="0" u="none" strike="noStrike" cap="none">
              <a:latin typeface="Arial"/>
              <a:ea typeface="Arial"/>
              <a:cs typeface="Arial"/>
              <a:sym typeface="Arial"/>
            </a:endParaRPr>
          </a:p>
          <a:p>
            <a:pPr marL="0" marR="0" lvl="0" indent="0" algn="l" rtl="0">
              <a:lnSpc>
                <a:spcPct val="97000"/>
              </a:lnSpc>
              <a:spcBef>
                <a:spcPts val="0"/>
              </a:spcBef>
              <a:spcAft>
                <a:spcPts val="0"/>
              </a:spcAft>
              <a:buSzPts val="1800"/>
              <a:buFont typeface="Arial"/>
              <a:buNone/>
            </a:pPr>
            <a:endParaRPr sz="1800" b="0" i="0" u="none" strike="noStrike" cap="none">
              <a:latin typeface="Arial"/>
              <a:ea typeface="Arial"/>
              <a:cs typeface="Arial"/>
              <a:sym typeface="Arial"/>
            </a:endParaRPr>
          </a:p>
        </p:txBody>
      </p:sp>
      <p:sp>
        <p:nvSpPr>
          <p:cNvPr id="802" name="Google Shape;802;p52"/>
          <p:cNvSpPr/>
          <p:nvPr/>
        </p:nvSpPr>
        <p:spPr>
          <a:xfrm>
            <a:off x="4427640" y="1125360"/>
            <a:ext cx="2302200" cy="357480"/>
          </a:xfrm>
          <a:prstGeom prst="rect">
            <a:avLst/>
          </a:prstGeom>
          <a:noFill/>
          <a:ln w="25550" cap="flat" cmpd="sng">
            <a:solidFill>
              <a:srgbClr val="4F81BD"/>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lnSpc>
                <a:spcPct val="97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Orden correcto</a:t>
            </a:r>
            <a:endParaRPr sz="1800" b="0" i="0" u="none" strike="noStrike" cap="none">
              <a:latin typeface="Arial"/>
              <a:ea typeface="Arial"/>
              <a:cs typeface="Arial"/>
              <a:sym typeface="Arial"/>
            </a:endParaRPr>
          </a:p>
        </p:txBody>
      </p:sp>
      <p:sp>
        <p:nvSpPr>
          <p:cNvPr id="803" name="Google Shape;803;p52"/>
          <p:cNvSpPr/>
          <p:nvPr/>
        </p:nvSpPr>
        <p:spPr>
          <a:xfrm flipH="1">
            <a:off x="2766600" y="1484280"/>
            <a:ext cx="1941840" cy="1221120"/>
          </a:xfrm>
          <a:custGeom>
            <a:avLst/>
            <a:gdLst/>
            <a:ahLst/>
            <a:cxnLst/>
            <a:rect l="l" t="t" r="r" b="b"/>
            <a:pathLst>
              <a:path w="21600" h="21600" extrusionOk="0">
                <a:moveTo>
                  <a:pt x="0" y="0"/>
                </a:moveTo>
                <a:lnTo>
                  <a:pt x="21600" y="21600"/>
                </a:lnTo>
              </a:path>
            </a:pathLst>
          </a:custGeom>
          <a:noFill/>
          <a:ln w="12600" cap="flat" cmpd="sng">
            <a:solidFill>
              <a:srgbClr val="FF6803"/>
            </a:solidFill>
            <a:prstDash val="solid"/>
            <a:round/>
            <a:headEnd type="none" w="sm" len="sm"/>
            <a:tailEnd type="stealth" w="med" len="med"/>
          </a:ln>
        </p:spPr>
      </p:sp>
      <p:sp>
        <p:nvSpPr>
          <p:cNvPr id="804" name="Google Shape;804;p52"/>
          <p:cNvSpPr/>
          <p:nvPr/>
        </p:nvSpPr>
        <p:spPr>
          <a:xfrm flipH="1">
            <a:off x="2408400" y="1484280"/>
            <a:ext cx="2302200" cy="1870200"/>
          </a:xfrm>
          <a:custGeom>
            <a:avLst/>
            <a:gdLst/>
            <a:ahLst/>
            <a:cxnLst/>
            <a:rect l="l" t="t" r="r" b="b"/>
            <a:pathLst>
              <a:path w="21600" h="21600" extrusionOk="0">
                <a:moveTo>
                  <a:pt x="0" y="0"/>
                </a:moveTo>
                <a:lnTo>
                  <a:pt x="21600" y="21600"/>
                </a:lnTo>
              </a:path>
            </a:pathLst>
          </a:custGeom>
          <a:noFill/>
          <a:ln w="12600" cap="flat" cmpd="sng">
            <a:solidFill>
              <a:srgbClr val="FF6803"/>
            </a:solidFill>
            <a:prstDash val="solid"/>
            <a:round/>
            <a:headEnd type="none" w="sm" len="sm"/>
            <a:tailEnd type="stealth" w="med" len="med"/>
          </a:ln>
        </p:spPr>
      </p:sp>
      <p:sp>
        <p:nvSpPr>
          <p:cNvPr id="805" name="Google Shape;805;p52"/>
          <p:cNvSpPr/>
          <p:nvPr/>
        </p:nvSpPr>
        <p:spPr>
          <a:xfrm>
            <a:off x="179280" y="4149720"/>
            <a:ext cx="1941840" cy="893880"/>
          </a:xfrm>
          <a:prstGeom prst="rect">
            <a:avLst/>
          </a:prstGeom>
          <a:noFill/>
          <a:ln w="25550" cap="flat" cmpd="sng">
            <a:solidFill>
              <a:srgbClr val="4F81BD"/>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lnSpc>
                <a:spcPct val="97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Propagación, </a:t>
            </a:r>
            <a:endParaRPr sz="1800" b="0" i="0" u="none" strike="noStrike" cap="none">
              <a:latin typeface="Arial"/>
              <a:ea typeface="Arial"/>
              <a:cs typeface="Arial"/>
              <a:sym typeface="Arial"/>
            </a:endParaRPr>
          </a:p>
          <a:p>
            <a:pPr marL="0" marR="0" lvl="0" indent="0" algn="l" rtl="0">
              <a:lnSpc>
                <a:spcPct val="97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bloques  Try anidados</a:t>
            </a:r>
            <a:endParaRPr sz="1800" b="0" i="0" u="none" strike="noStrike" cap="none">
              <a:latin typeface="Arial"/>
              <a:ea typeface="Arial"/>
              <a:cs typeface="Arial"/>
              <a:sym typeface="Arial"/>
            </a:endParaRPr>
          </a:p>
        </p:txBody>
      </p:sp>
      <p:sp>
        <p:nvSpPr>
          <p:cNvPr id="806" name="Google Shape;806;p52"/>
          <p:cNvSpPr/>
          <p:nvPr/>
        </p:nvSpPr>
        <p:spPr>
          <a:xfrm>
            <a:off x="2195640" y="4616280"/>
            <a:ext cx="6045480" cy="1851480"/>
          </a:xfrm>
          <a:prstGeom prst="rect">
            <a:avLst/>
          </a:prstGeom>
          <a:noFill/>
          <a:ln w="25550" cap="flat" cmpd="sng">
            <a:solidFill>
              <a:srgbClr val="4F81BD"/>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lnSpc>
                <a:spcPct val="97000"/>
              </a:lnSpc>
              <a:spcBef>
                <a:spcPts val="0"/>
              </a:spcBef>
              <a:spcAft>
                <a:spcPts val="0"/>
              </a:spcAft>
              <a:buClr>
                <a:srgbClr val="000000"/>
              </a:buClr>
              <a:buSzPts val="1400"/>
              <a:buFont typeface="Arial"/>
              <a:buNone/>
            </a:pPr>
            <a:r>
              <a:rPr lang="es-AR" sz="1400" b="0" i="0" u="none" strike="noStrike" cap="none">
                <a:solidFill>
                  <a:srgbClr val="000000"/>
                </a:solidFill>
                <a:latin typeface="Arial"/>
                <a:ea typeface="Arial"/>
                <a:cs typeface="Arial"/>
                <a:sym typeface="Arial"/>
              </a:rPr>
              <a:t>// demuestra cómo lanzar una excepción cuando ocurre una división entre cero </a:t>
            </a:r>
            <a:endParaRPr sz="1400" b="0" i="0" u="none" strike="noStrike" cap="none">
              <a:latin typeface="Arial"/>
              <a:ea typeface="Arial"/>
              <a:cs typeface="Arial"/>
              <a:sym typeface="Arial"/>
            </a:endParaRPr>
          </a:p>
          <a:p>
            <a:pPr marL="0" marR="0" lvl="0" indent="0" algn="l" rtl="0">
              <a:lnSpc>
                <a:spcPct val="97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   public int cociente( int numerador, int denominador ) </a:t>
            </a:r>
            <a:endParaRPr sz="1800" b="0" i="0" u="none" strike="noStrike" cap="none">
              <a:latin typeface="Arial"/>
              <a:ea typeface="Arial"/>
              <a:cs typeface="Arial"/>
              <a:sym typeface="Arial"/>
            </a:endParaRPr>
          </a:p>
          <a:p>
            <a:pPr marL="0" marR="0" lvl="0" indent="0" algn="l" rtl="0">
              <a:lnSpc>
                <a:spcPct val="97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      </a:t>
            </a:r>
            <a:r>
              <a:rPr lang="es-AR" sz="1800" b="1" i="0" u="none" strike="noStrike" cap="none">
                <a:solidFill>
                  <a:srgbClr val="000000"/>
                </a:solidFill>
                <a:latin typeface="Arial"/>
                <a:ea typeface="Arial"/>
                <a:cs typeface="Arial"/>
                <a:sym typeface="Arial"/>
              </a:rPr>
              <a:t>throws</a:t>
            </a:r>
            <a:r>
              <a:rPr lang="es-AR" sz="1800" b="0" i="0" u="none" strike="noStrike" cap="none">
                <a:solidFill>
                  <a:srgbClr val="000000"/>
                </a:solidFill>
                <a:latin typeface="Arial"/>
                <a:ea typeface="Arial"/>
                <a:cs typeface="Arial"/>
                <a:sym typeface="Arial"/>
              </a:rPr>
              <a:t> ArithmeticException </a:t>
            </a:r>
            <a:endParaRPr sz="1800" b="0" i="0" u="none" strike="noStrike" cap="none">
              <a:latin typeface="Arial"/>
              <a:ea typeface="Arial"/>
              <a:cs typeface="Arial"/>
              <a:sym typeface="Arial"/>
            </a:endParaRPr>
          </a:p>
          <a:p>
            <a:pPr marL="0" marR="0" lvl="0" indent="0" algn="l" rtl="0">
              <a:lnSpc>
                <a:spcPct val="97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   { </a:t>
            </a:r>
            <a:endParaRPr sz="1800" b="0" i="0" u="none" strike="noStrike" cap="none">
              <a:latin typeface="Arial"/>
              <a:ea typeface="Arial"/>
              <a:cs typeface="Arial"/>
              <a:sym typeface="Arial"/>
            </a:endParaRPr>
          </a:p>
          <a:p>
            <a:pPr marL="0" marR="0" lvl="0" indent="0" algn="l" rtl="0">
              <a:lnSpc>
                <a:spcPct val="97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      return numerador / denominador; </a:t>
            </a:r>
            <a:endParaRPr sz="1800" b="0" i="0" u="none" strike="noStrike" cap="none">
              <a:latin typeface="Arial"/>
              <a:ea typeface="Arial"/>
              <a:cs typeface="Arial"/>
              <a:sym typeface="Arial"/>
            </a:endParaRPr>
          </a:p>
          <a:p>
            <a:pPr marL="0" marR="0" lvl="0" indent="0" algn="l" rtl="0">
              <a:lnSpc>
                <a:spcPct val="97000"/>
              </a:lnSpc>
              <a:spcBef>
                <a:spcPts val="0"/>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   } </a:t>
            </a:r>
            <a:endParaRPr sz="1800" b="0" i="0" u="none" strike="noStrike" cap="none">
              <a:latin typeface="Arial"/>
              <a:ea typeface="Arial"/>
              <a:cs typeface="Arial"/>
              <a:sym typeface="Arial"/>
            </a:endParaRPr>
          </a:p>
        </p:txBody>
      </p:sp>
      <p:sp>
        <p:nvSpPr>
          <p:cNvPr id="807" name="Google Shape;807;p52"/>
          <p:cNvSpPr/>
          <p:nvPr/>
        </p:nvSpPr>
        <p:spPr>
          <a:xfrm rot="10800000">
            <a:off x="1622520" y="3647520"/>
            <a:ext cx="3237480" cy="69120"/>
          </a:xfrm>
          <a:custGeom>
            <a:avLst/>
            <a:gdLst/>
            <a:ahLst/>
            <a:cxnLst/>
            <a:rect l="l" t="t" r="r" b="b"/>
            <a:pathLst>
              <a:path w="21600" h="21600" extrusionOk="0">
                <a:moveTo>
                  <a:pt x="0" y="0"/>
                </a:moveTo>
                <a:lnTo>
                  <a:pt x="21600" y="21600"/>
                </a:lnTo>
              </a:path>
            </a:pathLst>
          </a:custGeom>
          <a:noFill/>
          <a:ln w="12600" cap="flat" cmpd="sng">
            <a:solidFill>
              <a:srgbClr val="FF6803"/>
            </a:solidFill>
            <a:prstDash val="solid"/>
            <a:round/>
            <a:headEnd type="none" w="sm" len="sm"/>
            <a:tailEnd type="stealth" w="med" len="med"/>
          </a:ln>
        </p:spPr>
      </p:sp>
      <p:sp>
        <p:nvSpPr>
          <p:cNvPr id="808" name="Google Shape;808;p52"/>
          <p:cNvSpPr/>
          <p:nvPr/>
        </p:nvSpPr>
        <p:spPr>
          <a:xfrm>
            <a:off x="147600" y="6426000"/>
            <a:ext cx="7769880" cy="42948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s-AR" sz="1800" b="1" i="0" u="none" strike="noStrike" cap="none">
                <a:solidFill>
                  <a:srgbClr val="000000"/>
                </a:solidFill>
                <a:latin typeface="Arial"/>
                <a:ea typeface="Arial"/>
                <a:cs typeface="Arial"/>
                <a:sym typeface="Arial"/>
              </a:rPr>
              <a:t>Veamos un ejemplo en</a:t>
            </a:r>
            <a:r>
              <a:rPr lang="es-AR" sz="1800" b="0" i="0" u="none" strike="noStrike" cap="none">
                <a:solidFill>
                  <a:srgbClr val="000000"/>
                </a:solidFill>
                <a:latin typeface="Arial"/>
                <a:ea typeface="Arial"/>
                <a:cs typeface="Arial"/>
                <a:sym typeface="Arial"/>
              </a:rPr>
              <a:t> </a:t>
            </a:r>
            <a:r>
              <a:rPr lang="es-AR" sz="1800" b="0" i="0" u="sng" strike="noStrike" cap="none">
                <a:solidFill>
                  <a:srgbClr val="0000FF"/>
                </a:solidFill>
                <a:latin typeface="Arial"/>
                <a:ea typeface="Arial"/>
                <a:cs typeface="Arial"/>
                <a:sym typeface="Arial"/>
                <a:hlinkClick r:id="rId3">
                  <a:extLst>
                    <a:ext uri="{A12FA001-AC4F-418D-AE19-62706E023703}">
                      <ahyp:hlinkClr xmlns:ahyp="http://schemas.microsoft.com/office/drawing/2018/hyperlinkcolor" val="tx"/>
                    </a:ext>
                  </a:extLst>
                </a:hlinkClick>
              </a:rPr>
              <a:t>compilador online (java)</a:t>
            </a:r>
            <a:endParaRPr sz="1800" b="0" i="0" u="none" strike="noStrike" cap="none">
              <a:latin typeface="Arial"/>
              <a:ea typeface="Arial"/>
              <a:cs typeface="Arial"/>
              <a:sym typeface="Arial"/>
            </a:endParaRPr>
          </a:p>
        </p:txBody>
      </p:sp>
      <p:sp>
        <p:nvSpPr>
          <p:cNvPr id="809" name="Google Shape;809;p52"/>
          <p:cNvSpPr/>
          <p:nvPr/>
        </p:nvSpPr>
        <p:spPr>
          <a:xfrm>
            <a:off x="7811640" y="58320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52</a:t>
            </a:fld>
            <a:endParaRPr sz="1800" b="0" i="0" u="none" strike="noStrike" cap="none">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08">
                                            <p:txEl>
                                              <p:pRg st="0" end="0"/>
                                            </p:txEl>
                                          </p:spTgt>
                                        </p:tgtEl>
                                        <p:attrNameLst>
                                          <p:attrName>style.visibility</p:attrName>
                                        </p:attrNameLst>
                                      </p:cBhvr>
                                      <p:to>
                                        <p:strVal val="visible"/>
                                      </p:to>
                                    </p:set>
                                    <p:anim calcmode="lin" valueType="num">
                                      <p:cBhvr additive="base">
                                        <p:cTn id="7" dur="500"/>
                                        <p:tgtEl>
                                          <p:spTgt spid="80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p53"/>
          <p:cNvSpPr/>
          <p:nvPr/>
        </p:nvSpPr>
        <p:spPr>
          <a:xfrm>
            <a:off x="287280" y="-30240"/>
            <a:ext cx="7464600" cy="80208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phyton</a:t>
            </a:r>
            <a:endParaRPr sz="3000" b="0" i="0" u="none" strike="noStrike" cap="none">
              <a:latin typeface="Arial"/>
              <a:ea typeface="Arial"/>
              <a:cs typeface="Arial"/>
              <a:sym typeface="Arial"/>
            </a:endParaRPr>
          </a:p>
        </p:txBody>
      </p:sp>
      <p:sp>
        <p:nvSpPr>
          <p:cNvPr id="815" name="Google Shape;815;p53"/>
          <p:cNvSpPr/>
          <p:nvPr/>
        </p:nvSpPr>
        <p:spPr>
          <a:xfrm>
            <a:off x="216000" y="720000"/>
            <a:ext cx="8676000" cy="6135480"/>
          </a:xfrm>
          <a:prstGeom prst="rect">
            <a:avLst/>
          </a:prstGeom>
          <a:noFill/>
          <a:ln>
            <a:noFill/>
          </a:ln>
        </p:spPr>
        <p:txBody>
          <a:bodyPr spcFirstLastPara="1" wrap="square" lIns="90000" tIns="45000" rIns="90000" bIns="45000" anchor="t" anchorCtr="0">
            <a:noAutofit/>
          </a:bodyPr>
          <a:lstStyle/>
          <a:p>
            <a:pPr marL="457200" marR="0" lvl="0" indent="-332640" algn="l" rtl="0">
              <a:lnSpc>
                <a:spcPct val="100000"/>
              </a:lnSpc>
              <a:spcBef>
                <a:spcPts val="0"/>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Se manejan a través de bloques try except</a:t>
            </a:r>
            <a:endParaRPr sz="2400" b="0" i="0" u="none" strike="noStrike" cap="none">
              <a:latin typeface="Arial"/>
              <a:ea typeface="Arial"/>
              <a:cs typeface="Arial"/>
              <a:sym typeface="Arial"/>
            </a:endParaRPr>
          </a:p>
          <a:p>
            <a:pPr marL="88920" marR="0" lvl="0" indent="0" algn="l" rtl="0">
              <a:lnSpc>
                <a:spcPct val="142000"/>
              </a:lnSpc>
              <a:spcBef>
                <a:spcPts val="0"/>
              </a:spcBef>
              <a:spcAft>
                <a:spcPts val="0"/>
              </a:spcAft>
              <a:buClr>
                <a:srgbClr val="C65D09"/>
              </a:buClr>
              <a:buSzPts val="1200"/>
              <a:buFont typeface="Consolas"/>
              <a:buNone/>
            </a:pPr>
            <a:r>
              <a:rPr lang="es-AR" sz="1200" b="1" i="0" u="none" strike="noStrike" cap="none">
                <a:solidFill>
                  <a:srgbClr val="C65D09"/>
                </a:solidFill>
                <a:latin typeface="Consolas"/>
                <a:ea typeface="Consolas"/>
                <a:cs typeface="Consolas"/>
                <a:sym typeface="Consolas"/>
              </a:rPr>
              <a:t>&gt;&gt;&gt; </a:t>
            </a:r>
            <a:r>
              <a:rPr lang="es-AR" sz="1200" b="1" i="0" u="none" strike="noStrike" cap="none">
                <a:solidFill>
                  <a:srgbClr val="007020"/>
                </a:solidFill>
                <a:latin typeface="Consolas"/>
                <a:ea typeface="Consolas"/>
                <a:cs typeface="Consolas"/>
                <a:sym typeface="Consolas"/>
              </a:rPr>
              <a:t>while</a:t>
            </a:r>
            <a:r>
              <a:rPr lang="es-AR" sz="1200" b="0" i="0" u="none" strike="noStrike" cap="none">
                <a:solidFill>
                  <a:srgbClr val="333333"/>
                </a:solidFill>
                <a:latin typeface="Consolas"/>
                <a:ea typeface="Consolas"/>
                <a:cs typeface="Consolas"/>
                <a:sym typeface="Consolas"/>
              </a:rPr>
              <a:t> </a:t>
            </a:r>
            <a:r>
              <a:rPr lang="es-AR" sz="1200" b="0" i="0" u="none" strike="noStrike" cap="none">
                <a:solidFill>
                  <a:srgbClr val="007020"/>
                </a:solidFill>
                <a:latin typeface="Consolas"/>
                <a:ea typeface="Consolas"/>
                <a:cs typeface="Consolas"/>
                <a:sym typeface="Consolas"/>
              </a:rPr>
              <a:t>True</a:t>
            </a:r>
            <a:r>
              <a:rPr lang="es-AR" sz="1200" b="0" i="0" u="none" strike="noStrike" cap="none">
                <a:solidFill>
                  <a:srgbClr val="333333"/>
                </a:solidFill>
                <a:latin typeface="Consolas"/>
                <a:ea typeface="Consolas"/>
                <a:cs typeface="Consolas"/>
                <a:sym typeface="Consolas"/>
              </a:rPr>
              <a:t>:</a:t>
            </a:r>
            <a:br>
              <a:rPr lang="es-AR" sz="1800" b="0" i="0" u="none" strike="noStrike" cap="none">
                <a:latin typeface="Arial"/>
                <a:ea typeface="Arial"/>
                <a:cs typeface="Arial"/>
                <a:sym typeface="Arial"/>
              </a:rPr>
            </a:br>
            <a:r>
              <a:rPr lang="es-AR" sz="1200" b="1" i="0" u="none" strike="noStrike" cap="none">
                <a:solidFill>
                  <a:srgbClr val="C65D09"/>
                </a:solidFill>
                <a:latin typeface="Consolas"/>
                <a:ea typeface="Consolas"/>
                <a:cs typeface="Consolas"/>
                <a:sym typeface="Consolas"/>
              </a:rPr>
              <a:t>... </a:t>
            </a:r>
            <a:r>
              <a:rPr lang="es-AR" sz="1200" b="0" i="0" u="none" strike="noStrike" cap="none">
                <a:solidFill>
                  <a:srgbClr val="333333"/>
                </a:solidFill>
                <a:latin typeface="Consolas"/>
                <a:ea typeface="Consolas"/>
                <a:cs typeface="Consolas"/>
                <a:sym typeface="Consolas"/>
              </a:rPr>
              <a:t>   </a:t>
            </a:r>
            <a:r>
              <a:rPr lang="es-AR" sz="1200" b="1" i="0" u="none" strike="noStrike" cap="none">
                <a:solidFill>
                  <a:srgbClr val="007020"/>
                </a:solidFill>
                <a:latin typeface="Consolas"/>
                <a:ea typeface="Consolas"/>
                <a:cs typeface="Consolas"/>
                <a:sym typeface="Consolas"/>
              </a:rPr>
              <a:t>try</a:t>
            </a:r>
            <a:r>
              <a:rPr lang="es-AR" sz="1200" b="0" i="0" u="none" strike="noStrike" cap="none">
                <a:solidFill>
                  <a:srgbClr val="333333"/>
                </a:solidFill>
                <a:latin typeface="Consolas"/>
                <a:ea typeface="Consolas"/>
                <a:cs typeface="Consolas"/>
                <a:sym typeface="Consolas"/>
              </a:rPr>
              <a:t>:</a:t>
            </a:r>
            <a:br>
              <a:rPr lang="es-AR" sz="1800" b="0" i="0" u="none" strike="noStrike" cap="none">
                <a:latin typeface="Arial"/>
                <a:ea typeface="Arial"/>
                <a:cs typeface="Arial"/>
                <a:sym typeface="Arial"/>
              </a:rPr>
            </a:br>
            <a:r>
              <a:rPr lang="es-AR" sz="1200" b="1" i="0" u="none" strike="noStrike" cap="none">
                <a:solidFill>
                  <a:srgbClr val="C65D09"/>
                </a:solidFill>
                <a:latin typeface="Consolas"/>
                <a:ea typeface="Consolas"/>
                <a:cs typeface="Consolas"/>
                <a:sym typeface="Consolas"/>
              </a:rPr>
              <a:t>... </a:t>
            </a:r>
            <a:r>
              <a:rPr lang="es-AR" sz="1200" b="0" i="0" u="none" strike="noStrike" cap="none">
                <a:solidFill>
                  <a:srgbClr val="333333"/>
                </a:solidFill>
                <a:latin typeface="Consolas"/>
                <a:ea typeface="Consolas"/>
                <a:cs typeface="Consolas"/>
                <a:sym typeface="Consolas"/>
              </a:rPr>
              <a:t>       x </a:t>
            </a:r>
            <a:r>
              <a:rPr lang="es-AR" sz="1200" b="0" i="0" u="none" strike="noStrike" cap="none">
                <a:solidFill>
                  <a:srgbClr val="666666"/>
                </a:solidFill>
                <a:latin typeface="Consolas"/>
                <a:ea typeface="Consolas"/>
                <a:cs typeface="Consolas"/>
                <a:sym typeface="Consolas"/>
              </a:rPr>
              <a:t>=</a:t>
            </a:r>
            <a:r>
              <a:rPr lang="es-AR" sz="1200" b="0" i="0" u="none" strike="noStrike" cap="none">
                <a:solidFill>
                  <a:srgbClr val="333333"/>
                </a:solidFill>
                <a:latin typeface="Consolas"/>
                <a:ea typeface="Consolas"/>
                <a:cs typeface="Consolas"/>
                <a:sym typeface="Consolas"/>
              </a:rPr>
              <a:t> </a:t>
            </a:r>
            <a:r>
              <a:rPr lang="es-AR" sz="1200" b="0" i="0" u="none" strike="noStrike" cap="none">
                <a:solidFill>
                  <a:srgbClr val="007020"/>
                </a:solidFill>
                <a:latin typeface="Consolas"/>
                <a:ea typeface="Consolas"/>
                <a:cs typeface="Consolas"/>
                <a:sym typeface="Consolas"/>
              </a:rPr>
              <a:t>int</a:t>
            </a:r>
            <a:r>
              <a:rPr lang="es-AR" sz="1200" b="0" i="0" u="none" strike="noStrike" cap="none">
                <a:solidFill>
                  <a:srgbClr val="333333"/>
                </a:solidFill>
                <a:latin typeface="Consolas"/>
                <a:ea typeface="Consolas"/>
                <a:cs typeface="Consolas"/>
                <a:sym typeface="Consolas"/>
              </a:rPr>
              <a:t>(</a:t>
            </a:r>
            <a:r>
              <a:rPr lang="es-AR" sz="1200" b="0" i="0" u="none" strike="noStrike" cap="none">
                <a:solidFill>
                  <a:srgbClr val="007020"/>
                </a:solidFill>
                <a:latin typeface="Consolas"/>
                <a:ea typeface="Consolas"/>
                <a:cs typeface="Consolas"/>
                <a:sym typeface="Consolas"/>
              </a:rPr>
              <a:t>input</a:t>
            </a:r>
            <a:r>
              <a:rPr lang="es-AR" sz="1200" b="0" i="0" u="none" strike="noStrike" cap="none">
                <a:solidFill>
                  <a:srgbClr val="333333"/>
                </a:solidFill>
                <a:latin typeface="Consolas"/>
                <a:ea typeface="Consolas"/>
                <a:cs typeface="Consolas"/>
                <a:sym typeface="Consolas"/>
              </a:rPr>
              <a:t>(</a:t>
            </a:r>
            <a:r>
              <a:rPr lang="es-AR" sz="1200" b="0" i="0" u="none" strike="noStrike" cap="none">
                <a:solidFill>
                  <a:srgbClr val="4070A0"/>
                </a:solidFill>
                <a:latin typeface="Consolas"/>
                <a:ea typeface="Consolas"/>
                <a:cs typeface="Consolas"/>
                <a:sym typeface="Consolas"/>
              </a:rPr>
              <a:t>"Por favor ingrese un número: "</a:t>
            </a:r>
            <a:r>
              <a:rPr lang="es-AR" sz="1200" b="0" i="0" u="none" strike="noStrike" cap="none">
                <a:solidFill>
                  <a:srgbClr val="333333"/>
                </a:solidFill>
                <a:latin typeface="Consolas"/>
                <a:ea typeface="Consolas"/>
                <a:cs typeface="Consolas"/>
                <a:sym typeface="Consolas"/>
              </a:rPr>
              <a:t>))</a:t>
            </a:r>
            <a:br>
              <a:rPr lang="es-AR" sz="1800" b="0" i="0" u="none" strike="noStrike" cap="none">
                <a:latin typeface="Arial"/>
                <a:ea typeface="Arial"/>
                <a:cs typeface="Arial"/>
                <a:sym typeface="Arial"/>
              </a:rPr>
            </a:br>
            <a:r>
              <a:rPr lang="es-AR" sz="1200" b="1" i="0" u="none" strike="noStrike" cap="none">
                <a:solidFill>
                  <a:srgbClr val="C65D09"/>
                </a:solidFill>
                <a:latin typeface="Consolas"/>
                <a:ea typeface="Consolas"/>
                <a:cs typeface="Consolas"/>
                <a:sym typeface="Consolas"/>
              </a:rPr>
              <a:t>... </a:t>
            </a:r>
            <a:r>
              <a:rPr lang="es-AR" sz="1200" b="0" i="0" u="none" strike="noStrike" cap="none">
                <a:solidFill>
                  <a:srgbClr val="333333"/>
                </a:solidFill>
                <a:latin typeface="Consolas"/>
                <a:ea typeface="Consolas"/>
                <a:cs typeface="Consolas"/>
                <a:sym typeface="Consolas"/>
              </a:rPr>
              <a:t>       </a:t>
            </a:r>
            <a:r>
              <a:rPr lang="es-AR" sz="1200" b="1" i="0" u="none" strike="noStrike" cap="none">
                <a:solidFill>
                  <a:srgbClr val="007020"/>
                </a:solidFill>
                <a:latin typeface="Consolas"/>
                <a:ea typeface="Consolas"/>
                <a:cs typeface="Consolas"/>
                <a:sym typeface="Consolas"/>
              </a:rPr>
              <a:t>break</a:t>
            </a:r>
            <a:br>
              <a:rPr lang="es-AR" sz="1800" b="0" i="0" u="none" strike="noStrike" cap="none">
                <a:latin typeface="Arial"/>
                <a:ea typeface="Arial"/>
                <a:cs typeface="Arial"/>
                <a:sym typeface="Arial"/>
              </a:rPr>
            </a:br>
            <a:r>
              <a:rPr lang="es-AR" sz="1200" b="1" i="0" u="none" strike="noStrike" cap="none">
                <a:solidFill>
                  <a:srgbClr val="C65D09"/>
                </a:solidFill>
                <a:latin typeface="Consolas"/>
                <a:ea typeface="Consolas"/>
                <a:cs typeface="Consolas"/>
                <a:sym typeface="Consolas"/>
              </a:rPr>
              <a:t>... </a:t>
            </a:r>
            <a:r>
              <a:rPr lang="es-AR" sz="1200" b="0" i="0" u="none" strike="noStrike" cap="none">
                <a:solidFill>
                  <a:srgbClr val="333333"/>
                </a:solidFill>
                <a:latin typeface="Consolas"/>
                <a:ea typeface="Consolas"/>
                <a:cs typeface="Consolas"/>
                <a:sym typeface="Consolas"/>
              </a:rPr>
              <a:t>   </a:t>
            </a:r>
            <a:r>
              <a:rPr lang="es-AR" sz="1200" b="1" i="0" u="none" strike="noStrike" cap="none">
                <a:solidFill>
                  <a:srgbClr val="007020"/>
                </a:solidFill>
                <a:latin typeface="Consolas"/>
                <a:ea typeface="Consolas"/>
                <a:cs typeface="Consolas"/>
                <a:sym typeface="Consolas"/>
              </a:rPr>
              <a:t>except</a:t>
            </a:r>
            <a:r>
              <a:rPr lang="es-AR" sz="1200" b="0" i="0" u="none" strike="noStrike" cap="none">
                <a:solidFill>
                  <a:srgbClr val="333333"/>
                </a:solidFill>
                <a:latin typeface="Consolas"/>
                <a:ea typeface="Consolas"/>
                <a:cs typeface="Consolas"/>
                <a:sym typeface="Consolas"/>
              </a:rPr>
              <a:t> </a:t>
            </a:r>
            <a:r>
              <a:rPr lang="es-AR" sz="1200" b="0" i="0" u="none" strike="noStrike" cap="none">
                <a:solidFill>
                  <a:srgbClr val="007020"/>
                </a:solidFill>
                <a:latin typeface="Consolas"/>
                <a:ea typeface="Consolas"/>
                <a:cs typeface="Consolas"/>
                <a:sym typeface="Consolas"/>
              </a:rPr>
              <a:t>ValueError</a:t>
            </a:r>
            <a:r>
              <a:rPr lang="es-AR" sz="1200" b="0" i="0" u="none" strike="noStrike" cap="none">
                <a:solidFill>
                  <a:srgbClr val="333333"/>
                </a:solidFill>
                <a:latin typeface="Consolas"/>
                <a:ea typeface="Consolas"/>
                <a:cs typeface="Consolas"/>
                <a:sym typeface="Consolas"/>
              </a:rPr>
              <a:t>:</a:t>
            </a:r>
            <a:br>
              <a:rPr lang="es-AR" sz="1800" b="0" i="0" u="none" strike="noStrike" cap="none">
                <a:latin typeface="Arial"/>
                <a:ea typeface="Arial"/>
                <a:cs typeface="Arial"/>
                <a:sym typeface="Arial"/>
              </a:rPr>
            </a:br>
            <a:r>
              <a:rPr lang="es-AR" sz="1200" b="1" i="0" u="none" strike="noStrike" cap="none">
                <a:solidFill>
                  <a:srgbClr val="C65D09"/>
                </a:solidFill>
                <a:latin typeface="Consolas"/>
                <a:ea typeface="Consolas"/>
                <a:cs typeface="Consolas"/>
                <a:sym typeface="Consolas"/>
              </a:rPr>
              <a:t>... </a:t>
            </a:r>
            <a:r>
              <a:rPr lang="es-AR" sz="1200" b="0" i="0" u="none" strike="noStrike" cap="none">
                <a:solidFill>
                  <a:srgbClr val="333333"/>
                </a:solidFill>
                <a:latin typeface="Consolas"/>
                <a:ea typeface="Consolas"/>
                <a:cs typeface="Consolas"/>
                <a:sym typeface="Consolas"/>
              </a:rPr>
              <a:t>       </a:t>
            </a:r>
            <a:r>
              <a:rPr lang="es-AR" sz="1200" b="1" i="0" u="none" strike="noStrike" cap="none">
                <a:solidFill>
                  <a:srgbClr val="007020"/>
                </a:solidFill>
                <a:latin typeface="Consolas"/>
                <a:ea typeface="Consolas"/>
                <a:cs typeface="Consolas"/>
                <a:sym typeface="Consolas"/>
              </a:rPr>
              <a:t>print</a:t>
            </a:r>
            <a:r>
              <a:rPr lang="es-AR" sz="1200" b="0" i="0" u="none" strike="noStrike" cap="none">
                <a:solidFill>
                  <a:srgbClr val="333333"/>
                </a:solidFill>
                <a:latin typeface="Consolas"/>
                <a:ea typeface="Consolas"/>
                <a:cs typeface="Consolas"/>
                <a:sym typeface="Consolas"/>
              </a:rPr>
              <a:t>(</a:t>
            </a:r>
            <a:r>
              <a:rPr lang="es-AR" sz="1200" b="0" i="0" u="none" strike="noStrike" cap="none">
                <a:solidFill>
                  <a:srgbClr val="4070A0"/>
                </a:solidFill>
                <a:latin typeface="Consolas"/>
                <a:ea typeface="Consolas"/>
                <a:cs typeface="Consolas"/>
                <a:sym typeface="Consolas"/>
              </a:rPr>
              <a:t>"Oops! No era válido. Intente nuevamente..."</a:t>
            </a:r>
            <a:r>
              <a:rPr lang="es-AR" sz="1200" b="0" i="0" u="none" strike="noStrike" cap="none">
                <a:solidFill>
                  <a:srgbClr val="333333"/>
                </a:solidFill>
                <a:latin typeface="Consolas"/>
                <a:ea typeface="Consolas"/>
                <a:cs typeface="Consolas"/>
                <a:sym typeface="Consolas"/>
              </a:rPr>
              <a:t>)</a:t>
            </a:r>
            <a:endParaRPr sz="1200" b="0" i="0" u="none" strike="noStrike" cap="none">
              <a:latin typeface="Arial"/>
              <a:ea typeface="Arial"/>
              <a:cs typeface="Arial"/>
              <a:sym typeface="Arial"/>
            </a:endParaRPr>
          </a:p>
          <a:p>
            <a:pPr marL="88920" marR="0" lvl="0" indent="0" algn="l" rtl="0">
              <a:lnSpc>
                <a:spcPct val="115000"/>
              </a:lnSpc>
              <a:spcBef>
                <a:spcPts val="799"/>
              </a:spcBef>
              <a:spcAft>
                <a:spcPts val="0"/>
              </a:spcAft>
              <a:buClr>
                <a:srgbClr val="000000"/>
              </a:buClr>
              <a:buSzPts val="1800"/>
              <a:buFont typeface="Arial"/>
              <a:buNone/>
            </a:pPr>
            <a:r>
              <a:rPr lang="es-AR" sz="1800" b="0" i="0" u="none" strike="noStrike" cap="none">
                <a:solidFill>
                  <a:srgbClr val="000000"/>
                </a:solidFill>
                <a:latin typeface="Arial"/>
                <a:ea typeface="Arial"/>
                <a:cs typeface="Arial"/>
                <a:sym typeface="Arial"/>
              </a:rPr>
              <a:t>La declaración </a:t>
            </a:r>
            <a:r>
              <a:rPr lang="es-AR" sz="1800" b="1" i="0" u="sng" strike="noStrike" cap="none">
                <a:solidFill>
                  <a:srgbClr val="0000FF"/>
                </a:solidFill>
                <a:latin typeface="Arial"/>
                <a:ea typeface="Arial"/>
                <a:cs typeface="Arial"/>
                <a:sym typeface="Arial"/>
                <a:hlinkClick r:id="rId3">
                  <a:extLst>
                    <a:ext uri="{A12FA001-AC4F-418D-AE19-62706E023703}">
                      <ahyp:hlinkClr xmlns:ahyp="http://schemas.microsoft.com/office/drawing/2018/hyperlinkcolor" val="tx"/>
                    </a:ext>
                  </a:extLst>
                </a:hlinkClick>
              </a:rPr>
              <a:t>try</a:t>
            </a:r>
            <a:r>
              <a:rPr lang="es-AR" sz="1800" b="0" i="0" u="none" strike="noStrike" cap="none">
                <a:solidFill>
                  <a:srgbClr val="333333"/>
                </a:solidFill>
                <a:latin typeface="Arial"/>
                <a:ea typeface="Arial"/>
                <a:cs typeface="Arial"/>
                <a:sym typeface="Arial"/>
              </a:rPr>
              <a:t> </a:t>
            </a:r>
            <a:r>
              <a:rPr lang="es-AR" sz="1800" b="0" i="0" u="none" strike="noStrike" cap="none">
                <a:solidFill>
                  <a:srgbClr val="000000"/>
                </a:solidFill>
                <a:latin typeface="Arial"/>
                <a:ea typeface="Arial"/>
                <a:cs typeface="Arial"/>
                <a:sym typeface="Arial"/>
              </a:rPr>
              <a:t>funciona de la siguiente manera:</a:t>
            </a:r>
            <a:endParaRPr sz="1800" b="0" i="0" u="none" strike="noStrike" cap="none">
              <a:latin typeface="Arial"/>
              <a:ea typeface="Arial"/>
              <a:cs typeface="Arial"/>
              <a:sym typeface="Arial"/>
            </a:endParaRPr>
          </a:p>
          <a:p>
            <a:pPr marL="457200" marR="0" lvl="0" indent="-302400" algn="l" rtl="0">
              <a:lnSpc>
                <a:spcPct val="115000"/>
              </a:lnSpc>
              <a:spcBef>
                <a:spcPts val="799"/>
              </a:spcBef>
              <a:spcAft>
                <a:spcPts val="0"/>
              </a:spcAft>
              <a:buClr>
                <a:srgbClr val="FE8637"/>
              </a:buClr>
              <a:buSzPts val="1800"/>
              <a:buFont typeface="Arial"/>
              <a:buChar char="•"/>
            </a:pPr>
            <a:r>
              <a:rPr lang="es-AR" sz="1800" b="0" i="0" u="none" strike="noStrike" cap="none">
                <a:solidFill>
                  <a:srgbClr val="000000"/>
                </a:solidFill>
                <a:latin typeface="Arial"/>
                <a:ea typeface="Arial"/>
                <a:cs typeface="Arial"/>
                <a:sym typeface="Arial"/>
              </a:rPr>
              <a:t>Primero, se ejecuta el </a:t>
            </a:r>
            <a:r>
              <a:rPr lang="es-AR" sz="1800" b="0" i="1" u="none" strike="noStrike" cap="none">
                <a:solidFill>
                  <a:srgbClr val="000000"/>
                </a:solidFill>
                <a:latin typeface="Arial"/>
                <a:ea typeface="Arial"/>
                <a:cs typeface="Arial"/>
                <a:sym typeface="Arial"/>
              </a:rPr>
              <a:t>bloque try</a:t>
            </a:r>
            <a:r>
              <a:rPr lang="es-AR" sz="1800" b="0" i="0" u="none" strike="noStrike" cap="none">
                <a:solidFill>
                  <a:srgbClr val="000000"/>
                </a:solidFill>
                <a:latin typeface="Arial"/>
                <a:ea typeface="Arial"/>
                <a:cs typeface="Arial"/>
                <a:sym typeface="Arial"/>
              </a:rPr>
              <a:t> (el código entre las declaración </a:t>
            </a:r>
            <a:r>
              <a:rPr lang="es-AR" sz="1800" b="1" i="0" u="sng" strike="noStrike" cap="none">
                <a:solidFill>
                  <a:srgbClr val="0000FF"/>
                </a:solidFill>
                <a:latin typeface="Arial"/>
                <a:ea typeface="Arial"/>
                <a:cs typeface="Arial"/>
                <a:sym typeface="Arial"/>
                <a:hlinkClick r:id="rId3">
                  <a:extLst>
                    <a:ext uri="{A12FA001-AC4F-418D-AE19-62706E023703}">
                      <ahyp:hlinkClr xmlns:ahyp="http://schemas.microsoft.com/office/drawing/2018/hyperlinkcolor" val="tx"/>
                    </a:ext>
                  </a:extLst>
                </a:hlinkClick>
              </a:rPr>
              <a:t>try</a:t>
            </a:r>
            <a:r>
              <a:rPr lang="es-AR" sz="1800" b="0" i="0" u="none" strike="noStrike" cap="none">
                <a:solidFill>
                  <a:srgbClr val="333333"/>
                </a:solidFill>
                <a:latin typeface="Arial"/>
                <a:ea typeface="Arial"/>
                <a:cs typeface="Arial"/>
                <a:sym typeface="Arial"/>
              </a:rPr>
              <a:t> y </a:t>
            </a:r>
            <a:r>
              <a:rPr lang="es-AR" sz="1800" b="1" i="0" u="sng" strike="noStrike" cap="none">
                <a:solidFill>
                  <a:srgbClr val="0000FF"/>
                </a:solidFill>
                <a:latin typeface="Arial"/>
                <a:ea typeface="Arial"/>
                <a:cs typeface="Arial"/>
                <a:sym typeface="Arial"/>
                <a:hlinkClick r:id="rId4">
                  <a:extLst>
                    <a:ext uri="{A12FA001-AC4F-418D-AE19-62706E023703}">
                      <ahyp:hlinkClr xmlns:ahyp="http://schemas.microsoft.com/office/drawing/2018/hyperlinkcolor" val="tx"/>
                    </a:ext>
                  </a:extLst>
                </a:hlinkClick>
              </a:rPr>
              <a:t>except</a:t>
            </a:r>
            <a:r>
              <a:rPr lang="es-AR" sz="1800" b="0" i="0" u="none" strike="noStrike" cap="none">
                <a:solidFill>
                  <a:srgbClr val="333333"/>
                </a:solidFill>
                <a:latin typeface="Arial"/>
                <a:ea typeface="Arial"/>
                <a:cs typeface="Arial"/>
                <a:sym typeface="Arial"/>
              </a:rPr>
              <a:t>).</a:t>
            </a:r>
            <a:endParaRPr sz="1800" b="0" i="0" u="none" strike="noStrike" cap="none">
              <a:latin typeface="Arial"/>
              <a:ea typeface="Arial"/>
              <a:cs typeface="Arial"/>
              <a:sym typeface="Arial"/>
            </a:endParaRPr>
          </a:p>
          <a:p>
            <a:pPr marL="457200" marR="0" lvl="0" indent="-302400" algn="l" rtl="0">
              <a:lnSpc>
                <a:spcPct val="115000"/>
              </a:lnSpc>
              <a:spcBef>
                <a:spcPts val="0"/>
              </a:spcBef>
              <a:spcAft>
                <a:spcPts val="0"/>
              </a:spcAft>
              <a:buClr>
                <a:srgbClr val="333333"/>
              </a:buClr>
              <a:buSzPts val="1800"/>
              <a:buFont typeface="Arial"/>
              <a:buChar char="•"/>
            </a:pPr>
            <a:r>
              <a:rPr lang="es-AR" sz="1800" b="0" i="0" u="none" strike="noStrike" cap="none">
                <a:solidFill>
                  <a:srgbClr val="000000"/>
                </a:solidFill>
                <a:latin typeface="Arial"/>
                <a:ea typeface="Arial"/>
                <a:cs typeface="Arial"/>
                <a:sym typeface="Arial"/>
              </a:rPr>
              <a:t>Si no ocurre ninguna excepción, el </a:t>
            </a:r>
            <a:r>
              <a:rPr lang="es-AR" sz="1800" b="0" i="1" u="none" strike="noStrike" cap="none">
                <a:solidFill>
                  <a:srgbClr val="000000"/>
                </a:solidFill>
                <a:latin typeface="Arial"/>
                <a:ea typeface="Arial"/>
                <a:cs typeface="Arial"/>
                <a:sym typeface="Arial"/>
              </a:rPr>
              <a:t>bloque except</a:t>
            </a:r>
            <a:r>
              <a:rPr lang="es-AR" sz="1800" b="0" i="0" u="none" strike="noStrike" cap="none">
                <a:solidFill>
                  <a:srgbClr val="000000"/>
                </a:solidFill>
                <a:latin typeface="Arial"/>
                <a:ea typeface="Arial"/>
                <a:cs typeface="Arial"/>
                <a:sym typeface="Arial"/>
              </a:rPr>
              <a:t> se saltea y termina la ejecución de la declaración </a:t>
            </a:r>
            <a:r>
              <a:rPr lang="es-AR" sz="1800" b="1" i="0" u="sng" strike="noStrike" cap="none">
                <a:solidFill>
                  <a:srgbClr val="0000FF"/>
                </a:solidFill>
                <a:latin typeface="Arial"/>
                <a:ea typeface="Arial"/>
                <a:cs typeface="Arial"/>
                <a:sym typeface="Arial"/>
                <a:hlinkClick r:id="rId3">
                  <a:extLst>
                    <a:ext uri="{A12FA001-AC4F-418D-AE19-62706E023703}">
                      <ahyp:hlinkClr xmlns:ahyp="http://schemas.microsoft.com/office/drawing/2018/hyperlinkcolor" val="tx"/>
                    </a:ext>
                  </a:extLst>
                </a:hlinkClick>
              </a:rPr>
              <a:t>try</a:t>
            </a:r>
            <a:r>
              <a:rPr lang="es-AR" sz="1800" b="0" i="0" u="none" strike="noStrike" cap="none">
                <a:solidFill>
                  <a:srgbClr val="333333"/>
                </a:solidFill>
                <a:latin typeface="Arial"/>
                <a:ea typeface="Arial"/>
                <a:cs typeface="Arial"/>
                <a:sym typeface="Arial"/>
              </a:rPr>
              <a:t>.</a:t>
            </a:r>
            <a:endParaRPr sz="1800" b="0" i="0" u="none" strike="noStrike" cap="none">
              <a:latin typeface="Arial"/>
              <a:ea typeface="Arial"/>
              <a:cs typeface="Arial"/>
              <a:sym typeface="Arial"/>
            </a:endParaRPr>
          </a:p>
          <a:p>
            <a:pPr marL="457200" marR="0" lvl="0" indent="-302400" algn="l" rtl="0">
              <a:lnSpc>
                <a:spcPct val="115000"/>
              </a:lnSpc>
              <a:spcBef>
                <a:spcPts val="0"/>
              </a:spcBef>
              <a:spcAft>
                <a:spcPts val="0"/>
              </a:spcAft>
              <a:buClr>
                <a:srgbClr val="333333"/>
              </a:buClr>
              <a:buSzPts val="1800"/>
              <a:buFont typeface="Arial"/>
              <a:buChar char="•"/>
            </a:pPr>
            <a:r>
              <a:rPr lang="es-AR" sz="1800" b="0" i="0" u="none" strike="noStrike" cap="none">
                <a:solidFill>
                  <a:srgbClr val="000000"/>
                </a:solidFill>
                <a:latin typeface="Arial"/>
                <a:ea typeface="Arial"/>
                <a:cs typeface="Arial"/>
                <a:sym typeface="Arial"/>
              </a:rPr>
              <a:t>Si ocurre una excepción durante la ejecución del </a:t>
            </a:r>
            <a:r>
              <a:rPr lang="es-AR" sz="1800" b="0" i="1" u="none" strike="noStrike" cap="none">
                <a:solidFill>
                  <a:srgbClr val="000000"/>
                </a:solidFill>
                <a:latin typeface="Arial"/>
                <a:ea typeface="Arial"/>
                <a:cs typeface="Arial"/>
                <a:sym typeface="Arial"/>
              </a:rPr>
              <a:t>bloque try</a:t>
            </a:r>
            <a:r>
              <a:rPr lang="es-AR" sz="1800" b="0" i="0" u="none" strike="noStrike" cap="none">
                <a:solidFill>
                  <a:srgbClr val="000000"/>
                </a:solidFill>
                <a:latin typeface="Arial"/>
                <a:ea typeface="Arial"/>
                <a:cs typeface="Arial"/>
                <a:sym typeface="Arial"/>
              </a:rPr>
              <a:t>, el resto del bloque se saltea. Luego, si su tipo coincide con la excepción nombrada luego de la palabra reservada </a:t>
            </a:r>
            <a:r>
              <a:rPr lang="es-AR" sz="1800" b="1" i="0" u="sng" strike="noStrike" cap="none">
                <a:solidFill>
                  <a:srgbClr val="0000FF"/>
                </a:solidFill>
                <a:latin typeface="Arial"/>
                <a:ea typeface="Arial"/>
                <a:cs typeface="Arial"/>
                <a:sym typeface="Arial"/>
                <a:hlinkClick r:id="rId4">
                  <a:extLst>
                    <a:ext uri="{A12FA001-AC4F-418D-AE19-62706E023703}">
                      <ahyp:hlinkClr xmlns:ahyp="http://schemas.microsoft.com/office/drawing/2018/hyperlinkcolor" val="tx"/>
                    </a:ext>
                  </a:extLst>
                </a:hlinkClick>
              </a:rPr>
              <a:t>except</a:t>
            </a:r>
            <a:r>
              <a:rPr lang="es-AR" sz="1800" b="0" i="0" u="none" strike="noStrike" cap="none">
                <a:solidFill>
                  <a:srgbClr val="333333"/>
                </a:solidFill>
                <a:latin typeface="Arial"/>
                <a:ea typeface="Arial"/>
                <a:cs typeface="Arial"/>
                <a:sym typeface="Arial"/>
              </a:rPr>
              <a:t>, </a:t>
            </a:r>
            <a:r>
              <a:rPr lang="es-AR" sz="1800" b="0" i="0" u="none" strike="noStrike" cap="none">
                <a:solidFill>
                  <a:srgbClr val="000000"/>
                </a:solidFill>
                <a:latin typeface="Arial"/>
                <a:ea typeface="Arial"/>
                <a:cs typeface="Arial"/>
                <a:sym typeface="Arial"/>
              </a:rPr>
              <a:t>se ejecuta el </a:t>
            </a:r>
            <a:r>
              <a:rPr lang="es-AR" sz="1800" b="0" i="1" u="none" strike="noStrike" cap="none">
                <a:solidFill>
                  <a:srgbClr val="000000"/>
                </a:solidFill>
                <a:latin typeface="Arial"/>
                <a:ea typeface="Arial"/>
                <a:cs typeface="Arial"/>
                <a:sym typeface="Arial"/>
              </a:rPr>
              <a:t>bloque except</a:t>
            </a:r>
            <a:r>
              <a:rPr lang="es-AR" sz="1800" b="0" i="0" u="none" strike="noStrike" cap="none">
                <a:solidFill>
                  <a:srgbClr val="000000"/>
                </a:solidFill>
                <a:latin typeface="Arial"/>
                <a:ea typeface="Arial"/>
                <a:cs typeface="Arial"/>
                <a:sym typeface="Arial"/>
              </a:rPr>
              <a:t>, y la ejecución continúa luego de la declaración</a:t>
            </a:r>
            <a:r>
              <a:rPr lang="es-AR" sz="1800" b="0" i="0" u="none" strike="noStrike" cap="none">
                <a:solidFill>
                  <a:srgbClr val="333333"/>
                </a:solidFill>
                <a:latin typeface="Arial"/>
                <a:ea typeface="Arial"/>
                <a:cs typeface="Arial"/>
                <a:sym typeface="Arial"/>
              </a:rPr>
              <a:t> </a:t>
            </a:r>
            <a:r>
              <a:rPr lang="es-AR" sz="1800" b="1" i="0" u="sng" strike="noStrike" cap="none">
                <a:solidFill>
                  <a:srgbClr val="0000FF"/>
                </a:solidFill>
                <a:latin typeface="Arial"/>
                <a:ea typeface="Arial"/>
                <a:cs typeface="Arial"/>
                <a:sym typeface="Arial"/>
                <a:hlinkClick r:id="rId3">
                  <a:extLst>
                    <a:ext uri="{A12FA001-AC4F-418D-AE19-62706E023703}">
                      <ahyp:hlinkClr xmlns:ahyp="http://schemas.microsoft.com/office/drawing/2018/hyperlinkcolor" val="tx"/>
                    </a:ext>
                  </a:extLst>
                </a:hlinkClick>
              </a:rPr>
              <a:t>try</a:t>
            </a:r>
            <a:r>
              <a:rPr lang="es-AR" sz="1800" b="0" i="0" u="none" strike="noStrike" cap="none">
                <a:solidFill>
                  <a:srgbClr val="333333"/>
                </a:solidFill>
                <a:latin typeface="Arial"/>
                <a:ea typeface="Arial"/>
                <a:cs typeface="Arial"/>
                <a:sym typeface="Arial"/>
              </a:rPr>
              <a:t>.</a:t>
            </a:r>
            <a:endParaRPr sz="1800" b="0" i="0" u="none" strike="noStrike" cap="none">
              <a:latin typeface="Arial"/>
              <a:ea typeface="Arial"/>
              <a:cs typeface="Arial"/>
              <a:sym typeface="Arial"/>
            </a:endParaRPr>
          </a:p>
          <a:p>
            <a:pPr marL="457200" marR="0" lvl="0" indent="-302400" algn="l" rtl="0">
              <a:lnSpc>
                <a:spcPct val="115000"/>
              </a:lnSpc>
              <a:spcBef>
                <a:spcPts val="0"/>
              </a:spcBef>
              <a:spcAft>
                <a:spcPts val="0"/>
              </a:spcAft>
              <a:buClr>
                <a:srgbClr val="333333"/>
              </a:buClr>
              <a:buSzPts val="1800"/>
              <a:buFont typeface="Arial"/>
              <a:buChar char="•"/>
            </a:pPr>
            <a:r>
              <a:rPr lang="es-AR" sz="1800" b="0" i="0" u="none" strike="noStrike" cap="none">
                <a:solidFill>
                  <a:srgbClr val="000000"/>
                </a:solidFill>
                <a:latin typeface="Arial"/>
                <a:ea typeface="Arial"/>
                <a:cs typeface="Arial"/>
                <a:sym typeface="Arial"/>
              </a:rPr>
              <a:t>Si ocurre una excepción que no coincide con la excepción nombrada en el </a:t>
            </a:r>
            <a:r>
              <a:rPr lang="es-AR" sz="1800" b="1" i="0" u="sng" strike="noStrike" cap="none">
                <a:solidFill>
                  <a:srgbClr val="0000FF"/>
                </a:solidFill>
                <a:latin typeface="Arial"/>
                <a:ea typeface="Arial"/>
                <a:cs typeface="Arial"/>
                <a:sym typeface="Arial"/>
                <a:hlinkClick r:id="rId4">
                  <a:extLst>
                    <a:ext uri="{A12FA001-AC4F-418D-AE19-62706E023703}">
                      <ahyp:hlinkClr xmlns:ahyp="http://schemas.microsoft.com/office/drawing/2018/hyperlinkcolor" val="tx"/>
                    </a:ext>
                  </a:extLst>
                </a:hlinkClick>
              </a:rPr>
              <a:t>except</a:t>
            </a:r>
            <a:r>
              <a:rPr lang="es-AR" sz="1800" b="0" i="0" u="none" strike="noStrike" cap="none">
                <a:solidFill>
                  <a:srgbClr val="000000"/>
                </a:solidFill>
                <a:latin typeface="Arial"/>
                <a:ea typeface="Arial"/>
                <a:cs typeface="Arial"/>
                <a:sym typeface="Arial"/>
              </a:rPr>
              <a:t>, esta se pasa a declaraciones </a:t>
            </a:r>
            <a:r>
              <a:rPr lang="es-AR" sz="1800" b="1" i="0" u="sng" strike="noStrike" cap="none">
                <a:solidFill>
                  <a:srgbClr val="0000FF"/>
                </a:solidFill>
                <a:latin typeface="Arial"/>
                <a:ea typeface="Arial"/>
                <a:cs typeface="Arial"/>
                <a:sym typeface="Arial"/>
                <a:hlinkClick r:id="rId3">
                  <a:extLst>
                    <a:ext uri="{A12FA001-AC4F-418D-AE19-62706E023703}">
                      <ahyp:hlinkClr xmlns:ahyp="http://schemas.microsoft.com/office/drawing/2018/hyperlinkcolor" val="tx"/>
                    </a:ext>
                  </a:extLst>
                </a:hlinkClick>
              </a:rPr>
              <a:t>try</a:t>
            </a:r>
            <a:r>
              <a:rPr lang="es-AR" sz="1800" b="0" i="0" u="none" strike="noStrike" cap="none">
                <a:solidFill>
                  <a:srgbClr val="333333"/>
                </a:solidFill>
                <a:latin typeface="Arial"/>
                <a:ea typeface="Arial"/>
                <a:cs typeface="Arial"/>
                <a:sym typeface="Arial"/>
              </a:rPr>
              <a:t> </a:t>
            </a:r>
            <a:r>
              <a:rPr lang="es-AR" sz="1800" b="0" i="0" u="none" strike="noStrike" cap="none">
                <a:solidFill>
                  <a:srgbClr val="000000"/>
                </a:solidFill>
                <a:latin typeface="Arial"/>
                <a:ea typeface="Arial"/>
                <a:cs typeface="Arial"/>
                <a:sym typeface="Arial"/>
              </a:rPr>
              <a:t>de más afuera; si no se encuentra nada que la maneje, es una </a:t>
            </a:r>
            <a:r>
              <a:rPr lang="es-AR" sz="1800" b="0" i="1" u="none" strike="noStrike" cap="none">
                <a:solidFill>
                  <a:srgbClr val="000000"/>
                </a:solidFill>
                <a:latin typeface="Arial"/>
                <a:ea typeface="Arial"/>
                <a:cs typeface="Arial"/>
                <a:sym typeface="Arial"/>
              </a:rPr>
              <a:t>excepción no manejada</a:t>
            </a:r>
            <a:r>
              <a:rPr lang="es-AR" sz="1800" b="0" i="0" u="none" strike="noStrike" cap="none">
                <a:solidFill>
                  <a:srgbClr val="000000"/>
                </a:solidFill>
                <a:latin typeface="Arial"/>
                <a:ea typeface="Arial"/>
                <a:cs typeface="Arial"/>
                <a:sym typeface="Arial"/>
              </a:rPr>
              <a:t>, y la ejecución se frena con un mensaje de error.</a:t>
            </a:r>
            <a:endParaRPr sz="1800" b="0" i="0" u="none" strike="noStrike" cap="none">
              <a:latin typeface="Arial"/>
              <a:ea typeface="Arial"/>
              <a:cs typeface="Arial"/>
              <a:sym typeface="Arial"/>
            </a:endParaRPr>
          </a:p>
          <a:p>
            <a:pPr marL="0" marR="0" lvl="0" indent="0" algn="l" rtl="0">
              <a:lnSpc>
                <a:spcPct val="100000"/>
              </a:lnSpc>
              <a:spcBef>
                <a:spcPts val="799"/>
              </a:spcBef>
              <a:spcAft>
                <a:spcPts val="0"/>
              </a:spcAft>
              <a:buSzPts val="1800"/>
              <a:buFont typeface="Arial"/>
              <a:buNone/>
            </a:pPr>
            <a:endParaRPr sz="1800" b="0" i="0" u="none" strike="noStrike" cap="none">
              <a:latin typeface="Arial"/>
              <a:ea typeface="Arial"/>
              <a:cs typeface="Arial"/>
              <a:sym typeface="Arial"/>
            </a:endParaRPr>
          </a:p>
        </p:txBody>
      </p:sp>
      <p:sp>
        <p:nvSpPr>
          <p:cNvPr id="816" name="Google Shape;816;p53"/>
          <p:cNvSpPr/>
          <p:nvPr/>
        </p:nvSpPr>
        <p:spPr>
          <a:xfrm>
            <a:off x="7883640" y="58320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53</a:t>
            </a:fld>
            <a:endParaRPr sz="1800" b="0" i="0" u="none" strike="noStrike" cap="none">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p54"/>
          <p:cNvSpPr/>
          <p:nvPr/>
        </p:nvSpPr>
        <p:spPr>
          <a:xfrm>
            <a:off x="287280" y="-30240"/>
            <a:ext cx="7464600" cy="7513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 phyton</a:t>
            </a:r>
            <a:endParaRPr sz="3000" b="0" i="0" u="none" strike="noStrike" cap="none">
              <a:latin typeface="Arial"/>
              <a:ea typeface="Arial"/>
              <a:cs typeface="Arial"/>
              <a:sym typeface="Arial"/>
            </a:endParaRPr>
          </a:p>
        </p:txBody>
      </p:sp>
      <p:sp>
        <p:nvSpPr>
          <p:cNvPr id="822" name="Google Shape;822;p54"/>
          <p:cNvSpPr/>
          <p:nvPr/>
        </p:nvSpPr>
        <p:spPr>
          <a:xfrm>
            <a:off x="457200" y="1600200"/>
            <a:ext cx="7464600" cy="487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23" name="Google Shape;823;p54"/>
          <p:cNvPicPr preferRelativeResize="0"/>
          <p:nvPr/>
        </p:nvPicPr>
        <p:blipFill rotWithShape="1">
          <a:blip r:embed="rId3">
            <a:alphaModFix/>
          </a:blip>
          <a:srcRect/>
          <a:stretch/>
        </p:blipFill>
        <p:spPr>
          <a:xfrm>
            <a:off x="207360" y="1268640"/>
            <a:ext cx="8412840" cy="5037840"/>
          </a:xfrm>
          <a:prstGeom prst="rect">
            <a:avLst/>
          </a:prstGeom>
          <a:noFill/>
          <a:ln>
            <a:noFill/>
          </a:ln>
        </p:spPr>
      </p:pic>
      <p:sp>
        <p:nvSpPr>
          <p:cNvPr id="824" name="Google Shape;824;p54"/>
          <p:cNvSpPr/>
          <p:nvPr/>
        </p:nvSpPr>
        <p:spPr>
          <a:xfrm>
            <a:off x="7814880" y="61974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54</a:t>
            </a:fld>
            <a:endParaRPr sz="1800" b="0" i="0" u="none" strike="noStrike" cap="none">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p55"/>
          <p:cNvSpPr/>
          <p:nvPr/>
        </p:nvSpPr>
        <p:spPr>
          <a:xfrm>
            <a:off x="395280" y="1476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000000"/>
              </a:buClr>
              <a:buSzPts val="3000"/>
              <a:buFont typeface="Century Schoolbook"/>
              <a:buNone/>
            </a:pPr>
            <a:r>
              <a:rPr lang="es-AR" sz="3000" b="0" i="0" u="none" strike="noStrike" cap="small">
                <a:solidFill>
                  <a:srgbClr val="000000"/>
                </a:solidFill>
                <a:latin typeface="Century Schoolbook"/>
                <a:ea typeface="Century Schoolbook"/>
                <a:cs typeface="Century Schoolbook"/>
                <a:sym typeface="Century Schoolbook"/>
              </a:rPr>
              <a:t>Excepciones - phyton</a:t>
            </a:r>
            <a:endParaRPr sz="3000" b="0" i="0" u="none" strike="noStrike" cap="none">
              <a:latin typeface="Arial"/>
              <a:ea typeface="Arial"/>
              <a:cs typeface="Arial"/>
              <a:sym typeface="Arial"/>
            </a:endParaRPr>
          </a:p>
        </p:txBody>
      </p:sp>
      <p:sp>
        <p:nvSpPr>
          <p:cNvPr id="830" name="Google Shape;830;p55"/>
          <p:cNvSpPr/>
          <p:nvPr/>
        </p:nvSpPr>
        <p:spPr>
          <a:xfrm>
            <a:off x="457200" y="1600200"/>
            <a:ext cx="8074440" cy="4870800"/>
          </a:xfrm>
          <a:prstGeom prst="rect">
            <a:avLst/>
          </a:prstGeom>
          <a:noFill/>
          <a:ln>
            <a:noFill/>
          </a:ln>
        </p:spPr>
        <p:txBody>
          <a:bodyPr spcFirstLastPara="1" wrap="square" lIns="90000" tIns="45000" rIns="90000" bIns="45000" anchor="t" anchorCtr="0">
            <a:noAutofit/>
          </a:bodyPr>
          <a:lstStyle/>
          <a:p>
            <a:pPr marL="274320" marR="0" lvl="0" indent="-271800" algn="l" rtl="0">
              <a:lnSpc>
                <a:spcPct val="90000"/>
              </a:lnSpc>
              <a:spcBef>
                <a:spcPts val="0"/>
              </a:spcBef>
              <a:spcAft>
                <a:spcPts val="0"/>
              </a:spcAft>
              <a:buClr>
                <a:srgbClr val="000000"/>
              </a:buClr>
              <a:buSzPts val="2400"/>
              <a:buFont typeface="Century Schoolbook"/>
              <a:buNone/>
            </a:pPr>
            <a:r>
              <a:rPr lang="es-AR" sz="2400" b="1" i="0" u="none" strike="noStrike" cap="none">
                <a:solidFill>
                  <a:srgbClr val="000000"/>
                </a:solidFill>
                <a:latin typeface="Century Schoolbook"/>
                <a:ea typeface="Century Schoolbook"/>
                <a:cs typeface="Century Schoolbook"/>
                <a:sym typeface="Century Schoolbook"/>
              </a:rPr>
              <a:t>¿Qué sucede cuando una excepción no  encuentra un manejador en su bloque “try except”?</a:t>
            </a:r>
            <a:endParaRPr sz="2400" b="0" i="0" u="none" strike="noStrike" cap="none">
              <a:latin typeface="Arial"/>
              <a:ea typeface="Arial"/>
              <a:cs typeface="Arial"/>
              <a:sym typeface="Arial"/>
            </a:endParaRPr>
          </a:p>
          <a:p>
            <a:pPr marL="274320" marR="0" lvl="0" indent="-271800" algn="l" rtl="0">
              <a:lnSpc>
                <a:spcPct val="90000"/>
              </a:lnSpc>
              <a:spcBef>
                <a:spcPts val="601"/>
              </a:spcBef>
              <a:spcAft>
                <a:spcPts val="0"/>
              </a:spcAft>
              <a:buClr>
                <a:srgbClr val="FE8637"/>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Busca estáticamente</a:t>
            </a:r>
            <a:endParaRPr sz="2400" b="0" i="0" u="none" strike="noStrike" cap="none">
              <a:latin typeface="Arial"/>
              <a:ea typeface="Arial"/>
              <a:cs typeface="Arial"/>
              <a:sym typeface="Arial"/>
            </a:endParaRPr>
          </a:p>
          <a:p>
            <a:pPr marL="274320" marR="0" lvl="0" indent="-271800" algn="l" rtl="0">
              <a:lnSpc>
                <a:spcPct val="90000"/>
              </a:lnSpc>
              <a:spcBef>
                <a:spcPts val="601"/>
              </a:spcBef>
              <a:spcAft>
                <a:spcPts val="0"/>
              </a:spcAft>
              <a:buClr>
                <a:srgbClr val="000000"/>
              </a:buClr>
              <a:buSzPts val="2400"/>
              <a:buFont typeface="Century Schoolbook"/>
              <a:buNone/>
            </a:pPr>
            <a:r>
              <a:rPr lang="es-AR" sz="2400" b="0" i="0" u="none" strike="noStrike" cap="none">
                <a:solidFill>
                  <a:srgbClr val="000000"/>
                </a:solidFill>
                <a:latin typeface="Century Schoolbook"/>
                <a:ea typeface="Century Schoolbook"/>
                <a:cs typeface="Century Schoolbook"/>
                <a:sym typeface="Century Schoolbook"/>
              </a:rPr>
              <a:t>   Analiza si ese try está contenido dentro de otro y si ese otro tiene un manejador para esa excepción. Sino...</a:t>
            </a:r>
            <a:endParaRPr sz="2400" b="0" i="0" u="none" strike="noStrike" cap="none">
              <a:latin typeface="Arial"/>
              <a:ea typeface="Arial"/>
              <a:cs typeface="Arial"/>
              <a:sym typeface="Arial"/>
            </a:endParaRPr>
          </a:p>
          <a:p>
            <a:pPr marL="274320" marR="0" lvl="0" indent="-271800" algn="l" rtl="0">
              <a:lnSpc>
                <a:spcPct val="90000"/>
              </a:lnSpc>
              <a:spcBef>
                <a:spcPts val="601"/>
              </a:spcBef>
              <a:spcAft>
                <a:spcPts val="0"/>
              </a:spcAft>
              <a:buClr>
                <a:srgbClr val="FE8637"/>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Busca dinámicamente</a:t>
            </a:r>
            <a:endParaRPr sz="2400" b="0" i="0" u="none" strike="noStrike" cap="none">
              <a:latin typeface="Arial"/>
              <a:ea typeface="Arial"/>
              <a:cs typeface="Arial"/>
              <a:sym typeface="Arial"/>
            </a:endParaRPr>
          </a:p>
          <a:p>
            <a:pPr marL="274320" marR="0" lvl="0" indent="-271800" algn="l" rtl="0">
              <a:lnSpc>
                <a:spcPct val="90000"/>
              </a:lnSpc>
              <a:spcBef>
                <a:spcPts val="601"/>
              </a:spcBef>
              <a:spcAft>
                <a:spcPts val="0"/>
              </a:spcAft>
              <a:buClr>
                <a:srgbClr val="000000"/>
              </a:buClr>
              <a:buSzPts val="2400"/>
              <a:buFont typeface="Century Schoolbook"/>
              <a:buNone/>
            </a:pPr>
            <a:r>
              <a:rPr lang="es-AR" sz="2400" b="0" i="0" u="none" strike="noStrike" cap="none">
                <a:solidFill>
                  <a:srgbClr val="000000"/>
                </a:solidFill>
                <a:latin typeface="Century Schoolbook"/>
                <a:ea typeface="Century Schoolbook"/>
                <a:cs typeface="Century Schoolbook"/>
                <a:sym typeface="Century Schoolbook"/>
              </a:rPr>
              <a:t>    Analiza quién lo llamó y busca allí</a:t>
            </a:r>
            <a:endParaRPr sz="2400" b="0" i="0" u="none" strike="noStrike" cap="none">
              <a:latin typeface="Arial"/>
              <a:ea typeface="Arial"/>
              <a:cs typeface="Arial"/>
              <a:sym typeface="Arial"/>
            </a:endParaRPr>
          </a:p>
          <a:p>
            <a:pPr marL="274320" marR="0" lvl="0" indent="-271800" algn="l" rtl="0">
              <a:lnSpc>
                <a:spcPct val="90000"/>
              </a:lnSpc>
              <a:spcBef>
                <a:spcPts val="601"/>
              </a:spcBef>
              <a:spcAft>
                <a:spcPts val="0"/>
              </a:spcAft>
              <a:buClr>
                <a:srgbClr val="FE8637"/>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Si no se encuentra un manejador, se corta el proceso y </a:t>
            </a:r>
            <a:r>
              <a:rPr lang="es-AR" sz="2400" b="0" i="0" u="none" strike="noStrike" cap="none">
                <a:solidFill>
                  <a:srgbClr val="000000"/>
                </a:solidFill>
                <a:latin typeface="Century Schoolbook"/>
                <a:ea typeface="Century Schoolbook"/>
                <a:cs typeface="Century Schoolbook"/>
                <a:sym typeface="Century Schoolbook"/>
              </a:rPr>
              <a:t>larga el mensaje standard de error</a:t>
            </a:r>
            <a:endParaRPr sz="2400" b="0" i="0" u="none" strike="noStrike" cap="none">
              <a:latin typeface="Arial"/>
              <a:ea typeface="Arial"/>
              <a:cs typeface="Arial"/>
              <a:sym typeface="Arial"/>
            </a:endParaRPr>
          </a:p>
          <a:p>
            <a:pPr marL="274320" marR="0" lvl="0" indent="-271800" algn="l" rtl="0">
              <a:lnSpc>
                <a:spcPct val="90000"/>
              </a:lnSpc>
              <a:spcBef>
                <a:spcPts val="601"/>
              </a:spcBef>
              <a:spcAft>
                <a:spcPts val="0"/>
              </a:spcAft>
              <a:buClr>
                <a:srgbClr val="FE8637"/>
              </a:buClr>
              <a:buSzPts val="2400"/>
              <a:buFont typeface="Noto Sans Symbols"/>
              <a:buChar char="•"/>
            </a:pPr>
            <a:r>
              <a:rPr lang="es-AR" sz="2400" b="1" i="0" u="none" strike="noStrike" cap="none">
                <a:solidFill>
                  <a:srgbClr val="000000"/>
                </a:solidFill>
                <a:latin typeface="Century Schoolbook"/>
                <a:ea typeface="Century Schoolbook"/>
                <a:cs typeface="Century Schoolbook"/>
                <a:sym typeface="Century Schoolbook"/>
              </a:rPr>
              <a:t>Levanta excepciones explícitamente con “raise”</a:t>
            </a:r>
            <a:endParaRPr sz="2400" b="0" i="0" u="none" strike="noStrike" cap="none">
              <a:latin typeface="Arial"/>
              <a:ea typeface="Arial"/>
              <a:cs typeface="Arial"/>
              <a:sym typeface="Arial"/>
            </a:endParaRPr>
          </a:p>
        </p:txBody>
      </p:sp>
      <p:sp>
        <p:nvSpPr>
          <p:cNvPr id="831" name="Google Shape;831;p55"/>
          <p:cNvSpPr/>
          <p:nvPr/>
        </p:nvSpPr>
        <p:spPr>
          <a:xfrm>
            <a:off x="7850880" y="58320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55</a:t>
            </a:fld>
            <a:endParaRPr sz="1800" b="0" i="0" u="none" strike="noStrike" cap="none">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56"/>
          <p:cNvSpPr/>
          <p:nvPr/>
        </p:nvSpPr>
        <p:spPr>
          <a:xfrm>
            <a:off x="457200" y="38160"/>
            <a:ext cx="7464600" cy="94968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000000"/>
              </a:buClr>
              <a:buSzPts val="3000"/>
              <a:buFont typeface="Century Schoolbook"/>
              <a:buNone/>
            </a:pPr>
            <a:r>
              <a:rPr lang="es-AR" sz="3000" b="0" i="0" u="none" strike="noStrike" cap="small">
                <a:solidFill>
                  <a:srgbClr val="000000"/>
                </a:solidFill>
                <a:latin typeface="Century Schoolbook"/>
                <a:ea typeface="Century Schoolbook"/>
                <a:cs typeface="Century Schoolbook"/>
                <a:sym typeface="Century Schoolbook"/>
              </a:rPr>
              <a:t>Excepciones - phyton</a:t>
            </a:r>
            <a:endParaRPr sz="3000" b="0" i="0" u="none" strike="noStrike" cap="none">
              <a:latin typeface="Arial"/>
              <a:ea typeface="Arial"/>
              <a:cs typeface="Arial"/>
              <a:sym typeface="Arial"/>
            </a:endParaRPr>
          </a:p>
        </p:txBody>
      </p:sp>
      <p:sp>
        <p:nvSpPr>
          <p:cNvPr id="837" name="Google Shape;837;p56"/>
          <p:cNvSpPr/>
          <p:nvPr/>
        </p:nvSpPr>
        <p:spPr>
          <a:xfrm>
            <a:off x="457200" y="1600200"/>
            <a:ext cx="7464600" cy="487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38" name="Google Shape;838;p56"/>
          <p:cNvPicPr preferRelativeResize="0"/>
          <p:nvPr/>
        </p:nvPicPr>
        <p:blipFill rotWithShape="1">
          <a:blip r:embed="rId3">
            <a:alphaModFix/>
          </a:blip>
          <a:srcRect/>
          <a:stretch/>
        </p:blipFill>
        <p:spPr>
          <a:xfrm>
            <a:off x="203040" y="1203840"/>
            <a:ext cx="8561520" cy="5190840"/>
          </a:xfrm>
          <a:prstGeom prst="rect">
            <a:avLst/>
          </a:prstGeom>
          <a:noFill/>
          <a:ln>
            <a:noFill/>
          </a:ln>
        </p:spPr>
      </p:pic>
      <p:sp>
        <p:nvSpPr>
          <p:cNvPr id="839" name="Google Shape;839;p56"/>
          <p:cNvSpPr/>
          <p:nvPr/>
        </p:nvSpPr>
        <p:spPr>
          <a:xfrm>
            <a:off x="7775640" y="62640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56</a:t>
            </a:fld>
            <a:endParaRPr sz="1800" b="0" i="0" u="none" strike="noStrike" cap="none">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p57"/>
          <p:cNvSpPr/>
          <p:nvPr/>
        </p:nvSpPr>
        <p:spPr>
          <a:xfrm>
            <a:off x="457200" y="27468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en PHP</a:t>
            </a:r>
            <a:endParaRPr sz="3000" b="0" i="0" u="none" strike="noStrike" cap="none">
              <a:latin typeface="Arial"/>
              <a:ea typeface="Arial"/>
              <a:cs typeface="Arial"/>
              <a:sym typeface="Arial"/>
            </a:endParaRPr>
          </a:p>
        </p:txBody>
      </p:sp>
      <p:sp>
        <p:nvSpPr>
          <p:cNvPr id="845" name="Google Shape;845;p57"/>
          <p:cNvSpPr/>
          <p:nvPr/>
        </p:nvSpPr>
        <p:spPr>
          <a:xfrm>
            <a:off x="457200" y="1600200"/>
            <a:ext cx="7813080" cy="4870800"/>
          </a:xfrm>
          <a:prstGeom prst="rect">
            <a:avLst/>
          </a:prstGeom>
          <a:noFill/>
          <a:ln>
            <a:noFill/>
          </a:ln>
        </p:spPr>
        <p:txBody>
          <a:bodyPr spcFirstLastPara="1" wrap="square" lIns="90000" tIns="45000" rIns="90000" bIns="45000" anchor="t" anchorCtr="0">
            <a:noAutofit/>
          </a:bodyPr>
          <a:lstStyle/>
          <a:p>
            <a:pPr marL="272880" marR="0" lvl="0" indent="-270360" algn="l" rtl="0">
              <a:lnSpc>
                <a:spcPct val="100000"/>
              </a:lnSpc>
              <a:spcBef>
                <a:spcPts val="0"/>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Modelo de Terminación</a:t>
            </a:r>
            <a:endParaRPr sz="2400" b="0" i="0" u="none" strike="noStrike" cap="none">
              <a:latin typeface="Arial"/>
              <a:ea typeface="Arial"/>
              <a:cs typeface="Arial"/>
              <a:sym typeface="Arial"/>
            </a:endParaRPr>
          </a:p>
          <a:p>
            <a:pPr marL="272880" marR="0" lvl="0" indent="-270360" algn="l"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Una excepción puede ser lanzada (thrown), y atrapada ("catched")</a:t>
            </a:r>
            <a:endParaRPr sz="2400" b="0" i="0" u="none" strike="noStrike" cap="none">
              <a:latin typeface="Arial"/>
              <a:ea typeface="Arial"/>
              <a:cs typeface="Arial"/>
              <a:sym typeface="Arial"/>
            </a:endParaRPr>
          </a:p>
          <a:p>
            <a:pPr marL="272880" marR="0" lvl="0" indent="-270360" algn="l"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El código esta dentro de un bloque try, </a:t>
            </a:r>
            <a:endParaRPr sz="2400" b="0" i="0" u="none" strike="noStrike" cap="none">
              <a:latin typeface="Arial"/>
              <a:ea typeface="Arial"/>
              <a:cs typeface="Arial"/>
              <a:sym typeface="Arial"/>
            </a:endParaRPr>
          </a:p>
          <a:p>
            <a:pPr marL="272880" marR="0" lvl="0" indent="-270360" algn="l"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Cada bloque try debe tener al menos un bloque catch correspondiente.</a:t>
            </a:r>
            <a:endParaRPr sz="2400" b="0" i="0" u="none" strike="noStrike" cap="none">
              <a:latin typeface="Arial"/>
              <a:ea typeface="Arial"/>
              <a:cs typeface="Arial"/>
              <a:sym typeface="Arial"/>
            </a:endParaRPr>
          </a:p>
          <a:p>
            <a:pPr marL="272880" marR="0" lvl="0" indent="-270360" algn="l"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 Las excepciones pueden ser lanzadas (o relanzadas) dentro de un bloque catch.</a:t>
            </a:r>
            <a:endParaRPr sz="2400" b="0" i="0" u="none" strike="noStrike" cap="none">
              <a:latin typeface="Arial"/>
              <a:ea typeface="Arial"/>
              <a:cs typeface="Arial"/>
              <a:sym typeface="Arial"/>
            </a:endParaRPr>
          </a:p>
          <a:p>
            <a:pPr marL="272880" marR="0" lvl="0" indent="-270360" algn="l"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 Se puede utilizar un bloque finally después de los bloques catch </a:t>
            </a:r>
            <a:br>
              <a:rPr lang="es-AR" sz="1800" b="0" i="0" u="none" strike="noStrike" cap="none">
                <a:latin typeface="Arial"/>
                <a:ea typeface="Arial"/>
                <a:cs typeface="Arial"/>
                <a:sym typeface="Arial"/>
              </a:rPr>
            </a:br>
            <a:r>
              <a:rPr lang="es-AR" sz="2400" b="0" i="0" u="none" strike="noStrike" cap="none">
                <a:solidFill>
                  <a:srgbClr val="000000"/>
                </a:solidFill>
                <a:latin typeface="Century Schoolbook"/>
                <a:ea typeface="Century Schoolbook"/>
                <a:cs typeface="Century Schoolbook"/>
                <a:sym typeface="Century Schoolbook"/>
              </a:rPr>
              <a:t> </a:t>
            </a:r>
            <a:endParaRPr sz="2400" b="0" i="0" u="none" strike="noStrike" cap="none">
              <a:latin typeface="Arial"/>
              <a:ea typeface="Arial"/>
              <a:cs typeface="Arial"/>
              <a:sym typeface="Arial"/>
            </a:endParaRPr>
          </a:p>
        </p:txBody>
      </p:sp>
      <p:sp>
        <p:nvSpPr>
          <p:cNvPr id="846" name="Google Shape;846;p57"/>
          <p:cNvSpPr/>
          <p:nvPr/>
        </p:nvSpPr>
        <p:spPr>
          <a:xfrm>
            <a:off x="7883640" y="57654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57</a:t>
            </a:fld>
            <a:endParaRPr sz="1800" b="0" i="0" u="none" strike="noStrike" cap="none">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p58"/>
          <p:cNvSpPr/>
          <p:nvPr/>
        </p:nvSpPr>
        <p:spPr>
          <a:xfrm>
            <a:off x="457200" y="27468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en PHP</a:t>
            </a:r>
            <a:endParaRPr sz="3000" b="0" i="0" u="none" strike="noStrike" cap="none">
              <a:latin typeface="Arial"/>
              <a:ea typeface="Arial"/>
              <a:cs typeface="Arial"/>
              <a:sym typeface="Arial"/>
            </a:endParaRPr>
          </a:p>
        </p:txBody>
      </p:sp>
      <p:sp>
        <p:nvSpPr>
          <p:cNvPr id="852" name="Google Shape;852;p58"/>
          <p:cNvSpPr/>
          <p:nvPr/>
        </p:nvSpPr>
        <p:spPr>
          <a:xfrm>
            <a:off x="457200" y="1600200"/>
            <a:ext cx="7783920" cy="4870800"/>
          </a:xfrm>
          <a:prstGeom prst="rect">
            <a:avLst/>
          </a:prstGeom>
          <a:noFill/>
          <a:ln>
            <a:noFill/>
          </a:ln>
        </p:spPr>
        <p:txBody>
          <a:bodyPr spcFirstLastPara="1" wrap="square" lIns="90000" tIns="45000" rIns="90000" bIns="45000" anchor="t" anchorCtr="0">
            <a:noAutofit/>
          </a:bodyPr>
          <a:lstStyle/>
          <a:p>
            <a:pPr marL="272880" marR="0" lvl="0" indent="-270360" algn="l" rtl="0">
              <a:lnSpc>
                <a:spcPct val="100000"/>
              </a:lnSpc>
              <a:spcBef>
                <a:spcPts val="0"/>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El objeto lanzado debe ser una instancia de la clase Exception o de una subclase de Exception. Intentar lanzar un objeto que no lo es resultará en un Error Fatal de PHP.</a:t>
            </a:r>
            <a:endParaRPr sz="2400" b="0" i="0" u="none" strike="noStrike" cap="none">
              <a:latin typeface="Arial"/>
              <a:ea typeface="Arial"/>
              <a:cs typeface="Arial"/>
              <a:sym typeface="Arial"/>
            </a:endParaRPr>
          </a:p>
          <a:p>
            <a:pPr marL="272880" marR="0" lvl="0" indent="-270360" algn="l"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Cuando una excepción es lanzada, el código siguiente a la declaración no será ejecutado, y PHP intentará encontrar el primer bloque catch coincidente. Si una excepción no es capturada, se emitirá un Error Fatal de PHP con un mensaje "Uncaught Exception ..." ("Excepción No Capturada"), a menos que se haya definido un gestor con set_exception_handler().</a:t>
            </a:r>
            <a:endParaRPr sz="2400" b="0" i="0" u="none" strike="noStrike" cap="none">
              <a:latin typeface="Arial"/>
              <a:ea typeface="Arial"/>
              <a:cs typeface="Arial"/>
              <a:sym typeface="Arial"/>
            </a:endParaRPr>
          </a:p>
        </p:txBody>
      </p:sp>
      <p:sp>
        <p:nvSpPr>
          <p:cNvPr id="853" name="Google Shape;853;p58"/>
          <p:cNvSpPr/>
          <p:nvPr/>
        </p:nvSpPr>
        <p:spPr>
          <a:xfrm>
            <a:off x="148320" y="6395040"/>
            <a:ext cx="8744760" cy="37008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s-AR" sz="1800" b="1" i="0" u="none" strike="noStrike" cap="none">
                <a:solidFill>
                  <a:srgbClr val="000000"/>
                </a:solidFill>
                <a:latin typeface="Arial"/>
                <a:ea typeface="Arial"/>
                <a:cs typeface="Arial"/>
                <a:sym typeface="Arial"/>
              </a:rPr>
              <a:t>Veamos un ejemplo en</a:t>
            </a:r>
            <a:r>
              <a:rPr lang="es-AR" sz="1800" b="0" i="0" u="none" strike="noStrike" cap="none">
                <a:solidFill>
                  <a:srgbClr val="000000"/>
                </a:solidFill>
                <a:latin typeface="Arial"/>
                <a:ea typeface="Arial"/>
                <a:cs typeface="Arial"/>
                <a:sym typeface="Arial"/>
              </a:rPr>
              <a:t> </a:t>
            </a:r>
            <a:r>
              <a:rPr lang="es-AR" sz="1800" b="0" i="0" u="sng" strike="noStrike" cap="none">
                <a:solidFill>
                  <a:srgbClr val="0000FF"/>
                </a:solidFill>
                <a:latin typeface="Arial"/>
                <a:ea typeface="Arial"/>
                <a:cs typeface="Arial"/>
                <a:sym typeface="Arial"/>
              </a:rPr>
              <a:t>https://www.tutorialspoint.com/execute_php_online.php</a:t>
            </a:r>
            <a:endParaRPr sz="1800" b="0" i="0" u="none" strike="noStrike" cap="none">
              <a:latin typeface="Arial"/>
              <a:ea typeface="Arial"/>
              <a:cs typeface="Arial"/>
              <a:sym typeface="Arial"/>
            </a:endParaRPr>
          </a:p>
        </p:txBody>
      </p:sp>
      <p:sp>
        <p:nvSpPr>
          <p:cNvPr id="854" name="Google Shape;854;p58"/>
          <p:cNvSpPr/>
          <p:nvPr/>
        </p:nvSpPr>
        <p:spPr>
          <a:xfrm>
            <a:off x="7885440" y="58320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58</a:t>
            </a:fld>
            <a:endParaRPr sz="1800" b="0" i="0" u="none" strike="noStrike" cap="none">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59"/>
          <p:cNvSpPr/>
          <p:nvPr/>
        </p:nvSpPr>
        <p:spPr>
          <a:xfrm>
            <a:off x="457200" y="274680"/>
            <a:ext cx="7464600" cy="84708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Excepciones en PHP</a:t>
            </a:r>
            <a:endParaRPr sz="3000" b="0" i="0" u="none" strike="noStrike" cap="none">
              <a:latin typeface="Arial"/>
              <a:ea typeface="Arial"/>
              <a:cs typeface="Arial"/>
              <a:sym typeface="Arial"/>
            </a:endParaRPr>
          </a:p>
        </p:txBody>
      </p:sp>
      <p:pic>
        <p:nvPicPr>
          <p:cNvPr id="860" name="Google Shape;860;p59"/>
          <p:cNvPicPr preferRelativeResize="0"/>
          <p:nvPr/>
        </p:nvPicPr>
        <p:blipFill rotWithShape="1">
          <a:blip r:embed="rId3">
            <a:alphaModFix/>
          </a:blip>
          <a:srcRect/>
          <a:stretch/>
        </p:blipFill>
        <p:spPr>
          <a:xfrm>
            <a:off x="395640" y="1165320"/>
            <a:ext cx="4245120" cy="1606680"/>
          </a:xfrm>
          <a:prstGeom prst="rect">
            <a:avLst/>
          </a:prstGeom>
          <a:noFill/>
          <a:ln>
            <a:noFill/>
          </a:ln>
        </p:spPr>
      </p:pic>
      <p:pic>
        <p:nvPicPr>
          <p:cNvPr id="861" name="Google Shape;861;p59"/>
          <p:cNvPicPr preferRelativeResize="0"/>
          <p:nvPr/>
        </p:nvPicPr>
        <p:blipFill rotWithShape="1">
          <a:blip r:embed="rId4">
            <a:alphaModFix/>
          </a:blip>
          <a:srcRect/>
          <a:stretch/>
        </p:blipFill>
        <p:spPr>
          <a:xfrm>
            <a:off x="338040" y="2792160"/>
            <a:ext cx="4874040" cy="1587960"/>
          </a:xfrm>
          <a:prstGeom prst="rect">
            <a:avLst/>
          </a:prstGeom>
          <a:noFill/>
          <a:ln>
            <a:noFill/>
          </a:ln>
        </p:spPr>
      </p:pic>
      <p:pic>
        <p:nvPicPr>
          <p:cNvPr id="862" name="Google Shape;862;p59"/>
          <p:cNvPicPr preferRelativeResize="0"/>
          <p:nvPr/>
        </p:nvPicPr>
        <p:blipFill rotWithShape="1">
          <a:blip r:embed="rId5">
            <a:alphaModFix/>
          </a:blip>
          <a:srcRect/>
          <a:stretch/>
        </p:blipFill>
        <p:spPr>
          <a:xfrm>
            <a:off x="323640" y="4405680"/>
            <a:ext cx="4883400" cy="1635480"/>
          </a:xfrm>
          <a:prstGeom prst="rect">
            <a:avLst/>
          </a:prstGeom>
          <a:noFill/>
          <a:ln>
            <a:noFill/>
          </a:ln>
        </p:spPr>
      </p:pic>
      <p:pic>
        <p:nvPicPr>
          <p:cNvPr id="863" name="Google Shape;863;p59"/>
          <p:cNvPicPr preferRelativeResize="0"/>
          <p:nvPr/>
        </p:nvPicPr>
        <p:blipFill rotWithShape="1">
          <a:blip r:embed="rId6">
            <a:alphaModFix/>
          </a:blip>
          <a:srcRect/>
          <a:stretch/>
        </p:blipFill>
        <p:spPr>
          <a:xfrm>
            <a:off x="367560" y="6021720"/>
            <a:ext cx="2007000" cy="663840"/>
          </a:xfrm>
          <a:prstGeom prst="rect">
            <a:avLst/>
          </a:prstGeom>
          <a:noFill/>
          <a:ln>
            <a:noFill/>
          </a:ln>
        </p:spPr>
      </p:pic>
      <p:pic>
        <p:nvPicPr>
          <p:cNvPr id="864" name="Google Shape;864;p59"/>
          <p:cNvPicPr preferRelativeResize="0"/>
          <p:nvPr/>
        </p:nvPicPr>
        <p:blipFill rotWithShape="1">
          <a:blip r:embed="rId7">
            <a:alphaModFix/>
          </a:blip>
          <a:srcRect/>
          <a:stretch/>
        </p:blipFill>
        <p:spPr>
          <a:xfrm>
            <a:off x="4644000" y="764640"/>
            <a:ext cx="4138560" cy="2517480"/>
          </a:xfrm>
          <a:prstGeom prst="rect">
            <a:avLst/>
          </a:prstGeom>
          <a:noFill/>
          <a:ln>
            <a:noFill/>
          </a:ln>
        </p:spPr>
      </p:pic>
      <p:sp>
        <p:nvSpPr>
          <p:cNvPr id="865" name="Google Shape;865;p59"/>
          <p:cNvSpPr/>
          <p:nvPr/>
        </p:nvSpPr>
        <p:spPr>
          <a:xfrm>
            <a:off x="7847640" y="57654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59</a:t>
            </a:fld>
            <a:endParaRPr sz="1800" b="0" i="0" u="none" strike="noStrike" cap="none">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60"/>
          <p:cNvSpPr/>
          <p:nvPr/>
        </p:nvSpPr>
        <p:spPr>
          <a:xfrm>
            <a:off x="457200" y="10008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2700"/>
              <a:buFont typeface="Century Schoolbook"/>
              <a:buNone/>
            </a:pPr>
            <a:r>
              <a:rPr lang="es-AR" sz="2700" b="1" i="0" u="none" strike="noStrike" cap="small">
                <a:solidFill>
                  <a:srgbClr val="575F6D"/>
                </a:solidFill>
                <a:latin typeface="Century Schoolbook"/>
                <a:ea typeface="Century Schoolbook"/>
                <a:cs typeface="Century Schoolbook"/>
                <a:sym typeface="Century Schoolbook"/>
              </a:rPr>
              <a:t>Lenguajes que NO proveen manejo de</a:t>
            </a:r>
            <a:br>
              <a:rPr lang="es-AR" sz="1800" b="0" i="0" u="none" strike="noStrike" cap="none">
                <a:latin typeface="Arial"/>
                <a:ea typeface="Arial"/>
                <a:cs typeface="Arial"/>
                <a:sym typeface="Arial"/>
              </a:rPr>
            </a:br>
            <a:r>
              <a:rPr lang="es-AR" sz="2700" b="1" i="0" u="none" strike="noStrike" cap="small">
                <a:solidFill>
                  <a:srgbClr val="575F6D"/>
                </a:solidFill>
                <a:latin typeface="Century Schoolbook"/>
                <a:ea typeface="Century Schoolbook"/>
                <a:cs typeface="Century Schoolbook"/>
                <a:sym typeface="Century Schoolbook"/>
              </a:rPr>
              <a:t>Excepciones  - Simular!!</a:t>
            </a:r>
            <a:endParaRPr sz="2700" b="0" i="0" u="none" strike="noStrike" cap="none">
              <a:latin typeface="Arial"/>
              <a:ea typeface="Arial"/>
              <a:cs typeface="Arial"/>
              <a:sym typeface="Arial"/>
            </a:endParaRPr>
          </a:p>
        </p:txBody>
      </p:sp>
      <p:sp>
        <p:nvSpPr>
          <p:cNvPr id="871" name="Google Shape;871;p60"/>
          <p:cNvSpPr/>
          <p:nvPr/>
        </p:nvSpPr>
        <p:spPr>
          <a:xfrm>
            <a:off x="457200" y="1600200"/>
            <a:ext cx="7464600" cy="487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72" name="Google Shape;872;p60"/>
          <p:cNvPicPr preferRelativeResize="0"/>
          <p:nvPr/>
        </p:nvPicPr>
        <p:blipFill rotWithShape="1">
          <a:blip r:embed="rId3">
            <a:alphaModFix/>
          </a:blip>
          <a:srcRect/>
          <a:stretch/>
        </p:blipFill>
        <p:spPr>
          <a:xfrm>
            <a:off x="514440" y="1620720"/>
            <a:ext cx="7574400" cy="4605480"/>
          </a:xfrm>
          <a:prstGeom prst="rect">
            <a:avLst/>
          </a:prstGeom>
          <a:noFill/>
          <a:ln>
            <a:noFill/>
          </a:ln>
        </p:spPr>
      </p:pic>
      <p:sp>
        <p:nvSpPr>
          <p:cNvPr id="873" name="Google Shape;873;p60"/>
          <p:cNvSpPr/>
          <p:nvPr/>
        </p:nvSpPr>
        <p:spPr>
          <a:xfrm>
            <a:off x="7778880" y="58320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60</a:t>
            </a:fld>
            <a:endParaRPr sz="1800" b="0" i="0" u="none" strike="noStrike" cap="none">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61"/>
          <p:cNvSpPr/>
          <p:nvPr/>
        </p:nvSpPr>
        <p:spPr>
          <a:xfrm>
            <a:off x="457200" y="274680"/>
            <a:ext cx="7464600" cy="114012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Clr>
                <a:srgbClr val="575F6D"/>
              </a:buClr>
              <a:buSzPts val="3000"/>
              <a:buFont typeface="Century Schoolbook"/>
              <a:buNone/>
            </a:pPr>
            <a:r>
              <a:rPr lang="es-AR" sz="3000" b="0" i="0" u="none" strike="noStrike" cap="small">
                <a:solidFill>
                  <a:srgbClr val="575F6D"/>
                </a:solidFill>
                <a:latin typeface="Century Schoolbook"/>
                <a:ea typeface="Century Schoolbook"/>
                <a:cs typeface="Century Schoolbook"/>
                <a:sym typeface="Century Schoolbook"/>
              </a:rPr>
              <a:t>Dudas?</a:t>
            </a:r>
            <a:endParaRPr sz="3000" b="0" i="0" u="none" strike="noStrike" cap="none">
              <a:latin typeface="Arial"/>
              <a:ea typeface="Arial"/>
              <a:cs typeface="Arial"/>
              <a:sym typeface="Arial"/>
            </a:endParaRPr>
          </a:p>
        </p:txBody>
      </p:sp>
      <p:sp>
        <p:nvSpPr>
          <p:cNvPr id="879" name="Google Shape;879;p61"/>
          <p:cNvSpPr/>
          <p:nvPr/>
        </p:nvSpPr>
        <p:spPr>
          <a:xfrm>
            <a:off x="457200" y="1600200"/>
            <a:ext cx="7464600" cy="4870800"/>
          </a:xfrm>
          <a:prstGeom prst="rect">
            <a:avLst/>
          </a:prstGeom>
          <a:noFill/>
          <a:ln>
            <a:noFill/>
          </a:ln>
        </p:spPr>
        <p:txBody>
          <a:bodyPr spcFirstLastPara="1" wrap="square" lIns="90000" tIns="45000" rIns="90000" bIns="45000" anchor="t" anchorCtr="0">
            <a:noAutofit/>
          </a:bodyPr>
          <a:lstStyle/>
          <a:p>
            <a:pPr marL="457200" marR="0" lvl="0" indent="-332640" algn="l" rtl="0">
              <a:lnSpc>
                <a:spcPct val="100000"/>
              </a:lnSpc>
              <a:spcBef>
                <a:spcPts val="0"/>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Cual modelo les parece mas seguro?</a:t>
            </a:r>
            <a:endParaRPr sz="2400" b="0" i="0" u="none" strike="noStrike" cap="none">
              <a:latin typeface="Arial"/>
              <a:ea typeface="Arial"/>
              <a:cs typeface="Arial"/>
              <a:sym typeface="Arial"/>
            </a:endParaRPr>
          </a:p>
          <a:p>
            <a:pPr marL="0" marR="0" lvl="0" indent="0" algn="l" rtl="0">
              <a:lnSpc>
                <a:spcPct val="10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457200" marR="0" lvl="0" indent="-332640" algn="l"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Les parece útil el manejo de excepciones? Lo creen necesario?</a:t>
            </a:r>
            <a:endParaRPr sz="2400" b="0" i="0" u="none" strike="noStrike" cap="none">
              <a:latin typeface="Arial"/>
              <a:ea typeface="Arial"/>
              <a:cs typeface="Arial"/>
              <a:sym typeface="Arial"/>
            </a:endParaRPr>
          </a:p>
          <a:p>
            <a:pPr marL="0" marR="0" lvl="0" indent="0" algn="l" rtl="0">
              <a:lnSpc>
                <a:spcPct val="100000"/>
              </a:lnSpc>
              <a:spcBef>
                <a:spcPts val="601"/>
              </a:spcBef>
              <a:spcAft>
                <a:spcPts val="0"/>
              </a:spcAft>
              <a:buSzPts val="2400"/>
              <a:buFont typeface="Arial"/>
              <a:buNone/>
            </a:pPr>
            <a:endParaRPr sz="2400" b="0" i="0" u="none" strike="noStrike" cap="none">
              <a:latin typeface="Arial"/>
              <a:ea typeface="Arial"/>
              <a:cs typeface="Arial"/>
              <a:sym typeface="Arial"/>
            </a:endParaRPr>
          </a:p>
          <a:p>
            <a:pPr marL="457200" marR="0" lvl="0" indent="-332640" algn="l" rtl="0">
              <a:lnSpc>
                <a:spcPct val="100000"/>
              </a:lnSpc>
              <a:spcBef>
                <a:spcPts val="601"/>
              </a:spcBef>
              <a:spcAft>
                <a:spcPts val="0"/>
              </a:spcAft>
              <a:buClr>
                <a:srgbClr val="FE8637"/>
              </a:buClr>
              <a:buSzPts val="2400"/>
              <a:buFont typeface="Noto Sans Symbols"/>
              <a:buChar char="•"/>
            </a:pPr>
            <a:r>
              <a:rPr lang="es-AR" sz="2400" b="0" i="0" u="none" strike="noStrike" cap="none">
                <a:solidFill>
                  <a:srgbClr val="000000"/>
                </a:solidFill>
                <a:latin typeface="Century Schoolbook"/>
                <a:ea typeface="Century Schoolbook"/>
                <a:cs typeface="Century Schoolbook"/>
                <a:sym typeface="Century Schoolbook"/>
              </a:rPr>
              <a:t>El modelo de terminación tiene diferentes comportamientos</a:t>
            </a:r>
            <a:endParaRPr sz="2400" b="0" i="0" u="none" strike="noStrike" cap="none">
              <a:latin typeface="Arial"/>
              <a:ea typeface="Arial"/>
              <a:cs typeface="Arial"/>
              <a:sym typeface="Arial"/>
            </a:endParaRPr>
          </a:p>
        </p:txBody>
      </p:sp>
      <p:pic>
        <p:nvPicPr>
          <p:cNvPr id="880" name="Google Shape;880;p61"/>
          <p:cNvPicPr preferRelativeResize="0"/>
          <p:nvPr/>
        </p:nvPicPr>
        <p:blipFill rotWithShape="1">
          <a:blip r:embed="rId3">
            <a:alphaModFix/>
          </a:blip>
          <a:srcRect/>
          <a:stretch/>
        </p:blipFill>
        <p:spPr>
          <a:xfrm>
            <a:off x="5760000" y="4250160"/>
            <a:ext cx="1926720" cy="1754280"/>
          </a:xfrm>
          <a:prstGeom prst="rect">
            <a:avLst/>
          </a:prstGeom>
          <a:noFill/>
          <a:ln>
            <a:noFill/>
          </a:ln>
        </p:spPr>
      </p:pic>
      <p:sp>
        <p:nvSpPr>
          <p:cNvPr id="881" name="Google Shape;881;p61"/>
          <p:cNvSpPr/>
          <p:nvPr/>
        </p:nvSpPr>
        <p:spPr>
          <a:xfrm>
            <a:off x="7886880" y="57600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61</a:t>
            </a:fld>
            <a:endParaRPr sz="1800" b="0" i="0" u="none" strike="noStrike" cap="none">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77">
          <a:extLst>
            <a:ext uri="{FF2B5EF4-FFF2-40B4-BE49-F238E27FC236}">
              <a16:creationId xmlns:a16="http://schemas.microsoft.com/office/drawing/2014/main" id="{928FB8AF-1258-0C90-D93B-9C10652638DD}"/>
            </a:ext>
          </a:extLst>
        </p:cNvPr>
        <p:cNvGrpSpPr/>
        <p:nvPr/>
      </p:nvGrpSpPr>
      <p:grpSpPr>
        <a:xfrm>
          <a:off x="0" y="0"/>
          <a:ext cx="0" cy="0"/>
          <a:chOff x="0" y="0"/>
          <a:chExt cx="0" cy="0"/>
        </a:xfrm>
      </p:grpSpPr>
      <p:sp>
        <p:nvSpPr>
          <p:cNvPr id="878" name="Google Shape;878;p61">
            <a:extLst>
              <a:ext uri="{FF2B5EF4-FFF2-40B4-BE49-F238E27FC236}">
                <a16:creationId xmlns:a16="http://schemas.microsoft.com/office/drawing/2014/main" id="{C717AC68-F074-9651-956B-117AF8CBA211}"/>
              </a:ext>
            </a:extLst>
          </p:cNvPr>
          <p:cNvSpPr/>
          <p:nvPr/>
        </p:nvSpPr>
        <p:spPr>
          <a:xfrm>
            <a:off x="457200" y="274680"/>
            <a:ext cx="7464600" cy="1140120"/>
          </a:xfrm>
          <a:prstGeom prst="rect">
            <a:avLst/>
          </a:prstGeom>
          <a:noFill/>
          <a:ln>
            <a:noFill/>
          </a:ln>
        </p:spPr>
        <p:txBody>
          <a:bodyPr spcFirstLastPara="1" wrap="square" lIns="90000" tIns="45000" rIns="90000" bIns="45000" anchor="b" anchorCtr="0">
            <a:noAutofit/>
          </a:bodyPr>
          <a:lstStyle/>
          <a:p>
            <a:pPr>
              <a:buClr>
                <a:srgbClr val="575F6D"/>
              </a:buClr>
              <a:buSzPts val="3000"/>
            </a:pPr>
            <a:r>
              <a:rPr lang="es-AR" sz="3000" cap="small">
                <a:solidFill>
                  <a:srgbClr val="575F6D"/>
                </a:solidFill>
                <a:latin typeface="Century Schoolbook"/>
                <a:sym typeface="Century Schoolbook"/>
              </a:rPr>
              <a:t>EL CASO RUST</a:t>
            </a:r>
            <a:endParaRPr sz="3000" b="0" i="0" u="none" strike="noStrike" cap="none">
              <a:latin typeface="Arial"/>
              <a:ea typeface="Arial"/>
              <a:cs typeface="Arial"/>
              <a:sym typeface="Arial"/>
            </a:endParaRPr>
          </a:p>
        </p:txBody>
      </p:sp>
      <p:sp>
        <p:nvSpPr>
          <p:cNvPr id="879" name="Google Shape;879;p61">
            <a:extLst>
              <a:ext uri="{FF2B5EF4-FFF2-40B4-BE49-F238E27FC236}">
                <a16:creationId xmlns:a16="http://schemas.microsoft.com/office/drawing/2014/main" id="{5F52D092-FF3D-50D8-E4A2-BC81A15E75E4}"/>
              </a:ext>
            </a:extLst>
          </p:cNvPr>
          <p:cNvSpPr/>
          <p:nvPr/>
        </p:nvSpPr>
        <p:spPr>
          <a:xfrm>
            <a:off x="457200" y="1600200"/>
            <a:ext cx="7464600" cy="4870800"/>
          </a:xfrm>
          <a:prstGeom prst="rect">
            <a:avLst/>
          </a:prstGeom>
          <a:noFill/>
          <a:ln>
            <a:noFill/>
          </a:ln>
        </p:spPr>
        <p:txBody>
          <a:bodyPr spcFirstLastPara="1" wrap="square" lIns="90000" tIns="45000" rIns="90000" bIns="45000" anchor="t" anchorCtr="0">
            <a:noAutofit/>
          </a:bodyPr>
          <a:lstStyle/>
          <a:p>
            <a:pPr marL="457200" marR="0" lvl="0" indent="-332105" algn="l" rtl="0">
              <a:lnSpc>
                <a:spcPct val="100000"/>
              </a:lnSpc>
              <a:spcBef>
                <a:spcPts val="0"/>
              </a:spcBef>
              <a:spcAft>
                <a:spcPts val="0"/>
              </a:spcAft>
              <a:buClr>
                <a:srgbClr val="FE8637"/>
              </a:buClr>
              <a:buSzPts val="2400"/>
              <a:buFont typeface="Noto Sans Symbols"/>
              <a:buChar char="•"/>
            </a:pPr>
            <a:endParaRPr lang="es-AR" sz="2400" b="0" i="0" u="none" strike="noStrike" cap="none" dirty="0">
              <a:latin typeface="Century Schoolbook"/>
            </a:endParaRPr>
          </a:p>
        </p:txBody>
      </p:sp>
      <p:sp>
        <p:nvSpPr>
          <p:cNvPr id="881" name="Google Shape;881;p61">
            <a:extLst>
              <a:ext uri="{FF2B5EF4-FFF2-40B4-BE49-F238E27FC236}">
                <a16:creationId xmlns:a16="http://schemas.microsoft.com/office/drawing/2014/main" id="{400036FD-0283-FBEA-C1A7-EE14225532CB}"/>
              </a:ext>
            </a:extLst>
          </p:cNvPr>
          <p:cNvSpPr/>
          <p:nvPr/>
        </p:nvSpPr>
        <p:spPr>
          <a:xfrm>
            <a:off x="7886880" y="57600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62</a:t>
            </a:fld>
            <a:endParaRPr sz="1800" b="0" i="0" u="none" strike="noStrike" cap="none">
              <a:latin typeface="Arial"/>
              <a:ea typeface="Arial"/>
              <a:cs typeface="Arial"/>
              <a:sym typeface="Arial"/>
            </a:endParaRPr>
          </a:p>
        </p:txBody>
      </p:sp>
      <p:sp>
        <p:nvSpPr>
          <p:cNvPr id="2" name="CuadroTexto 1">
            <a:extLst>
              <a:ext uri="{FF2B5EF4-FFF2-40B4-BE49-F238E27FC236}">
                <a16:creationId xmlns:a16="http://schemas.microsoft.com/office/drawing/2014/main" id="{1D13D06F-6DD9-3C21-48A3-AC955E92576E}"/>
              </a:ext>
            </a:extLst>
          </p:cNvPr>
          <p:cNvSpPr txBox="1"/>
          <p:nvPr/>
        </p:nvSpPr>
        <p:spPr>
          <a:xfrm>
            <a:off x="554476" y="1575880"/>
            <a:ext cx="8073957"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a:t>Rust agrupa los errores en </a:t>
            </a:r>
            <a:r>
              <a:rPr lang="es-ES" b="1"/>
              <a:t>recuperables e irrecuperables</a:t>
            </a:r>
            <a:r>
              <a:rPr lang="es-ES"/>
              <a:t>.</a:t>
            </a:r>
          </a:p>
          <a:p>
            <a:endParaRPr lang="es-ES" dirty="0"/>
          </a:p>
          <a:p>
            <a:r>
              <a:rPr lang="es-ES"/>
              <a:t>Un error recuperable es por ejemplo un archivo no encontrado, donde tan solo se informará el</a:t>
            </a:r>
          </a:p>
          <a:p>
            <a:r>
              <a:rPr lang="es-ES" dirty="0" err="1"/>
              <a:t>error</a:t>
            </a:r>
            <a:r>
              <a:rPr lang="es-ES" dirty="0"/>
              <a:t> pero la ejecución del programa continuará.</a:t>
            </a:r>
          </a:p>
          <a:p>
            <a:endParaRPr lang="es-ES" dirty="0"/>
          </a:p>
          <a:p>
            <a:r>
              <a:rPr lang="es-ES"/>
              <a:t>Los errores irrecuperables en cambio son siempre señales de bugs en nuestro código, como por</a:t>
            </a:r>
          </a:p>
          <a:p>
            <a:r>
              <a:rPr lang="es-ES"/>
              <a:t>ejemplo acceder a una posición inválida de un arreglo.</a:t>
            </a:r>
          </a:p>
          <a:p>
            <a:endParaRPr lang="es-ES" dirty="0"/>
          </a:p>
          <a:p>
            <a:r>
              <a:rPr lang="es-ES"/>
              <a:t>En la mayoría de los lenguajes no hay distinción entre estos 2 tipos de errores y suelen manejarse</a:t>
            </a:r>
          </a:p>
          <a:p>
            <a:r>
              <a:rPr lang="es-ES"/>
              <a:t>con excepciones.</a:t>
            </a:r>
          </a:p>
          <a:p>
            <a:endParaRPr lang="es-ES" dirty="0"/>
          </a:p>
          <a:p>
            <a:r>
              <a:rPr lang="es-ES" b="1" dirty="0"/>
              <a:t>Rust no tiene ni maneja excepciones, en su lugar tiene el tipo </a:t>
            </a:r>
            <a:r>
              <a:rPr lang="es-ES" b="1" dirty="0" err="1"/>
              <a:t>Result</a:t>
            </a:r>
            <a:r>
              <a:rPr lang="es-ES" b="1" dirty="0"/>
              <a:t>&lt;T, E&gt; para errores</a:t>
            </a:r>
          </a:p>
          <a:p>
            <a:r>
              <a:rPr lang="es-ES" b="1" dirty="0"/>
              <a:t>recuperables y la macro </a:t>
            </a:r>
            <a:r>
              <a:rPr lang="es-ES" b="1" dirty="0" err="1"/>
              <a:t>panic</a:t>
            </a:r>
            <a:r>
              <a:rPr lang="es-ES" b="1" dirty="0"/>
              <a:t>! para errores irrecuperables.</a:t>
            </a:r>
          </a:p>
        </p:txBody>
      </p:sp>
    </p:spTree>
    <p:extLst>
      <p:ext uri="{BB962C8B-B14F-4D97-AF65-F5344CB8AC3E}">
        <p14:creationId xmlns:p14="http://schemas.microsoft.com/office/powerpoint/2010/main" val="19982247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77">
          <a:extLst>
            <a:ext uri="{FF2B5EF4-FFF2-40B4-BE49-F238E27FC236}">
              <a16:creationId xmlns:a16="http://schemas.microsoft.com/office/drawing/2014/main" id="{B2D0FA75-D093-7CB9-E2DB-8BF16FAA66CD}"/>
            </a:ext>
          </a:extLst>
        </p:cNvPr>
        <p:cNvGrpSpPr/>
        <p:nvPr/>
      </p:nvGrpSpPr>
      <p:grpSpPr>
        <a:xfrm>
          <a:off x="0" y="0"/>
          <a:ext cx="0" cy="0"/>
          <a:chOff x="0" y="0"/>
          <a:chExt cx="0" cy="0"/>
        </a:xfrm>
      </p:grpSpPr>
      <p:sp>
        <p:nvSpPr>
          <p:cNvPr id="878" name="Google Shape;878;p61">
            <a:extLst>
              <a:ext uri="{FF2B5EF4-FFF2-40B4-BE49-F238E27FC236}">
                <a16:creationId xmlns:a16="http://schemas.microsoft.com/office/drawing/2014/main" id="{6FFA107D-DA73-E539-746A-DDAD2AF7D00F}"/>
              </a:ext>
            </a:extLst>
          </p:cNvPr>
          <p:cNvSpPr/>
          <p:nvPr/>
        </p:nvSpPr>
        <p:spPr>
          <a:xfrm>
            <a:off x="457200" y="274680"/>
            <a:ext cx="7464600" cy="1140120"/>
          </a:xfrm>
          <a:prstGeom prst="rect">
            <a:avLst/>
          </a:prstGeom>
          <a:noFill/>
          <a:ln>
            <a:noFill/>
          </a:ln>
        </p:spPr>
        <p:txBody>
          <a:bodyPr spcFirstLastPara="1" wrap="square" lIns="90000" tIns="45000" rIns="90000" bIns="45000" anchor="b" anchorCtr="0">
            <a:noAutofit/>
          </a:bodyPr>
          <a:lstStyle/>
          <a:p>
            <a:pPr>
              <a:buClr>
                <a:srgbClr val="575F6D"/>
              </a:buClr>
              <a:buSzPts val="3000"/>
            </a:pPr>
            <a:r>
              <a:rPr lang="es-AR" sz="3000" cap="small">
                <a:solidFill>
                  <a:srgbClr val="575F6D"/>
                </a:solidFill>
                <a:latin typeface="Century Schoolbook"/>
                <a:sym typeface="Century Schoolbook"/>
              </a:rPr>
              <a:t>EL CASO RUST</a:t>
            </a:r>
            <a:endParaRPr sz="3000" b="0" i="0" u="none" strike="noStrike" cap="none">
              <a:latin typeface="Arial"/>
              <a:ea typeface="Arial"/>
              <a:cs typeface="Arial"/>
              <a:sym typeface="Arial"/>
            </a:endParaRPr>
          </a:p>
        </p:txBody>
      </p:sp>
      <p:sp>
        <p:nvSpPr>
          <p:cNvPr id="881" name="Google Shape;881;p61">
            <a:extLst>
              <a:ext uri="{FF2B5EF4-FFF2-40B4-BE49-F238E27FC236}">
                <a16:creationId xmlns:a16="http://schemas.microsoft.com/office/drawing/2014/main" id="{642F9349-8CA6-F414-E32F-AE72C40ECC95}"/>
              </a:ext>
            </a:extLst>
          </p:cNvPr>
          <p:cNvSpPr/>
          <p:nvPr/>
        </p:nvSpPr>
        <p:spPr>
          <a:xfrm>
            <a:off x="7886880" y="57600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63</a:t>
            </a:fld>
            <a:endParaRPr sz="1800" b="0" i="0" u="none" strike="noStrike" cap="none">
              <a:latin typeface="Arial"/>
              <a:ea typeface="Arial"/>
              <a:cs typeface="Arial"/>
              <a:sym typeface="Arial"/>
            </a:endParaRPr>
          </a:p>
        </p:txBody>
      </p:sp>
      <p:pic>
        <p:nvPicPr>
          <p:cNvPr id="3" name="Imagen 2">
            <a:extLst>
              <a:ext uri="{FF2B5EF4-FFF2-40B4-BE49-F238E27FC236}">
                <a16:creationId xmlns:a16="http://schemas.microsoft.com/office/drawing/2014/main" id="{34DD9BB5-DFE7-9F85-EC56-D6CED69344ED}"/>
              </a:ext>
            </a:extLst>
          </p:cNvPr>
          <p:cNvPicPr>
            <a:picLocks noChangeAspect="1"/>
          </p:cNvPicPr>
          <p:nvPr/>
        </p:nvPicPr>
        <p:blipFill>
          <a:blip r:embed="rId3"/>
          <a:stretch>
            <a:fillRect/>
          </a:stretch>
        </p:blipFill>
        <p:spPr>
          <a:xfrm>
            <a:off x="454223" y="1559123"/>
            <a:ext cx="2609850" cy="1257300"/>
          </a:xfrm>
          <a:prstGeom prst="rect">
            <a:avLst/>
          </a:prstGeom>
        </p:spPr>
      </p:pic>
      <p:sp>
        <p:nvSpPr>
          <p:cNvPr id="4" name="CuadroTexto 3">
            <a:extLst>
              <a:ext uri="{FF2B5EF4-FFF2-40B4-BE49-F238E27FC236}">
                <a16:creationId xmlns:a16="http://schemas.microsoft.com/office/drawing/2014/main" id="{18CB008F-A40B-257B-2655-5ACAB73665F1}"/>
              </a:ext>
            </a:extLst>
          </p:cNvPr>
          <p:cNvSpPr txBox="1"/>
          <p:nvPr/>
        </p:nvSpPr>
        <p:spPr>
          <a:xfrm>
            <a:off x="3063604" y="1557224"/>
            <a:ext cx="5280181" cy="2554545"/>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600" dirty="0">
                <a:solidFill>
                  <a:srgbClr val="262625"/>
                </a:solidFill>
                <a:ea typeface="Open Sans"/>
              </a:rPr>
              <a:t>A veces, sucede algo malo en su código y no hay nada que pueda hacer al respecto. En estos casos, Rust tiene la macro </a:t>
            </a:r>
            <a:r>
              <a:rPr lang="es-ES" sz="1600" dirty="0" err="1">
                <a:solidFill>
                  <a:srgbClr val="262625"/>
                </a:solidFill>
                <a:ea typeface="Open Sans"/>
              </a:rPr>
              <a:t>panic</a:t>
            </a:r>
            <a:r>
              <a:rPr lang="es-ES" sz="1600" dirty="0">
                <a:solidFill>
                  <a:srgbClr val="262625"/>
                </a:solidFill>
                <a:ea typeface="Open Sans"/>
              </a:rPr>
              <a:t>!. Hay dos formas de causar un </a:t>
            </a:r>
            <a:r>
              <a:rPr lang="es-ES" sz="1600" dirty="0" err="1">
                <a:solidFill>
                  <a:srgbClr val="262625"/>
                </a:solidFill>
                <a:ea typeface="Open Sans"/>
              </a:rPr>
              <a:t>panic</a:t>
            </a:r>
            <a:r>
              <a:rPr lang="es-ES" sz="1600" dirty="0">
                <a:solidFill>
                  <a:srgbClr val="262625"/>
                </a:solidFill>
                <a:ea typeface="Open Sans"/>
              </a:rPr>
              <a:t> en la práctica: tomando una acción que hace que nuestro código entre en pánico (como acceder a un arreglo más allá del final) o llamando explícitamente a la macro </a:t>
            </a:r>
            <a:r>
              <a:rPr lang="es-ES" sz="1600" dirty="0" err="1">
                <a:solidFill>
                  <a:srgbClr val="262625"/>
                </a:solidFill>
                <a:ea typeface="Open Sans"/>
              </a:rPr>
              <a:t>panic</a:t>
            </a:r>
            <a:r>
              <a:rPr lang="es-ES" sz="1600" dirty="0">
                <a:solidFill>
                  <a:srgbClr val="262625"/>
                </a:solidFill>
                <a:ea typeface="Open Sans"/>
              </a:rPr>
              <a:t>!. En ambos casos, causamos un pánico en nuestro programa. De forma predeterminada, estos pánicos imprimirán un mensaje de error, se desharán, limpiarán la pila y se cerrarán.</a:t>
            </a:r>
            <a:endParaRPr lang="es-ES" sz="1600" dirty="0"/>
          </a:p>
        </p:txBody>
      </p:sp>
      <p:pic>
        <p:nvPicPr>
          <p:cNvPr id="5" name="Imagen 4" descr="Imagen que contiene firmar, calle, monitor, sostener&#10;&#10;El contenido generado por IA puede ser incorrecto.">
            <a:extLst>
              <a:ext uri="{FF2B5EF4-FFF2-40B4-BE49-F238E27FC236}">
                <a16:creationId xmlns:a16="http://schemas.microsoft.com/office/drawing/2014/main" id="{BEC55D35-A206-74BA-11BB-C00D9647AB2C}"/>
              </a:ext>
            </a:extLst>
          </p:cNvPr>
          <p:cNvPicPr>
            <a:picLocks noChangeAspect="1"/>
          </p:cNvPicPr>
          <p:nvPr/>
        </p:nvPicPr>
        <p:blipFill>
          <a:blip r:embed="rId4"/>
          <a:stretch>
            <a:fillRect/>
          </a:stretch>
        </p:blipFill>
        <p:spPr>
          <a:xfrm>
            <a:off x="580431" y="4296371"/>
            <a:ext cx="6429375" cy="1819275"/>
          </a:xfrm>
          <a:prstGeom prst="rect">
            <a:avLst/>
          </a:prstGeom>
        </p:spPr>
      </p:pic>
      <p:sp>
        <p:nvSpPr>
          <p:cNvPr id="6" name="CuadroTexto 5">
            <a:extLst>
              <a:ext uri="{FF2B5EF4-FFF2-40B4-BE49-F238E27FC236}">
                <a16:creationId xmlns:a16="http://schemas.microsoft.com/office/drawing/2014/main" id="{7A9DA69A-38EB-D05F-9358-514B7FCF29FC}"/>
              </a:ext>
            </a:extLst>
          </p:cNvPr>
          <p:cNvSpPr txBox="1"/>
          <p:nvPr/>
        </p:nvSpPr>
        <p:spPr>
          <a:xfrm>
            <a:off x="1031131" y="6352162"/>
            <a:ext cx="679963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t>Suele utilizarse mayoritariamente en ambientes de desarrollo y </a:t>
            </a:r>
            <a:r>
              <a:rPr lang="es-ES" dirty="0" err="1"/>
              <a:t>testing</a:t>
            </a:r>
            <a:r>
              <a:rPr lang="es-ES" dirty="0"/>
              <a:t>.</a:t>
            </a:r>
          </a:p>
        </p:txBody>
      </p:sp>
    </p:spTree>
    <p:extLst>
      <p:ext uri="{BB962C8B-B14F-4D97-AF65-F5344CB8AC3E}">
        <p14:creationId xmlns:p14="http://schemas.microsoft.com/office/powerpoint/2010/main" val="32772740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77">
          <a:extLst>
            <a:ext uri="{FF2B5EF4-FFF2-40B4-BE49-F238E27FC236}">
              <a16:creationId xmlns:a16="http://schemas.microsoft.com/office/drawing/2014/main" id="{D64C436B-33EB-AC8D-27B2-27370053D11D}"/>
            </a:ext>
          </a:extLst>
        </p:cNvPr>
        <p:cNvGrpSpPr/>
        <p:nvPr/>
      </p:nvGrpSpPr>
      <p:grpSpPr>
        <a:xfrm>
          <a:off x="0" y="0"/>
          <a:ext cx="0" cy="0"/>
          <a:chOff x="0" y="0"/>
          <a:chExt cx="0" cy="0"/>
        </a:xfrm>
      </p:grpSpPr>
      <p:sp>
        <p:nvSpPr>
          <p:cNvPr id="878" name="Google Shape;878;p61">
            <a:extLst>
              <a:ext uri="{FF2B5EF4-FFF2-40B4-BE49-F238E27FC236}">
                <a16:creationId xmlns:a16="http://schemas.microsoft.com/office/drawing/2014/main" id="{9A195C73-4375-183B-ED73-8DE07B8E5296}"/>
              </a:ext>
            </a:extLst>
          </p:cNvPr>
          <p:cNvSpPr/>
          <p:nvPr/>
        </p:nvSpPr>
        <p:spPr>
          <a:xfrm>
            <a:off x="457200" y="274680"/>
            <a:ext cx="7464600" cy="1140120"/>
          </a:xfrm>
          <a:prstGeom prst="rect">
            <a:avLst/>
          </a:prstGeom>
          <a:noFill/>
          <a:ln>
            <a:noFill/>
          </a:ln>
        </p:spPr>
        <p:txBody>
          <a:bodyPr spcFirstLastPara="1" wrap="square" lIns="90000" tIns="45000" rIns="90000" bIns="45000" anchor="b" anchorCtr="0">
            <a:noAutofit/>
          </a:bodyPr>
          <a:lstStyle/>
          <a:p>
            <a:pPr>
              <a:buClr>
                <a:srgbClr val="575F6D"/>
              </a:buClr>
              <a:buSzPts val="3000"/>
            </a:pPr>
            <a:r>
              <a:rPr lang="es-AR" sz="3000" cap="small">
                <a:solidFill>
                  <a:srgbClr val="575F6D"/>
                </a:solidFill>
                <a:latin typeface="Century Schoolbook"/>
                <a:sym typeface="Century Schoolbook"/>
              </a:rPr>
              <a:t>EL CASO RUST</a:t>
            </a:r>
            <a:endParaRPr sz="3000" b="0" i="0" u="none" strike="noStrike" cap="none">
              <a:latin typeface="Arial"/>
              <a:ea typeface="Arial"/>
              <a:cs typeface="Arial"/>
              <a:sym typeface="Arial"/>
            </a:endParaRPr>
          </a:p>
        </p:txBody>
      </p:sp>
      <p:sp>
        <p:nvSpPr>
          <p:cNvPr id="881" name="Google Shape;881;p61">
            <a:extLst>
              <a:ext uri="{FF2B5EF4-FFF2-40B4-BE49-F238E27FC236}">
                <a16:creationId xmlns:a16="http://schemas.microsoft.com/office/drawing/2014/main" id="{1E32D5E6-C37D-44B8-527F-E8DE861D4BB1}"/>
              </a:ext>
            </a:extLst>
          </p:cNvPr>
          <p:cNvSpPr/>
          <p:nvPr/>
        </p:nvSpPr>
        <p:spPr>
          <a:xfrm>
            <a:off x="7886880" y="5760000"/>
            <a:ext cx="1221120" cy="426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Arial"/>
                <a:ea typeface="Arial"/>
                <a:cs typeface="Arial"/>
                <a:sym typeface="Arial"/>
              </a:rPr>
              <a:t>64</a:t>
            </a:fld>
            <a:endParaRPr sz="1800" b="0" i="0" u="none" strike="noStrike" cap="none">
              <a:latin typeface="Arial"/>
              <a:ea typeface="Arial"/>
              <a:cs typeface="Arial"/>
              <a:sym typeface="Arial"/>
            </a:endParaRPr>
          </a:p>
        </p:txBody>
      </p:sp>
      <p:sp>
        <p:nvSpPr>
          <p:cNvPr id="2" name="CuadroTexto 1">
            <a:extLst>
              <a:ext uri="{FF2B5EF4-FFF2-40B4-BE49-F238E27FC236}">
                <a16:creationId xmlns:a16="http://schemas.microsoft.com/office/drawing/2014/main" id="{F820679F-670F-CE58-FB65-B14E97C44244}"/>
              </a:ext>
            </a:extLst>
          </p:cNvPr>
          <p:cNvSpPr txBox="1"/>
          <p:nvPr/>
        </p:nvSpPr>
        <p:spPr>
          <a:xfrm>
            <a:off x="455414" y="1410891"/>
            <a:ext cx="7599164"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a:solidFill>
                  <a:srgbClr val="262625"/>
                </a:solidFill>
                <a:latin typeface="Open Sans"/>
                <a:ea typeface="Open Sans"/>
                <a:cs typeface="Open Sans"/>
              </a:rPr>
              <a:t>La </a:t>
            </a:r>
            <a:r>
              <a:rPr lang="en-US" b="0" i="0" err="1">
                <a:solidFill>
                  <a:srgbClr val="262625"/>
                </a:solidFill>
                <a:latin typeface="Open Sans"/>
                <a:ea typeface="Open Sans"/>
                <a:cs typeface="Open Sans"/>
              </a:rPr>
              <a:t>mayoría</a:t>
            </a:r>
            <a:r>
              <a:rPr lang="en-US" b="0" i="0">
                <a:solidFill>
                  <a:srgbClr val="262625"/>
                </a:solidFill>
                <a:latin typeface="Open Sans"/>
                <a:ea typeface="Open Sans"/>
                <a:cs typeface="Open Sans"/>
              </a:rPr>
              <a:t> de </a:t>
            </a:r>
            <a:r>
              <a:rPr lang="en-US" b="0" i="0" err="1">
                <a:solidFill>
                  <a:srgbClr val="262625"/>
                </a:solidFill>
                <a:latin typeface="Open Sans"/>
                <a:ea typeface="Open Sans"/>
                <a:cs typeface="Open Sans"/>
              </a:rPr>
              <a:t>los</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errores</a:t>
            </a:r>
            <a:r>
              <a:rPr lang="en-US" b="0" i="0">
                <a:solidFill>
                  <a:srgbClr val="262625"/>
                </a:solidFill>
                <a:latin typeface="Open Sans"/>
                <a:ea typeface="Open Sans"/>
                <a:cs typeface="Open Sans"/>
              </a:rPr>
              <a:t> no son lo </a:t>
            </a:r>
            <a:r>
              <a:rPr lang="en-US" b="0" i="0" err="1">
                <a:solidFill>
                  <a:srgbClr val="262625"/>
                </a:solidFill>
                <a:latin typeface="Open Sans"/>
                <a:ea typeface="Open Sans"/>
                <a:cs typeface="Open Sans"/>
              </a:rPr>
              <a:t>suficientemente</a:t>
            </a:r>
            <a:r>
              <a:rPr lang="en-US" b="0" i="0">
                <a:solidFill>
                  <a:srgbClr val="262625"/>
                </a:solidFill>
                <a:latin typeface="Open Sans"/>
                <a:ea typeface="Open Sans"/>
                <a:cs typeface="Open Sans"/>
              </a:rPr>
              <a:t> graves </a:t>
            </a:r>
            <a:r>
              <a:rPr lang="en-US" b="0" i="0" err="1">
                <a:solidFill>
                  <a:srgbClr val="262625"/>
                </a:solidFill>
                <a:latin typeface="Open Sans"/>
                <a:ea typeface="Open Sans"/>
                <a:cs typeface="Open Sans"/>
              </a:rPr>
              <a:t>como</a:t>
            </a:r>
            <a:r>
              <a:rPr lang="en-US" b="0" i="0">
                <a:solidFill>
                  <a:srgbClr val="262625"/>
                </a:solidFill>
                <a:latin typeface="Open Sans"/>
                <a:ea typeface="Open Sans"/>
                <a:cs typeface="Open Sans"/>
              </a:rPr>
              <a:t> para </a:t>
            </a:r>
            <a:r>
              <a:rPr lang="en-US" b="0" i="0" err="1">
                <a:solidFill>
                  <a:srgbClr val="262625"/>
                </a:solidFill>
                <a:latin typeface="Open Sans"/>
                <a:ea typeface="Open Sans"/>
                <a:cs typeface="Open Sans"/>
              </a:rPr>
              <a:t>requerir</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que</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el</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programa</a:t>
            </a:r>
            <a:r>
              <a:rPr lang="en-US" b="0" i="0">
                <a:solidFill>
                  <a:srgbClr val="262625"/>
                </a:solidFill>
                <a:latin typeface="Open Sans"/>
                <a:ea typeface="Open Sans"/>
                <a:cs typeface="Open Sans"/>
              </a:rPr>
              <a:t> se </a:t>
            </a:r>
            <a:r>
              <a:rPr lang="en-US" b="0" i="0" err="1">
                <a:solidFill>
                  <a:srgbClr val="262625"/>
                </a:solidFill>
                <a:latin typeface="Open Sans"/>
                <a:ea typeface="Open Sans"/>
                <a:cs typeface="Open Sans"/>
              </a:rPr>
              <a:t>detenga</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por</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completo</a:t>
            </a:r>
            <a:r>
              <a:rPr lang="en-US" b="0" i="0">
                <a:solidFill>
                  <a:srgbClr val="262625"/>
                </a:solidFill>
                <a:latin typeface="Open Sans"/>
                <a:ea typeface="Open Sans"/>
                <a:cs typeface="Open Sans"/>
              </a:rPr>
              <a:t>. A </a:t>
            </a:r>
            <a:r>
              <a:rPr lang="en-US" b="0" i="0" err="1">
                <a:solidFill>
                  <a:srgbClr val="262625"/>
                </a:solidFill>
                <a:latin typeface="Open Sans"/>
                <a:ea typeface="Open Sans"/>
                <a:cs typeface="Open Sans"/>
              </a:rPr>
              <a:t>veces</a:t>
            </a:r>
            <a:r>
              <a:rPr lang="en-US" b="0" i="0">
                <a:solidFill>
                  <a:srgbClr val="262625"/>
                </a:solidFill>
                <a:latin typeface="Open Sans"/>
                <a:ea typeface="Open Sans"/>
                <a:cs typeface="Open Sans"/>
              </a:rPr>
              <a:t>, </a:t>
            </a:r>
            <a:r>
              <a:rPr lang="en-US" b="0" i="0" err="1">
                <a:solidFill>
                  <a:srgbClr val="262625"/>
                </a:solidFill>
                <a:latin typeface="Open Sans"/>
                <a:ea typeface="Open Sans"/>
                <a:cs typeface="Open Sans"/>
              </a:rPr>
              <a:t>cuando</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una</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función</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falla</a:t>
            </a:r>
            <a:r>
              <a:rPr lang="en-US" b="0" i="0">
                <a:solidFill>
                  <a:srgbClr val="262625"/>
                </a:solidFill>
                <a:latin typeface="Open Sans"/>
                <a:ea typeface="Open Sans"/>
                <a:cs typeface="Open Sans"/>
              </a:rPr>
              <a:t>, es </a:t>
            </a:r>
            <a:r>
              <a:rPr lang="en-US" b="0" i="0" err="1">
                <a:solidFill>
                  <a:srgbClr val="262625"/>
                </a:solidFill>
                <a:latin typeface="Open Sans"/>
                <a:ea typeface="Open Sans"/>
                <a:cs typeface="Open Sans"/>
              </a:rPr>
              <a:t>por</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una</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razón</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que</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puede</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interpretar</a:t>
            </a:r>
            <a:r>
              <a:rPr lang="en-US" b="0" i="0">
                <a:solidFill>
                  <a:srgbClr val="262625"/>
                </a:solidFill>
                <a:latin typeface="Open Sans"/>
                <a:ea typeface="Open Sans"/>
                <a:cs typeface="Open Sans"/>
              </a:rPr>
              <a:t> y responder </a:t>
            </a:r>
            <a:r>
              <a:rPr lang="en-US" b="0" i="0" err="1">
                <a:solidFill>
                  <a:srgbClr val="262625"/>
                </a:solidFill>
                <a:latin typeface="Open Sans"/>
                <a:ea typeface="Open Sans"/>
                <a:cs typeface="Open Sans"/>
              </a:rPr>
              <a:t>fácilmente</a:t>
            </a:r>
            <a:r>
              <a:rPr lang="en-US" b="0" i="0">
                <a:solidFill>
                  <a:srgbClr val="262625"/>
                </a:solidFill>
                <a:latin typeface="Open Sans"/>
                <a:ea typeface="Open Sans"/>
                <a:cs typeface="Open Sans"/>
              </a:rPr>
              <a:t>. Por </a:t>
            </a:r>
            <a:r>
              <a:rPr lang="en-US" b="0" i="0" err="1">
                <a:solidFill>
                  <a:srgbClr val="262625"/>
                </a:solidFill>
                <a:latin typeface="Open Sans"/>
                <a:ea typeface="Open Sans"/>
                <a:cs typeface="Open Sans"/>
              </a:rPr>
              <a:t>ejemplo</a:t>
            </a:r>
            <a:r>
              <a:rPr lang="en-US" b="0" i="0">
                <a:solidFill>
                  <a:srgbClr val="262625"/>
                </a:solidFill>
                <a:latin typeface="Open Sans"/>
                <a:ea typeface="Open Sans"/>
                <a:cs typeface="Open Sans"/>
              </a:rPr>
              <a:t>, </a:t>
            </a:r>
            <a:r>
              <a:rPr lang="en-US" b="0" i="0" err="1">
                <a:solidFill>
                  <a:srgbClr val="262625"/>
                </a:solidFill>
                <a:latin typeface="Open Sans"/>
                <a:ea typeface="Open Sans"/>
                <a:cs typeface="Open Sans"/>
              </a:rPr>
              <a:t>si</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intenta</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abrir</a:t>
            </a:r>
            <a:r>
              <a:rPr lang="en-US" b="0" i="0">
                <a:solidFill>
                  <a:srgbClr val="262625"/>
                </a:solidFill>
                <a:latin typeface="Open Sans"/>
                <a:ea typeface="Open Sans"/>
                <a:cs typeface="Open Sans"/>
              </a:rPr>
              <a:t> un </a:t>
            </a:r>
            <a:r>
              <a:rPr lang="en-US" b="0" i="0" err="1">
                <a:solidFill>
                  <a:srgbClr val="262625"/>
                </a:solidFill>
                <a:latin typeface="Open Sans"/>
                <a:ea typeface="Open Sans"/>
                <a:cs typeface="Open Sans"/>
              </a:rPr>
              <a:t>archivo</a:t>
            </a:r>
            <a:r>
              <a:rPr lang="en-US" b="0" i="0">
                <a:solidFill>
                  <a:srgbClr val="262625"/>
                </a:solidFill>
                <a:latin typeface="Open Sans"/>
                <a:ea typeface="Open Sans"/>
                <a:cs typeface="Open Sans"/>
              </a:rPr>
              <a:t> y </a:t>
            </a:r>
            <a:r>
              <a:rPr lang="en-US" b="0" i="0" err="1">
                <a:solidFill>
                  <a:srgbClr val="262625"/>
                </a:solidFill>
                <a:latin typeface="Open Sans"/>
                <a:ea typeface="Open Sans"/>
                <a:cs typeface="Open Sans"/>
              </a:rPr>
              <a:t>esa</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operación</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falla</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porque</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el</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archivo</a:t>
            </a:r>
            <a:r>
              <a:rPr lang="en-US" b="0" i="0">
                <a:solidFill>
                  <a:srgbClr val="262625"/>
                </a:solidFill>
                <a:latin typeface="Open Sans"/>
                <a:ea typeface="Open Sans"/>
                <a:cs typeface="Open Sans"/>
              </a:rPr>
              <a:t> no </a:t>
            </a:r>
            <a:r>
              <a:rPr lang="en-US" b="0" i="0" err="1">
                <a:solidFill>
                  <a:srgbClr val="262625"/>
                </a:solidFill>
                <a:latin typeface="Open Sans"/>
                <a:ea typeface="Open Sans"/>
                <a:cs typeface="Open Sans"/>
              </a:rPr>
              <a:t>existe</a:t>
            </a:r>
            <a:r>
              <a:rPr lang="en-US" b="0" i="0">
                <a:solidFill>
                  <a:srgbClr val="262625"/>
                </a:solidFill>
                <a:latin typeface="Open Sans"/>
                <a:ea typeface="Open Sans"/>
                <a:cs typeface="Open Sans"/>
              </a:rPr>
              <a:t>, es </a:t>
            </a:r>
            <a:r>
              <a:rPr lang="en-US" b="0" i="0" err="1">
                <a:solidFill>
                  <a:srgbClr val="262625"/>
                </a:solidFill>
                <a:latin typeface="Open Sans"/>
                <a:ea typeface="Open Sans"/>
                <a:cs typeface="Open Sans"/>
              </a:rPr>
              <a:t>posible</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que</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desee</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crear</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el</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archivo</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en</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lugar</a:t>
            </a:r>
            <a:r>
              <a:rPr lang="en-US" b="0" i="0">
                <a:solidFill>
                  <a:srgbClr val="262625"/>
                </a:solidFill>
                <a:latin typeface="Open Sans"/>
                <a:ea typeface="Open Sans"/>
                <a:cs typeface="Open Sans"/>
              </a:rPr>
              <a:t> de </a:t>
            </a:r>
            <a:r>
              <a:rPr lang="en-US" b="0" i="0" err="1">
                <a:solidFill>
                  <a:srgbClr val="262625"/>
                </a:solidFill>
                <a:latin typeface="Open Sans"/>
                <a:ea typeface="Open Sans"/>
                <a:cs typeface="Open Sans"/>
              </a:rPr>
              <a:t>terminar</a:t>
            </a:r>
            <a:r>
              <a:rPr lang="en-US" b="0" i="0" dirty="0">
                <a:solidFill>
                  <a:srgbClr val="262625"/>
                </a:solidFill>
                <a:latin typeface="Open Sans"/>
                <a:ea typeface="Open Sans"/>
                <a:cs typeface="Open Sans"/>
              </a:rPr>
              <a:t> </a:t>
            </a:r>
            <a:r>
              <a:rPr lang="en-US" b="0" i="0" err="1">
                <a:solidFill>
                  <a:srgbClr val="262625"/>
                </a:solidFill>
                <a:latin typeface="Open Sans"/>
                <a:ea typeface="Open Sans"/>
                <a:cs typeface="Open Sans"/>
              </a:rPr>
              <a:t>el</a:t>
            </a:r>
            <a:r>
              <a:rPr lang="en-US" b="0" i="0">
                <a:solidFill>
                  <a:srgbClr val="262625"/>
                </a:solidFill>
                <a:latin typeface="Open Sans"/>
                <a:ea typeface="Open Sans"/>
                <a:cs typeface="Open Sans"/>
              </a:rPr>
              <a:t> proceso.</a:t>
            </a:r>
            <a:endParaRPr lang="en-US"/>
          </a:p>
        </p:txBody>
      </p:sp>
      <p:pic>
        <p:nvPicPr>
          <p:cNvPr id="6" name="Imagen 5" descr="Texto&#10;&#10;El contenido generado por IA puede ser incorrecto.">
            <a:extLst>
              <a:ext uri="{FF2B5EF4-FFF2-40B4-BE49-F238E27FC236}">
                <a16:creationId xmlns:a16="http://schemas.microsoft.com/office/drawing/2014/main" id="{FF189E02-9481-3B45-929E-F8ABDB3ED067}"/>
              </a:ext>
            </a:extLst>
          </p:cNvPr>
          <p:cNvPicPr>
            <a:picLocks noChangeAspect="1"/>
          </p:cNvPicPr>
          <p:nvPr/>
        </p:nvPicPr>
        <p:blipFill>
          <a:blip r:embed="rId3"/>
          <a:stretch>
            <a:fillRect/>
          </a:stretch>
        </p:blipFill>
        <p:spPr>
          <a:xfrm>
            <a:off x="543521" y="2654499"/>
            <a:ext cx="1895475" cy="923925"/>
          </a:xfrm>
          <a:prstGeom prst="rect">
            <a:avLst/>
          </a:prstGeom>
        </p:spPr>
      </p:pic>
      <p:sp>
        <p:nvSpPr>
          <p:cNvPr id="4" name="CuadroTexto 3">
            <a:extLst>
              <a:ext uri="{FF2B5EF4-FFF2-40B4-BE49-F238E27FC236}">
                <a16:creationId xmlns:a16="http://schemas.microsoft.com/office/drawing/2014/main" id="{E2DB2866-DD91-A6D3-AEF2-BBA5381B9412}"/>
              </a:ext>
            </a:extLst>
          </p:cNvPr>
          <p:cNvSpPr txBox="1"/>
          <p:nvPr/>
        </p:nvSpPr>
        <p:spPr>
          <a:xfrm>
            <a:off x="3035410" y="2391749"/>
            <a:ext cx="546622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t>T y E son parámetros de tipo genérico: T representa el tipo del valor que será devuelto en un caso de éxito dentro de la variante Ok, y E representa el tipo del error que será devuelto en un caso de fallo. Debido a que </a:t>
            </a:r>
            <a:r>
              <a:rPr lang="es-ES" dirty="0" err="1"/>
              <a:t>Result</a:t>
            </a:r>
            <a:r>
              <a:rPr lang="es-ES" dirty="0"/>
              <a:t> tiene estos parámetros de tipo genérico, podemos usar el tipo </a:t>
            </a:r>
            <a:r>
              <a:rPr lang="es-ES" dirty="0" err="1"/>
              <a:t>Result</a:t>
            </a:r>
            <a:r>
              <a:rPr lang="es-ES" dirty="0"/>
              <a:t> y las funciones definidas en él en muchas situaciones diferentes donde el valor de éxito y el valor de error que queremos devolver pueden diferir.</a:t>
            </a:r>
          </a:p>
        </p:txBody>
      </p:sp>
      <p:pic>
        <p:nvPicPr>
          <p:cNvPr id="10" name="Imagen 9">
            <a:extLst>
              <a:ext uri="{FF2B5EF4-FFF2-40B4-BE49-F238E27FC236}">
                <a16:creationId xmlns:a16="http://schemas.microsoft.com/office/drawing/2014/main" id="{C7FE6DF5-5929-A0B9-E181-7FB897A83076}"/>
              </a:ext>
            </a:extLst>
          </p:cNvPr>
          <p:cNvPicPr>
            <a:picLocks noChangeAspect="1"/>
          </p:cNvPicPr>
          <p:nvPr/>
        </p:nvPicPr>
        <p:blipFill>
          <a:blip r:embed="rId4"/>
          <a:stretch>
            <a:fillRect/>
          </a:stretch>
        </p:blipFill>
        <p:spPr>
          <a:xfrm>
            <a:off x="539353" y="4163616"/>
            <a:ext cx="6315075" cy="1924050"/>
          </a:xfrm>
          <a:prstGeom prst="rect">
            <a:avLst/>
          </a:prstGeom>
        </p:spPr>
      </p:pic>
      <p:sp>
        <p:nvSpPr>
          <p:cNvPr id="3" name="CuadroTexto 2">
            <a:extLst>
              <a:ext uri="{FF2B5EF4-FFF2-40B4-BE49-F238E27FC236}">
                <a16:creationId xmlns:a16="http://schemas.microsoft.com/office/drawing/2014/main" id="{49FEF905-6ABA-CFD8-EDEA-860003E2A0DD}"/>
              </a:ext>
            </a:extLst>
          </p:cNvPr>
          <p:cNvSpPr txBox="1"/>
          <p:nvPr/>
        </p:nvSpPr>
        <p:spPr>
          <a:xfrm>
            <a:off x="924127" y="6342433"/>
            <a:ext cx="591441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hlinkClick r:id="rId5"/>
              </a:rPr>
              <a:t>Video Explicación</a:t>
            </a:r>
            <a:endParaRPr lang="es-ES"/>
          </a:p>
        </p:txBody>
      </p:sp>
    </p:spTree>
    <p:extLst>
      <p:ext uri="{BB962C8B-B14F-4D97-AF65-F5344CB8AC3E}">
        <p14:creationId xmlns:p14="http://schemas.microsoft.com/office/powerpoint/2010/main" val="416080644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Presentación en pantalla (4:3)</PresentationFormat>
  <Slides>64</Slides>
  <Notes>64</Notes>
  <HiddenSlides>0</HiddenSlides>
  <ScaleCrop>false</ScaleCrop>
  <HeadingPairs>
    <vt:vector size="4" baseType="variant">
      <vt:variant>
        <vt:lpstr>Tema</vt:lpstr>
      </vt:variant>
      <vt:variant>
        <vt:i4>5</vt:i4>
      </vt:variant>
      <vt:variant>
        <vt:lpstr>Títulos de diapositiva</vt:lpstr>
      </vt:variant>
      <vt:variant>
        <vt:i4>64</vt:i4>
      </vt:variant>
    </vt:vector>
  </HeadingPairs>
  <TitlesOfParts>
    <vt:vector size="69" baseType="lpstr">
      <vt:lpstr>Office Theme</vt:lpstr>
      <vt:lpstr>Office Theme</vt:lpstr>
      <vt:lpstr>Office Theme</vt:lpstr>
      <vt:lpstr>Office Theme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Excepciones – PL1 – Ejemplo Formato en pl/1</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87</cp:revision>
  <dcterms:modified xsi:type="dcterms:W3CDTF">2026-05-11T12:53:47Z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r8>0</vt:r8>
  </property>
  <property fmtid="{D5CDD505-2E9C-101B-9397-08002B2CF9AE}" pid="3" name="HyperlinksChanged">
    <vt:bool>false</vt:bool>
  </property>
  <property fmtid="{D5CDD505-2E9C-101B-9397-08002B2CF9AE}" pid="4" name="LinksUpToDate">
    <vt:bool>false</vt:bool>
  </property>
  <property fmtid="{D5CDD505-2E9C-101B-9397-08002B2CF9AE}" pid="5" name="MMClips">
    <vt:r8>0</vt:r8>
  </property>
  <property fmtid="{D5CDD505-2E9C-101B-9397-08002B2CF9AE}" pid="6" name="Notes">
    <vt:i4>39</vt:i4>
  </property>
  <property fmtid="{D5CDD505-2E9C-101B-9397-08002B2CF9AE}" pid="7" name="PresentationFormat">
    <vt:lpwstr>Presentación en pantalla (4:3)</vt:lpwstr>
  </property>
  <property fmtid="{D5CDD505-2E9C-101B-9397-08002B2CF9AE}" pid="8" name="ScaleCrop">
    <vt:bool>false</vt:bool>
  </property>
  <property fmtid="{D5CDD505-2E9C-101B-9397-08002B2CF9AE}" pid="9" name="ShareDoc">
    <vt:bool>false</vt:bool>
  </property>
  <property fmtid="{D5CDD505-2E9C-101B-9397-08002B2CF9AE}" pid="10" name="Slides">
    <vt:i4>61</vt:i4>
  </property>
</Properties>
</file>